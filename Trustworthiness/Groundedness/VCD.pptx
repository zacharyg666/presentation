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87.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26"/>
  </p:handoutMasterIdLst>
  <p:sldIdLst>
    <p:sldId id="256" r:id="rId3"/>
    <p:sldId id="258" r:id="rId4"/>
    <p:sldId id="259" r:id="rId5"/>
    <p:sldId id="260" r:id="rId6"/>
    <p:sldId id="280" r:id="rId8"/>
    <p:sldId id="264" r:id="rId9"/>
    <p:sldId id="266" r:id="rId10"/>
    <p:sldId id="263" r:id="rId11"/>
    <p:sldId id="267" r:id="rId12"/>
    <p:sldId id="277" r:id="rId13"/>
    <p:sldId id="268" r:id="rId14"/>
    <p:sldId id="270" r:id="rId15"/>
    <p:sldId id="279" r:id="rId16"/>
    <p:sldId id="269" r:id="rId17"/>
    <p:sldId id="271" r:id="rId18"/>
    <p:sldId id="272" r:id="rId19"/>
    <p:sldId id="273" r:id="rId20"/>
    <p:sldId id="274" r:id="rId21"/>
    <p:sldId id="275" r:id="rId22"/>
    <p:sldId id="278" r:id="rId23"/>
    <p:sldId id="276" r:id="rId24"/>
    <p:sldId id="261"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2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customXml" Target="../customXml/item1.xml"/><Relationship Id="rId30" Type="http://schemas.openxmlformats.org/officeDocument/2006/relationships/customXmlProps" Target="../customXml/itemProps87.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t>Data-selection criteria:</a:t>
            </a:r>
            <a:endParaRPr lang="en-US"/>
          </a:p>
          <a:p>
            <a:r>
              <a:rPr lang="en-US" altLang="en-US"/>
              <a:t>(1) </a:t>
            </a:r>
            <a:r>
              <a:rPr lang="en-US" altLang="en-US" b="1">
                <a:latin typeface="PingFang SC Semibold" panose="020B0400000000000000" charset="-122"/>
                <a:ea typeface="PingFang SC Semibold" panose="020B0400000000000000" charset="-122"/>
              </a:rPr>
              <a:t>high-quality</a:t>
            </a:r>
            <a:r>
              <a:rPr lang="en-US" altLang="en-US"/>
              <a:t> — ensuring reliable annotations; </a:t>
            </a:r>
            <a:endParaRPr lang="en-US" altLang="en-US"/>
          </a:p>
          <a:p>
            <a:endParaRPr lang="en-US" altLang="en-US"/>
          </a:p>
          <a:p>
            <a:r>
              <a:rPr lang="en-US" altLang="en-US"/>
              <a:t>(2)</a:t>
            </a:r>
            <a:r>
              <a:rPr lang="en-US" altLang="en-US" b="1">
                <a:latin typeface="PingFang SC Semibold" panose="020B0400000000000000" charset="-122"/>
                <a:ea typeface="PingFang SC Semibold" panose="020B0400000000000000" charset="-122"/>
              </a:rPr>
              <a:t> large-scale</a:t>
            </a:r>
            <a:r>
              <a:rPr lang="en-US" altLang="en-US"/>
              <a:t> — enabling sufficient coverage of the data distribution; </a:t>
            </a:r>
            <a:endParaRPr lang="en-US" altLang="en-US"/>
          </a:p>
          <a:p>
            <a:endParaRPr lang="en-US" altLang="en-US"/>
          </a:p>
          <a:p>
            <a:r>
              <a:rPr lang="en-US" altLang="en-US"/>
              <a:t>(3) </a:t>
            </a:r>
            <a:r>
              <a:rPr lang="en-US" altLang="en-US" b="1">
                <a:latin typeface="PingFang SC Semibold" panose="020B0400000000000000" charset="-122"/>
                <a:ea typeface="PingFang SC Semibold" panose="020B0400000000000000" charset="-122"/>
              </a:rPr>
              <a:t>diverse-balanced </a:t>
            </a:r>
            <a:r>
              <a:rPr lang="en-US" altLang="en-US"/>
              <a:t>— mitigating bias and capturing variability; </a:t>
            </a:r>
            <a:endParaRPr lang="en-US" altLang="en-US"/>
          </a:p>
          <a:p>
            <a:endParaRPr lang="en-US" altLang="en-US"/>
          </a:p>
          <a:p>
            <a:r>
              <a:rPr lang="en-US" altLang="en-US"/>
              <a:t>(4) </a:t>
            </a:r>
            <a:r>
              <a:rPr lang="en-US" altLang="en-US" b="1">
                <a:latin typeface="PingFang SC Semibold" panose="020B0400000000000000" charset="-122"/>
                <a:ea typeface="PingFang SC Semibold" panose="020B0400000000000000" charset="-122"/>
              </a:rPr>
              <a:t>targeted-supplementary</a:t>
            </a:r>
            <a:r>
              <a:rPr lang="en-US" altLang="en-US"/>
              <a:t> — focusing on samples that complement existing data and maximize information gain.</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5.xml"/><Relationship Id="rId3"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6.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image" Target="../media/image1.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image" Target="../media/image4.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0.xml"/><Relationship Id="rId2" Type="http://schemas.openxmlformats.org/officeDocument/2006/relationships/image" Target="../media/image6.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image" Target="../media/image9.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image" Target="../media/image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11.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5.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76.xml"/><Relationship Id="rId5" Type="http://schemas.openxmlformats.org/officeDocument/2006/relationships/image" Target="../media/image16.png"/><Relationship Id="rId4" Type="http://schemas.openxmlformats.org/officeDocument/2006/relationships/hyperlink" Target="https://stable-diffusion-art.com/cfg-scale/" TargetMode="Externa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image" Target="../media/image1.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8.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image" Target="../media/image20.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1.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2.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image" Target="../media/image1.png"/><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4.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5.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image" Target="../media/image31.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normAutofit/>
          </a:bodyPr>
          <a:p>
            <a:r>
              <a:rPr lang="en-US" altLang="en-US" sz="3200">
                <a:latin typeface="Times New Roman Regular" panose="02020503050405090304" charset="0"/>
                <a:cs typeface="Times New Roman Regular" panose="02020503050405090304" charset="0"/>
              </a:rPr>
              <a:t>Mitigating Object Hallucinations in Large Vision-Language Models through Visual Contrastive Decoding</a:t>
            </a:r>
            <a:endParaRPr lang="en-US" altLang="en-US" sz="3200">
              <a:latin typeface="Times New Roman Regular" panose="02020503050405090304" charset="0"/>
              <a:cs typeface="Times New Roman Regular" panose="02020503050405090304" charset="0"/>
            </a:endParaRPr>
          </a:p>
        </p:txBody>
      </p:sp>
      <p:sp>
        <p:nvSpPr>
          <p:cNvPr id="3" name="副标题 2"/>
          <p:cNvSpPr>
            <a:spLocks noGrp="1"/>
          </p:cNvSpPr>
          <p:nvPr>
            <p:ph type="subTitle" idx="1"/>
            <p:custDataLst>
              <p:tags r:id="rId2"/>
            </p:custDataLst>
          </p:nvPr>
        </p:nvSpPr>
        <p:spPr>
          <a:xfrm>
            <a:off x="1198880" y="3560445"/>
            <a:ext cx="9799320" cy="2204085"/>
          </a:xfrm>
        </p:spPr>
        <p:txBody>
          <a:bodyPr>
            <a:normAutofit lnSpcReduction="20000"/>
          </a:bodyPr>
          <a:p>
            <a:r>
              <a:rPr lang="en-US" altLang="en-US" sz="2000">
                <a:latin typeface="Times New Roman Regular" panose="02020503050405090304" charset="0"/>
                <a:cs typeface="Times New Roman Regular" panose="02020503050405090304" charset="0"/>
              </a:rPr>
              <a:t>Sicong Leng</a:t>
            </a:r>
            <a:r>
              <a:rPr lang="en-US" altLang="en-US" sz="2000" baseline="30000">
                <a:latin typeface="Times New Roman Regular" panose="02020503050405090304" charset="0"/>
                <a:cs typeface="Times New Roman Regular" panose="02020503050405090304" charset="0"/>
              </a:rPr>
              <a:t>1,2,*</a:t>
            </a:r>
            <a:r>
              <a:rPr lang="en-US" altLang="en-US" sz="2000">
                <a:latin typeface="Times New Roman Regular" panose="02020503050405090304" charset="0"/>
                <a:cs typeface="Times New Roman Regular" panose="02020503050405090304" charset="0"/>
              </a:rPr>
              <a:t> Hang Zhang</a:t>
            </a:r>
            <a:r>
              <a:rPr lang="en-US" altLang="en-US" sz="2000" baseline="30000">
                <a:latin typeface="Times New Roman Regular" panose="02020503050405090304" charset="0"/>
                <a:cs typeface="Times New Roman Regular" panose="02020503050405090304" charset="0"/>
              </a:rPr>
              <a:t>1,3,*</a:t>
            </a:r>
            <a:r>
              <a:rPr lang="en-US" altLang="en-US" sz="2000">
                <a:latin typeface="Times New Roman Regular" panose="02020503050405090304" charset="0"/>
                <a:cs typeface="Times New Roman Regular" panose="02020503050405090304" charset="0"/>
              </a:rPr>
              <a:t> Guanzheng Chen</a:t>
            </a:r>
            <a:r>
              <a:rPr lang="en-US" altLang="en-US" sz="2000" baseline="30000">
                <a:latin typeface="Times New Roman Regular" panose="02020503050405090304" charset="0"/>
                <a:cs typeface="Times New Roman Regular" panose="02020503050405090304" charset="0"/>
              </a:rPr>
              <a:t>1,3</a:t>
            </a:r>
            <a:r>
              <a:rPr lang="en-US" altLang="en-US" sz="2000">
                <a:latin typeface="Times New Roman Regular" panose="02020503050405090304" charset="0"/>
                <a:cs typeface="Times New Roman Regular" panose="02020503050405090304" charset="0"/>
              </a:rPr>
              <a:t> Xin Li</a:t>
            </a:r>
            <a:r>
              <a:rPr lang="en-US" altLang="en-US" sz="2000" baseline="30000">
                <a:latin typeface="Times New Roman Regular" panose="02020503050405090304" charset="0"/>
                <a:cs typeface="Times New Roman Regular" panose="02020503050405090304" charset="0"/>
              </a:rPr>
              <a:t>1,3,†</a:t>
            </a:r>
            <a:r>
              <a:rPr lang="en-US" altLang="en-US" sz="2000">
                <a:latin typeface="Times New Roman Regular" panose="02020503050405090304" charset="0"/>
                <a:cs typeface="Times New Roman Regular" panose="02020503050405090304" charset="0"/>
              </a:rPr>
              <a:t> Shijian Lu</a:t>
            </a:r>
            <a:r>
              <a:rPr lang="en-US" altLang="en-US" sz="2000" baseline="30000">
                <a:latin typeface="Times New Roman Regular" panose="02020503050405090304" charset="0"/>
                <a:cs typeface="Times New Roman Regular" panose="02020503050405090304" charset="0"/>
              </a:rPr>
              <a:t>2</a:t>
            </a:r>
            <a:r>
              <a:rPr lang="en-US" altLang="en-US" sz="2000">
                <a:latin typeface="Times New Roman Regular" panose="02020503050405090304" charset="0"/>
                <a:cs typeface="Times New Roman Regular" panose="02020503050405090304" charset="0"/>
              </a:rPr>
              <a:t> Chunyan Miao</a:t>
            </a:r>
            <a:r>
              <a:rPr lang="en-US" altLang="en-US" sz="2000" baseline="30000">
                <a:latin typeface="Times New Roman Regular" panose="02020503050405090304" charset="0"/>
                <a:cs typeface="Times New Roman Regular" panose="02020503050405090304" charset="0"/>
              </a:rPr>
              <a:t>2</a:t>
            </a:r>
            <a:r>
              <a:rPr lang="en-US" altLang="en-US" sz="2000">
                <a:latin typeface="Times New Roman Regular" panose="02020503050405090304" charset="0"/>
                <a:cs typeface="Times New Roman Regular" panose="02020503050405090304" charset="0"/>
              </a:rPr>
              <a:t> Lidong Bing</a:t>
            </a:r>
            <a:r>
              <a:rPr lang="en-US" altLang="en-US" sz="2000" baseline="30000">
                <a:latin typeface="Times New Roman Regular" panose="02020503050405090304" charset="0"/>
                <a:cs typeface="Times New Roman Regular" panose="02020503050405090304" charset="0"/>
              </a:rPr>
              <a:t>1,3</a:t>
            </a:r>
            <a:endParaRPr lang="en-US" altLang="en-US" sz="2000" baseline="30000">
              <a:latin typeface="Times New Roman Regular" panose="02020503050405090304" charset="0"/>
              <a:cs typeface="Times New Roman Regular" panose="02020503050405090304" charset="0"/>
            </a:endParaRPr>
          </a:p>
          <a:p>
            <a:r>
              <a:rPr lang="en-US" altLang="en-US" sz="2000" baseline="30000">
                <a:latin typeface="Times New Roman Regular" panose="02020503050405090304" charset="0"/>
                <a:cs typeface="Times New Roman Regular" panose="02020503050405090304" charset="0"/>
              </a:rPr>
              <a:t>1</a:t>
            </a:r>
            <a:r>
              <a:rPr lang="en-US" altLang="en-US" sz="2000">
                <a:latin typeface="Times New Roman Regular" panose="02020503050405090304" charset="0"/>
                <a:cs typeface="Times New Roman Regular" panose="02020503050405090304" charset="0"/>
              </a:rPr>
              <a:t>DAMO Academy, Alibaba Group </a:t>
            </a:r>
            <a:r>
              <a:rPr lang="en-US" altLang="en-US" sz="2000" baseline="30000">
                <a:latin typeface="Times New Roman Regular" panose="02020503050405090304" charset="0"/>
                <a:cs typeface="Times New Roman Regular" panose="02020503050405090304" charset="0"/>
              </a:rPr>
              <a:t>2</a:t>
            </a:r>
            <a:r>
              <a:rPr lang="en-US" altLang="en-US" sz="2000">
                <a:latin typeface="Times New Roman Regular" panose="02020503050405090304" charset="0"/>
                <a:cs typeface="Times New Roman Regular" panose="02020503050405090304" charset="0"/>
              </a:rPr>
              <a:t>Nanyang Technological University </a:t>
            </a:r>
            <a:r>
              <a:rPr lang="en-US" altLang="en-US" sz="2000" baseline="30000">
                <a:latin typeface="Times New Roman Regular" panose="02020503050405090304" charset="0"/>
                <a:cs typeface="Times New Roman Regular" panose="02020503050405090304" charset="0"/>
              </a:rPr>
              <a:t>3</a:t>
            </a:r>
            <a:r>
              <a:rPr lang="en-US" altLang="en-US" sz="2000">
                <a:latin typeface="Times New Roman Regular" panose="02020503050405090304" charset="0"/>
                <a:cs typeface="Times New Roman Regular" panose="02020503050405090304" charset="0"/>
              </a:rPr>
              <a:t>Hupan Lab, 310023, Hangzhou, China</a:t>
            </a:r>
            <a:endParaRPr lang="en-US" altLang="en-US" sz="2000">
              <a:latin typeface="Times New Roman Regular" panose="02020503050405090304" charset="0"/>
              <a:cs typeface="Times New Roman Regular" panose="02020503050405090304" charset="0"/>
            </a:endParaRPr>
          </a:p>
          <a:p>
            <a:r>
              <a:rPr lang="en-US" altLang="en-US" sz="2000">
                <a:latin typeface="Times New Roman Regular" panose="02020503050405090304" charset="0"/>
                <a:cs typeface="Times New Roman Regular" panose="02020503050405090304" charset="0"/>
              </a:rPr>
              <a:t>  (CVPR 2024 Highlight)</a:t>
            </a:r>
            <a:endParaRPr lang="en-US" altLang="en-US" sz="2000">
              <a:latin typeface="Times New Roman Regular" panose="02020503050405090304" charset="0"/>
              <a:cs typeface="Times New Roman Regular" panose="02020503050405090304" charset="0"/>
            </a:endParaRPr>
          </a:p>
          <a:p>
            <a:endParaRPr lang="en-US" altLang="en-US" sz="2000">
              <a:latin typeface="Times New Roman Regular" panose="02020503050405090304" charset="0"/>
              <a:cs typeface="Times New Roman Regular" panose="02020503050405090304" charset="0"/>
            </a:endParaRPr>
          </a:p>
          <a:p>
            <a:endParaRPr lang="en-US" altLang="en-US" sz="2000">
              <a:latin typeface="Times New Roman Regular" panose="02020503050405090304" charset="0"/>
              <a:cs typeface="Times New Roman Regular" panose="02020503050405090304" charset="0"/>
            </a:endParaRPr>
          </a:p>
        </p:txBody>
      </p:sp>
      <p:pic>
        <p:nvPicPr>
          <p:cNvPr id="5" name="Picture 4"/>
          <p:cNvPicPr>
            <a:picLocks noChangeAspect="1"/>
          </p:cNvPicPr>
          <p:nvPr/>
        </p:nvPicPr>
        <p:blipFill>
          <a:blip r:embed="rId3"/>
          <a:stretch>
            <a:fillRect/>
          </a:stretch>
        </p:blipFill>
        <p:spPr>
          <a:xfrm>
            <a:off x="11149965" y="0"/>
            <a:ext cx="1042035" cy="1042035"/>
          </a:xfrm>
          <a:prstGeom prst="rect">
            <a:avLst/>
          </a:prstGeom>
        </p:spPr>
      </p:pic>
      <p:sp>
        <p:nvSpPr>
          <p:cNvPr id="7" name="文本框 5"/>
          <p:cNvSpPr txBox="1"/>
          <p:nvPr/>
        </p:nvSpPr>
        <p:spPr>
          <a:xfrm>
            <a:off x="9610090" y="6489700"/>
            <a:ext cx="4064000" cy="368300"/>
          </a:xfrm>
          <a:prstGeom prst="rect">
            <a:avLst/>
          </a:prstGeom>
          <a:noFill/>
        </p:spPr>
        <p:txBody>
          <a:bodyPr wrap="square" rtlCol="0">
            <a:spAutoFit/>
          </a:bodyPr>
          <a:p>
            <a:r>
              <a:rPr lang="en-US" altLang="zh-CN">
                <a:effectLst>
                  <a:outerShdw blurRad="38100" dist="38100" dir="2700000" algn="tl">
                    <a:srgbClr val="000000">
                      <a:alpha val="43137"/>
                    </a:srgbClr>
                  </a:outerShdw>
                </a:effectLst>
                <a:latin typeface="Times New Roman Regular" panose="02020503050405090304" charset="0"/>
                <a:cs typeface="Times New Roman Regular" panose="02020503050405090304" charset="0"/>
              </a:rPr>
              <a:t>Presented by Zezhao Guo</a:t>
            </a:r>
            <a:endParaRPr lang="en-US" altLang="zh-CN">
              <a:effectLst>
                <a:outerShdw blurRad="38100" dist="38100" dir="2700000" algn="tl">
                  <a:srgbClr val="000000">
                    <a:alpha val="43137"/>
                  </a:srgbClr>
                </a:outerShdw>
              </a:effectLst>
              <a:latin typeface="Times New Roman Regular" panose="02020503050405090304" charset="0"/>
              <a:cs typeface="Times New Roman Regular" panose="02020503050405090304" charset="0"/>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rPr>
              <a:t>Backgrounds</a:t>
            </a:r>
            <a:endParaRPr lang="en-US" sz="3200">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sp>
        <p:nvSpPr>
          <p:cNvPr id="42" name="Content Placeholder 41"/>
          <p:cNvSpPr/>
          <p:nvPr>
            <p:ph idx="1"/>
          </p:nvPr>
        </p:nvSpPr>
        <p:spPr>
          <a:xfrm>
            <a:off x="608330" y="1488440"/>
            <a:ext cx="10968990" cy="4761230"/>
          </a:xfrm>
        </p:spPr>
        <p:txBody>
          <a:bodyPr/>
          <a:p>
            <a:pPr>
              <a:buFont typeface="Arial" panose="020B0604020202090204" pitchFamily="34" charset="0"/>
              <a:buChar char="•"/>
            </a:pPr>
            <a:r>
              <a:rPr lang="en-US">
                <a:latin typeface="Thonburi Regular" panose="00000400000000000000" charset="0"/>
                <a:cs typeface="Thonburi Regular" panose="00000400000000000000" charset="0"/>
              </a:rPr>
              <a:t>From GPT-2 to GPT-5, the evolution of large foundation models (LFM) emerges new capabilities.</a:t>
            </a:r>
            <a:endParaRPr lang="en-US">
              <a:latin typeface="Thonburi Regular" panose="00000400000000000000" charset="0"/>
              <a:cs typeface="Thonburi Regular" panose="00000400000000000000" charset="0"/>
            </a:endParaRPr>
          </a:p>
          <a:p>
            <a:pPr>
              <a:buFont typeface="Arial" panose="020B0604020202090204" pitchFamily="34" charset="0"/>
              <a:buChar char="•"/>
            </a:pPr>
            <a:r>
              <a:rPr lang="en-US">
                <a:latin typeface="Thonburi Regular" panose="00000400000000000000" charset="0"/>
                <a:cs typeface="Thonburi Regular" panose="00000400000000000000" charset="0"/>
              </a:rPr>
              <a:t>To achieve Aritificial General Intelligence (AGI), one of </a:t>
            </a:r>
            <a:r>
              <a:rPr lang="en-US" altLang="en-US">
                <a:latin typeface="Thonburi Regular" panose="00000400000000000000" charset="0"/>
                <a:cs typeface="Thonburi Regular" panose="00000400000000000000" charset="0"/>
              </a:rPr>
              <a:t>indispensable</a:t>
            </a:r>
            <a:r>
              <a:rPr lang="en-US">
                <a:latin typeface="Thonburi Regular" panose="00000400000000000000" charset="0"/>
                <a:cs typeface="Thonburi Regular" panose="00000400000000000000" charset="0"/>
              </a:rPr>
              <a:t> capabilities is the expansion of input and output modalities.</a:t>
            </a:r>
            <a:endParaRPr lang="en-US">
              <a:latin typeface="Thonburi Regular" panose="00000400000000000000" charset="0"/>
              <a:cs typeface="Thonburi Regular" panose="00000400000000000000" charset="0"/>
            </a:endParaRPr>
          </a:p>
        </p:txBody>
      </p:sp>
      <p:pic>
        <p:nvPicPr>
          <p:cNvPr id="64" name="Picture 63" descr="New Emergent Capabilities"/>
          <p:cNvPicPr>
            <a:picLocks noChangeAspect="1"/>
          </p:cNvPicPr>
          <p:nvPr/>
        </p:nvPicPr>
        <p:blipFill>
          <a:blip r:embed="rId2"/>
          <a:stretch>
            <a:fillRect/>
          </a:stretch>
        </p:blipFill>
        <p:spPr>
          <a:xfrm>
            <a:off x="636905" y="3352165"/>
            <a:ext cx="10751185" cy="3013075"/>
          </a:xfrm>
          <a:prstGeom prst="rect">
            <a:avLst/>
          </a:prstGeom>
        </p:spPr>
      </p:pic>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buClrTx/>
              <a:buSzTx/>
              <a:buFontTx/>
            </a:pPr>
            <a:r>
              <a:rPr lang="en-US" sz="3200">
                <a:latin typeface="Thonburi Regular" panose="00000400000000000000" charset="0"/>
                <a:cs typeface="Thonburi Regular" panose="00000400000000000000" charset="0"/>
              </a:rPr>
              <a:t>How to build a MLLM</a:t>
            </a:r>
            <a:r>
              <a:rPr lang="en-US" sz="3200" baseline="30000">
                <a:latin typeface="Thonburi Regular" panose="00000400000000000000" charset="0"/>
                <a:cs typeface="Thonburi Regular" panose="00000400000000000000" charset="0"/>
              </a:rPr>
              <a:t>[1]</a:t>
            </a:r>
            <a:r>
              <a:rPr lang="en-US" sz="3200">
                <a:latin typeface="Thonburi Regular" panose="00000400000000000000" charset="0"/>
                <a:cs typeface="Thonburi Regular" panose="00000400000000000000" charset="0"/>
              </a:rPr>
              <a:t>?</a:t>
            </a:r>
            <a:endParaRPr lang="en-US" sz="3200">
              <a:latin typeface="Thonburi Regular" panose="00000400000000000000" charset="0"/>
              <a:cs typeface="Thonburi Regular" panose="00000400000000000000" charset="0"/>
            </a:endParaRPr>
          </a:p>
        </p:txBody>
      </p:sp>
      <p:pic>
        <p:nvPicPr>
          <p:cNvPr id="4" name="Content Placeholder 3"/>
          <p:cNvPicPr>
            <a:picLocks noChangeAspect="1"/>
          </p:cNvPicPr>
          <p:nvPr>
            <p:ph idx="1"/>
          </p:nvPr>
        </p:nvPicPr>
        <p:blipFill>
          <a:blip r:embed="rId1"/>
          <a:stretch>
            <a:fillRect/>
          </a:stretch>
        </p:blipFill>
        <p:spPr>
          <a:xfrm>
            <a:off x="6216015" y="1490345"/>
            <a:ext cx="5414010" cy="4596130"/>
          </a:xfrm>
          <a:prstGeom prst="rect">
            <a:avLst/>
          </a:prstGeom>
        </p:spPr>
      </p:pic>
      <p:pic>
        <p:nvPicPr>
          <p:cNvPr id="5" name="Picture 4"/>
          <p:cNvPicPr>
            <a:picLocks noChangeAspect="1"/>
          </p:cNvPicPr>
          <p:nvPr/>
        </p:nvPicPr>
        <p:blipFill>
          <a:blip r:embed="rId2"/>
          <a:stretch>
            <a:fillRect/>
          </a:stretch>
        </p:blipFill>
        <p:spPr>
          <a:xfrm>
            <a:off x="11149965" y="0"/>
            <a:ext cx="1042035" cy="1042035"/>
          </a:xfrm>
          <a:prstGeom prst="rect">
            <a:avLst/>
          </a:prstGeom>
        </p:spPr>
      </p:pic>
      <p:sp>
        <p:nvSpPr>
          <p:cNvPr id="9" name="Content Placeholder 2"/>
          <p:cNvSpPr>
            <a:spLocks noGrp="1"/>
          </p:cNvSpPr>
          <p:nvPr/>
        </p:nvSpPr>
        <p:spPr>
          <a:xfrm>
            <a:off x="608330" y="1490345"/>
            <a:ext cx="5487670" cy="4759325"/>
          </a:xfrm>
          <a:prstGeom prst="rect">
            <a:avLst/>
          </a:prstGeom>
        </p:spPr>
        <p:txBody>
          <a:bodyPr vert="horz" lIns="90000" tIns="46800" rIns="90000" bIns="46800" rtlCol="0">
            <a:normAutofit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atin typeface="Thonburi Regular" panose="00000400000000000000" charset="0"/>
                <a:cs typeface="Thonburi Regular" panose="00000400000000000000" charset="0"/>
              </a:rPr>
              <a:t>The naive idea (non-native MLLM) is to connect pre-trained modality foundation encoders with a pre-trained LLM using a learnable connector, like an MLP or a Q-Former, which projects other modalities into the textual space.</a:t>
            </a:r>
            <a:endParaRPr lang="en-US">
              <a:latin typeface="Thonburi Regular" panose="00000400000000000000" charset="0"/>
              <a:cs typeface="Thonburi Regular" panose="00000400000000000000" charset="0"/>
            </a:endParaRPr>
          </a:p>
          <a:p>
            <a:r>
              <a:rPr lang="en-US">
                <a:latin typeface="Thonburi Regular" panose="00000400000000000000" charset="0"/>
                <a:cs typeface="Thonburi Regular" panose="00000400000000000000" charset="0"/>
              </a:rPr>
              <a:t>However, the biggest issue of this idea is that </a:t>
            </a:r>
            <a:r>
              <a:rPr lang="en-US" altLang="en-US">
                <a:latin typeface="Thonburi Regular" panose="00000400000000000000" charset="0"/>
                <a:cs typeface="Thonburi Regular" panose="00000400000000000000" charset="0"/>
              </a:rPr>
              <a:t>how to achieve effective alignment of latent representations across other modalities into the textual space. </a:t>
            </a:r>
            <a:r>
              <a:rPr lang="en-US">
                <a:latin typeface="Thonburi Regular" panose="00000400000000000000" charset="0"/>
                <a:cs typeface="Thonburi Regular" panose="00000400000000000000" charset="0"/>
                <a:sym typeface="+mn-ea"/>
              </a:rPr>
              <a:t>In other words, the biggest challenge </a:t>
            </a:r>
            <a:r>
              <a:rPr lang="en-US">
                <a:latin typeface="Thonburi Regular" panose="00000400000000000000" charset="0"/>
                <a:cs typeface="Thonburi Regular" panose="00000400000000000000" charset="0"/>
                <a:sym typeface="+mn-ea"/>
              </a:rPr>
              <a:t>here is to solve the </a:t>
            </a:r>
            <a:r>
              <a:rPr lang="en-US" b="1" i="1">
                <a:latin typeface="Thonburi Bold" panose="00000400000000000000" charset="0"/>
                <a:cs typeface="Thonburi Bold" panose="00000400000000000000" charset="0"/>
                <a:sym typeface="+mn-ea"/>
              </a:rPr>
              <a:t>misalignment</a:t>
            </a:r>
            <a:r>
              <a:rPr lang="en-US">
                <a:latin typeface="Thonburi Regular" panose="00000400000000000000" charset="0"/>
                <a:cs typeface="Thonburi Regular" panose="00000400000000000000" charset="0"/>
                <a:sym typeface="+mn-ea"/>
              </a:rPr>
              <a:t>, which leads directly to </a:t>
            </a:r>
            <a:r>
              <a:rPr lang="en-US" b="1" i="1">
                <a:latin typeface="Thonburi Bold" panose="00000400000000000000" charset="0"/>
                <a:cs typeface="Thonburi Bold" panose="00000400000000000000" charset="0"/>
                <a:sym typeface="+mn-ea"/>
              </a:rPr>
              <a:t>hallucinations</a:t>
            </a:r>
            <a:r>
              <a:rPr lang="en-US">
                <a:latin typeface="Thonburi Regular" panose="00000400000000000000" charset="0"/>
                <a:cs typeface="Thonburi Regular" panose="00000400000000000000" charset="0"/>
                <a:sym typeface="+mn-ea"/>
              </a:rPr>
              <a:t>.</a:t>
            </a:r>
            <a:endParaRPr lang="en-US" altLang="en-US">
              <a:latin typeface="Thonburi Regular" panose="00000400000000000000" charset="0"/>
              <a:cs typeface="Thonburi Regular" panose="00000400000000000000" charset="0"/>
            </a:endParaRPr>
          </a:p>
        </p:txBody>
      </p:sp>
      <p:sp>
        <p:nvSpPr>
          <p:cNvPr id="10" name="Text Box 9"/>
          <p:cNvSpPr txBox="1"/>
          <p:nvPr/>
        </p:nvSpPr>
        <p:spPr>
          <a:xfrm>
            <a:off x="-38100" y="6536055"/>
            <a:ext cx="5935345" cy="271145"/>
          </a:xfrm>
          <a:prstGeom prst="rect">
            <a:avLst/>
          </a:prstGeom>
          <a:noFill/>
        </p:spPr>
        <p:txBody>
          <a:bodyPr wrap="square" rtlCol="0">
            <a:noAutofit/>
          </a:bodyPr>
          <a:p>
            <a:r>
              <a:rPr lang="en-US" altLang="en-US" sz="1600">
                <a:latin typeface="Thonburi Regular" panose="00000400000000000000" charset="0"/>
                <a:cs typeface="Thonburi Regular" panose="00000400000000000000" charset="0"/>
              </a:rPr>
              <a:t>[1] A Survey on Multimodal Large Language Models</a:t>
            </a:r>
            <a:endParaRPr lang="en-US" altLang="en-US" sz="1600">
              <a:latin typeface="Thonburi Regular" panose="00000400000000000000" charset="0"/>
              <a:cs typeface="Thonburi Regular" panose="00000400000000000000" charset="0"/>
            </a:endParaRPr>
          </a:p>
        </p:txBody>
      </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2</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rPr>
              <a:t>Causes of Misalignment</a:t>
            </a:r>
            <a:r>
              <a:rPr lang="en-US" sz="3200" baseline="30000">
                <a:latin typeface="Thonburi Regular" panose="00000400000000000000" charset="0"/>
                <a:cs typeface="Thonburi Regular" panose="00000400000000000000" charset="0"/>
              </a:rPr>
              <a:t>[2]</a:t>
            </a:r>
            <a:endParaRPr lang="en-US" sz="3200" baseline="30000">
              <a:latin typeface="Thonburi Regular" panose="00000400000000000000" charset="0"/>
              <a:cs typeface="Thonburi Regular" panose="00000400000000000000" charset="0"/>
            </a:endParaRPr>
          </a:p>
        </p:txBody>
      </p:sp>
      <p:sp>
        <p:nvSpPr>
          <p:cNvPr id="3" name="Content Placeholder 2"/>
          <p:cNvSpPr>
            <a:spLocks noGrp="1"/>
          </p:cNvSpPr>
          <p:nvPr>
            <p:ph idx="1"/>
          </p:nvPr>
        </p:nvSpPr>
        <p:spPr/>
        <p:txBody>
          <a:bodyPr/>
          <a:p>
            <a:pPr>
              <a:buFont typeface="Wingdings" panose="05000000000000000000" charset="0"/>
              <a:buChar char=""/>
            </a:pPr>
            <a:r>
              <a:rPr lang="en-US">
                <a:latin typeface="Thonburi Regular" panose="00000400000000000000" charset="0"/>
                <a:cs typeface="Thonburi Regular" panose="00000400000000000000" charset="0"/>
                <a:sym typeface="+mn-ea"/>
              </a:rPr>
              <a:t>Data-level c</a:t>
            </a:r>
            <a:r>
              <a:rPr lang="en-US">
                <a:latin typeface="Thonburi Regular" panose="00000400000000000000" charset="0"/>
                <a:cs typeface="Thonburi Regular" panose="00000400000000000000" charset="0"/>
              </a:rPr>
              <a:t>auses for Misalignment</a:t>
            </a:r>
            <a:endParaRPr lang="en-US">
              <a:latin typeface="Thonburi Regular" panose="00000400000000000000" charset="0"/>
              <a:cs typeface="Thonburi Regular" panose="00000400000000000000" charset="0"/>
            </a:endParaRPr>
          </a:p>
          <a:p>
            <a:pPr lvl="1">
              <a:buFont typeface="Wingdings" panose="05000000000000000000" charset="0"/>
              <a:buChar char=""/>
            </a:pPr>
            <a:r>
              <a:rPr lang="en-US">
                <a:latin typeface="Thonburi Regular" panose="00000400000000000000" charset="0"/>
                <a:cs typeface="Thonburi Regular" panose="00000400000000000000" charset="0"/>
              </a:rPr>
              <a:t> </a:t>
            </a:r>
            <a:r>
              <a:rPr lang="en-US" altLang="en-US" i="1">
                <a:latin typeface="Thonburi Regular" panose="00000400000000000000" charset="0"/>
                <a:ea typeface="PingFang SC" panose="020B0400000000000000" charset="-122"/>
                <a:cs typeface="Thonburi Regular" panose="00000400000000000000" charset="0"/>
              </a:rPr>
              <a:t>Data imperfections</a:t>
            </a:r>
            <a:r>
              <a:rPr lang="en-US" altLang="en-US">
                <a:latin typeface="Thonburi Regular" panose="00000400000000000000" charset="0"/>
                <a:ea typeface="PingFang SC" panose="020B0400000000000000" charset="-122"/>
                <a:cs typeface="Thonburi Regular" panose="00000400000000000000" charset="0"/>
              </a:rPr>
              <a:t>, which include</a:t>
            </a:r>
            <a:r>
              <a:rPr lang="en-US" altLang="en-US" i="1">
                <a:latin typeface="Thonburi Regular" panose="00000400000000000000" charset="0"/>
                <a:ea typeface="PingFang SC" panose="020B0400000000000000" charset="-122"/>
                <a:cs typeface="Thonburi Regular" panose="00000400000000000000" charset="0"/>
              </a:rPr>
              <a:t> </a:t>
            </a:r>
            <a:r>
              <a:rPr lang="en-US" altLang="en-US">
                <a:latin typeface="Thonburi Regular" panose="00000400000000000000" charset="0"/>
                <a:cs typeface="Thonburi Regular" panose="00000400000000000000" charset="0"/>
              </a:rPr>
              <a:t>blurry images, vague or inaccurate captions, and mismatched image-caption pairs.</a:t>
            </a:r>
            <a:br>
              <a:rPr lang="en-US">
                <a:latin typeface="Thonburi Regular" panose="00000400000000000000" charset="0"/>
                <a:cs typeface="Thonburi Regular" panose="00000400000000000000" charset="0"/>
              </a:rPr>
            </a:br>
            <a:endParaRPr lang="en-US">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sp>
        <p:nvSpPr>
          <p:cNvPr id="7" name="Text Box 6"/>
          <p:cNvSpPr txBox="1"/>
          <p:nvPr/>
        </p:nvSpPr>
        <p:spPr>
          <a:xfrm>
            <a:off x="-57785" y="6567805"/>
            <a:ext cx="12250420" cy="337185"/>
          </a:xfrm>
          <a:prstGeom prst="rect">
            <a:avLst/>
          </a:prstGeom>
          <a:noFill/>
        </p:spPr>
        <p:txBody>
          <a:bodyPr wrap="square" rtlCol="0">
            <a:spAutoFit/>
          </a:bodyPr>
          <a:p>
            <a:r>
              <a:rPr lang="en-US" altLang="en-US" sz="1600">
                <a:latin typeface="Thonburi Regular" panose="00000400000000000000" charset="0"/>
                <a:cs typeface="Thonburi Regular" panose="00000400000000000000" charset="0"/>
              </a:rPr>
              <a:t>[2] Large Vision-Language Model Alignment and Misalignment: A Survey Through the Lens of Explainability</a:t>
            </a:r>
            <a:endParaRPr lang="en-US" altLang="en-US" sz="1600">
              <a:latin typeface="Thonburi Regular" panose="00000400000000000000" charset="0"/>
              <a:cs typeface="Thonburi Regular" panose="00000400000000000000" charset="0"/>
            </a:endParaRPr>
          </a:p>
        </p:txBody>
      </p:sp>
      <p:grpSp>
        <p:nvGrpSpPr>
          <p:cNvPr id="12" name="Group 11"/>
          <p:cNvGrpSpPr/>
          <p:nvPr/>
        </p:nvGrpSpPr>
        <p:grpSpPr>
          <a:xfrm>
            <a:off x="840105" y="2799080"/>
            <a:ext cx="10309860" cy="3498850"/>
            <a:chOff x="1323" y="4408"/>
            <a:chExt cx="16236" cy="5510"/>
          </a:xfrm>
        </p:grpSpPr>
        <p:pic>
          <p:nvPicPr>
            <p:cNvPr id="6" name="Picture 5"/>
            <p:cNvPicPr>
              <a:picLocks noChangeAspect="1"/>
            </p:cNvPicPr>
            <p:nvPr/>
          </p:nvPicPr>
          <p:blipFill>
            <a:blip r:embed="rId2"/>
            <a:stretch>
              <a:fillRect/>
            </a:stretch>
          </p:blipFill>
          <p:spPr>
            <a:xfrm>
              <a:off x="1323" y="4408"/>
              <a:ext cx="16236" cy="5510"/>
            </a:xfrm>
            <a:prstGeom prst="rect">
              <a:avLst/>
            </a:prstGeom>
          </p:spPr>
        </p:pic>
        <p:sp>
          <p:nvSpPr>
            <p:cNvPr id="8" name="Rounded Rectangle 7"/>
            <p:cNvSpPr/>
            <p:nvPr/>
          </p:nvSpPr>
          <p:spPr>
            <a:xfrm>
              <a:off x="13719" y="6479"/>
              <a:ext cx="3590" cy="1734"/>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9" name="Text Box 8"/>
            <p:cNvSpPr txBox="1"/>
            <p:nvPr/>
          </p:nvSpPr>
          <p:spPr>
            <a:xfrm>
              <a:off x="14202" y="6039"/>
              <a:ext cx="2373" cy="531"/>
            </a:xfrm>
            <a:prstGeom prst="rect">
              <a:avLst/>
            </a:prstGeom>
            <a:noFill/>
          </p:spPr>
          <p:txBody>
            <a:bodyPr wrap="square" rtlCol="0">
              <a:spAutoFit/>
            </a:bodyPr>
            <a:p>
              <a:r>
                <a:rPr lang="en-US" sz="1600">
                  <a:ln w="15875">
                    <a:gradFill>
                      <a:gsLst>
                        <a:gs pos="0">
                          <a:schemeClr val="accent1">
                            <a:hueMod val="80000"/>
                          </a:schemeClr>
                        </a:gs>
                        <a:gs pos="100000">
                          <a:schemeClr val="accent1"/>
                        </a:gs>
                      </a:gsLst>
                      <a:lin ang="2700000" scaled="1"/>
                    </a:gradFill>
                  </a:ln>
                  <a:noFill/>
                  <a:effectLst/>
                </a:rPr>
                <a:t>Context-level</a:t>
              </a:r>
              <a:endParaRPr lang="en-US" sz="1600">
                <a:ln w="15875">
                  <a:gradFill>
                    <a:gsLst>
                      <a:gs pos="0">
                        <a:schemeClr val="accent1">
                          <a:hueMod val="80000"/>
                        </a:schemeClr>
                      </a:gs>
                      <a:gs pos="100000">
                        <a:schemeClr val="accent1"/>
                      </a:gs>
                    </a:gsLst>
                    <a:lin ang="2700000" scaled="1"/>
                  </a:gradFill>
                </a:ln>
                <a:noFill/>
                <a:effectLst/>
              </a:endParaRPr>
            </a:p>
          </p:txBody>
        </p:sp>
        <p:sp>
          <p:nvSpPr>
            <p:cNvPr id="10" name="Rounded Rectangle 9"/>
            <p:cNvSpPr/>
            <p:nvPr/>
          </p:nvSpPr>
          <p:spPr>
            <a:xfrm>
              <a:off x="13719" y="8760"/>
              <a:ext cx="3773" cy="533"/>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11" name="Text Box 10"/>
            <p:cNvSpPr txBox="1"/>
            <p:nvPr/>
          </p:nvSpPr>
          <p:spPr>
            <a:xfrm>
              <a:off x="14357" y="8266"/>
              <a:ext cx="2373" cy="531"/>
            </a:xfrm>
            <a:prstGeom prst="rect">
              <a:avLst/>
            </a:prstGeom>
            <a:noFill/>
          </p:spPr>
          <p:txBody>
            <a:bodyPr wrap="square" rtlCol="0">
              <a:spAutoFit/>
            </a:bodyPr>
            <a:p>
              <a:r>
                <a:rPr lang="en-US" sz="1600">
                  <a:ln w="15875">
                    <a:gradFill>
                      <a:gsLst>
                        <a:gs pos="0">
                          <a:schemeClr val="accent1">
                            <a:hueMod val="80000"/>
                          </a:schemeClr>
                        </a:gs>
                        <a:gs pos="100000">
                          <a:schemeClr val="accent1"/>
                        </a:gs>
                      </a:gsLst>
                      <a:lin ang="2700000" scaled="1"/>
                    </a:gradFill>
                  </a:ln>
                  <a:noFill/>
                  <a:effectLst/>
                </a:rPr>
                <a:t>Logic-level</a:t>
              </a:r>
              <a:endParaRPr lang="en-US" sz="1600">
                <a:ln w="15875">
                  <a:gradFill>
                    <a:gsLst>
                      <a:gs pos="0">
                        <a:schemeClr val="accent1">
                          <a:hueMod val="80000"/>
                        </a:schemeClr>
                      </a:gs>
                      <a:gs pos="100000">
                        <a:schemeClr val="accent1"/>
                      </a:gs>
                    </a:gsLst>
                    <a:lin ang="2700000" scaled="1"/>
                  </a:gradFill>
                </a:ln>
                <a:noFill/>
                <a:effectLst/>
              </a:endParaRPr>
            </a:p>
          </p:txBody>
        </p:sp>
      </p:gr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3</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Causes of Misalignment</a:t>
            </a:r>
            <a:r>
              <a:rPr lang="en-US" sz="3200" baseline="30000">
                <a:latin typeface="Thonburi Regular" panose="00000400000000000000" charset="0"/>
                <a:cs typeface="Thonburi Regular" panose="00000400000000000000" charset="0"/>
                <a:sym typeface="+mn-ea"/>
              </a:rPr>
              <a:t>[2,3]</a:t>
            </a:r>
            <a:endParaRPr lang="en-US" sz="3200"/>
          </a:p>
        </p:txBody>
      </p:sp>
      <p:sp>
        <p:nvSpPr>
          <p:cNvPr id="3" name="Content Placeholder 2"/>
          <p:cNvSpPr>
            <a:spLocks noGrp="1"/>
          </p:cNvSpPr>
          <p:nvPr>
            <p:ph idx="1"/>
          </p:nvPr>
        </p:nvSpPr>
        <p:spPr/>
        <p:txBody>
          <a:bodyPr/>
          <a:p>
            <a:pPr>
              <a:buFont typeface="Wingdings" panose="05000000000000000000" charset="0"/>
              <a:buChar char=""/>
            </a:pPr>
            <a:r>
              <a:rPr lang="en-US">
                <a:latin typeface="Thonburi Regular" panose="00000400000000000000" charset="0"/>
                <a:cs typeface="Thonburi Regular" panose="00000400000000000000" charset="0"/>
                <a:sym typeface="+mn-ea"/>
              </a:rPr>
              <a:t>Data-level c</a:t>
            </a:r>
            <a:r>
              <a:rPr lang="en-US">
                <a:latin typeface="Thonburi Regular" panose="00000400000000000000" charset="0"/>
                <a:cs typeface="Thonburi Regular" panose="00000400000000000000" charset="0"/>
                <a:sym typeface="+mn-ea"/>
              </a:rPr>
              <a:t>auses for Misalignment</a:t>
            </a:r>
            <a:endParaRPr lang="en-US">
              <a:latin typeface="Thonburi Regular" panose="00000400000000000000" charset="0"/>
              <a:cs typeface="Thonburi Regular" panose="00000400000000000000" charset="0"/>
            </a:endParaRPr>
          </a:p>
          <a:p>
            <a:endParaRPr lang="en-US">
              <a:latin typeface="Thonburi Regular" panose="00000400000000000000" charset="0"/>
              <a:cs typeface="Thonburi Regular" panose="00000400000000000000" charset="0"/>
            </a:endParaRPr>
          </a:p>
        </p:txBody>
      </p:sp>
      <p:sp>
        <p:nvSpPr>
          <p:cNvPr id="7" name="Text Box 6"/>
          <p:cNvSpPr txBox="1"/>
          <p:nvPr/>
        </p:nvSpPr>
        <p:spPr>
          <a:xfrm>
            <a:off x="-57785" y="6278245"/>
            <a:ext cx="12250420" cy="583565"/>
          </a:xfrm>
          <a:prstGeom prst="rect">
            <a:avLst/>
          </a:prstGeom>
          <a:noFill/>
        </p:spPr>
        <p:txBody>
          <a:bodyPr wrap="square" rtlCol="0">
            <a:spAutoFit/>
          </a:bodyPr>
          <a:p>
            <a:r>
              <a:rPr lang="en-US" altLang="en-US" sz="1600">
                <a:latin typeface="Thonburi Regular" panose="00000400000000000000" charset="0"/>
                <a:cs typeface="Thonburi Regular" panose="00000400000000000000" charset="0"/>
              </a:rPr>
              <a:t>[2] Large Vision-Language Model Alignment and Misalignment: A Survey Through the Lens of Explainability</a:t>
            </a:r>
            <a:endParaRPr lang="en-US" altLang="en-US" sz="1600">
              <a:latin typeface="Thonburi Regular" panose="00000400000000000000" charset="0"/>
              <a:cs typeface="Thonburi Regular" panose="00000400000000000000" charset="0"/>
            </a:endParaRPr>
          </a:p>
          <a:p>
            <a:r>
              <a:rPr lang="en-US" altLang="en-US" sz="1600">
                <a:latin typeface="Thonburi Regular" panose="00000400000000000000" charset="0"/>
                <a:cs typeface="Thonburi Regular" panose="00000400000000000000" charset="0"/>
                <a:sym typeface="+mn-ea"/>
              </a:rPr>
              <a:t>[3] Vision Language Models are Biased</a:t>
            </a:r>
            <a:endParaRPr lang="en-US" altLang="en-US" sz="1600">
              <a:latin typeface="Thonburi Regular" panose="00000400000000000000" charset="0"/>
              <a:cs typeface="Thonburi Regular" panose="00000400000000000000" charset="0"/>
            </a:endParaRPr>
          </a:p>
        </p:txBody>
      </p:sp>
      <p:pic>
        <p:nvPicPr>
          <p:cNvPr id="12" name="Picture 11" descr="1757474599346"/>
          <p:cNvPicPr>
            <a:picLocks noChangeAspect="1"/>
          </p:cNvPicPr>
          <p:nvPr/>
        </p:nvPicPr>
        <p:blipFill>
          <a:blip r:embed="rId1"/>
          <a:stretch>
            <a:fillRect/>
          </a:stretch>
        </p:blipFill>
        <p:spPr>
          <a:xfrm>
            <a:off x="5687695" y="1490980"/>
            <a:ext cx="6495415" cy="4459605"/>
          </a:xfrm>
          <a:prstGeom prst="rect">
            <a:avLst/>
          </a:prstGeom>
        </p:spPr>
      </p:pic>
      <p:sp>
        <p:nvSpPr>
          <p:cNvPr id="4" name="Text Box 3"/>
          <p:cNvSpPr txBox="1"/>
          <p:nvPr/>
        </p:nvSpPr>
        <p:spPr>
          <a:xfrm>
            <a:off x="781685" y="1998345"/>
            <a:ext cx="4791075" cy="2504440"/>
          </a:xfrm>
          <a:prstGeom prst="rect">
            <a:avLst/>
          </a:prstGeom>
          <a:noFill/>
        </p:spPr>
        <p:txBody>
          <a:bodyPr wrap="square" rtlCol="0">
            <a:noAutofit/>
          </a:bodyPr>
          <a:p>
            <a:pPr marL="285750" indent="-285750">
              <a:buFont typeface="Wingdings" panose="05000000000000000000" charset="0"/>
              <a:buChar char=""/>
            </a:pPr>
            <a:r>
              <a:rPr lang="en-US" altLang="en-US" sz="1600" i="1" spc="150">
                <a:solidFill>
                  <a:schemeClr val="tx1">
                    <a:lumMod val="65000"/>
                    <a:lumOff val="35000"/>
                  </a:schemeClr>
                </a:solidFill>
                <a:uFillTx/>
                <a:latin typeface="Thonburi" panose="00000400000000000000" charset="0"/>
                <a:cs typeface="Thonburi" panose="00000400000000000000" charset="0"/>
              </a:rPr>
              <a:t>Statistical bias</a:t>
            </a:r>
            <a:r>
              <a:rPr lang="en-US" altLang="en-US" sz="1600" spc="150">
                <a:solidFill>
                  <a:schemeClr val="tx1">
                    <a:lumMod val="65000"/>
                    <a:lumOff val="35000"/>
                  </a:schemeClr>
                </a:solidFill>
                <a:uFillTx/>
                <a:latin typeface="Thonburi Regular" panose="00000400000000000000" charset="0"/>
                <a:cs typeface="Thonburi Regular" panose="00000400000000000000" charset="0"/>
              </a:rPr>
              <a:t>:</a:t>
            </a:r>
            <a:endParaRPr lang="en-US" altLang="en-US" sz="1600" spc="150">
              <a:solidFill>
                <a:schemeClr val="tx1">
                  <a:lumMod val="65000"/>
                  <a:lumOff val="35000"/>
                </a:schemeClr>
              </a:solidFill>
              <a:uFillTx/>
              <a:latin typeface="Thonburi Regular" panose="00000400000000000000" charset="0"/>
              <a:cs typeface="Thonburi Regular" panose="00000400000000000000" charset="0"/>
            </a:endParaRPr>
          </a:p>
          <a:p>
            <a:pPr indent="0">
              <a:buFont typeface="Wingdings" panose="05000000000000000000" charset="0"/>
              <a:buNone/>
            </a:pPr>
            <a:r>
              <a:rPr lang="en-US" altLang="en-US" sz="1600" spc="150">
                <a:solidFill>
                  <a:schemeClr val="tx1">
                    <a:lumMod val="65000"/>
                    <a:lumOff val="35000"/>
                  </a:schemeClr>
                </a:solidFill>
                <a:uFillTx/>
                <a:latin typeface="Thonburi Regular" panose="00000400000000000000" charset="0"/>
                <a:cs typeface="Thonburi Regular" panose="00000400000000000000" charset="0"/>
              </a:rPr>
              <a:t>a dataset-induced bias originating from imbalanced or skewed distributions in multimodal data, which </a:t>
            </a:r>
            <a:r>
              <a:rPr lang="en-US" altLang="en-US" sz="1600" spc="150">
                <a:solidFill>
                  <a:schemeClr val="tx1">
                    <a:lumMod val="65000"/>
                    <a:lumOff val="35000"/>
                  </a:schemeClr>
                </a:solidFill>
                <a:uFillTx/>
                <a:latin typeface="Thonburi Regular" panose="00000400000000000000" charset="0"/>
                <a:cs typeface="Thonburi Regular" panose="00000400000000000000" charset="0"/>
              </a:rPr>
              <a:t>drives models to exploit spurious correlations (e.g. frequent or co-occurring objects) and </a:t>
            </a:r>
            <a:r>
              <a:rPr lang="en-US" altLang="en-US" sz="1600" spc="150">
                <a:solidFill>
                  <a:schemeClr val="tx1">
                    <a:lumMod val="65000"/>
                    <a:lumOff val="35000"/>
                  </a:schemeClr>
                </a:solidFill>
                <a:uFillTx/>
                <a:latin typeface="Thonburi Regular" panose="00000400000000000000" charset="0"/>
                <a:cs typeface="Thonburi Regular" panose="00000400000000000000" charset="0"/>
              </a:rPr>
              <a:t>therefore leads to biased alignment—a form of </a:t>
            </a:r>
            <a:r>
              <a:rPr lang="en-US" altLang="en-US" sz="1600" spc="150">
                <a:solidFill>
                  <a:schemeClr val="tx1">
                    <a:lumMod val="65000"/>
                    <a:lumOff val="35000"/>
                  </a:schemeClr>
                </a:solidFill>
                <a:uFillTx/>
                <a:latin typeface="Thonburi Regular" panose="00000400000000000000" charset="0"/>
                <a:cs typeface="Thonburi Regular" panose="00000400000000000000" charset="0"/>
              </a:rPr>
              <a:t>general misalignment between non-linguistic modalities and textual representations.</a:t>
            </a:r>
            <a:endParaRPr lang="en-US" altLang="en-US" sz="1600" spc="150">
              <a:solidFill>
                <a:schemeClr val="tx1">
                  <a:lumMod val="65000"/>
                  <a:lumOff val="35000"/>
                </a:schemeClr>
              </a:solidFill>
              <a:uFillTx/>
              <a:latin typeface="Thonburi Regular" panose="00000400000000000000" charset="0"/>
              <a:cs typeface="Thonburi Regular" panose="00000400000000000000" charset="0"/>
            </a:endParaRPr>
          </a:p>
        </p:txBody>
      </p:sp>
      <p:sp>
        <p:nvSpPr>
          <p:cNvPr id="9" name="Rectangles 8"/>
          <p:cNvSpPr/>
          <p:nvPr/>
        </p:nvSpPr>
        <p:spPr>
          <a:xfrm>
            <a:off x="762000" y="2003425"/>
            <a:ext cx="4810125" cy="2504440"/>
          </a:xfrm>
          <a:prstGeom prst="rect">
            <a:avLst/>
          </a:prstGeom>
          <a:ln w="38100"/>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13" name="五角星 8"/>
          <p:cNvSpPr/>
          <p:nvPr/>
        </p:nvSpPr>
        <p:spPr>
          <a:xfrm>
            <a:off x="561340" y="1797050"/>
            <a:ext cx="401320" cy="365125"/>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Causes of Misalignment</a:t>
            </a:r>
            <a:r>
              <a:rPr lang="en-US" sz="3200" baseline="30000">
                <a:latin typeface="Thonburi Regular" panose="00000400000000000000" charset="0"/>
                <a:cs typeface="Thonburi Regular" panose="00000400000000000000" charset="0"/>
                <a:sym typeface="+mn-ea"/>
              </a:rPr>
              <a:t>[2]</a:t>
            </a:r>
            <a:endParaRPr lang="en-US" sz="3200">
              <a:latin typeface="Thonburi Regular" panose="00000400000000000000" charset="0"/>
              <a:cs typeface="Thonburi Regular" panose="00000400000000000000" charset="0"/>
            </a:endParaRPr>
          </a:p>
        </p:txBody>
      </p:sp>
      <p:sp>
        <p:nvSpPr>
          <p:cNvPr id="3" name="Content Placeholder 2"/>
          <p:cNvSpPr>
            <a:spLocks noGrp="1"/>
          </p:cNvSpPr>
          <p:nvPr>
            <p:ph idx="1"/>
          </p:nvPr>
        </p:nvSpPr>
        <p:spPr>
          <a:xfrm>
            <a:off x="608330" y="1490345"/>
            <a:ext cx="5487670" cy="4759325"/>
          </a:xfrm>
        </p:spPr>
        <p:txBody>
          <a:bodyPr/>
          <a:p>
            <a:pPr>
              <a:buFont typeface="Wingdings" panose="05000000000000000000" charset="0"/>
              <a:buChar char=""/>
            </a:pPr>
            <a:r>
              <a:rPr lang="en-US">
                <a:latin typeface="Thonburi Regular" panose="00000400000000000000" charset="0"/>
                <a:cs typeface="Thonburi Regular" panose="00000400000000000000" charset="0"/>
              </a:rPr>
              <a:t>Model-level Causes </a:t>
            </a:r>
            <a:r>
              <a:rPr lang="en-US">
                <a:latin typeface="Thonburi Regular" panose="00000400000000000000" charset="0"/>
                <a:cs typeface="Thonburi Regular" panose="00000400000000000000" charset="0"/>
              </a:rPr>
              <a:t>for Misalignment</a:t>
            </a:r>
            <a:endParaRPr lang="en-US">
              <a:latin typeface="Thonburi Regular" panose="00000400000000000000" charset="0"/>
              <a:cs typeface="Thonburi Regular" panose="00000400000000000000" charset="0"/>
            </a:endParaRPr>
          </a:p>
          <a:p>
            <a:pPr marL="457200" lvl="3" indent="-285750">
              <a:buFont typeface="Wingdings" panose="05000000000000000000" charset="0"/>
              <a:buChar char=""/>
            </a:pPr>
            <a:r>
              <a:rPr lang="en-US" sz="1600" i="1">
                <a:latin typeface="Thonburi Regular" panose="00000400000000000000" charset="0"/>
                <a:ea typeface="PingFang SC" panose="020B0400000000000000" charset="-122"/>
                <a:cs typeface="Thonburi Regular" panose="00000400000000000000" charset="0"/>
                <a:sym typeface="+mn-ea"/>
              </a:rPr>
              <a:t>Ability Gap:</a:t>
            </a:r>
            <a:endParaRPr lang="en-US" sz="1600" i="1">
              <a:latin typeface="Thonburi Regular" panose="00000400000000000000" charset="0"/>
              <a:ea typeface="PingFang SC" panose="020B0400000000000000" charset="-122"/>
              <a:cs typeface="Thonburi Regular" panose="00000400000000000000" charset="0"/>
              <a:sym typeface="+mn-ea"/>
            </a:endParaRPr>
          </a:p>
          <a:p>
            <a:pPr marL="171450" lvl="3" indent="0">
              <a:buFont typeface="Wingdings" panose="05000000000000000000" charset="0"/>
              <a:buNone/>
            </a:pPr>
            <a:r>
              <a:rPr lang="en-US" sz="1600">
                <a:latin typeface="Thonburi Regular" panose="00000400000000000000" charset="0"/>
                <a:cs typeface="Thonburi Regular" panose="00000400000000000000" charset="0"/>
                <a:sym typeface="+mn-ea"/>
              </a:rPr>
              <a:t>e.g. </a:t>
            </a:r>
            <a:r>
              <a:rPr lang="en-US" altLang="en-US" sz="1600">
                <a:latin typeface="Thonburi Regular" panose="00000400000000000000" charset="0"/>
                <a:cs typeface="Thonburi Regular" panose="00000400000000000000" charset="0"/>
                <a:sym typeface="+mn-ea"/>
              </a:rPr>
              <a:t>the LLM often demonstrates significantly greater capability than the visual encoder, thereby MLLM tends to rely excessively on the LLM for predictions, resulting in an imbalanced attention between visual and textual information.</a:t>
            </a:r>
            <a:endParaRPr lang="en-US" altLang="en-US" sz="1600">
              <a:latin typeface="Thonburi Regular" panose="00000400000000000000" charset="0"/>
              <a:cs typeface="Thonburi Regular" panose="00000400000000000000" charset="0"/>
              <a:sym typeface="+mn-ea"/>
            </a:endParaRPr>
          </a:p>
          <a:p>
            <a:pPr marL="171450" lvl="3" indent="0">
              <a:buFont typeface="Wingdings" panose="05000000000000000000" charset="0"/>
              <a:buNone/>
            </a:pPr>
            <a:endParaRPr lang="en-US" altLang="en-US">
              <a:latin typeface="Thonburi Regular" panose="00000400000000000000" charset="0"/>
              <a:cs typeface="Thonburi Regular" panose="00000400000000000000" charset="0"/>
              <a:sym typeface="+mn-ea"/>
            </a:endParaRPr>
          </a:p>
          <a:p>
            <a:pPr marL="457200" lvl="3" indent="-285750">
              <a:buFont typeface="Wingdings" panose="05000000000000000000" charset="0"/>
              <a:buChar char=""/>
            </a:pPr>
            <a:endParaRPr lang="en-US">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sp>
        <p:nvSpPr>
          <p:cNvPr id="13" name="右箭头 6"/>
          <p:cNvSpPr/>
          <p:nvPr/>
        </p:nvSpPr>
        <p:spPr>
          <a:xfrm rot="5400000">
            <a:off x="2928620" y="4434205"/>
            <a:ext cx="579755" cy="372745"/>
          </a:xfrm>
          <a:prstGeom prst="rightArrow">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圆角矩形 5"/>
          <p:cNvSpPr/>
          <p:nvPr/>
        </p:nvSpPr>
        <p:spPr>
          <a:xfrm>
            <a:off x="1595755" y="5048250"/>
            <a:ext cx="3244850" cy="62611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r>
              <a:rPr lang="en-US" altLang="zh-CN" sz="2000">
                <a:latin typeface="Thonburi Regular" panose="00000400000000000000" charset="0"/>
                <a:cs typeface="Thonburi Regular" panose="00000400000000000000" charset="0"/>
              </a:rPr>
              <a:t>Over-reliance </a:t>
            </a:r>
            <a:r>
              <a:rPr lang="en-US" altLang="zh-CN" sz="2000">
                <a:latin typeface="Thonburi Regular" panose="00000400000000000000" charset="0"/>
                <a:cs typeface="Thonburi Regular" panose="00000400000000000000" charset="0"/>
              </a:rPr>
              <a:t>on </a:t>
            </a:r>
            <a:endParaRPr lang="en-US" altLang="zh-CN" sz="2000">
              <a:latin typeface="Thonburi Regular" panose="00000400000000000000" charset="0"/>
              <a:cs typeface="Thonburi Regular" panose="00000400000000000000" charset="0"/>
            </a:endParaRPr>
          </a:p>
          <a:p>
            <a:pPr algn="ctr"/>
            <a:r>
              <a:rPr lang="en-US" altLang="zh-CN" sz="2000">
                <a:latin typeface="Thonburi Regular" panose="00000400000000000000" charset="0"/>
                <a:cs typeface="Thonburi Regular" panose="00000400000000000000" charset="0"/>
              </a:rPr>
              <a:t>language prior</a:t>
            </a:r>
            <a:endParaRPr lang="en-US" altLang="zh-CN" sz="2000">
              <a:latin typeface="Thonburi Regular" panose="00000400000000000000" charset="0"/>
              <a:cs typeface="Thonburi Regular" panose="00000400000000000000" charset="0"/>
            </a:endParaRPr>
          </a:p>
        </p:txBody>
      </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4</a:t>
            </a:r>
            <a:endParaRPr lang="en-US" sz="2000" b="1" baseline="-25000">
              <a:latin typeface="PingFang SC Semibold" panose="020B0400000000000000" charset="-122"/>
              <a:ea typeface="PingFang SC Semibold" panose="020B0400000000000000" charset="-122"/>
            </a:endParaRPr>
          </a:p>
        </p:txBody>
      </p:sp>
      <p:sp>
        <p:nvSpPr>
          <p:cNvPr id="18" name="Text Box 17"/>
          <p:cNvSpPr txBox="1"/>
          <p:nvPr/>
        </p:nvSpPr>
        <p:spPr>
          <a:xfrm>
            <a:off x="-57785" y="6567805"/>
            <a:ext cx="12250420" cy="337185"/>
          </a:xfrm>
          <a:prstGeom prst="rect">
            <a:avLst/>
          </a:prstGeom>
          <a:noFill/>
        </p:spPr>
        <p:txBody>
          <a:bodyPr wrap="square" rtlCol="0">
            <a:spAutoFit/>
          </a:bodyPr>
          <a:p>
            <a:r>
              <a:rPr lang="en-US" altLang="en-US" sz="1600">
                <a:latin typeface="Thonburi Regular" panose="00000400000000000000" charset="0"/>
                <a:cs typeface="Thonburi Regular" panose="00000400000000000000" charset="0"/>
              </a:rPr>
              <a:t>[2] Large Vision-Language Model Alignment and Misalignment: A Survey Through the Lens of Explainability</a:t>
            </a:r>
            <a:endParaRPr lang="en-US" altLang="en-US" sz="1600">
              <a:latin typeface="Thonburi Regular" panose="00000400000000000000" charset="0"/>
              <a:cs typeface="Thonburi Regular" panose="00000400000000000000" charset="0"/>
            </a:endParaRPr>
          </a:p>
        </p:txBody>
      </p:sp>
      <p:pic>
        <p:nvPicPr>
          <p:cNvPr id="19" name="Picture 18" descr="Generated Image September 09, 2025 - 11_19PM"/>
          <p:cNvPicPr>
            <a:picLocks noChangeAspect="1"/>
          </p:cNvPicPr>
          <p:nvPr/>
        </p:nvPicPr>
        <p:blipFill>
          <a:blip r:embed="rId2"/>
          <a:srcRect t="6757" b="21289"/>
          <a:stretch>
            <a:fillRect/>
          </a:stretch>
        </p:blipFill>
        <p:spPr>
          <a:xfrm>
            <a:off x="6357620" y="1787525"/>
            <a:ext cx="5488305" cy="3949065"/>
          </a:xfrm>
          <a:prstGeom prst="rect">
            <a:avLst/>
          </a:prstGeom>
        </p:spPr>
      </p:pic>
      <p:grpSp>
        <p:nvGrpSpPr>
          <p:cNvPr id="21" name="Group 20"/>
          <p:cNvGrpSpPr/>
          <p:nvPr/>
        </p:nvGrpSpPr>
        <p:grpSpPr>
          <a:xfrm>
            <a:off x="532765" y="1806575"/>
            <a:ext cx="5494655" cy="2347595"/>
            <a:chOff x="839" y="2845"/>
            <a:chExt cx="8653" cy="3697"/>
          </a:xfrm>
        </p:grpSpPr>
        <p:sp>
          <p:nvSpPr>
            <p:cNvPr id="9" name="Rectangles 8"/>
            <p:cNvSpPr/>
            <p:nvPr/>
          </p:nvSpPr>
          <p:spPr>
            <a:xfrm>
              <a:off x="1156" y="3202"/>
              <a:ext cx="8336" cy="3341"/>
            </a:xfrm>
            <a:prstGeom prst="rect">
              <a:avLst/>
            </a:prstGeom>
            <a:ln w="38100"/>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20" name="五角星 8"/>
            <p:cNvSpPr/>
            <p:nvPr/>
          </p:nvSpPr>
          <p:spPr>
            <a:xfrm>
              <a:off x="839" y="2845"/>
              <a:ext cx="632" cy="575"/>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3" grpId="1" animBg="1"/>
      <p:bldP spid="1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Causes of Misalignment</a:t>
            </a:r>
            <a:r>
              <a:rPr lang="en-US" sz="3200" baseline="30000">
                <a:latin typeface="Thonburi Regular" panose="00000400000000000000" charset="0"/>
                <a:cs typeface="Thonburi Regular" panose="00000400000000000000" charset="0"/>
                <a:sym typeface="+mn-ea"/>
              </a:rPr>
              <a:t>[2]</a:t>
            </a:r>
            <a:endParaRPr lang="en-US" sz="3200">
              <a:latin typeface="Thonburi Regular" panose="00000400000000000000" charset="0"/>
              <a:cs typeface="Thonburi Regular" panose="00000400000000000000" charset="0"/>
            </a:endParaRPr>
          </a:p>
        </p:txBody>
      </p:sp>
      <p:sp>
        <p:nvSpPr>
          <p:cNvPr id="3" name="Content Placeholder 2"/>
          <p:cNvSpPr>
            <a:spLocks noGrp="1"/>
          </p:cNvSpPr>
          <p:nvPr>
            <p:ph idx="1"/>
          </p:nvPr>
        </p:nvSpPr>
        <p:spPr>
          <a:xfrm>
            <a:off x="608330" y="1490345"/>
            <a:ext cx="5487670" cy="4759325"/>
          </a:xfrm>
        </p:spPr>
        <p:txBody>
          <a:bodyPr/>
          <a:p>
            <a:pPr>
              <a:buFont typeface="Wingdings" panose="05000000000000000000" charset="0"/>
              <a:buChar char=""/>
            </a:pPr>
            <a:r>
              <a:rPr lang="en-US">
                <a:latin typeface="Thonburi Regular" panose="00000400000000000000" charset="0"/>
                <a:cs typeface="Thonburi Regular" panose="00000400000000000000" charset="0"/>
              </a:rPr>
              <a:t>Model-level Causes </a:t>
            </a:r>
            <a:r>
              <a:rPr lang="en-US">
                <a:latin typeface="Thonburi Regular" panose="00000400000000000000" charset="0"/>
                <a:cs typeface="Thonburi Regular" panose="00000400000000000000" charset="0"/>
              </a:rPr>
              <a:t>for Misalignment</a:t>
            </a:r>
            <a:endParaRPr lang="en-US">
              <a:latin typeface="Thonburi Regular" panose="00000400000000000000" charset="0"/>
              <a:cs typeface="Thonburi Regular" panose="00000400000000000000" charset="0"/>
            </a:endParaRPr>
          </a:p>
          <a:p>
            <a:pPr marL="457200" lvl="3" indent="-285750">
              <a:buFont typeface="Wingdings" panose="05000000000000000000" charset="0"/>
              <a:buChar char=""/>
            </a:pPr>
            <a:r>
              <a:rPr lang="en-US" altLang="en-US" i="1">
                <a:latin typeface="Thonburi" panose="00000400000000000000" charset="0"/>
                <a:cs typeface="Thonburi" panose="00000400000000000000" charset="0"/>
                <a:sym typeface="+mn-ea"/>
              </a:rPr>
              <a:t>Pretrain-finetuning Knowledge Gap</a:t>
            </a:r>
            <a:r>
              <a:rPr lang="en-US" altLang="en-US">
                <a:latin typeface="Thonburi Regular" panose="00000400000000000000" charset="0"/>
                <a:cs typeface="Thonburi Regular" panose="00000400000000000000" charset="0"/>
                <a:sym typeface="+mn-ea"/>
              </a:rPr>
              <a:t>, e.g. general knowledge acquired during pretraining may clash with the specific requirements of the finetuning task.</a:t>
            </a:r>
            <a:br>
              <a:rPr lang="en-US">
                <a:latin typeface="Thonburi Regular" panose="00000400000000000000" charset="0"/>
                <a:cs typeface="Thonburi Regular" panose="00000400000000000000" charset="0"/>
                <a:sym typeface="+mn-ea"/>
              </a:rPr>
            </a:br>
            <a:endParaRPr lang="en-US">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pic>
        <p:nvPicPr>
          <p:cNvPr id="7" name="Picture 6" descr="Generated Image September 06, 2025 - 2_25PM"/>
          <p:cNvPicPr>
            <a:picLocks noChangeAspect="1"/>
          </p:cNvPicPr>
          <p:nvPr/>
        </p:nvPicPr>
        <p:blipFill>
          <a:blip r:embed="rId2"/>
          <a:stretch>
            <a:fillRect/>
          </a:stretch>
        </p:blipFill>
        <p:spPr>
          <a:xfrm>
            <a:off x="6866255" y="3074035"/>
            <a:ext cx="3883025" cy="3305810"/>
          </a:xfrm>
          <a:prstGeom prst="rect">
            <a:avLst/>
          </a:prstGeom>
        </p:spPr>
      </p:pic>
      <p:pic>
        <p:nvPicPr>
          <p:cNvPr id="9" name="Picture 8" descr="Pretrain-Finetuning Knowledge gap"/>
          <p:cNvPicPr>
            <a:picLocks noChangeAspect="1"/>
          </p:cNvPicPr>
          <p:nvPr/>
        </p:nvPicPr>
        <p:blipFill>
          <a:blip r:embed="rId3"/>
          <a:stretch>
            <a:fillRect/>
          </a:stretch>
        </p:blipFill>
        <p:spPr>
          <a:xfrm>
            <a:off x="608330" y="3102610"/>
            <a:ext cx="5487035" cy="3248660"/>
          </a:xfrm>
          <a:prstGeom prst="rect">
            <a:avLst/>
          </a:prstGeom>
        </p:spPr>
      </p:pic>
      <p:sp>
        <p:nvSpPr>
          <p:cNvPr id="11" name="Text Box 10"/>
          <p:cNvSpPr txBox="1"/>
          <p:nvPr/>
        </p:nvSpPr>
        <p:spPr>
          <a:xfrm>
            <a:off x="-57785" y="6567805"/>
            <a:ext cx="12250420" cy="337185"/>
          </a:xfrm>
          <a:prstGeom prst="rect">
            <a:avLst/>
          </a:prstGeom>
          <a:noFill/>
        </p:spPr>
        <p:txBody>
          <a:bodyPr wrap="square" rtlCol="0">
            <a:spAutoFit/>
          </a:bodyPr>
          <a:p>
            <a:r>
              <a:rPr lang="en-US" altLang="en-US" sz="1600">
                <a:latin typeface="Thonburi Regular" panose="00000400000000000000" charset="0"/>
                <a:cs typeface="Thonburi Regular" panose="00000400000000000000" charset="0"/>
              </a:rPr>
              <a:t>[2] Large Vision-Language Model Alignment and Misalignment: A Survey Through the Lens of Explainability</a:t>
            </a:r>
            <a:endParaRPr lang="en-US" altLang="en-US" sz="1600">
              <a:latin typeface="Thonburi Regular" panose="00000400000000000000" charset="0"/>
              <a:cs typeface="Thonburi Regular" panose="00000400000000000000" charset="0"/>
            </a:endParaRPr>
          </a:p>
        </p:txBody>
      </p:sp>
      <p:sp>
        <p:nvSpPr>
          <p:cNvPr id="12" name="Text Box 11"/>
          <p:cNvSpPr txBox="1"/>
          <p:nvPr/>
        </p:nvSpPr>
        <p:spPr>
          <a:xfrm>
            <a:off x="6096635" y="1967865"/>
            <a:ext cx="5053330" cy="953135"/>
          </a:xfrm>
          <a:prstGeom prst="rect">
            <a:avLst/>
          </a:prstGeom>
          <a:noFill/>
        </p:spPr>
        <p:txBody>
          <a:bodyPr wrap="square" rtlCol="0">
            <a:spAutoFit/>
          </a:bodyPr>
          <a:p>
            <a:pPr marL="285750" indent="-285750">
              <a:buFont typeface="Wingdings" panose="05000000000000000000" charset="0"/>
              <a:buChar char=""/>
            </a:pPr>
            <a:r>
              <a:rPr lang="en-US" altLang="en-US" sz="1400" i="1" spc="150">
                <a:solidFill>
                  <a:schemeClr val="tx1">
                    <a:lumMod val="65000"/>
                    <a:lumOff val="35000"/>
                  </a:schemeClr>
                </a:solidFill>
                <a:uFillTx/>
                <a:latin typeface="Thonburi" panose="00000400000000000000" charset="0"/>
                <a:cs typeface="Thonburi" panose="00000400000000000000" charset="0"/>
              </a:rPr>
              <a:t>Kno</a:t>
            </a:r>
            <a:r>
              <a:rPr lang="en-US" altLang="en-US" sz="1400" i="1" spc="150">
                <a:solidFill>
                  <a:schemeClr val="tx1">
                    <a:lumMod val="65000"/>
                    <a:lumOff val="35000"/>
                  </a:schemeClr>
                </a:solidFill>
                <a:uFillTx/>
                <a:latin typeface="Thonburi" panose="00000400000000000000" charset="0"/>
                <a:cs typeface="Thonburi" panose="00000400000000000000" charset="0"/>
                <a:sym typeface="+mn-ea"/>
              </a:rPr>
              <a:t>wledge Conflict, e.g. visual encoder’s direct perception of image content contradicts the prior knowledge embedded in the LLM’s parameters during pre-training.</a:t>
            </a:r>
            <a:endParaRPr lang="en-US" altLang="en-US" sz="1400" i="1" spc="150">
              <a:solidFill>
                <a:schemeClr val="tx1">
                  <a:lumMod val="65000"/>
                  <a:lumOff val="35000"/>
                </a:schemeClr>
              </a:solidFill>
              <a:uFillTx/>
              <a:latin typeface="Thonburi" panose="00000400000000000000" charset="0"/>
              <a:cs typeface="Thonburi" panose="00000400000000000000" charset="0"/>
            </a:endParaRPr>
          </a:p>
        </p:txBody>
      </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5</a:t>
            </a:r>
            <a:endParaRPr lang="en-US" sz="2000" b="1" baseline="-25000">
              <a:latin typeface="PingFang SC Semibold" panose="020B0400000000000000" charset="-122"/>
              <a:ea typeface="PingFang SC Semibold" panose="020B0400000000000000" charset="-122"/>
            </a:endParaRPr>
          </a:p>
        </p:txBody>
      </p:sp>
    </p:spTree>
    <p:custDataLst>
      <p:tags r:id="rId4"/>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Causes of Misalignment</a:t>
            </a:r>
            <a:r>
              <a:rPr lang="en-US" sz="3200" baseline="30000">
                <a:latin typeface="Thonburi Regular" panose="00000400000000000000" charset="0"/>
                <a:cs typeface="Thonburi Regular" panose="00000400000000000000" charset="0"/>
                <a:sym typeface="+mn-ea"/>
              </a:rPr>
              <a:t>[2]</a:t>
            </a:r>
            <a:endParaRPr lang="en-US" sz="3200"/>
          </a:p>
        </p:txBody>
      </p:sp>
      <p:sp>
        <p:nvSpPr>
          <p:cNvPr id="3" name="Content Placeholder 2"/>
          <p:cNvSpPr>
            <a:spLocks noGrp="1"/>
          </p:cNvSpPr>
          <p:nvPr>
            <p:ph idx="1"/>
          </p:nvPr>
        </p:nvSpPr>
        <p:spPr/>
        <p:txBody>
          <a:bodyPr/>
          <a:p>
            <a:pPr>
              <a:buFont typeface="Wingdings" panose="05000000000000000000" charset="0"/>
              <a:buChar char=""/>
            </a:pPr>
            <a:r>
              <a:rPr lang="en-US">
                <a:latin typeface="Thonburi Regular" panose="00000400000000000000" charset="0"/>
                <a:cs typeface="Thonburi Regular" panose="00000400000000000000" charset="0"/>
                <a:sym typeface="+mn-ea"/>
              </a:rPr>
              <a:t>Inference-level c</a:t>
            </a:r>
            <a:r>
              <a:rPr lang="en-US">
                <a:latin typeface="Thonburi Regular" panose="00000400000000000000" charset="0"/>
                <a:cs typeface="Thonburi Regular" panose="00000400000000000000" charset="0"/>
                <a:sym typeface="+mn-ea"/>
              </a:rPr>
              <a:t>auses for Misalignment</a:t>
            </a:r>
            <a:endParaRPr lang="en-US">
              <a:latin typeface="Thonburi Regular" panose="00000400000000000000" charset="0"/>
              <a:cs typeface="Thonburi Regular" panose="00000400000000000000" charset="0"/>
              <a:sym typeface="+mn-ea"/>
            </a:endParaRPr>
          </a:p>
          <a:p>
            <a:pPr lvl="1">
              <a:buFont typeface="Wingdings" panose="05000000000000000000" charset="0"/>
              <a:buChar char=""/>
            </a:pPr>
            <a:r>
              <a:rPr lang="en-US" altLang="en-US" i="1">
                <a:latin typeface="Thonburi" panose="00000400000000000000" charset="0"/>
                <a:cs typeface="Thonburi" panose="00000400000000000000" charset="0"/>
              </a:rPr>
              <a:t>Task discrepancy</a:t>
            </a:r>
            <a:r>
              <a:rPr lang="en-US" altLang="en-US">
                <a:latin typeface="Thonburi Regular" panose="00000400000000000000" charset="0"/>
                <a:cs typeface="Thonburi Regular" panose="00000400000000000000" charset="0"/>
              </a:rPr>
              <a:t>, e.g. an out-of-distribution (OOD) generalization problem, as users often pose questions or request tasks that deviate from the distribution of examples seen during training.</a:t>
            </a:r>
            <a:endParaRPr lang="en-US" altLang="en-US">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sp>
        <p:nvSpPr>
          <p:cNvPr id="11" name="Text Box 10"/>
          <p:cNvSpPr txBox="1"/>
          <p:nvPr/>
        </p:nvSpPr>
        <p:spPr>
          <a:xfrm>
            <a:off x="-57785" y="6567805"/>
            <a:ext cx="12250420" cy="337185"/>
          </a:xfrm>
          <a:prstGeom prst="rect">
            <a:avLst/>
          </a:prstGeom>
          <a:noFill/>
        </p:spPr>
        <p:txBody>
          <a:bodyPr wrap="square" rtlCol="0">
            <a:spAutoFit/>
          </a:bodyPr>
          <a:p>
            <a:r>
              <a:rPr lang="en-US" altLang="en-US" sz="1600">
                <a:latin typeface="Thonburi Regular" panose="00000400000000000000" charset="0"/>
                <a:cs typeface="Thonburi Regular" panose="00000400000000000000" charset="0"/>
              </a:rPr>
              <a:t>[2] Large Vision-Language Model Alignment and Misalignment: A Survey Through the Lens of Explainability</a:t>
            </a:r>
            <a:endParaRPr lang="en-US" altLang="en-US" sz="1600">
              <a:latin typeface="Thonburi Regular" panose="00000400000000000000" charset="0"/>
              <a:cs typeface="Thonburi Regular" panose="00000400000000000000" charset="0"/>
            </a:endParaRPr>
          </a:p>
        </p:txBody>
      </p:sp>
      <p:pic>
        <p:nvPicPr>
          <p:cNvPr id="8" name="Picture 7"/>
          <p:cNvPicPr>
            <a:picLocks noChangeAspect="1"/>
          </p:cNvPicPr>
          <p:nvPr/>
        </p:nvPicPr>
        <p:blipFill>
          <a:blip r:embed="rId2"/>
          <a:stretch>
            <a:fillRect/>
          </a:stretch>
        </p:blipFill>
        <p:spPr>
          <a:xfrm>
            <a:off x="1893570" y="2927985"/>
            <a:ext cx="8775065" cy="3474085"/>
          </a:xfrm>
          <a:prstGeom prst="rect">
            <a:avLst/>
          </a:prstGeom>
        </p:spPr>
      </p:pic>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6</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rcRect t="2103" b="5346"/>
          <a:stretch>
            <a:fillRect/>
          </a:stretch>
        </p:blipFill>
        <p:spPr>
          <a:xfrm>
            <a:off x="2647315" y="3519170"/>
            <a:ext cx="6464300" cy="3338830"/>
          </a:xfrm>
          <a:prstGeom prst="rect">
            <a:avLst/>
          </a:prstGeom>
        </p:spPr>
      </p:pic>
      <p:sp>
        <p:nvSpPr>
          <p:cNvPr id="2" name="Title 1"/>
          <p:cNvSpPr>
            <a:spLocks noGrp="1"/>
          </p:cNvSpPr>
          <p:nvPr>
            <p:ph type="title"/>
          </p:nvPr>
        </p:nvSpPr>
        <p:spPr/>
        <p:txBody>
          <a:bodyPr>
            <a:normAutofit fontScale="90000"/>
          </a:bodyPr>
          <a:p>
            <a:r>
              <a:rPr lang="en-US" altLang="en-US">
                <a:latin typeface="Thonburi Regular" panose="00000400000000000000" charset="0"/>
                <a:cs typeface="Thonburi Regular" panose="00000400000000000000" charset="0"/>
              </a:rPr>
              <a:t>Motivations: Over-reliance on </a:t>
            </a:r>
            <a:r>
              <a:rPr lang="en-US" altLang="en-US">
                <a:latin typeface="Thonburi Regular" panose="00000400000000000000" charset="0"/>
                <a:cs typeface="Thonburi Regular" panose="00000400000000000000" charset="0"/>
              </a:rPr>
              <a:t>language prior</a:t>
            </a:r>
            <a:endParaRPr lang="en-US" altLang="en-US">
              <a:latin typeface="Thonburi Regular" panose="00000400000000000000" charset="0"/>
              <a:cs typeface="Thonburi Regular" panose="00000400000000000000" charset="0"/>
            </a:endParaRPr>
          </a:p>
        </p:txBody>
      </p:sp>
      <p:sp>
        <p:nvSpPr>
          <p:cNvPr id="3" name="Content Placeholder 2"/>
          <p:cNvSpPr>
            <a:spLocks noGrp="1"/>
          </p:cNvSpPr>
          <p:nvPr>
            <p:ph idx="1"/>
          </p:nvPr>
        </p:nvSpPr>
        <p:spPr>
          <a:xfrm>
            <a:off x="608330" y="1490345"/>
            <a:ext cx="10542270" cy="4759325"/>
          </a:xfrm>
        </p:spPr>
        <p:txBody>
          <a:bodyPr/>
          <a:p>
            <a:r>
              <a:rPr lang="en-US" altLang="en-US">
                <a:latin typeface="Thonburi Regular" panose="00000400000000000000" charset="0"/>
                <a:cs typeface="Thonburi Regular" panose="00000400000000000000" charset="0"/>
              </a:rPr>
              <a:t>MLLMs are prone to hallucination by over-relying on language prior, especially when non-linguistic modalities provide weaker or noisier representations due to the </a:t>
            </a:r>
            <a:r>
              <a:rPr lang="en-US" altLang="en-US" i="1">
                <a:latin typeface="Thonburi" panose="00000400000000000000" charset="0"/>
                <a:cs typeface="Thonburi" panose="00000400000000000000" charset="0"/>
              </a:rPr>
              <a:t>model ability gap</a:t>
            </a:r>
            <a:r>
              <a:rPr lang="en-US" altLang="en-US">
                <a:latin typeface="Thonburi Regular" panose="00000400000000000000" charset="0"/>
                <a:cs typeface="Thonburi Regular" panose="00000400000000000000" charset="0"/>
              </a:rPr>
              <a:t>.</a:t>
            </a:r>
            <a:endParaRPr lang="en-US" altLang="en-US">
              <a:latin typeface="Thonburi Regular" panose="00000400000000000000" charset="0"/>
              <a:cs typeface="Thonburi Regular" panose="00000400000000000000" charset="0"/>
            </a:endParaRPr>
          </a:p>
          <a:p>
            <a:r>
              <a:rPr lang="en-US" altLang="en-US">
                <a:latin typeface="Thonburi Regular" panose="00000400000000000000" charset="0"/>
                <a:cs typeface="Thonburi Regular" panose="00000400000000000000" charset="0"/>
              </a:rPr>
              <a:t>When injecting more noise into the image (increasing visual uncertainty) through the diffusion forward process, MLLM</a:t>
            </a:r>
            <a:r>
              <a:rPr lang="en-US" altLang="en-US">
                <a:latin typeface="Thonburi Regular" panose="00000400000000000000" charset="0"/>
                <a:cs typeface="Thonburi Regular" panose="00000400000000000000" charset="0"/>
              </a:rPr>
              <a:t>s amplify the over-reliance on language prior. </a:t>
            </a:r>
            <a:endParaRPr lang="en-US" altLang="en-US">
              <a:latin typeface="Thonburi Regular" panose="00000400000000000000" charset="0"/>
              <a:cs typeface="Thonburi Regular" panose="00000400000000000000" charset="0"/>
            </a:endParaRPr>
          </a:p>
          <a:p>
            <a:endParaRPr lang="en-US" altLang="en-US">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2"/>
          <a:stretch>
            <a:fillRect/>
          </a:stretch>
        </p:blipFill>
        <p:spPr>
          <a:xfrm>
            <a:off x="11149965" y="0"/>
            <a:ext cx="1042035" cy="1042035"/>
          </a:xfrm>
          <a:prstGeom prst="rect">
            <a:avLst/>
          </a:prstGeom>
        </p:spPr>
      </p:pic>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7</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200">
                <a:latin typeface="Thonburi Regular" panose="00000400000000000000" charset="0"/>
                <a:cs typeface="Thonburi Regular" panose="00000400000000000000" charset="0"/>
                <a:sym typeface="+mn-ea"/>
              </a:rPr>
              <a:t>Motivations: Statistical bias</a:t>
            </a:r>
            <a:endParaRPr lang="en-US" sz="3200">
              <a:latin typeface="Thonburi Regular" panose="00000400000000000000" charset="0"/>
              <a:cs typeface="Thonburi Regular" panose="00000400000000000000" charset="0"/>
            </a:endParaRPr>
          </a:p>
        </p:txBody>
      </p:sp>
      <p:sp>
        <p:nvSpPr>
          <p:cNvPr id="3" name="Content Placeholder 2"/>
          <p:cNvSpPr>
            <a:spLocks noGrp="1"/>
          </p:cNvSpPr>
          <p:nvPr>
            <p:ph idx="1"/>
          </p:nvPr>
        </p:nvSpPr>
        <p:spPr/>
        <p:txBody>
          <a:bodyPr/>
          <a:p>
            <a:r>
              <a:rPr lang="en-US" altLang="en-US">
                <a:latin typeface="Thonburi Regular" panose="00000400000000000000" charset="0"/>
                <a:cs typeface="Thonburi Regular" panose="00000400000000000000" charset="0"/>
              </a:rPr>
              <a:t>MLLMs are prone to hallucinating frequent and co-occurring objects dut to the statistical bias.</a:t>
            </a:r>
            <a:endParaRPr lang="en-US" altLang="en-US">
              <a:latin typeface="Thonburi Regular" panose="00000400000000000000" charset="0"/>
              <a:cs typeface="Thonburi Regular" panose="00000400000000000000" charset="0"/>
            </a:endParaRPr>
          </a:p>
          <a:p>
            <a:r>
              <a:rPr lang="en-US" altLang="en-US">
                <a:latin typeface="Thonburi Regular" panose="00000400000000000000" charset="0"/>
                <a:cs typeface="Thonburi Regular" panose="00000400000000000000" charset="0"/>
              </a:rPr>
              <a:t>When the visual input is perturbed,</a:t>
            </a:r>
            <a:r>
              <a:rPr lang="en-US">
                <a:latin typeface="Thonburi Regular" panose="00000400000000000000" charset="0"/>
                <a:cs typeface="Thonburi Regular" panose="00000400000000000000" charset="0"/>
              </a:rPr>
              <a:t> the hallucination rate</a:t>
            </a:r>
            <a:r>
              <a:rPr lang="en-US">
                <a:latin typeface="Thonburi Regular" panose="00000400000000000000" charset="0"/>
                <a:cs typeface="Thonburi Regular" panose="00000400000000000000" charset="0"/>
              </a:rPr>
              <a:t>s of </a:t>
            </a:r>
            <a:r>
              <a:rPr lang="en-US">
                <a:latin typeface="Thonburi Regular" panose="00000400000000000000" charset="0"/>
                <a:cs typeface="Thonburi Regular" panose="00000400000000000000" charset="0"/>
                <a:sym typeface="+mn-ea"/>
              </a:rPr>
              <a:t>frequent and co-occurring objects are increased due to the visual uncertainty, which indicates that it</a:t>
            </a:r>
            <a:r>
              <a:rPr lang="en-US" altLang="en-US">
                <a:latin typeface="Thonburi Regular" panose="00000400000000000000" charset="0"/>
                <a:cs typeface="Thonburi Regular" panose="00000400000000000000" charset="0"/>
              </a:rPr>
              <a:t> can amplify the influence of statistical bias.</a:t>
            </a:r>
            <a:endParaRPr lang="en-US" altLang="en-US">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pic>
        <p:nvPicPr>
          <p:cNvPr id="4" name="Picture 3"/>
          <p:cNvPicPr>
            <a:picLocks noChangeAspect="1"/>
          </p:cNvPicPr>
          <p:nvPr/>
        </p:nvPicPr>
        <p:blipFill>
          <a:blip r:embed="rId2"/>
          <a:stretch>
            <a:fillRect/>
          </a:stretch>
        </p:blipFill>
        <p:spPr>
          <a:xfrm>
            <a:off x="2444115" y="3430270"/>
            <a:ext cx="7296785" cy="3209290"/>
          </a:xfrm>
          <a:prstGeom prst="rect">
            <a:avLst/>
          </a:prstGeom>
        </p:spPr>
      </p:pic>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8</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rPr>
              <a:t>Methods: test-time alignment</a:t>
            </a:r>
            <a:endParaRPr lang="en-US" sz="3200">
              <a:latin typeface="Thonburi Regular" panose="00000400000000000000" charset="0"/>
              <a:cs typeface="Thonburi Regular" panose="00000400000000000000" charset="0"/>
            </a:endParaRPr>
          </a:p>
        </p:txBody>
      </p:sp>
      <p:sp>
        <p:nvSpPr>
          <p:cNvPr id="3" name="Content Placeholder 2"/>
          <p:cNvSpPr>
            <a:spLocks noGrp="1"/>
          </p:cNvSpPr>
          <p:nvPr>
            <p:ph idx="1"/>
          </p:nvPr>
        </p:nvSpPr>
        <p:spPr/>
        <p:txBody>
          <a:bodyPr>
            <a:normAutofit/>
          </a:bodyPr>
          <a:p>
            <a:pPr>
              <a:buFont typeface="Wingdings" panose="05000000000000000000" charset="0"/>
              <a:buChar char=""/>
            </a:pPr>
            <a:r>
              <a:rPr lang="en-US">
                <a:latin typeface="Thonburi Regular" panose="00000400000000000000" charset="0"/>
                <a:cs typeface="Thonburi Regular" panose="00000400000000000000" charset="0"/>
              </a:rPr>
              <a:t>What is it?</a:t>
            </a:r>
            <a:endParaRPr lang="en-US">
              <a:latin typeface="Thonburi Regular" panose="00000400000000000000" charset="0"/>
              <a:cs typeface="Thonburi Regular" panose="00000400000000000000" charset="0"/>
            </a:endParaRPr>
          </a:p>
          <a:p>
            <a:pPr lvl="1"/>
            <a:r>
              <a:rPr lang="en-US" altLang="en-US">
                <a:latin typeface="Thonburi Regular" panose="00000400000000000000" charset="0"/>
                <a:cs typeface="Thonburi Regular" panose="00000400000000000000" charset="0"/>
              </a:rPr>
              <a:t>At inference, model’s outputs are adjusted using a direction vector:</a:t>
            </a:r>
            <a:endParaRPr lang="en-US" altLang="en-US">
              <a:latin typeface="Thonburi Regular" panose="00000400000000000000" charset="0"/>
              <a:cs typeface="Thonburi Regular" panose="00000400000000000000" charset="0"/>
            </a:endParaRPr>
          </a:p>
          <a:p>
            <a:pPr lvl="1"/>
            <a:endParaRPr lang="en-US" altLang="en-US">
              <a:latin typeface="Thonburi Regular" panose="00000400000000000000" charset="0"/>
              <a:cs typeface="Thonburi Regular" panose="00000400000000000000" charset="0"/>
            </a:endParaRPr>
          </a:p>
          <a:p>
            <a:endParaRPr lang="en-US">
              <a:latin typeface="Thonburi Regular" panose="00000400000000000000" charset="0"/>
              <a:cs typeface="Thonburi Regular" panose="00000400000000000000" charset="0"/>
            </a:endParaRPr>
          </a:p>
          <a:p>
            <a:pPr lvl="1"/>
            <a:endParaRPr lang="en-US">
              <a:latin typeface="Thonburi Regular" panose="00000400000000000000" charset="0"/>
              <a:cs typeface="Thonburi Regular" panose="00000400000000000000" charset="0"/>
            </a:endParaRPr>
          </a:p>
          <a:p>
            <a:endParaRPr lang="en-US" sz="1800">
              <a:latin typeface="Thonburi Regular" panose="00000400000000000000" charset="0"/>
              <a:cs typeface="Thonburi Regular" panose="00000400000000000000" charset="0"/>
              <a:sym typeface="+mn-ea"/>
            </a:endParaRPr>
          </a:p>
          <a:p>
            <a:pPr>
              <a:buFont typeface="Wingdings" panose="05000000000000000000" charset="0"/>
              <a:buChar char=""/>
            </a:pPr>
            <a:r>
              <a:rPr lang="en-US" sz="1800">
                <a:latin typeface="Thonburi Regular" panose="00000400000000000000" charset="0"/>
                <a:cs typeface="Thonburi Regular" panose="00000400000000000000" charset="0"/>
                <a:sym typeface="+mn-ea"/>
              </a:rPr>
              <a:t>Why is it?</a:t>
            </a:r>
            <a:endParaRPr lang="en-US" sz="1800">
              <a:latin typeface="Thonburi Regular" panose="00000400000000000000" charset="0"/>
              <a:cs typeface="Thonburi Regular" panose="00000400000000000000" charset="0"/>
            </a:endParaRPr>
          </a:p>
          <a:p>
            <a:pPr lvl="1"/>
            <a:r>
              <a:rPr lang="en-US" altLang="en-US">
                <a:latin typeface="Thonburi Regular" panose="00000400000000000000" charset="0"/>
                <a:cs typeface="Thonburi Regular" panose="00000400000000000000" charset="0"/>
              </a:rPr>
              <a:t>Mitigates misalignment and reduces hallucinations by steering predictions toward faithful multimodal evidence at </a:t>
            </a:r>
            <a:r>
              <a:rPr lang="en-US" altLang="en-US" i="1">
                <a:latin typeface="Thonburi" panose="00000400000000000000" charset="0"/>
                <a:cs typeface="Thonburi" panose="00000400000000000000" charset="0"/>
              </a:rPr>
              <a:t>inference time</a:t>
            </a:r>
            <a:r>
              <a:rPr lang="en-US" altLang="en-US">
                <a:latin typeface="Thonburi Regular" panose="00000400000000000000" charset="0"/>
                <a:cs typeface="Thonburi Regular" panose="00000400000000000000" charset="0"/>
              </a:rPr>
              <a:t>.</a:t>
            </a:r>
            <a:endParaRPr lang="en-US" altLang="en-US">
              <a:latin typeface="Thonburi Regular" panose="00000400000000000000" charset="0"/>
              <a:cs typeface="Thonburi Regular" panose="00000400000000000000" charset="0"/>
            </a:endParaRPr>
          </a:p>
          <a:p>
            <a:pPr lvl="1"/>
            <a:r>
              <a:rPr lang="en-US" altLang="en-US">
                <a:latin typeface="Thonburi Regular" panose="00000400000000000000" charset="0"/>
                <a:cs typeface="Thonburi Regular" panose="00000400000000000000" charset="0"/>
              </a:rPr>
              <a:t>Achieves these improvements </a:t>
            </a:r>
            <a:r>
              <a:rPr lang="en-US" altLang="en-US" i="1">
                <a:latin typeface="Thonburi" panose="00000400000000000000" charset="0"/>
                <a:cs typeface="Thonburi" panose="00000400000000000000" charset="0"/>
              </a:rPr>
              <a:t>without retraining</a:t>
            </a:r>
            <a:r>
              <a:rPr lang="en-US" altLang="en-US">
                <a:latin typeface="Thonburi Regular" panose="00000400000000000000" charset="0"/>
                <a:cs typeface="Thonburi Regular" panose="00000400000000000000" charset="0"/>
              </a:rPr>
              <a:t>, thus offering significantly </a:t>
            </a:r>
            <a:r>
              <a:rPr lang="en-US" altLang="en-US" i="1">
                <a:latin typeface="Thonburi" panose="00000400000000000000" charset="0"/>
                <a:cs typeface="Thonburi" panose="00000400000000000000" charset="0"/>
              </a:rPr>
              <a:t>lower computational cost</a:t>
            </a:r>
            <a:r>
              <a:rPr lang="en-US" altLang="en-US">
                <a:latin typeface="Thonburi Regular" panose="00000400000000000000" charset="0"/>
                <a:cs typeface="Thonburi Regular" panose="00000400000000000000" charset="0"/>
              </a:rPr>
              <a:t> compared to fine-tuning.</a:t>
            </a:r>
            <a:endParaRPr lang="en-US" altLang="en-US">
              <a:latin typeface="Thonburi Regular" panose="00000400000000000000" charset="0"/>
              <a:cs typeface="Thonburi Regular" panose="00000400000000000000" charset="0"/>
            </a:endParaRPr>
          </a:p>
          <a:p>
            <a:pPr lvl="1"/>
            <a:endParaRPr lang="en-US">
              <a:latin typeface="Thonburi Regular" panose="00000400000000000000" charset="0"/>
              <a:cs typeface="Thonburi Regular" panose="00000400000000000000" charset="0"/>
            </a:endParaRPr>
          </a:p>
          <a:p>
            <a:pPr lvl="1"/>
            <a:endParaRPr lang="en-US">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grpSp>
        <p:nvGrpSpPr>
          <p:cNvPr id="12" name="Group 11"/>
          <p:cNvGrpSpPr/>
          <p:nvPr/>
        </p:nvGrpSpPr>
        <p:grpSpPr>
          <a:xfrm>
            <a:off x="1282700" y="2479040"/>
            <a:ext cx="10313670" cy="1423035"/>
            <a:chOff x="2046" y="3904"/>
            <a:chExt cx="16242" cy="2241"/>
          </a:xfrm>
        </p:grpSpPr>
        <p:pic>
          <p:nvPicPr>
            <p:cNvPr id="6" name="334E55B0-647D-440b-865C-3EC943EB4CBC-2" descr="/Users/zacharyguo/Library/Containers/com.kingsoft.wpsoffice.mac/Data/tmp/wpsoffice.etgeKrwpsoffice"/>
            <p:cNvPicPr>
              <a:picLocks noChangeAspect="1"/>
            </p:cNvPicPr>
            <p:nvPr/>
          </p:nvPicPr>
          <p:blipFill>
            <a:blip r:embed="rId2"/>
            <a:stretch>
              <a:fillRect/>
            </a:stretch>
          </p:blipFill>
          <p:spPr>
            <a:xfrm>
              <a:off x="2046" y="3904"/>
              <a:ext cx="10505" cy="387"/>
            </a:xfrm>
            <a:prstGeom prst="rect">
              <a:avLst/>
            </a:prstGeom>
          </p:spPr>
        </p:pic>
        <p:pic>
          <p:nvPicPr>
            <p:cNvPr id="10" name="334E55B0-647D-440b-865C-3EC943EB4CBC-3" descr="/Users/zacharyguo/Library/Containers/com.kingsoft.wpsoffice.mac/Data/tmp/wpsoffice.TKLJfowpsoffice"/>
            <p:cNvPicPr>
              <a:picLocks noChangeAspect="1"/>
            </p:cNvPicPr>
            <p:nvPr/>
          </p:nvPicPr>
          <p:blipFill>
            <a:blip r:embed="rId3"/>
            <a:stretch>
              <a:fillRect/>
            </a:stretch>
          </p:blipFill>
          <p:spPr>
            <a:xfrm>
              <a:off x="2046" y="4393"/>
              <a:ext cx="16242" cy="1752"/>
            </a:xfrm>
            <a:prstGeom prst="rect">
              <a:avLst/>
            </a:prstGeom>
          </p:spPr>
        </p:pic>
      </p:gr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9</a:t>
            </a:r>
            <a:endParaRPr lang="en-US" sz="2000" b="1" baseline="-25000">
              <a:latin typeface="PingFang SC Semibold" panose="020B0400000000000000" charset="-122"/>
              <a:ea typeface="PingFang SC Semibold" panose="020B0400000000000000" charset="-122"/>
            </a:endParaRPr>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Methods: test-time alignment</a:t>
            </a:r>
            <a:endParaRPr lang="en-US" sz="3200"/>
          </a:p>
        </p:txBody>
      </p:sp>
      <p:sp>
        <p:nvSpPr>
          <p:cNvPr id="3" name="Content Placeholder 2"/>
          <p:cNvSpPr>
            <a:spLocks noGrp="1"/>
          </p:cNvSpPr>
          <p:nvPr>
            <p:ph idx="1"/>
          </p:nvPr>
        </p:nvSpPr>
        <p:spPr/>
        <p:txBody>
          <a:bodyPr/>
          <a:p>
            <a:pPr marL="57150" lvl="1" indent="-285750">
              <a:buFont typeface="Wingdings" panose="05000000000000000000" charset="0"/>
              <a:buChar char=""/>
            </a:pPr>
            <a:r>
              <a:rPr lang="en-US" sz="1800">
                <a:latin typeface="Thonburi Regular" panose="00000400000000000000" charset="0"/>
                <a:cs typeface="Thonburi Regular" panose="00000400000000000000" charset="0"/>
                <a:sym typeface="+mn-ea"/>
              </a:rPr>
              <a:t>E.g. Classifer-free guidance (CFG) with negative prompts</a:t>
            </a:r>
            <a:r>
              <a:rPr lang="en-US" sz="1800" baseline="30000">
                <a:latin typeface="Thonburi Regular" panose="00000400000000000000" charset="0"/>
                <a:cs typeface="Thonburi Regular" panose="00000400000000000000" charset="0"/>
                <a:sym typeface="+mn-ea"/>
              </a:rPr>
              <a:t>[3]</a:t>
            </a:r>
            <a:endParaRPr lang="en-US" sz="1800">
              <a:latin typeface="Thonburi Regular" panose="00000400000000000000" charset="0"/>
              <a:cs typeface="Thonburi Regular" panose="00000400000000000000" charset="0"/>
            </a:endParaRPr>
          </a:p>
          <a:p>
            <a:endParaRPr lang="en-US"/>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pic>
        <p:nvPicPr>
          <p:cNvPr id="6" name="Picture 5" descr="image-7-1536x657"/>
          <p:cNvPicPr>
            <a:picLocks noChangeAspect="1"/>
          </p:cNvPicPr>
          <p:nvPr/>
        </p:nvPicPr>
        <p:blipFill>
          <a:blip r:embed="rId2"/>
          <a:stretch>
            <a:fillRect/>
          </a:stretch>
        </p:blipFill>
        <p:spPr>
          <a:xfrm>
            <a:off x="902970" y="3590290"/>
            <a:ext cx="4756785" cy="2344420"/>
          </a:xfrm>
          <a:prstGeom prst="rect">
            <a:avLst/>
          </a:prstGeom>
        </p:spPr>
      </p:pic>
      <p:pic>
        <p:nvPicPr>
          <p:cNvPr id="7" name="Picture 6" descr="image-8"/>
          <p:cNvPicPr>
            <a:picLocks noChangeAspect="1"/>
          </p:cNvPicPr>
          <p:nvPr/>
        </p:nvPicPr>
        <p:blipFill>
          <a:blip r:embed="rId3"/>
          <a:stretch>
            <a:fillRect/>
          </a:stretch>
        </p:blipFill>
        <p:spPr>
          <a:xfrm>
            <a:off x="5960745" y="3590290"/>
            <a:ext cx="4730351" cy="2340864"/>
          </a:xfrm>
          <a:prstGeom prst="rect">
            <a:avLst/>
          </a:prstGeom>
        </p:spPr>
      </p:pic>
      <p:sp>
        <p:nvSpPr>
          <p:cNvPr id="8" name="Text Box 7"/>
          <p:cNvSpPr txBox="1"/>
          <p:nvPr/>
        </p:nvSpPr>
        <p:spPr>
          <a:xfrm>
            <a:off x="-57785" y="6567805"/>
            <a:ext cx="12250420" cy="337185"/>
          </a:xfrm>
          <a:prstGeom prst="rect">
            <a:avLst/>
          </a:prstGeom>
          <a:noFill/>
        </p:spPr>
        <p:txBody>
          <a:bodyPr wrap="square" rtlCol="0">
            <a:spAutoFit/>
          </a:bodyPr>
          <a:p>
            <a:r>
              <a:rPr lang="en-US" altLang="en-US" sz="1600">
                <a:latin typeface="Thonburi Regular" panose="00000400000000000000" charset="0"/>
                <a:cs typeface="Thonburi Regular" panose="00000400000000000000" charset="0"/>
              </a:rPr>
              <a:t>[3] </a:t>
            </a:r>
            <a:r>
              <a:rPr lang="en-US" altLang="en-US" sz="1600">
                <a:latin typeface="Thonburi Regular" panose="00000400000000000000" charset="0"/>
                <a:cs typeface="Thonburi Regular" panose="00000400000000000000" charset="0"/>
                <a:hlinkClick r:id="rId4" action="ppaction://hlinkfile"/>
              </a:rPr>
              <a:t>What is CFG Scale in Stable Diffusion? </a:t>
            </a:r>
            <a:endParaRPr lang="en-US" altLang="en-US" sz="1600">
              <a:latin typeface="Thonburi Regular" panose="00000400000000000000" charset="0"/>
              <a:cs typeface="Thonburi Regular" panose="00000400000000000000" charset="0"/>
            </a:endParaRPr>
          </a:p>
        </p:txBody>
      </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10</a:t>
            </a:r>
            <a:endParaRPr lang="en-US" sz="2000" b="1" baseline="-25000">
              <a:latin typeface="PingFang SC Semibold" panose="020B0400000000000000" charset="-122"/>
              <a:ea typeface="PingFang SC Semibold" panose="020B0400000000000000" charset="-122"/>
            </a:endParaRPr>
          </a:p>
        </p:txBody>
      </p:sp>
      <p:grpSp>
        <p:nvGrpSpPr>
          <p:cNvPr id="15" name="Group 14"/>
          <p:cNvGrpSpPr/>
          <p:nvPr/>
        </p:nvGrpSpPr>
        <p:grpSpPr>
          <a:xfrm>
            <a:off x="970915" y="1889125"/>
            <a:ext cx="6586855" cy="1566545"/>
            <a:chOff x="1529" y="2975"/>
            <a:chExt cx="10373" cy="2467"/>
          </a:xfrm>
        </p:grpSpPr>
        <p:pic>
          <p:nvPicPr>
            <p:cNvPr id="11" name="334E55B0-647D-440b-865C-3EC943EB4CBC-6" descr="/Users/zacharyguo/Library/Containers/com.kingsoft.wpsoffice.mac/Data/tmp/wpsoffice.WWQBTNwpsoffice"/>
            <p:cNvPicPr>
              <a:picLocks noChangeAspect="1"/>
            </p:cNvPicPr>
            <p:nvPr/>
          </p:nvPicPr>
          <p:blipFill>
            <a:blip r:embed="rId5"/>
            <a:stretch>
              <a:fillRect/>
            </a:stretch>
          </p:blipFill>
          <p:spPr>
            <a:xfrm>
              <a:off x="1529" y="3074"/>
              <a:ext cx="10213" cy="2368"/>
            </a:xfrm>
            <a:prstGeom prst="rect">
              <a:avLst/>
            </a:prstGeom>
          </p:spPr>
        </p:pic>
        <p:sp>
          <p:nvSpPr>
            <p:cNvPr id="4" name="Rectangles 3"/>
            <p:cNvSpPr/>
            <p:nvPr/>
          </p:nvSpPr>
          <p:spPr>
            <a:xfrm>
              <a:off x="2170" y="3074"/>
              <a:ext cx="1385" cy="432"/>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9" name="Rectangles 8"/>
            <p:cNvSpPr/>
            <p:nvPr/>
          </p:nvSpPr>
          <p:spPr>
            <a:xfrm>
              <a:off x="4481" y="3074"/>
              <a:ext cx="2891" cy="407"/>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Rectangles 9"/>
            <p:cNvSpPr/>
            <p:nvPr/>
          </p:nvSpPr>
          <p:spPr>
            <a:xfrm>
              <a:off x="8545" y="3074"/>
              <a:ext cx="3071" cy="407"/>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12" name="Rectangles 11"/>
            <p:cNvSpPr/>
            <p:nvPr/>
          </p:nvSpPr>
          <p:spPr>
            <a:xfrm>
              <a:off x="3862" y="2975"/>
              <a:ext cx="8041" cy="636"/>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13" name="Text Box 12"/>
            <p:cNvSpPr txBox="1"/>
            <p:nvPr/>
          </p:nvSpPr>
          <p:spPr>
            <a:xfrm>
              <a:off x="1637" y="3481"/>
              <a:ext cx="2588" cy="483"/>
            </a:xfrm>
            <a:prstGeom prst="rect">
              <a:avLst/>
            </a:prstGeom>
            <a:noFill/>
          </p:spPr>
          <p:txBody>
            <a:bodyPr wrap="square" rtlCol="0">
              <a:spAutoFit/>
            </a:bodyPr>
            <a:p>
              <a:r>
                <a:rPr lang="en-US" sz="1400">
                  <a:ln w="15875">
                    <a:gradFill>
                      <a:gsLst>
                        <a:gs pos="0">
                          <a:schemeClr val="accent1">
                            <a:hueMod val="80000"/>
                          </a:schemeClr>
                        </a:gs>
                        <a:gs pos="100000">
                          <a:schemeClr val="accent1"/>
                        </a:gs>
                      </a:gsLst>
                      <a:lin ang="2700000" scaled="1"/>
                    </a:gradFill>
                  </a:ln>
                  <a:noFill/>
                  <a:effectLst/>
                </a:rPr>
                <a:t>misaligned vector</a:t>
              </a:r>
              <a:endParaRPr lang="en-US" sz="1400">
                <a:ln w="15875">
                  <a:gradFill>
                    <a:gsLst>
                      <a:gs pos="0">
                        <a:schemeClr val="accent1">
                          <a:hueMod val="80000"/>
                        </a:schemeClr>
                      </a:gs>
                      <a:gs pos="100000">
                        <a:schemeClr val="accent1"/>
                      </a:gs>
                    </a:gsLst>
                    <a:lin ang="2700000" scaled="1"/>
                  </a:gradFill>
                </a:ln>
                <a:noFill/>
                <a:effectLst/>
              </a:endParaRPr>
            </a:p>
          </p:txBody>
        </p:sp>
        <p:sp>
          <p:nvSpPr>
            <p:cNvPr id="14" name="Text Box 13"/>
            <p:cNvSpPr txBox="1"/>
            <p:nvPr/>
          </p:nvSpPr>
          <p:spPr>
            <a:xfrm>
              <a:off x="6671" y="3521"/>
              <a:ext cx="2423" cy="483"/>
            </a:xfrm>
            <a:prstGeom prst="rect">
              <a:avLst/>
            </a:prstGeom>
            <a:noFill/>
          </p:spPr>
          <p:txBody>
            <a:bodyPr wrap="square" rtlCol="0">
              <a:spAutoFit/>
            </a:bodyPr>
            <a:p>
              <a:r>
                <a:rPr lang="en-US" sz="1400">
                  <a:ln w="15875">
                    <a:gradFill>
                      <a:gsLst>
                        <a:gs pos="0">
                          <a:schemeClr val="accent1">
                            <a:hueMod val="80000"/>
                          </a:schemeClr>
                        </a:gs>
                        <a:gs pos="100000">
                          <a:schemeClr val="accent1"/>
                        </a:gs>
                      </a:gsLst>
                      <a:lin ang="2700000" scaled="1"/>
                    </a:gradFill>
                  </a:ln>
                  <a:noFill/>
                  <a:effectLst/>
                </a:rPr>
                <a:t>direction vector</a:t>
              </a:r>
              <a:endParaRPr lang="en-US" sz="1400">
                <a:ln w="15875">
                  <a:gradFill>
                    <a:gsLst>
                      <a:gs pos="0">
                        <a:schemeClr val="accent1">
                          <a:hueMod val="80000"/>
                        </a:schemeClr>
                      </a:gs>
                      <a:gs pos="100000">
                        <a:schemeClr val="accent1"/>
                      </a:gs>
                    </a:gsLst>
                    <a:lin ang="2700000" scaled="1"/>
                  </a:gradFill>
                </a:ln>
                <a:noFill/>
                <a:effectLst/>
              </a:endParaRPr>
            </a:p>
          </p:txBody>
        </p:sp>
      </p:grpSp>
    </p:spTree>
    <p:custDataLst>
      <p:tags r:id="rId6"/>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Methods: test-time alignment</a:t>
            </a:r>
            <a:endParaRPr lang="en-US" sz="3200"/>
          </a:p>
        </p:txBody>
      </p:sp>
      <p:sp>
        <p:nvSpPr>
          <p:cNvPr id="3" name="Content Placeholder 2"/>
          <p:cNvSpPr>
            <a:spLocks noGrp="1"/>
          </p:cNvSpPr>
          <p:nvPr>
            <p:ph idx="1"/>
          </p:nvPr>
        </p:nvSpPr>
        <p:spPr/>
        <p:txBody>
          <a:bodyPr/>
          <a:p>
            <a:pPr>
              <a:buFont typeface="Wingdings" panose="05000000000000000000" charset="0"/>
              <a:buChar char=""/>
            </a:pPr>
            <a:r>
              <a:rPr lang="en-US">
                <a:latin typeface="Thonburi Regular" panose="00000400000000000000" charset="0"/>
                <a:cs typeface="Thonburi Regular" panose="00000400000000000000" charset="0"/>
                <a:sym typeface="+mn-ea"/>
              </a:rPr>
              <a:t>How to mitigate the misalignments from ability gap and statistical bias?</a:t>
            </a:r>
            <a:endParaRPr lang="en-US" altLang="en-US">
              <a:latin typeface="Thonburi Regular" panose="00000400000000000000" charset="0"/>
              <a:cs typeface="Thonburi Regular" panose="00000400000000000000" charset="0"/>
            </a:endParaRPr>
          </a:p>
          <a:p>
            <a:pPr lvl="1"/>
            <a:r>
              <a:rPr lang="en-US" altLang="en-US" sz="1600">
                <a:latin typeface="Thonburi Regular" panose="00000400000000000000" charset="0"/>
                <a:cs typeface="Thonburi Regular" panose="00000400000000000000" charset="0"/>
              </a:rPr>
              <a:t>To begin with, based on the test-time alignment formulation, the direction vector is computed as:</a:t>
            </a:r>
            <a:endParaRPr lang="en-US" altLang="en-US" sz="1600">
              <a:latin typeface="Thonburi Regular" panose="00000400000000000000" charset="0"/>
              <a:cs typeface="Thonburi Regular" panose="00000400000000000000" charset="0"/>
            </a:endParaRPr>
          </a:p>
        </p:txBody>
      </p:sp>
      <p:pic>
        <p:nvPicPr>
          <p:cNvPr id="14" name="334E55B0-647D-440b-865C-3EC943EB4CBC-5" descr="/Users/zacharyguo/Library/Containers/com.kingsoft.wpsoffice.mac/Data/tmp/wpsoffice.iEoGcHwpsoffice"/>
          <p:cNvPicPr>
            <a:picLocks noChangeAspect="1"/>
          </p:cNvPicPr>
          <p:nvPr/>
        </p:nvPicPr>
        <p:blipFill>
          <a:blip r:embed="rId1"/>
          <a:stretch>
            <a:fillRect/>
          </a:stretch>
        </p:blipFill>
        <p:spPr>
          <a:xfrm>
            <a:off x="812165" y="2776855"/>
            <a:ext cx="10697845" cy="3082925"/>
          </a:xfrm>
          <a:prstGeom prst="rect">
            <a:avLst/>
          </a:prstGeom>
        </p:spPr>
      </p:pic>
      <p:pic>
        <p:nvPicPr>
          <p:cNvPr id="5" name="Picture 4"/>
          <p:cNvPicPr>
            <a:picLocks noChangeAspect="1"/>
          </p:cNvPicPr>
          <p:nvPr/>
        </p:nvPicPr>
        <p:blipFill>
          <a:blip r:embed="rId2"/>
          <a:stretch>
            <a:fillRect/>
          </a:stretch>
        </p:blipFill>
        <p:spPr>
          <a:xfrm>
            <a:off x="11149965" y="0"/>
            <a:ext cx="1042035" cy="1042035"/>
          </a:xfrm>
          <a:prstGeom prst="rect">
            <a:avLst/>
          </a:prstGeom>
        </p:spPr>
      </p:pic>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11</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Methods: test-time alignment</a:t>
            </a:r>
            <a:endParaRPr lang="en-US" sz="3200"/>
          </a:p>
        </p:txBody>
      </p:sp>
      <p:sp>
        <p:nvSpPr>
          <p:cNvPr id="3" name="Content Placeholder 2"/>
          <p:cNvSpPr>
            <a:spLocks noGrp="1"/>
          </p:cNvSpPr>
          <p:nvPr>
            <p:ph idx="1"/>
          </p:nvPr>
        </p:nvSpPr>
        <p:spPr/>
        <p:txBody>
          <a:bodyPr/>
          <a:p>
            <a:pPr>
              <a:buFont typeface="Wingdings" panose="05000000000000000000" charset="0"/>
              <a:buChar char=""/>
            </a:pPr>
            <a:r>
              <a:rPr lang="en-US"/>
              <a:t>How to mitigate the misalignment </a:t>
            </a:r>
            <a:r>
              <a:rPr lang="en-US"/>
              <a:t>from ability gap and statistical bias?</a:t>
            </a:r>
            <a:endParaRPr lang="en-US"/>
          </a:p>
          <a:p>
            <a:pPr lvl="1"/>
            <a:r>
              <a:rPr lang="en-US" sz="1600"/>
              <a:t>At decoding, following the test-time alignment formula:</a:t>
            </a:r>
            <a:endParaRPr lang="en-US"/>
          </a:p>
          <a:p>
            <a:endParaRPr lang="en-US"/>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pic>
        <p:nvPicPr>
          <p:cNvPr id="9" name="Picture 8"/>
          <p:cNvPicPr>
            <a:picLocks noChangeAspect="1"/>
          </p:cNvPicPr>
          <p:nvPr/>
        </p:nvPicPr>
        <p:blipFill>
          <a:blip r:embed="rId2"/>
          <a:srcRect b="4438"/>
          <a:stretch>
            <a:fillRect/>
          </a:stretch>
        </p:blipFill>
        <p:spPr>
          <a:xfrm>
            <a:off x="1598930" y="4241165"/>
            <a:ext cx="6008370" cy="2616835"/>
          </a:xfrm>
          <a:prstGeom prst="rect">
            <a:avLst/>
          </a:prstGeom>
        </p:spPr>
      </p:pic>
      <p:grpSp>
        <p:nvGrpSpPr>
          <p:cNvPr id="13" name="Group 12"/>
          <p:cNvGrpSpPr/>
          <p:nvPr/>
        </p:nvGrpSpPr>
        <p:grpSpPr>
          <a:xfrm>
            <a:off x="1641475" y="2378710"/>
            <a:ext cx="7704455" cy="1827530"/>
            <a:chOff x="2585" y="3746"/>
            <a:chExt cx="12133" cy="2878"/>
          </a:xfrm>
        </p:grpSpPr>
        <p:pic>
          <p:nvPicPr>
            <p:cNvPr id="4" name="334E55B0-647D-440b-865C-3EC943EB4CBC-1" descr="/Users/zacharyguo/Library/Containers/com.kingsoft.wpsoffice.mac/Data/tmp/wpsoffice.AgeOTLwpsoffice"/>
            <p:cNvPicPr>
              <a:picLocks noChangeAspect="1"/>
            </p:cNvPicPr>
            <p:nvPr/>
          </p:nvPicPr>
          <p:blipFill>
            <a:blip r:embed="rId3"/>
            <a:stretch>
              <a:fillRect/>
            </a:stretch>
          </p:blipFill>
          <p:spPr>
            <a:xfrm>
              <a:off x="2593" y="3759"/>
              <a:ext cx="12125" cy="2865"/>
            </a:xfrm>
            <a:prstGeom prst="rect">
              <a:avLst/>
            </a:prstGeom>
          </p:spPr>
        </p:pic>
        <p:sp>
          <p:nvSpPr>
            <p:cNvPr id="6" name="Rectangles 5"/>
            <p:cNvSpPr/>
            <p:nvPr/>
          </p:nvSpPr>
          <p:spPr>
            <a:xfrm>
              <a:off x="6710" y="3746"/>
              <a:ext cx="2129" cy="408"/>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7" name="Rectangles 6"/>
            <p:cNvSpPr/>
            <p:nvPr/>
          </p:nvSpPr>
          <p:spPr>
            <a:xfrm>
              <a:off x="9684" y="3748"/>
              <a:ext cx="4785" cy="406"/>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8" name="Rectangles 7"/>
            <p:cNvSpPr/>
            <p:nvPr/>
          </p:nvSpPr>
          <p:spPr>
            <a:xfrm>
              <a:off x="2593" y="3754"/>
              <a:ext cx="2317" cy="407"/>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Text Box 9"/>
            <p:cNvSpPr txBox="1"/>
            <p:nvPr/>
          </p:nvSpPr>
          <p:spPr>
            <a:xfrm>
              <a:off x="10582" y="4156"/>
              <a:ext cx="3589" cy="531"/>
            </a:xfrm>
            <a:prstGeom prst="rect">
              <a:avLst/>
            </a:prstGeom>
            <a:noFill/>
          </p:spPr>
          <p:txBody>
            <a:bodyPr wrap="square" rtlCol="0">
              <a:spAutoFit/>
            </a:bodyPr>
            <a:p>
              <a:r>
                <a:rPr lang="en-US" sz="1600">
                  <a:ln w="15875">
                    <a:gradFill>
                      <a:gsLst>
                        <a:gs pos="0">
                          <a:schemeClr val="accent1">
                            <a:hueMod val="80000"/>
                          </a:schemeClr>
                        </a:gs>
                        <a:gs pos="100000">
                          <a:schemeClr val="accent1"/>
                        </a:gs>
                      </a:gsLst>
                      <a:lin ang="2700000" scaled="1"/>
                    </a:gradFill>
                  </a:ln>
                  <a:noFill/>
                  <a:effectLst/>
                </a:rPr>
                <a:t>alignment direction</a:t>
              </a:r>
              <a:endParaRPr lang="en-US" sz="1600">
                <a:ln w="15875">
                  <a:gradFill>
                    <a:gsLst>
                      <a:gs pos="0">
                        <a:schemeClr val="accent1">
                          <a:hueMod val="80000"/>
                        </a:schemeClr>
                      </a:gs>
                      <a:gs pos="100000">
                        <a:schemeClr val="accent1"/>
                      </a:gs>
                    </a:gsLst>
                    <a:lin ang="2700000" scaled="1"/>
                  </a:gradFill>
                </a:ln>
                <a:noFill/>
                <a:effectLst/>
              </a:endParaRPr>
            </a:p>
          </p:txBody>
        </p:sp>
        <p:sp>
          <p:nvSpPr>
            <p:cNvPr id="11" name="Text Box 10"/>
            <p:cNvSpPr txBox="1"/>
            <p:nvPr/>
          </p:nvSpPr>
          <p:spPr>
            <a:xfrm>
              <a:off x="6393" y="4141"/>
              <a:ext cx="3290" cy="531"/>
            </a:xfrm>
            <a:prstGeom prst="rect">
              <a:avLst/>
            </a:prstGeom>
            <a:noFill/>
          </p:spPr>
          <p:txBody>
            <a:bodyPr wrap="square" rtlCol="0">
              <a:spAutoFit/>
            </a:bodyPr>
            <a:p>
              <a:r>
                <a:rPr lang="en-US" sz="1600">
                  <a:ln w="15875">
                    <a:gradFill>
                      <a:gsLst>
                        <a:gs pos="0">
                          <a:schemeClr val="accent1">
                            <a:hueMod val="80000"/>
                          </a:schemeClr>
                        </a:gs>
                        <a:gs pos="100000">
                          <a:schemeClr val="accent1"/>
                        </a:gs>
                      </a:gsLst>
                      <a:lin ang="2700000" scaled="1"/>
                    </a:gradFill>
                  </a:ln>
                  <a:noFill/>
                  <a:effectLst/>
                </a:rPr>
                <a:t>misaligned vector</a:t>
              </a:r>
              <a:endParaRPr lang="en-US" sz="1600">
                <a:ln w="15875">
                  <a:gradFill>
                    <a:gsLst>
                      <a:gs pos="0">
                        <a:schemeClr val="accent1">
                          <a:hueMod val="80000"/>
                        </a:schemeClr>
                      </a:gs>
                      <a:gs pos="100000">
                        <a:schemeClr val="accent1"/>
                      </a:gs>
                    </a:gsLst>
                    <a:lin ang="2700000" scaled="1"/>
                  </a:gradFill>
                </a:ln>
                <a:noFill/>
                <a:effectLst/>
              </a:endParaRPr>
            </a:p>
          </p:txBody>
        </p:sp>
        <p:sp>
          <p:nvSpPr>
            <p:cNvPr id="12" name="Text Box 11"/>
            <p:cNvSpPr txBox="1"/>
            <p:nvPr/>
          </p:nvSpPr>
          <p:spPr>
            <a:xfrm>
              <a:off x="2585" y="4143"/>
              <a:ext cx="3122" cy="531"/>
            </a:xfrm>
            <a:prstGeom prst="rect">
              <a:avLst/>
            </a:prstGeom>
            <a:noFill/>
          </p:spPr>
          <p:txBody>
            <a:bodyPr wrap="square" rtlCol="0">
              <a:spAutoFit/>
            </a:bodyPr>
            <a:p>
              <a:r>
                <a:rPr lang="en-US" sz="1600">
                  <a:ln w="15875">
                    <a:gradFill>
                      <a:gsLst>
                        <a:gs pos="0">
                          <a:schemeClr val="accent1">
                            <a:hueMod val="80000"/>
                          </a:schemeClr>
                        </a:gs>
                        <a:gs pos="100000">
                          <a:schemeClr val="accent1"/>
                        </a:gs>
                      </a:gsLst>
                      <a:lin ang="2700000" scaled="1"/>
                    </a:gradFill>
                  </a:ln>
                  <a:noFill/>
                  <a:effectLst/>
                </a:rPr>
                <a:t>aligned vector</a:t>
              </a:r>
              <a:endParaRPr lang="en-US" sz="1600">
                <a:ln w="15875">
                  <a:gradFill>
                    <a:gsLst>
                      <a:gs pos="0">
                        <a:schemeClr val="accent1">
                          <a:hueMod val="80000"/>
                        </a:schemeClr>
                      </a:gs>
                      <a:gs pos="100000">
                        <a:schemeClr val="accent1"/>
                      </a:gs>
                    </a:gsLst>
                    <a:lin ang="2700000" scaled="1"/>
                  </a:gradFill>
                </a:ln>
                <a:noFill/>
                <a:effectLst/>
              </a:endParaRPr>
            </a:p>
          </p:txBody>
        </p:sp>
      </p:gr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12</a:t>
            </a:r>
            <a:endParaRPr lang="en-US" sz="2000" b="1" baseline="-25000">
              <a:latin typeface="PingFang SC Semibold" panose="020B0400000000000000" charset="-122"/>
              <a:ea typeface="PingFang SC Semibold" panose="020B0400000000000000" charset="-122"/>
            </a:endParaRPr>
          </a:p>
        </p:txBody>
      </p:sp>
      <p:sp>
        <p:nvSpPr>
          <p:cNvPr id="16" name="Left-Up Arrow 15"/>
          <p:cNvSpPr/>
          <p:nvPr/>
        </p:nvSpPr>
        <p:spPr>
          <a:xfrm>
            <a:off x="7607300" y="2977515"/>
            <a:ext cx="1471295" cy="2453640"/>
          </a:xfrm>
          <a:prstGeom prst="leftUpArrow">
            <a:avLst>
              <a:gd name="adj1" fmla="val 9660"/>
              <a:gd name="adj2" fmla="val 25000"/>
              <a:gd name="adj3" fmla="val 23907"/>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
        <p:nvSpPr>
          <p:cNvPr id="17" name="Text Box 16"/>
          <p:cNvSpPr txBox="1"/>
          <p:nvPr/>
        </p:nvSpPr>
        <p:spPr>
          <a:xfrm>
            <a:off x="8856345" y="4102735"/>
            <a:ext cx="1470660" cy="337185"/>
          </a:xfrm>
          <a:prstGeom prst="rect">
            <a:avLst/>
          </a:prstGeom>
          <a:noFill/>
        </p:spPr>
        <p:txBody>
          <a:bodyPr wrap="square" rtlCol="0">
            <a:spAutoFit/>
          </a:bodyPr>
          <a:p>
            <a:r>
              <a:rPr lang="en-US" sz="1600">
                <a:ln w="15875">
                  <a:gradFill>
                    <a:gsLst>
                      <a:gs pos="0">
                        <a:schemeClr val="accent1">
                          <a:hueMod val="80000"/>
                        </a:schemeClr>
                      </a:gs>
                      <a:gs pos="100000">
                        <a:schemeClr val="accent1"/>
                      </a:gs>
                    </a:gsLst>
                    <a:lin ang="2700000" scaled="1"/>
                  </a:gradFill>
                </a:ln>
                <a:noFill/>
                <a:effectLst/>
              </a:rPr>
              <a:t>f(</a:t>
            </a:r>
            <a:r>
              <a:rPr lang="en-US" sz="1600">
                <a:ln w="15875">
                  <a:gradFill>
                    <a:gsLst>
                      <a:gs pos="0">
                        <a:schemeClr val="accent1">
                          <a:hueMod val="80000"/>
                        </a:schemeClr>
                      </a:gs>
                      <a:gs pos="100000">
                        <a:schemeClr val="accent1"/>
                      </a:gs>
                    </a:gsLst>
                    <a:lin ang="2700000" scaled="1"/>
                  </a:gradFill>
                </a:ln>
                <a:noFill/>
                <a:effectLst/>
                <a:sym typeface="+mn-ea"/>
              </a:rPr>
              <a:t>α</a:t>
            </a:r>
            <a:r>
              <a:rPr lang="en-US" sz="1600">
                <a:ln w="15875">
                  <a:gradFill>
                    <a:gsLst>
                      <a:gs pos="0">
                        <a:schemeClr val="accent1">
                          <a:hueMod val="80000"/>
                        </a:schemeClr>
                      </a:gs>
                      <a:gs pos="100000">
                        <a:schemeClr val="accent1"/>
                      </a:gs>
                    </a:gsLst>
                    <a:lin ang="2700000" scaled="1"/>
                  </a:gradFill>
                </a:ln>
                <a:noFill/>
                <a:effectLst/>
              </a:rPr>
              <a:t>)=g(</a:t>
            </a:r>
            <a:r>
              <a:rPr lang="en-US" sz="1600">
                <a:ln w="15875">
                  <a:gradFill>
                    <a:gsLst>
                      <a:gs pos="0">
                        <a:schemeClr val="accent1">
                          <a:hueMod val="80000"/>
                        </a:schemeClr>
                      </a:gs>
                      <a:gs pos="100000">
                        <a:schemeClr val="accent1"/>
                      </a:gs>
                    </a:gsLst>
                    <a:lin ang="2700000" scaled="1"/>
                  </a:gradFill>
                </a:ln>
                <a:noFill/>
                <a:effectLst/>
                <a:sym typeface="+mn-ea"/>
              </a:rPr>
              <a:t>α-1</a:t>
            </a:r>
            <a:r>
              <a:rPr lang="en-US" sz="1600">
                <a:ln w="15875">
                  <a:gradFill>
                    <a:gsLst>
                      <a:gs pos="0">
                        <a:schemeClr val="accent1">
                          <a:hueMod val="80000"/>
                        </a:schemeClr>
                      </a:gs>
                      <a:gs pos="100000">
                        <a:schemeClr val="accent1"/>
                      </a:gs>
                    </a:gsLst>
                    <a:lin ang="2700000" scaled="1"/>
                  </a:gradFill>
                </a:ln>
                <a:noFill/>
                <a:effectLst/>
              </a:rPr>
              <a:t>)</a:t>
            </a:r>
            <a:endParaRPr lang="en-US" sz="1600">
              <a:ln w="15875">
                <a:gradFill>
                  <a:gsLst>
                    <a:gs pos="0">
                      <a:schemeClr val="accent1">
                        <a:hueMod val="80000"/>
                      </a:schemeClr>
                    </a:gs>
                    <a:gs pos="100000">
                      <a:schemeClr val="accent1"/>
                    </a:gs>
                  </a:gsLst>
                  <a:lin ang="2700000" scaled="1"/>
                </a:gradFill>
              </a:ln>
              <a:noFill/>
              <a:effectLst/>
            </a:endParaRPr>
          </a:p>
        </p:txBody>
      </p:sp>
      <p:sp>
        <p:nvSpPr>
          <p:cNvPr id="18" name="Left Arrow 17"/>
          <p:cNvSpPr/>
          <p:nvPr/>
        </p:nvSpPr>
        <p:spPr>
          <a:xfrm>
            <a:off x="1268095" y="2500630"/>
            <a:ext cx="318770" cy="75565"/>
          </a:xfrm>
          <a:prstGeom prst="leftArrow">
            <a:avLst/>
          </a:prstGeom>
        </p:spPr>
        <p:style>
          <a:lnRef idx="0">
            <a:srgbClr val="FFFFFF"/>
          </a:lnRef>
          <a:fillRef idx="3">
            <a:schemeClr val="accent1"/>
          </a:fillRef>
          <a:effectRef idx="0">
            <a:srgbClr val="FFFFFF"/>
          </a:effectRef>
          <a:fontRef idx="minor">
            <a:schemeClr val="lt1"/>
          </a:fontRef>
        </p:style>
        <p:txBody>
          <a:bodyPr rtlCol="0" anchor="ctr"/>
          <a:p>
            <a:pPr algn="ctr"/>
            <a:endParaRPr lang="en-US"/>
          </a:p>
        </p:txBody>
      </p:sp>
      <p:sp>
        <p:nvSpPr>
          <p:cNvPr id="19" name="Text Box 18"/>
          <p:cNvSpPr txBox="1"/>
          <p:nvPr/>
        </p:nvSpPr>
        <p:spPr>
          <a:xfrm>
            <a:off x="781050" y="2369185"/>
            <a:ext cx="579120" cy="337185"/>
          </a:xfrm>
          <a:prstGeom prst="rect">
            <a:avLst/>
          </a:prstGeom>
          <a:noFill/>
        </p:spPr>
        <p:txBody>
          <a:bodyPr wrap="square" rtlCol="0">
            <a:spAutoFit/>
          </a:bodyPr>
          <a:p>
            <a:r>
              <a:rPr lang="en-US" sz="1600">
                <a:ln w="15875">
                  <a:gradFill>
                    <a:gsLst>
                      <a:gs pos="0">
                        <a:schemeClr val="accent1">
                          <a:hueMod val="80000"/>
                        </a:schemeClr>
                      </a:gs>
                      <a:gs pos="100000">
                        <a:schemeClr val="accent1"/>
                      </a:gs>
                    </a:gsLst>
                    <a:lin ang="2700000" scaled="1"/>
                  </a:gradFill>
                </a:ln>
                <a:noFill/>
                <a:effectLst/>
              </a:rPr>
              <a:t>f(</a:t>
            </a:r>
            <a:r>
              <a:rPr lang="en-US" sz="1600">
                <a:ln w="15875">
                  <a:gradFill>
                    <a:gsLst>
                      <a:gs pos="0">
                        <a:schemeClr val="accent1">
                          <a:hueMod val="80000"/>
                        </a:schemeClr>
                      </a:gs>
                      <a:gs pos="100000">
                        <a:schemeClr val="accent1"/>
                      </a:gs>
                    </a:gsLst>
                    <a:lin ang="2700000" scaled="1"/>
                  </a:gradFill>
                </a:ln>
                <a:noFill/>
                <a:effectLst/>
                <a:sym typeface="+mn-ea"/>
              </a:rPr>
              <a:t>α</a:t>
            </a:r>
            <a:r>
              <a:rPr lang="en-US" sz="1600">
                <a:ln w="15875">
                  <a:gradFill>
                    <a:gsLst>
                      <a:gs pos="0">
                        <a:schemeClr val="accent1">
                          <a:hueMod val="80000"/>
                        </a:schemeClr>
                      </a:gs>
                      <a:gs pos="100000">
                        <a:schemeClr val="accent1"/>
                      </a:gs>
                    </a:gsLst>
                    <a:lin ang="2700000" scaled="1"/>
                  </a:gradFill>
                </a:ln>
                <a:noFill/>
                <a:effectLst/>
              </a:rPr>
              <a:t>)</a:t>
            </a:r>
            <a:endParaRPr lang="en-US" sz="1600">
              <a:ln w="15875">
                <a:gradFill>
                  <a:gsLst>
                    <a:gs pos="0">
                      <a:schemeClr val="accent1">
                        <a:hueMod val="80000"/>
                      </a:schemeClr>
                    </a:gs>
                    <a:gs pos="100000">
                      <a:schemeClr val="accent1"/>
                    </a:gs>
                  </a:gsLst>
                  <a:lin ang="2700000" scaled="1"/>
                </a:gradFill>
              </a:ln>
              <a:noFill/>
              <a:effectLst/>
            </a:endParaRPr>
          </a:p>
        </p:txBody>
      </p:sp>
      <p:sp>
        <p:nvSpPr>
          <p:cNvPr id="21" name="Left Arrow 20"/>
          <p:cNvSpPr/>
          <p:nvPr/>
        </p:nvSpPr>
        <p:spPr>
          <a:xfrm rot="3660000">
            <a:off x="5993765" y="4792345"/>
            <a:ext cx="318770" cy="75565"/>
          </a:xfrm>
          <a:prstGeom prst="leftArrow">
            <a:avLst/>
          </a:prstGeom>
        </p:spPr>
        <p:style>
          <a:lnRef idx="0">
            <a:srgbClr val="FFFFFF"/>
          </a:lnRef>
          <a:fillRef idx="3">
            <a:schemeClr val="accent1"/>
          </a:fillRef>
          <a:effectRef idx="0">
            <a:srgbClr val="FFFFFF"/>
          </a:effectRef>
          <a:fontRef idx="minor">
            <a:schemeClr val="lt1"/>
          </a:fontRef>
        </p:style>
        <p:txBody>
          <a:bodyPr rtlCol="0" anchor="ctr"/>
          <a:p>
            <a:pPr algn="ctr"/>
            <a:endParaRPr lang="en-US"/>
          </a:p>
        </p:txBody>
      </p:sp>
      <p:sp>
        <p:nvSpPr>
          <p:cNvPr id="22" name="Text Box 21"/>
          <p:cNvSpPr txBox="1"/>
          <p:nvPr/>
        </p:nvSpPr>
        <p:spPr>
          <a:xfrm rot="20580000">
            <a:off x="5729605" y="4403725"/>
            <a:ext cx="637540" cy="337185"/>
          </a:xfrm>
          <a:prstGeom prst="rect">
            <a:avLst/>
          </a:prstGeom>
          <a:noFill/>
        </p:spPr>
        <p:txBody>
          <a:bodyPr wrap="square" rtlCol="0">
            <a:spAutoFit/>
          </a:bodyPr>
          <a:p>
            <a:r>
              <a:rPr lang="en-US" sz="1600">
                <a:ln w="15875">
                  <a:gradFill>
                    <a:gsLst>
                      <a:gs pos="0">
                        <a:schemeClr val="accent1">
                          <a:hueMod val="80000"/>
                        </a:schemeClr>
                      </a:gs>
                      <a:gs pos="100000">
                        <a:schemeClr val="accent1"/>
                      </a:gs>
                    </a:gsLst>
                    <a:lin ang="2700000" scaled="1"/>
                  </a:gradFill>
                </a:ln>
                <a:noFill/>
                <a:effectLst/>
                <a:latin typeface="Thonburi Regular" panose="00000400000000000000" charset="0"/>
                <a:cs typeface="Thonburi Regular" panose="00000400000000000000" charset="0"/>
                <a:sym typeface="+mn-ea"/>
              </a:rPr>
              <a:t>g(</a:t>
            </a:r>
            <a:r>
              <a:rPr lang="en-US" sz="1600">
                <a:ln w="15875">
                  <a:gradFill>
                    <a:gsLst>
                      <a:gs pos="0">
                        <a:schemeClr val="accent1">
                          <a:hueMod val="80000"/>
                        </a:schemeClr>
                      </a:gs>
                      <a:gs pos="100000">
                        <a:schemeClr val="accent1"/>
                      </a:gs>
                    </a:gsLst>
                    <a:lin ang="2700000" scaled="1"/>
                  </a:gradFill>
                </a:ln>
                <a:noFill/>
                <a:effectLst/>
                <a:latin typeface="Thonburi Regular" panose="00000400000000000000" charset="0"/>
                <a:cs typeface="Thonburi Regular" panose="00000400000000000000" charset="0"/>
                <a:sym typeface="+mn-ea"/>
              </a:rPr>
              <a:t>α</a:t>
            </a:r>
            <a:r>
              <a:rPr lang="en-US" sz="1600">
                <a:ln w="15875">
                  <a:gradFill>
                    <a:gsLst>
                      <a:gs pos="0">
                        <a:schemeClr val="accent1">
                          <a:hueMod val="80000"/>
                        </a:schemeClr>
                      </a:gs>
                      <a:gs pos="100000">
                        <a:schemeClr val="accent1"/>
                      </a:gs>
                    </a:gsLst>
                    <a:lin ang="2700000" scaled="1"/>
                  </a:gradFill>
                </a:ln>
                <a:noFill/>
                <a:effectLst/>
                <a:latin typeface="Thonburi Regular" panose="00000400000000000000" charset="0"/>
                <a:cs typeface="Thonburi Regular" panose="00000400000000000000" charset="0"/>
                <a:sym typeface="+mn-ea"/>
              </a:rPr>
              <a:t>)</a:t>
            </a:r>
            <a:endParaRPr lang="en-US" sz="1600">
              <a:latin typeface="Thonburi Regular" panose="00000400000000000000" charset="0"/>
              <a:cs typeface="Thonburi Regular" panose="00000400000000000000" charset="0"/>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2" grpId="0"/>
      <p:bldP spid="21" grpId="0" animBg="1"/>
      <p:bldP spid="16" grpId="0" animBg="1"/>
      <p:bldP spid="17" grpId="0"/>
      <p:bldP spid="18" grpId="1" animBg="1"/>
      <p:bldP spid="19" grpId="1"/>
      <p:bldP spid="22" grpId="1"/>
      <p:bldP spid="21" grpId="1" animBg="1"/>
      <p:bldP spid="16" grpId="1" animBg="1"/>
      <p:bldP spid="17"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11149965" y="0"/>
            <a:ext cx="1042035" cy="1042035"/>
          </a:xfrm>
          <a:prstGeom prst="rect">
            <a:avLst/>
          </a:prstGeom>
        </p:spPr>
      </p:pic>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rPr>
              <a:t>Methods:</a:t>
            </a:r>
            <a:r>
              <a:rPr lang="en-US" altLang="en-US" sz="3200">
                <a:latin typeface="Thonburi Regular" panose="00000400000000000000" charset="0"/>
                <a:cs typeface="Thonburi Regular" panose="00000400000000000000" charset="0"/>
              </a:rPr>
              <a:t>Adaptive Plausibility Constraints</a:t>
            </a:r>
            <a:endParaRPr lang="en-US" altLang="en-US" sz="3200">
              <a:latin typeface="Thonburi Regular" panose="00000400000000000000" charset="0"/>
              <a:cs typeface="Thonburi Regular" panose="00000400000000000000" charset="0"/>
            </a:endParaRPr>
          </a:p>
        </p:txBody>
      </p:sp>
      <p:sp>
        <p:nvSpPr>
          <p:cNvPr id="3" name="Content Placeholder 2"/>
          <p:cNvSpPr>
            <a:spLocks noGrp="1"/>
          </p:cNvSpPr>
          <p:nvPr>
            <p:ph idx="1"/>
          </p:nvPr>
        </p:nvSpPr>
        <p:spPr>
          <a:xfrm>
            <a:off x="608330" y="1490345"/>
            <a:ext cx="11056620" cy="4759325"/>
          </a:xfrm>
        </p:spPr>
        <p:txBody>
          <a:bodyPr/>
          <a:p>
            <a:r>
              <a:rPr lang="en-US" altLang="en-US">
                <a:latin typeface="Thonburi Regular" panose="00000400000000000000" charset="0"/>
                <a:cs typeface="Thonburi Regular" panose="00000400000000000000" charset="0"/>
              </a:rPr>
              <a:t>To discriminatively penalize the model’s output and promote plausible token generation, penalization is applied exclusively to high-confidence tokens determined from the output distribution of the original visual input.</a:t>
            </a:r>
            <a:endParaRPr lang="en-US" altLang="en-US">
              <a:latin typeface="Thonburi Regular" panose="00000400000000000000" charset="0"/>
              <a:cs typeface="Thonburi Regular" panose="00000400000000000000" charset="0"/>
            </a:endParaRPr>
          </a:p>
        </p:txBody>
      </p:sp>
      <p:pic>
        <p:nvPicPr>
          <p:cNvPr id="4" name="334E55B0-647D-440b-865C-3EC943EB4CBC-4" descr="/Users/zacharyguo/Library/Containers/com.kingsoft.wpsoffice.mac/Data/tmp/wpsoffice.kiJVdhwpsoffice"/>
          <p:cNvPicPr>
            <a:picLocks noChangeAspect="1"/>
          </p:cNvPicPr>
          <p:nvPr/>
        </p:nvPicPr>
        <p:blipFill>
          <a:blip r:embed="rId2"/>
          <a:stretch>
            <a:fillRect/>
          </a:stretch>
        </p:blipFill>
        <p:spPr>
          <a:xfrm>
            <a:off x="922338" y="2755265"/>
            <a:ext cx="10275570" cy="1945005"/>
          </a:xfrm>
          <a:prstGeom prst="rect">
            <a:avLst/>
          </a:prstGeom>
        </p:spPr>
      </p:pic>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13</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rPr>
              <a:t>Experiments</a:t>
            </a:r>
            <a:endParaRPr lang="en-US" sz="3200">
              <a:latin typeface="Thonburi Regular" panose="00000400000000000000" charset="0"/>
              <a:cs typeface="Thonburi Regular" panose="00000400000000000000" charset="0"/>
            </a:endParaRPr>
          </a:p>
        </p:txBody>
      </p:sp>
      <p:sp>
        <p:nvSpPr>
          <p:cNvPr id="3" name="Content Placeholder 2"/>
          <p:cNvSpPr>
            <a:spLocks noGrp="1"/>
          </p:cNvSpPr>
          <p:nvPr>
            <p:ph idx="1"/>
          </p:nvPr>
        </p:nvSpPr>
        <p:spPr>
          <a:xfrm>
            <a:off x="608330" y="1490345"/>
            <a:ext cx="10968990" cy="4604385"/>
          </a:xfrm>
        </p:spPr>
        <p:txBody>
          <a:bodyPr>
            <a:noAutofit/>
          </a:bodyPr>
          <a:p>
            <a:pPr>
              <a:buFont typeface="Wingdings" panose="05000000000000000000" charset="0"/>
              <a:buChar char=""/>
            </a:pPr>
            <a:r>
              <a:rPr lang="en-US" sz="1500">
                <a:latin typeface="Thonburi Regular" panose="00000400000000000000" charset="0"/>
                <a:cs typeface="Thonburi Regular" panose="00000400000000000000" charset="0"/>
              </a:rPr>
              <a:t>Benchmarks &amp; Evaluation metrics setup:</a:t>
            </a:r>
            <a:endParaRPr lang="en-US" sz="1500">
              <a:latin typeface="Thonburi Regular" panose="00000400000000000000" charset="0"/>
              <a:cs typeface="Thonburi Regular" panose="00000400000000000000" charset="0"/>
            </a:endParaRPr>
          </a:p>
          <a:p>
            <a:pPr lvl="1"/>
            <a:r>
              <a:rPr lang="en-US" sz="1500">
                <a:latin typeface="Thonburi Regular" panose="00000400000000000000" charset="0"/>
                <a:cs typeface="Thonburi Regular" panose="00000400000000000000" charset="0"/>
                <a:sym typeface="+mn-ea"/>
              </a:rPr>
              <a:t>POPE (Object-level Hallucination): Accuracy, </a:t>
            </a:r>
            <a:r>
              <a:rPr lang="en-US" sz="1500">
                <a:latin typeface="Thonburi Regular" panose="00000400000000000000" charset="0"/>
                <a:cs typeface="Thonburi Regular" panose="00000400000000000000" charset="0"/>
                <a:sym typeface="+mn-ea"/>
              </a:rPr>
              <a:t>Precision, Recall, F1-score</a:t>
            </a:r>
            <a:endParaRPr lang="en-US" sz="1500">
              <a:latin typeface="Thonburi Regular" panose="00000400000000000000" charset="0"/>
              <a:cs typeface="Thonburi Regular" panose="00000400000000000000" charset="0"/>
            </a:endParaRPr>
          </a:p>
          <a:p>
            <a:pPr lvl="1"/>
            <a:r>
              <a:rPr lang="en-US" sz="1500">
                <a:latin typeface="Thonburi Regular" panose="00000400000000000000" charset="0"/>
                <a:cs typeface="Thonburi Regular" panose="00000400000000000000" charset="0"/>
                <a:sym typeface="+mn-ea"/>
              </a:rPr>
              <a:t>MME (Object &amp; Attribute-level Hallucination): Accuracy, Accuracy</a:t>
            </a:r>
            <a:r>
              <a:rPr lang="en-US" sz="1500" baseline="30000">
                <a:latin typeface="Thonburi Regular" panose="00000400000000000000" charset="0"/>
                <a:cs typeface="Thonburi Regular" panose="00000400000000000000" charset="0"/>
                <a:sym typeface="+mn-ea"/>
              </a:rPr>
              <a:t>+</a:t>
            </a:r>
            <a:endParaRPr lang="en-US" sz="1500">
              <a:latin typeface="Thonburi Regular" panose="00000400000000000000" charset="0"/>
              <a:cs typeface="Thonburi Regular" panose="00000400000000000000" charset="0"/>
            </a:endParaRPr>
          </a:p>
          <a:p>
            <a:pPr lvl="1"/>
            <a:r>
              <a:rPr lang="en-US" sz="1500">
                <a:latin typeface="Thonburi Regular" panose="00000400000000000000" charset="0"/>
                <a:cs typeface="Thonburi Regular" panose="00000400000000000000" charset="0"/>
                <a:sym typeface="+mn-ea"/>
              </a:rPr>
              <a:t>LLaVA-Bench: GPT-4V-as-a-judge</a:t>
            </a:r>
            <a:endParaRPr lang="en-US" sz="1500">
              <a:latin typeface="Thonburi Regular" panose="00000400000000000000" charset="0"/>
              <a:cs typeface="Thonburi Regular" panose="00000400000000000000" charset="0"/>
            </a:endParaRPr>
          </a:p>
          <a:p>
            <a:pPr marL="57150" lvl="1" indent="-285750">
              <a:buFont typeface="Wingdings" panose="05000000000000000000" charset="0"/>
              <a:buChar char=""/>
            </a:pPr>
            <a:r>
              <a:rPr lang="en-US" sz="1500">
                <a:latin typeface="Thonburi Regular" panose="00000400000000000000" charset="0"/>
                <a:cs typeface="Thonburi Regular" panose="00000400000000000000" charset="0"/>
                <a:sym typeface="+mn-ea"/>
              </a:rPr>
              <a:t>Baselines setup:</a:t>
            </a:r>
            <a:endParaRPr lang="en-US" sz="1500">
              <a:latin typeface="Thonburi Regular" panose="00000400000000000000" charset="0"/>
              <a:cs typeface="Thonburi Regular" panose="00000400000000000000" charset="0"/>
              <a:sym typeface="+mn-ea"/>
            </a:endParaRPr>
          </a:p>
          <a:p>
            <a:pPr lvl="1"/>
            <a:r>
              <a:rPr lang="en-US" sz="1500">
                <a:latin typeface="Thonburi Regular" panose="00000400000000000000" charset="0"/>
                <a:cs typeface="Thonburi Regular" panose="00000400000000000000" charset="0"/>
                <a:sym typeface="+mn-ea"/>
              </a:rPr>
              <a:t>LLaVA-1.5</a:t>
            </a:r>
            <a:endParaRPr lang="en-US" sz="1500">
              <a:latin typeface="Thonburi Regular" panose="00000400000000000000" charset="0"/>
              <a:cs typeface="Thonburi Regular" panose="00000400000000000000" charset="0"/>
            </a:endParaRPr>
          </a:p>
          <a:p>
            <a:pPr lvl="1"/>
            <a:r>
              <a:rPr lang="en-US" sz="1500">
                <a:latin typeface="Thonburi Regular" panose="00000400000000000000" charset="0"/>
                <a:cs typeface="Thonburi Regular" panose="00000400000000000000" charset="0"/>
                <a:sym typeface="+mn-ea"/>
              </a:rPr>
              <a:t>InstructBLIP</a:t>
            </a:r>
            <a:endParaRPr lang="en-US" sz="1500">
              <a:latin typeface="Thonburi Regular" panose="00000400000000000000" charset="0"/>
              <a:cs typeface="Thonburi Regular" panose="00000400000000000000" charset="0"/>
              <a:sym typeface="+mn-ea"/>
            </a:endParaRPr>
          </a:p>
          <a:p>
            <a:pPr lvl="1"/>
            <a:r>
              <a:rPr lang="en-US" sz="1500">
                <a:latin typeface="Thonburi Regular" panose="00000400000000000000" charset="0"/>
                <a:cs typeface="Thonburi Regular" panose="00000400000000000000" charset="0"/>
                <a:sym typeface="+mn-ea"/>
              </a:rPr>
              <a:t>Qwen-VL</a:t>
            </a:r>
            <a:endParaRPr lang="en-US" sz="1500">
              <a:latin typeface="Thonburi Regular" panose="00000400000000000000" charset="0"/>
              <a:cs typeface="Thonburi Regular" panose="00000400000000000000" charset="0"/>
              <a:sym typeface="+mn-ea"/>
            </a:endParaRPr>
          </a:p>
          <a:p>
            <a:pPr marL="57150" lvl="1" indent="-285750">
              <a:buFont typeface="Wingdings" panose="05000000000000000000" charset="0"/>
              <a:buChar char=""/>
            </a:pPr>
            <a:r>
              <a:rPr lang="en-US" sz="1500">
                <a:latin typeface="Thonburi Regular" panose="00000400000000000000" charset="0"/>
                <a:cs typeface="Thonburi Regular" panose="00000400000000000000" charset="0"/>
                <a:sym typeface="+mn-ea"/>
              </a:rPr>
              <a:t>Implementation details setup:</a:t>
            </a:r>
            <a:endParaRPr lang="en-US" sz="1500">
              <a:latin typeface="Thonburi Regular" panose="00000400000000000000" charset="0"/>
              <a:cs typeface="Thonburi Regular" panose="00000400000000000000" charset="0"/>
              <a:sym typeface="+mn-ea"/>
            </a:endParaRPr>
          </a:p>
          <a:p>
            <a:pPr lvl="1"/>
            <a:r>
              <a:rPr lang="en-US" sz="1500">
                <a:latin typeface="Arial" panose="020B0604020202090204" pitchFamily="34" charset="0"/>
                <a:cs typeface="Arial" panose="020B0604020202090204" pitchFamily="34" charset="0"/>
              </a:rPr>
              <a:t>Alignment strength α: 2</a:t>
            </a:r>
            <a:endParaRPr lang="en-US" sz="1500">
              <a:latin typeface="Arial" panose="020B0604020202090204" pitchFamily="34" charset="0"/>
              <a:cs typeface="Arial" panose="020B0604020202090204" pitchFamily="34" charset="0"/>
            </a:endParaRPr>
          </a:p>
          <a:p>
            <a:pPr lvl="1"/>
            <a:r>
              <a:rPr lang="en-US" sz="1500">
                <a:latin typeface="Arial" panose="020B0604020202090204" pitchFamily="34" charset="0"/>
                <a:cs typeface="Arial" panose="020B0604020202090204" pitchFamily="34" charset="0"/>
              </a:rPr>
              <a:t>Truncation strength </a:t>
            </a:r>
            <a:r>
              <a:rPr lang="en-US" altLang="en-US" sz="1500">
                <a:latin typeface="Thonburi Regular" panose="00000400000000000000" charset="0"/>
                <a:cs typeface="Thonburi Regular" panose="00000400000000000000" charset="0"/>
              </a:rPr>
              <a:t>β: 0.1</a:t>
            </a:r>
            <a:endParaRPr lang="en-US" altLang="en-US" sz="1500">
              <a:latin typeface="Thonburi Regular" panose="00000400000000000000" charset="0"/>
              <a:cs typeface="Thonburi Regular" panose="00000400000000000000" charset="0"/>
            </a:endParaRPr>
          </a:p>
          <a:p>
            <a:pPr lvl="1"/>
            <a:r>
              <a:rPr lang="en-US" altLang="en-US" sz="1500">
                <a:latin typeface="Thonburi Regular" panose="00000400000000000000" charset="0"/>
                <a:cs typeface="Thonburi Regular" panose="00000400000000000000" charset="0"/>
              </a:rPr>
              <a:t>Diffusion variance γ: 0.1</a:t>
            </a:r>
            <a:endParaRPr lang="en-US" altLang="en-US" sz="1500">
              <a:latin typeface="Thonburi Regular" panose="00000400000000000000" charset="0"/>
              <a:cs typeface="Thonburi Regular" panose="00000400000000000000" charset="0"/>
            </a:endParaRPr>
          </a:p>
          <a:p>
            <a:pPr lvl="1"/>
            <a:r>
              <a:rPr lang="en-US" altLang="en-US" sz="1500">
                <a:latin typeface="Thonburi Regular" panose="00000400000000000000" charset="0"/>
                <a:cs typeface="Thonburi Regular" panose="00000400000000000000" charset="0"/>
                <a:sym typeface="+mn-ea"/>
              </a:rPr>
              <a:t>total number of noise steps T: 500 for MME and LLaVA-Bench; 999 for POPE</a:t>
            </a:r>
            <a:endParaRPr lang="en-US" altLang="en-US" sz="1500">
              <a:latin typeface="Thonburi Regular" panose="00000400000000000000" charset="0"/>
              <a:cs typeface="Thonburi Regular" panose="00000400000000000000" charset="0"/>
              <a:sym typeface="+mn-ea"/>
            </a:endParaRPr>
          </a:p>
          <a:p>
            <a:pPr marL="0" lvl="1"/>
            <a:endParaRPr lang="en-US" sz="1500">
              <a:latin typeface="Thonburi Regular" panose="00000400000000000000" charset="0"/>
              <a:cs typeface="Thonburi Regular" panose="00000400000000000000" charset="0"/>
              <a:sym typeface="+mn-ea"/>
            </a:endParaRPr>
          </a:p>
          <a:p>
            <a:pPr marL="228600" lvl="2" indent="0">
              <a:buNone/>
            </a:pPr>
            <a:endParaRPr lang="en-US" sz="1500">
              <a:latin typeface="Thonburi Regular" panose="00000400000000000000" charset="0"/>
              <a:cs typeface="Thonburi Regular" panose="00000400000000000000" charset="0"/>
              <a:sym typeface="+mn-ea"/>
            </a:endParaRPr>
          </a:p>
          <a:p>
            <a:pPr marL="0" lvl="1"/>
            <a:endParaRPr lang="en-US" sz="1500">
              <a:latin typeface="Thonburi Regular" panose="00000400000000000000" charset="0"/>
              <a:cs typeface="Thonburi Regular" panose="00000400000000000000" charset="0"/>
              <a:sym typeface="+mn-ea"/>
            </a:endParaRPr>
          </a:p>
          <a:p>
            <a:pPr marL="0" lvl="1"/>
            <a:endParaRPr lang="en-US" sz="1500">
              <a:latin typeface="Thonburi Regular" panose="00000400000000000000" charset="0"/>
              <a:cs typeface="Thonburi Regular" panose="00000400000000000000" charset="0"/>
              <a:sym typeface="+mn-ea"/>
            </a:endParaRPr>
          </a:p>
          <a:p>
            <a:pPr marL="0" lvl="1"/>
            <a:endParaRPr lang="en-US" sz="1500">
              <a:latin typeface="Thonburi Regular" panose="00000400000000000000" charset="0"/>
              <a:cs typeface="Thonburi Regular" panose="00000400000000000000" charset="0"/>
              <a:sym typeface="+mn-ea"/>
            </a:endParaRPr>
          </a:p>
          <a:p>
            <a:pPr marL="0" lvl="1"/>
            <a:endParaRPr lang="en-US" sz="1500">
              <a:latin typeface="Thonburi Regular" panose="00000400000000000000" charset="0"/>
              <a:cs typeface="Thonburi Regular" panose="00000400000000000000" charset="0"/>
            </a:endParaRPr>
          </a:p>
          <a:p>
            <a:endParaRPr lang="en-US" sz="1500">
              <a:latin typeface="Thonburi Regular" panose="00000400000000000000" charset="0"/>
              <a:cs typeface="Thonburi Regular" panose="00000400000000000000" charset="0"/>
            </a:endParaRPr>
          </a:p>
          <a:p>
            <a:pPr lvl="1"/>
            <a:endParaRPr lang="en-US" sz="700">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14</a:t>
            </a:r>
            <a:endParaRPr lang="en-US" sz="2000" b="1" baseline="-25000">
              <a:latin typeface="PingFang SC Semibold" panose="020B0400000000000000" charset="-122"/>
              <a:ea typeface="PingFang SC Semibold" panose="020B0400000000000000" charset="-122"/>
            </a:endParaRPr>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Experiments</a:t>
            </a:r>
            <a:endParaRPr lang="en-US" sz="3200">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pic>
        <p:nvPicPr>
          <p:cNvPr id="6" name="Picture 5"/>
          <p:cNvPicPr>
            <a:picLocks noChangeAspect="1"/>
          </p:cNvPicPr>
          <p:nvPr/>
        </p:nvPicPr>
        <p:blipFill>
          <a:blip r:embed="rId2"/>
          <a:srcRect r="1778"/>
          <a:stretch>
            <a:fillRect/>
          </a:stretch>
        </p:blipFill>
        <p:spPr>
          <a:xfrm>
            <a:off x="772795" y="1694180"/>
            <a:ext cx="5401310" cy="2537460"/>
          </a:xfrm>
          <a:prstGeom prst="rect">
            <a:avLst/>
          </a:prstGeom>
        </p:spPr>
      </p:pic>
      <p:pic>
        <p:nvPicPr>
          <p:cNvPr id="8" name="Content Placeholder 7"/>
          <p:cNvPicPr>
            <a:picLocks noChangeAspect="1"/>
          </p:cNvPicPr>
          <p:nvPr>
            <p:ph idx="1"/>
          </p:nvPr>
        </p:nvPicPr>
        <p:blipFill>
          <a:blip r:embed="rId3"/>
          <a:srcRect l="1335" r="1804"/>
          <a:stretch>
            <a:fillRect/>
          </a:stretch>
        </p:blipFill>
        <p:spPr>
          <a:xfrm>
            <a:off x="845185" y="4212590"/>
            <a:ext cx="5250815" cy="2346325"/>
          </a:xfrm>
          <a:prstGeom prst="rect">
            <a:avLst/>
          </a:prstGeom>
        </p:spPr>
      </p:pic>
      <p:pic>
        <p:nvPicPr>
          <p:cNvPr id="9" name="Picture 8"/>
          <p:cNvPicPr>
            <a:picLocks noChangeAspect="1"/>
          </p:cNvPicPr>
          <p:nvPr/>
        </p:nvPicPr>
        <p:blipFill>
          <a:blip r:embed="rId4"/>
          <a:srcRect b="951"/>
          <a:stretch>
            <a:fillRect/>
          </a:stretch>
        </p:blipFill>
        <p:spPr>
          <a:xfrm>
            <a:off x="6010275" y="1865630"/>
            <a:ext cx="5206365" cy="2381250"/>
          </a:xfrm>
          <a:prstGeom prst="rect">
            <a:avLst/>
          </a:prstGeom>
        </p:spPr>
      </p:pic>
      <p:sp>
        <p:nvSpPr>
          <p:cNvPr id="11" name="Text Box 10"/>
          <p:cNvSpPr txBox="1"/>
          <p:nvPr/>
        </p:nvSpPr>
        <p:spPr>
          <a:xfrm>
            <a:off x="6096000" y="4524375"/>
            <a:ext cx="5273675" cy="1198880"/>
          </a:xfrm>
          <a:prstGeom prst="rect">
            <a:avLst/>
          </a:prstGeom>
          <a:noFill/>
        </p:spPr>
        <p:txBody>
          <a:bodyPr wrap="square" rtlCol="0">
            <a:spAutoFit/>
          </a:bodyPr>
          <a:p>
            <a:r>
              <a:rPr lang="en-US" altLang="en-US">
                <a:latin typeface="Thonburi Regular" panose="00000400000000000000" charset="0"/>
                <a:cs typeface="Thonburi Regular" panose="00000400000000000000" charset="0"/>
              </a:rPr>
              <a:t>The performances of our VCD consistently surpass the baseline results by large margins on all of the LVLMs under different sampling strategies on the </a:t>
            </a:r>
            <a:r>
              <a:rPr lang="en-US" altLang="en-US" i="1">
                <a:latin typeface="Thonburi" panose="00000400000000000000" charset="0"/>
                <a:cs typeface="Thonburi" panose="00000400000000000000" charset="0"/>
              </a:rPr>
              <a:t>POPE</a:t>
            </a:r>
            <a:r>
              <a:rPr lang="en-US" altLang="en-US">
                <a:latin typeface="Thonburi Regular" panose="00000400000000000000" charset="0"/>
                <a:cs typeface="Thonburi Regular" panose="00000400000000000000" charset="0"/>
              </a:rPr>
              <a:t> dataset.</a:t>
            </a:r>
            <a:endParaRPr lang="en-US" altLang="en-US">
              <a:latin typeface="Thonburi Regular" panose="00000400000000000000" charset="0"/>
              <a:cs typeface="Thonburi Regular" panose="00000400000000000000" charset="0"/>
            </a:endParaRPr>
          </a:p>
        </p:txBody>
      </p:sp>
      <p:sp>
        <p:nvSpPr>
          <p:cNvPr id="12" name="Text Box 11"/>
          <p:cNvSpPr txBox="1"/>
          <p:nvPr/>
        </p:nvSpPr>
        <p:spPr>
          <a:xfrm>
            <a:off x="608330" y="1295400"/>
            <a:ext cx="6096000" cy="398780"/>
          </a:xfrm>
          <a:prstGeom prst="rect">
            <a:avLst/>
          </a:prstGeom>
          <a:noFill/>
        </p:spPr>
        <p:txBody>
          <a:bodyPr wrap="square" rtlCol="0" anchor="t">
            <a:spAutoFit/>
          </a:bodyPr>
          <a:p>
            <a:pPr>
              <a:buFont typeface="Wingdings" panose="05000000000000000000" charset="0"/>
              <a:buChar char=""/>
            </a:pPr>
            <a:r>
              <a:rPr lang="en-US" altLang="zh-CN" sz="2000">
                <a:latin typeface="Thonburi Regular" panose="00000400000000000000" charset="0"/>
                <a:cs typeface="Thonburi Regular" panose="00000400000000000000" charset="0"/>
                <a:sym typeface="+mn-ea"/>
              </a:rPr>
              <a:t>Comparisons with state-of-the-art methods</a:t>
            </a:r>
            <a:endParaRPr lang="en-US" altLang="zh-CN" sz="2000">
              <a:latin typeface="Thonburi Regular" panose="00000400000000000000" charset="0"/>
              <a:cs typeface="Thonburi Regular" panose="00000400000000000000" charset="0"/>
              <a:sym typeface="+mn-ea"/>
            </a:endParaRPr>
          </a:p>
        </p:txBody>
      </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15</a:t>
            </a:r>
            <a:endParaRPr lang="en-US" sz="2000" b="1" baseline="-25000">
              <a:latin typeface="PingFang SC Semibold" panose="020B0400000000000000" charset="-122"/>
              <a:ea typeface="PingFang SC Semibold" panose="020B0400000000000000" charset="-122"/>
            </a:endParaRPr>
          </a:p>
        </p:txBody>
      </p:sp>
    </p:spTree>
    <p:custDataLst>
      <p:tags r:id="rId5"/>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Experiments</a:t>
            </a:r>
            <a:endParaRPr lang="en-US" sz="3200">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pic>
        <p:nvPicPr>
          <p:cNvPr id="6" name="Picture 5"/>
          <p:cNvPicPr>
            <a:picLocks noChangeAspect="1"/>
          </p:cNvPicPr>
          <p:nvPr/>
        </p:nvPicPr>
        <p:blipFill>
          <a:blip r:embed="rId2"/>
          <a:srcRect l="611" r="1385" b="3037"/>
          <a:stretch>
            <a:fillRect/>
          </a:stretch>
        </p:blipFill>
        <p:spPr>
          <a:xfrm>
            <a:off x="3928745" y="3601085"/>
            <a:ext cx="7221855" cy="2252345"/>
          </a:xfrm>
          <a:prstGeom prst="rect">
            <a:avLst/>
          </a:prstGeom>
        </p:spPr>
      </p:pic>
      <p:sp>
        <p:nvSpPr>
          <p:cNvPr id="12" name="Text Box 11"/>
          <p:cNvSpPr txBox="1"/>
          <p:nvPr/>
        </p:nvSpPr>
        <p:spPr>
          <a:xfrm>
            <a:off x="608330" y="1295400"/>
            <a:ext cx="6096000" cy="398780"/>
          </a:xfrm>
          <a:prstGeom prst="rect">
            <a:avLst/>
          </a:prstGeom>
          <a:noFill/>
        </p:spPr>
        <p:txBody>
          <a:bodyPr wrap="square" rtlCol="0" anchor="t">
            <a:spAutoFit/>
          </a:bodyPr>
          <a:p>
            <a:pPr>
              <a:buFont typeface="Wingdings" panose="05000000000000000000" charset="0"/>
              <a:buChar char=""/>
            </a:pPr>
            <a:r>
              <a:rPr lang="en-US" altLang="zh-CN" sz="2000">
                <a:latin typeface="Thonburi Regular" panose="00000400000000000000" charset="0"/>
                <a:cs typeface="Thonburi Regular" panose="00000400000000000000" charset="0"/>
                <a:sym typeface="+mn-ea"/>
              </a:rPr>
              <a:t>Comparisons with state-of-the-art methods</a:t>
            </a:r>
            <a:endParaRPr lang="en-US" altLang="zh-CN" sz="2000">
              <a:latin typeface="Thonburi Regular" panose="00000400000000000000" charset="0"/>
              <a:cs typeface="Thonburi Regular" panose="00000400000000000000" charset="0"/>
              <a:sym typeface="+mn-ea"/>
            </a:endParaRPr>
          </a:p>
        </p:txBody>
      </p:sp>
      <p:sp>
        <p:nvSpPr>
          <p:cNvPr id="7" name="Text Box 6"/>
          <p:cNvSpPr txBox="1"/>
          <p:nvPr/>
        </p:nvSpPr>
        <p:spPr>
          <a:xfrm>
            <a:off x="685165" y="3601720"/>
            <a:ext cx="3357245" cy="1832610"/>
          </a:xfrm>
          <a:prstGeom prst="rect">
            <a:avLst/>
          </a:prstGeom>
          <a:noFill/>
        </p:spPr>
        <p:txBody>
          <a:bodyPr wrap="square" rtlCol="0">
            <a:noAutofit/>
          </a:bodyPr>
          <a:p>
            <a:r>
              <a:rPr lang="en-US" altLang="en-US">
                <a:latin typeface="Thonburi Regular" panose="00000400000000000000" charset="0"/>
                <a:cs typeface="Thonburi Regular" panose="00000400000000000000" charset="0"/>
              </a:rPr>
              <a:t>VCD consistently enhances LVLMs’ perceptual capacities while maintaining their recognition competencies o</a:t>
            </a:r>
            <a:r>
              <a:rPr lang="en-US" altLang="en-US">
                <a:latin typeface="Thonburi Regular" panose="00000400000000000000" charset="0"/>
                <a:cs typeface="Thonburi Regular" panose="00000400000000000000" charset="0"/>
                <a:sym typeface="+mn-ea"/>
              </a:rPr>
              <a:t>n the </a:t>
            </a:r>
            <a:r>
              <a:rPr lang="en-US" altLang="en-US" i="1">
                <a:latin typeface="Thonburi" panose="00000400000000000000" charset="0"/>
                <a:cs typeface="Thonburi" panose="00000400000000000000" charset="0"/>
                <a:sym typeface="+mn-ea"/>
              </a:rPr>
              <a:t>MME-</a:t>
            </a:r>
            <a:r>
              <a:rPr lang="en-US" altLang="en-US" i="1">
                <a:latin typeface="Thonburi Regular" panose="00000400000000000000" charset="0"/>
                <a:cs typeface="Thonburi Regular" panose="00000400000000000000" charset="0"/>
                <a:sym typeface="+mn-ea"/>
              </a:rPr>
              <a:t> </a:t>
            </a:r>
            <a:r>
              <a:rPr lang="en-US" altLang="en-US" i="1">
                <a:latin typeface="Thonburi" panose="00000400000000000000" charset="0"/>
                <a:cs typeface="Thonburi" panose="00000400000000000000" charset="0"/>
                <a:sym typeface="+mn-ea"/>
              </a:rPr>
              <a:t>full set</a:t>
            </a:r>
            <a:r>
              <a:rPr lang="en-US" altLang="en-US">
                <a:latin typeface="Thonburi Regular" panose="00000400000000000000" charset="0"/>
                <a:cs typeface="Thonburi Regular" panose="00000400000000000000" charset="0"/>
                <a:sym typeface="+mn-ea"/>
              </a:rPr>
              <a:t> with LLaVA-1.5</a:t>
            </a:r>
            <a:endParaRPr lang="en-US" altLang="en-US">
              <a:latin typeface="Thonburi Regular" panose="00000400000000000000" charset="0"/>
              <a:cs typeface="Thonburi Regular" panose="00000400000000000000" charset="0"/>
            </a:endParaRPr>
          </a:p>
        </p:txBody>
      </p:sp>
      <p:pic>
        <p:nvPicPr>
          <p:cNvPr id="4" name="Content Placeholder 3"/>
          <p:cNvPicPr>
            <a:picLocks noChangeAspect="1"/>
          </p:cNvPicPr>
          <p:nvPr>
            <p:ph idx="1"/>
          </p:nvPr>
        </p:nvPicPr>
        <p:blipFill>
          <a:blip r:embed="rId3"/>
          <a:srcRect l="2020" t="6940" r="1824" b="3327"/>
          <a:stretch>
            <a:fillRect/>
          </a:stretch>
        </p:blipFill>
        <p:spPr>
          <a:xfrm>
            <a:off x="4100195" y="1661160"/>
            <a:ext cx="7050405" cy="1865630"/>
          </a:xfrm>
          <a:prstGeom prst="rect">
            <a:avLst/>
          </a:prstGeom>
        </p:spPr>
      </p:pic>
      <p:sp>
        <p:nvSpPr>
          <p:cNvPr id="8" name="Text Box 7"/>
          <p:cNvSpPr txBox="1"/>
          <p:nvPr/>
        </p:nvSpPr>
        <p:spPr>
          <a:xfrm>
            <a:off x="742950" y="1758950"/>
            <a:ext cx="3482975" cy="1102995"/>
          </a:xfrm>
          <a:prstGeom prst="rect">
            <a:avLst/>
          </a:prstGeom>
          <a:noFill/>
        </p:spPr>
        <p:txBody>
          <a:bodyPr wrap="square" rtlCol="0">
            <a:noAutofit/>
          </a:bodyPr>
          <a:p>
            <a:r>
              <a:rPr lang="en-US" altLang="en-US">
                <a:latin typeface="Thonburi Regular" panose="00000400000000000000" charset="0"/>
                <a:cs typeface="Thonburi Regular" panose="00000400000000000000" charset="0"/>
              </a:rPr>
              <a:t>VCD leads to a uniform enhancement in addressing object-level hallucinations for all models on the </a:t>
            </a:r>
            <a:r>
              <a:rPr lang="en-US" altLang="en-US" i="1">
                <a:latin typeface="Thonburi" panose="00000400000000000000" charset="0"/>
                <a:cs typeface="Thonburi" panose="00000400000000000000" charset="0"/>
              </a:rPr>
              <a:t>MME-hallucination</a:t>
            </a:r>
            <a:r>
              <a:rPr lang="en-US" altLang="en-US" i="1">
                <a:latin typeface="Thonburi Regular" panose="00000400000000000000" charset="0"/>
                <a:cs typeface="Thonburi Regular" panose="00000400000000000000" charset="0"/>
              </a:rPr>
              <a:t> subset</a:t>
            </a:r>
            <a:r>
              <a:rPr lang="en-US" altLang="en-US">
                <a:latin typeface="Thonburi Regular" panose="00000400000000000000" charset="0"/>
                <a:cs typeface="Thonburi Regular" panose="00000400000000000000" charset="0"/>
              </a:rPr>
              <a:t>.</a:t>
            </a:r>
            <a:endParaRPr lang="en-US" altLang="en-US">
              <a:latin typeface="Thonburi Regular" panose="00000400000000000000" charset="0"/>
              <a:cs typeface="Thonburi Regular" panose="00000400000000000000" charset="0"/>
            </a:endParaRPr>
          </a:p>
        </p:txBody>
      </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16</a:t>
            </a:r>
            <a:endParaRPr lang="en-US" sz="2000" b="1" baseline="-25000">
              <a:latin typeface="PingFang SC Semibold" panose="020B0400000000000000" charset="-122"/>
              <a:ea typeface="PingFang SC Semibold" panose="020B0400000000000000" charset="-122"/>
            </a:endParaRPr>
          </a:p>
        </p:txBody>
      </p:sp>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Experiments</a:t>
            </a:r>
            <a:endParaRPr lang="en-US" sz="3200">
              <a:latin typeface="Thonburi Regular" panose="00000400000000000000" charset="0"/>
              <a:cs typeface="Thonburi Regular" panose="00000400000000000000" charset="0"/>
            </a:endParaRPr>
          </a:p>
        </p:txBody>
      </p:sp>
      <p:pic>
        <p:nvPicPr>
          <p:cNvPr id="4" name="Content Placeholder 3"/>
          <p:cNvPicPr>
            <a:picLocks noChangeAspect="1"/>
          </p:cNvPicPr>
          <p:nvPr>
            <p:ph idx="1"/>
          </p:nvPr>
        </p:nvPicPr>
        <p:blipFill>
          <a:blip r:embed="rId1"/>
          <a:srcRect l="465" t="2822" r="2182" b="3299"/>
          <a:stretch>
            <a:fillRect/>
          </a:stretch>
        </p:blipFill>
        <p:spPr>
          <a:xfrm>
            <a:off x="2321560" y="2915920"/>
            <a:ext cx="7549515" cy="3544570"/>
          </a:xfrm>
          <a:prstGeom prst="rect">
            <a:avLst/>
          </a:prstGeom>
        </p:spPr>
      </p:pic>
      <p:pic>
        <p:nvPicPr>
          <p:cNvPr id="5" name="Picture 4"/>
          <p:cNvPicPr>
            <a:picLocks noChangeAspect="1"/>
          </p:cNvPicPr>
          <p:nvPr/>
        </p:nvPicPr>
        <p:blipFill>
          <a:blip r:embed="rId2"/>
          <a:stretch>
            <a:fillRect/>
          </a:stretch>
        </p:blipFill>
        <p:spPr>
          <a:xfrm>
            <a:off x="11149965" y="0"/>
            <a:ext cx="1042035" cy="1042035"/>
          </a:xfrm>
          <a:prstGeom prst="rect">
            <a:avLst/>
          </a:prstGeom>
        </p:spPr>
      </p:pic>
      <p:sp>
        <p:nvSpPr>
          <p:cNvPr id="12" name="Text Box 11"/>
          <p:cNvSpPr txBox="1"/>
          <p:nvPr/>
        </p:nvSpPr>
        <p:spPr>
          <a:xfrm>
            <a:off x="608330" y="1295400"/>
            <a:ext cx="6096000" cy="398780"/>
          </a:xfrm>
          <a:prstGeom prst="rect">
            <a:avLst/>
          </a:prstGeom>
          <a:noFill/>
        </p:spPr>
        <p:txBody>
          <a:bodyPr wrap="square" rtlCol="0" anchor="t">
            <a:spAutoFit/>
          </a:bodyPr>
          <a:p>
            <a:pPr>
              <a:buFont typeface="Wingdings" panose="05000000000000000000" charset="0"/>
              <a:buChar char=""/>
            </a:pPr>
            <a:r>
              <a:rPr lang="en-US" altLang="zh-CN" sz="2000">
                <a:latin typeface="Thonburi Regular" panose="00000400000000000000" charset="0"/>
                <a:cs typeface="Thonburi Regular" panose="00000400000000000000" charset="0"/>
                <a:sym typeface="+mn-ea"/>
              </a:rPr>
              <a:t>Comparisons with state-of-the-art methods</a:t>
            </a:r>
            <a:endParaRPr lang="en-US" altLang="zh-CN" sz="2000">
              <a:latin typeface="Thonburi Regular" panose="00000400000000000000" charset="0"/>
              <a:cs typeface="Thonburi Regular" panose="00000400000000000000" charset="0"/>
              <a:sym typeface="+mn-ea"/>
            </a:endParaRPr>
          </a:p>
        </p:txBody>
      </p:sp>
      <p:sp>
        <p:nvSpPr>
          <p:cNvPr id="8" name="Text Box 7"/>
          <p:cNvSpPr txBox="1"/>
          <p:nvPr/>
        </p:nvSpPr>
        <p:spPr>
          <a:xfrm>
            <a:off x="733425" y="1881505"/>
            <a:ext cx="10061575" cy="922020"/>
          </a:xfrm>
          <a:prstGeom prst="rect">
            <a:avLst/>
          </a:prstGeom>
          <a:noFill/>
        </p:spPr>
        <p:txBody>
          <a:bodyPr wrap="square" rtlCol="0">
            <a:spAutoFit/>
          </a:bodyPr>
          <a:p>
            <a:r>
              <a:rPr lang="en-US" altLang="en-US">
                <a:latin typeface="Thonburi Regular" panose="00000400000000000000" charset="0"/>
                <a:cs typeface="Thonburi Regular" panose="00000400000000000000" charset="0"/>
              </a:rPr>
              <a:t>Results on </a:t>
            </a:r>
            <a:r>
              <a:rPr lang="en-US" altLang="en-US" i="1">
                <a:latin typeface="Thonburi" panose="00000400000000000000" charset="0"/>
                <a:cs typeface="Thonburi" panose="00000400000000000000" charset="0"/>
              </a:rPr>
              <a:t>LLaVA-Bench </a:t>
            </a:r>
            <a:r>
              <a:rPr lang="en-US" altLang="en-US">
                <a:latin typeface="Thonburi" panose="00000400000000000000" charset="0"/>
                <a:cs typeface="Thonburi" panose="00000400000000000000" charset="0"/>
              </a:rPr>
              <a:t>with GPT-4V evaluation</a:t>
            </a:r>
            <a:r>
              <a:rPr lang="en-US" altLang="en-US">
                <a:latin typeface="Thonburi Regular" panose="00000400000000000000" charset="0"/>
                <a:cs typeface="Thonburi Regular" panose="00000400000000000000" charset="0"/>
              </a:rPr>
              <a:t> show consistent improvements in VCD over regular decoding. The observed enhancement in accuracy points to VCD’s ability to mitigate hallucinations effectively.</a:t>
            </a:r>
            <a:endParaRPr lang="en-US" altLang="en-US">
              <a:latin typeface="Thonburi Regular" panose="00000400000000000000" charset="0"/>
              <a:cs typeface="Thonburi Regular" panose="00000400000000000000" charset="0"/>
            </a:endParaRPr>
          </a:p>
        </p:txBody>
      </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17</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sym typeface="+mn-ea"/>
              </a:rPr>
              <a:t>Experiments</a:t>
            </a:r>
            <a:endParaRPr lang="en-US" sz="3200">
              <a:latin typeface="Thonburi Regular" panose="00000400000000000000" charset="0"/>
              <a:cs typeface="Thonburi Regular" panose="00000400000000000000" charset="0"/>
            </a:endParaRPr>
          </a:p>
        </p:txBody>
      </p:sp>
      <p:pic>
        <p:nvPicPr>
          <p:cNvPr id="4" name="Content Placeholder 3"/>
          <p:cNvPicPr>
            <a:picLocks noChangeAspect="1"/>
          </p:cNvPicPr>
          <p:nvPr>
            <p:ph idx="1"/>
          </p:nvPr>
        </p:nvPicPr>
        <p:blipFill>
          <a:blip r:embed="rId1"/>
          <a:stretch>
            <a:fillRect/>
          </a:stretch>
        </p:blipFill>
        <p:spPr>
          <a:xfrm>
            <a:off x="608330" y="1786890"/>
            <a:ext cx="5286375" cy="1642110"/>
          </a:xfrm>
          <a:prstGeom prst="rect">
            <a:avLst/>
          </a:prstGeom>
        </p:spPr>
      </p:pic>
      <p:pic>
        <p:nvPicPr>
          <p:cNvPr id="5" name="Picture 4"/>
          <p:cNvPicPr>
            <a:picLocks noChangeAspect="1"/>
          </p:cNvPicPr>
          <p:nvPr/>
        </p:nvPicPr>
        <p:blipFill>
          <a:blip r:embed="rId2"/>
          <a:stretch>
            <a:fillRect/>
          </a:stretch>
        </p:blipFill>
        <p:spPr>
          <a:xfrm>
            <a:off x="11149965" y="0"/>
            <a:ext cx="1042035" cy="1042035"/>
          </a:xfrm>
          <a:prstGeom prst="rect">
            <a:avLst/>
          </a:prstGeom>
        </p:spPr>
      </p:pic>
      <p:pic>
        <p:nvPicPr>
          <p:cNvPr id="6" name="Picture 5"/>
          <p:cNvPicPr>
            <a:picLocks noChangeAspect="1"/>
          </p:cNvPicPr>
          <p:nvPr/>
        </p:nvPicPr>
        <p:blipFill>
          <a:blip r:embed="rId3"/>
          <a:srcRect t="2475" b="6381"/>
          <a:stretch>
            <a:fillRect/>
          </a:stretch>
        </p:blipFill>
        <p:spPr>
          <a:xfrm>
            <a:off x="638810" y="4689475"/>
            <a:ext cx="5197475" cy="1516380"/>
          </a:xfrm>
          <a:prstGeom prst="rect">
            <a:avLst/>
          </a:prstGeom>
        </p:spPr>
      </p:pic>
      <p:pic>
        <p:nvPicPr>
          <p:cNvPr id="7" name="Picture 6"/>
          <p:cNvPicPr>
            <a:picLocks noChangeAspect="1"/>
          </p:cNvPicPr>
          <p:nvPr/>
        </p:nvPicPr>
        <p:blipFill>
          <a:blip r:embed="rId4"/>
          <a:srcRect t="3435"/>
          <a:stretch>
            <a:fillRect/>
          </a:stretch>
        </p:blipFill>
        <p:spPr>
          <a:xfrm>
            <a:off x="6210935" y="1845945"/>
            <a:ext cx="4605655" cy="1642110"/>
          </a:xfrm>
          <a:prstGeom prst="rect">
            <a:avLst/>
          </a:prstGeom>
        </p:spPr>
      </p:pic>
      <p:pic>
        <p:nvPicPr>
          <p:cNvPr id="8" name="Picture 7"/>
          <p:cNvPicPr>
            <a:picLocks noChangeAspect="1"/>
          </p:cNvPicPr>
          <p:nvPr/>
        </p:nvPicPr>
        <p:blipFill>
          <a:blip r:embed="rId5"/>
          <a:srcRect t="2506" b="1652"/>
          <a:stretch>
            <a:fillRect/>
          </a:stretch>
        </p:blipFill>
        <p:spPr>
          <a:xfrm>
            <a:off x="6308090" y="4077335"/>
            <a:ext cx="4985385" cy="2147570"/>
          </a:xfrm>
          <a:prstGeom prst="rect">
            <a:avLst/>
          </a:prstGeom>
        </p:spPr>
      </p:pic>
      <p:sp>
        <p:nvSpPr>
          <p:cNvPr id="9" name="Text Box 8"/>
          <p:cNvSpPr txBox="1"/>
          <p:nvPr/>
        </p:nvSpPr>
        <p:spPr>
          <a:xfrm>
            <a:off x="608330" y="1466215"/>
            <a:ext cx="6096000" cy="398780"/>
          </a:xfrm>
          <a:prstGeom prst="rect">
            <a:avLst/>
          </a:prstGeom>
          <a:noFill/>
        </p:spPr>
        <p:txBody>
          <a:bodyPr wrap="square" rtlCol="0" anchor="t">
            <a:spAutoFit/>
          </a:bodyPr>
          <a:p>
            <a:pPr>
              <a:buFont typeface="Wingdings" panose="05000000000000000000" charset="0"/>
              <a:buChar char=""/>
            </a:pPr>
            <a:r>
              <a:rPr lang="en-US" altLang="zh-CN" sz="2000">
                <a:latin typeface="Thonburi Regular" panose="00000400000000000000" charset="0"/>
                <a:cs typeface="Thonburi Regular" panose="00000400000000000000" charset="0"/>
                <a:sym typeface="+mn-ea"/>
              </a:rPr>
              <a:t> Ablation Studies</a:t>
            </a:r>
            <a:endParaRPr lang="en-US" altLang="zh-CN" sz="2000">
              <a:latin typeface="Thonburi Regular" panose="00000400000000000000" charset="0"/>
              <a:cs typeface="Thonburi Regular" panose="00000400000000000000" charset="0"/>
              <a:sym typeface="+mn-ea"/>
            </a:endParaRPr>
          </a:p>
        </p:txBody>
      </p:sp>
      <p:sp>
        <p:nvSpPr>
          <p:cNvPr id="10" name="Text Box 9"/>
          <p:cNvSpPr txBox="1"/>
          <p:nvPr/>
        </p:nvSpPr>
        <p:spPr>
          <a:xfrm>
            <a:off x="927735" y="3476625"/>
            <a:ext cx="5283200" cy="368300"/>
          </a:xfrm>
          <a:prstGeom prst="rect">
            <a:avLst/>
          </a:prstGeom>
          <a:noFill/>
        </p:spPr>
        <p:txBody>
          <a:bodyPr wrap="square" rtlCol="0">
            <a:spAutoFit/>
          </a:bodyPr>
          <a:p>
            <a:r>
              <a:rPr lang="en-US">
                <a:latin typeface="Thonburi Regular" panose="00000400000000000000" charset="0"/>
                <a:cs typeface="Thonburi Regular" panose="00000400000000000000" charset="0"/>
              </a:rPr>
              <a:t>results of total noise steps T on MME.</a:t>
            </a:r>
            <a:endParaRPr lang="en-US">
              <a:latin typeface="Thonburi Regular" panose="00000400000000000000" charset="0"/>
              <a:cs typeface="Thonburi Regular" panose="00000400000000000000" charset="0"/>
            </a:endParaRPr>
          </a:p>
        </p:txBody>
      </p:sp>
      <p:sp>
        <p:nvSpPr>
          <p:cNvPr id="11" name="Text Box 10"/>
          <p:cNvSpPr txBox="1"/>
          <p:nvPr/>
        </p:nvSpPr>
        <p:spPr>
          <a:xfrm>
            <a:off x="6134100" y="3476625"/>
            <a:ext cx="4878070" cy="368300"/>
          </a:xfrm>
          <a:prstGeom prst="rect">
            <a:avLst/>
          </a:prstGeom>
          <a:noFill/>
        </p:spPr>
        <p:txBody>
          <a:bodyPr wrap="square" rtlCol="0">
            <a:spAutoFit/>
          </a:bodyPr>
          <a:p>
            <a:r>
              <a:rPr lang="en-US">
                <a:latin typeface="Thonburi Regular" panose="00000400000000000000" charset="0"/>
                <a:cs typeface="Thonburi Regular" panose="00000400000000000000" charset="0"/>
              </a:rPr>
              <a:t>results of trucation strength </a:t>
            </a:r>
            <a:r>
              <a:rPr lang="en-US" altLang="en-US">
                <a:latin typeface="Thonburi Regular" panose="00000400000000000000" charset="0"/>
                <a:cs typeface="Thonburi Regular" panose="00000400000000000000" charset="0"/>
              </a:rPr>
              <a:t>β</a:t>
            </a:r>
            <a:r>
              <a:rPr lang="en-US" altLang="en-US">
                <a:latin typeface="Thonburi Regular" panose="00000400000000000000" charset="0"/>
                <a:cs typeface="Thonburi Regular" panose="00000400000000000000" charset="0"/>
              </a:rPr>
              <a:t> on MME.</a:t>
            </a:r>
            <a:endParaRPr lang="en-US" altLang="en-US">
              <a:latin typeface="Thonburi Regular" panose="00000400000000000000" charset="0"/>
              <a:cs typeface="Thonburi Regular" panose="00000400000000000000" charset="0"/>
            </a:endParaRPr>
          </a:p>
        </p:txBody>
      </p:sp>
      <p:sp>
        <p:nvSpPr>
          <p:cNvPr id="12" name="Text Box 11"/>
          <p:cNvSpPr txBox="1"/>
          <p:nvPr/>
        </p:nvSpPr>
        <p:spPr>
          <a:xfrm>
            <a:off x="927735" y="6205855"/>
            <a:ext cx="5148580" cy="368300"/>
          </a:xfrm>
          <a:prstGeom prst="rect">
            <a:avLst/>
          </a:prstGeom>
          <a:noFill/>
        </p:spPr>
        <p:txBody>
          <a:bodyPr wrap="square" rtlCol="0">
            <a:spAutoFit/>
          </a:bodyPr>
          <a:p>
            <a:r>
              <a:rPr lang="en-US">
                <a:latin typeface="Thonburi Regular" panose="00000400000000000000" charset="0"/>
                <a:cs typeface="Thonburi Regular" panose="00000400000000000000" charset="0"/>
                <a:sym typeface="+mn-ea"/>
              </a:rPr>
              <a:t>results of alignment strength </a:t>
            </a:r>
            <a:r>
              <a:rPr lang="en-US" altLang="en-US">
                <a:latin typeface="Thonburi Regular" panose="00000400000000000000" charset="0"/>
                <a:cs typeface="Thonburi Regular" panose="00000400000000000000" charset="0"/>
                <a:sym typeface="+mn-ea"/>
              </a:rPr>
              <a:t>α on MME.</a:t>
            </a:r>
            <a:endParaRPr lang="en-US"/>
          </a:p>
        </p:txBody>
      </p:sp>
      <p:sp>
        <p:nvSpPr>
          <p:cNvPr id="13" name="Text Box 12"/>
          <p:cNvSpPr txBox="1"/>
          <p:nvPr/>
        </p:nvSpPr>
        <p:spPr>
          <a:xfrm>
            <a:off x="6134100" y="6205855"/>
            <a:ext cx="5582920" cy="368300"/>
          </a:xfrm>
          <a:prstGeom prst="rect">
            <a:avLst/>
          </a:prstGeom>
          <a:noFill/>
        </p:spPr>
        <p:txBody>
          <a:bodyPr wrap="square" rtlCol="0">
            <a:spAutoFit/>
          </a:bodyPr>
          <a:p>
            <a:r>
              <a:rPr lang="en-US">
                <a:latin typeface="Thonburi Regular" panose="00000400000000000000" charset="0"/>
                <a:cs typeface="Thonburi Regular" panose="00000400000000000000" charset="0"/>
              </a:rPr>
              <a:t>results of different decoding strategies on POPE.</a:t>
            </a:r>
            <a:endParaRPr lang="en-US">
              <a:latin typeface="Thonburi Regular" panose="00000400000000000000" charset="0"/>
              <a:cs typeface="Thonburi Regular" panose="00000400000000000000" charset="0"/>
            </a:endParaRPr>
          </a:p>
        </p:txBody>
      </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18</a:t>
            </a:r>
            <a:endParaRPr lang="en-US" sz="2000" b="1" baseline="-25000">
              <a:latin typeface="PingFang SC Semibold" panose="020B0400000000000000" charset="-122"/>
              <a:ea typeface="PingFang SC Semibold" panose="020B0400000000000000" charset="-122"/>
            </a:endParaRPr>
          </a:p>
        </p:txBody>
      </p:sp>
      <p:sp>
        <p:nvSpPr>
          <p:cNvPr id="3" name="Rectangles 2"/>
          <p:cNvSpPr/>
          <p:nvPr/>
        </p:nvSpPr>
        <p:spPr>
          <a:xfrm>
            <a:off x="6375400" y="5060315"/>
            <a:ext cx="4810125" cy="36830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en-US"/>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200">
                <a:latin typeface="Thonburi Regular" panose="00000400000000000000" charset="0"/>
                <a:cs typeface="Thonburi Regular" panose="00000400000000000000" charset="0"/>
              </a:rPr>
              <a:t>Conclusions</a:t>
            </a:r>
            <a:endParaRPr lang="en-US" sz="3200">
              <a:latin typeface="Thonburi Regular" panose="00000400000000000000" charset="0"/>
              <a:cs typeface="Thonburi Regular" panose="00000400000000000000" charset="0"/>
            </a:endParaRPr>
          </a:p>
        </p:txBody>
      </p:sp>
      <p:sp>
        <p:nvSpPr>
          <p:cNvPr id="3" name="Content Placeholder 2"/>
          <p:cNvSpPr>
            <a:spLocks noGrp="1"/>
          </p:cNvSpPr>
          <p:nvPr>
            <p:ph idx="1"/>
          </p:nvPr>
        </p:nvSpPr>
        <p:spPr/>
        <p:txBody>
          <a:bodyPr/>
          <a:p>
            <a:r>
              <a:rPr lang="en-US" altLang="en-US">
                <a:latin typeface="Thonburi Regular" panose="00000400000000000000" charset="0"/>
                <a:cs typeface="Thonburi Regular" panose="00000400000000000000" charset="0"/>
              </a:rPr>
              <a:t>We conducted an in-depth analysis of </a:t>
            </a:r>
            <a:r>
              <a:rPr lang="en-US" altLang="en-US" b="1">
                <a:latin typeface="Thonburi Regular" panose="00000400000000000000" charset="0"/>
                <a:cs typeface="Thonburi Regular" panose="00000400000000000000" charset="0"/>
              </a:rPr>
              <a:t>how visual uncertainty amplifies statistical biases and </a:t>
            </a:r>
            <a:r>
              <a:rPr lang="en-US" altLang="en-US" b="1">
                <a:latin typeface="Thonburi Regular" panose="00000400000000000000" charset="0"/>
                <a:cs typeface="Thonburi Regular" panose="00000400000000000000" charset="0"/>
              </a:rPr>
              <a:t>over-reliance on language priors</a:t>
            </a:r>
            <a:r>
              <a:rPr lang="en-US" altLang="en-US">
                <a:latin typeface="Thonburi Regular" panose="00000400000000000000" charset="0"/>
                <a:cs typeface="Thonburi Regular" panose="00000400000000000000" charset="0"/>
              </a:rPr>
              <a:t>, leading to more hallucinations.</a:t>
            </a:r>
            <a:endParaRPr lang="en-US" altLang="en-US">
              <a:latin typeface="Thonburi Regular" panose="00000400000000000000" charset="0"/>
              <a:cs typeface="Thonburi Regular" panose="00000400000000000000" charset="0"/>
            </a:endParaRPr>
          </a:p>
          <a:p>
            <a:r>
              <a:rPr lang="en-US" altLang="en-US">
                <a:latin typeface="Thonburi Regular" panose="00000400000000000000" charset="0"/>
                <a:cs typeface="Thonburi Regular" panose="00000400000000000000" charset="0"/>
              </a:rPr>
              <a:t>We propose</a:t>
            </a:r>
            <a:r>
              <a:rPr lang="en-US" altLang="en-US">
                <a:latin typeface="Thonburi Regular" panose="00000400000000000000" charset="0"/>
                <a:cs typeface="Thonburi Regular" panose="00000400000000000000" charset="0"/>
              </a:rPr>
              <a:t>d </a:t>
            </a:r>
            <a:r>
              <a:rPr lang="en-US" altLang="en-US" b="1">
                <a:latin typeface="Thonburi Regular" panose="00000400000000000000" charset="0"/>
                <a:cs typeface="Thonburi Regular" panose="00000400000000000000" charset="0"/>
              </a:rPr>
              <a:t>Visual Contrastive Decoding (VCD)</a:t>
            </a:r>
            <a:r>
              <a:rPr lang="en-US" altLang="en-US">
                <a:latin typeface="Thonburi Regular" panose="00000400000000000000" charset="0"/>
                <a:cs typeface="Thonburi Regular" panose="00000400000000000000" charset="0"/>
              </a:rPr>
              <a:t>, a </a:t>
            </a:r>
            <a:r>
              <a:rPr lang="en-US" altLang="en-US" b="1">
                <a:latin typeface="Thonburi Regular" panose="00000400000000000000" charset="0"/>
                <a:cs typeface="Thonburi Regular" panose="00000400000000000000" charset="0"/>
              </a:rPr>
              <a:t>training-free</a:t>
            </a:r>
            <a:r>
              <a:rPr lang="en-US" altLang="en-US">
                <a:latin typeface="Thonburi Regular" panose="00000400000000000000" charset="0"/>
                <a:cs typeface="Thonburi Regular" panose="00000400000000000000" charset="0"/>
              </a:rPr>
              <a:t> approach that uses </a:t>
            </a:r>
            <a:r>
              <a:rPr lang="en-US" altLang="en-US" b="1">
                <a:latin typeface="Thonburi Regular" panose="00000400000000000000" charset="0"/>
                <a:cs typeface="Thonburi Regular" panose="00000400000000000000" charset="0"/>
              </a:rPr>
              <a:t>contrastive distributions to calibrate model outputs without external tools</a:t>
            </a:r>
            <a:r>
              <a:rPr lang="en-US" altLang="en-US">
                <a:latin typeface="Thonburi Regular" panose="00000400000000000000" charset="0"/>
                <a:cs typeface="Thonburi Regular" panose="00000400000000000000" charset="0"/>
              </a:rPr>
              <a:t>.</a:t>
            </a:r>
            <a:endParaRPr lang="en-US" altLang="en-US">
              <a:latin typeface="Thonburi Regular" panose="00000400000000000000" charset="0"/>
              <a:cs typeface="Thonburi Regular" panose="00000400000000000000" charset="0"/>
            </a:endParaRPr>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19</a:t>
            </a:r>
            <a:endParaRPr lang="en-US" sz="2000" b="1" baseline="-25000">
              <a:latin typeface="PingFang SC Semibold" panose="020B0400000000000000" charset="-122"/>
              <a:ea typeface="PingFang SC Semibold" panose="020B0400000000000000" charset="-122"/>
            </a:endParaRPr>
          </a:p>
        </p:txBody>
      </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pic>
        <p:nvPicPr>
          <p:cNvPr id="5" name="Picture 4"/>
          <p:cNvPicPr>
            <a:picLocks noChangeAspect="1"/>
          </p:cNvPicPr>
          <p:nvPr/>
        </p:nvPicPr>
        <p:blipFill>
          <a:blip r:embed="rId1"/>
          <a:stretch>
            <a:fillRect/>
          </a:stretch>
        </p:blipFill>
        <p:spPr>
          <a:xfrm>
            <a:off x="11149965" y="0"/>
            <a:ext cx="1042035" cy="1042035"/>
          </a:xfrm>
          <a:prstGeom prst="rect">
            <a:avLst/>
          </a:prstGeom>
        </p:spPr>
      </p:pic>
      <p:grpSp>
        <p:nvGrpSpPr>
          <p:cNvPr id="39" name="Group 38"/>
          <p:cNvGrpSpPr/>
          <p:nvPr/>
        </p:nvGrpSpPr>
        <p:grpSpPr>
          <a:xfrm>
            <a:off x="0" y="3595370"/>
            <a:ext cx="12301855" cy="3453130"/>
            <a:chOff x="105" y="5662"/>
            <a:chExt cx="19373" cy="5438"/>
          </a:xfrm>
        </p:grpSpPr>
        <p:sp>
          <p:nvSpPr>
            <p:cNvPr id="18" name="Text Box 17"/>
            <p:cNvSpPr txBox="1"/>
            <p:nvPr/>
          </p:nvSpPr>
          <p:spPr>
            <a:xfrm>
              <a:off x="177" y="6305"/>
              <a:ext cx="1382" cy="580"/>
            </a:xfrm>
            <a:prstGeom prst="rect">
              <a:avLst/>
            </a:prstGeom>
            <a:noFill/>
          </p:spPr>
          <p:txBody>
            <a:bodyPr wrap="square" rtlCol="0">
              <a:spAutoFit/>
            </a:bodyPr>
            <a:p>
              <a:r>
                <a:rPr lang="en-US">
                  <a:latin typeface="Thonburi Regular" panose="00000400000000000000" charset="0"/>
                  <a:cs typeface="Thonburi Regular" panose="00000400000000000000" charset="0"/>
                </a:rPr>
                <a:t>GPT-2</a:t>
              </a:r>
              <a:endParaRPr lang="en-US">
                <a:latin typeface="Thonburi Regular" panose="00000400000000000000" charset="0"/>
                <a:cs typeface="Thonburi Regular" panose="00000400000000000000" charset="0"/>
              </a:endParaRPr>
            </a:p>
          </p:txBody>
        </p:sp>
        <p:cxnSp>
          <p:nvCxnSpPr>
            <p:cNvPr id="19" name="Straight Arrow Connector 18"/>
            <p:cNvCxnSpPr/>
            <p:nvPr/>
          </p:nvCxnSpPr>
          <p:spPr>
            <a:xfrm>
              <a:off x="1559" y="6578"/>
              <a:ext cx="1582"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sp>
          <p:nvSpPr>
            <p:cNvPr id="20" name="Text Box 19"/>
            <p:cNvSpPr txBox="1"/>
            <p:nvPr/>
          </p:nvSpPr>
          <p:spPr>
            <a:xfrm>
              <a:off x="3141" y="6305"/>
              <a:ext cx="1381" cy="580"/>
            </a:xfrm>
            <a:prstGeom prst="rect">
              <a:avLst/>
            </a:prstGeom>
            <a:noFill/>
          </p:spPr>
          <p:txBody>
            <a:bodyPr wrap="square" rtlCol="0">
              <a:spAutoFit/>
            </a:bodyPr>
            <a:p>
              <a:r>
                <a:rPr lang="en-US">
                  <a:latin typeface="Thonburi Regular" panose="00000400000000000000" charset="0"/>
                  <a:cs typeface="Thonburi Regular" panose="00000400000000000000" charset="0"/>
                </a:rPr>
                <a:t>GPT-3</a:t>
              </a:r>
              <a:endParaRPr lang="en-US">
                <a:latin typeface="Thonburi Regular" panose="00000400000000000000" charset="0"/>
                <a:cs typeface="Thonburi Regular" panose="00000400000000000000" charset="0"/>
              </a:endParaRPr>
            </a:p>
          </p:txBody>
        </p:sp>
        <p:cxnSp>
          <p:nvCxnSpPr>
            <p:cNvPr id="21" name="Straight Arrow Connector 20"/>
            <p:cNvCxnSpPr/>
            <p:nvPr/>
          </p:nvCxnSpPr>
          <p:spPr>
            <a:xfrm>
              <a:off x="4531" y="6593"/>
              <a:ext cx="1582"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sp>
          <p:nvSpPr>
            <p:cNvPr id="22" name="Text Box 21"/>
            <p:cNvSpPr txBox="1"/>
            <p:nvPr/>
          </p:nvSpPr>
          <p:spPr>
            <a:xfrm>
              <a:off x="6220" y="6304"/>
              <a:ext cx="1487" cy="580"/>
            </a:xfrm>
            <a:prstGeom prst="rect">
              <a:avLst/>
            </a:prstGeom>
            <a:noFill/>
          </p:spPr>
          <p:txBody>
            <a:bodyPr wrap="square" rtlCol="0">
              <a:spAutoFit/>
            </a:bodyPr>
            <a:p>
              <a:r>
                <a:rPr lang="en-US">
                  <a:latin typeface="Thonburi Regular" panose="00000400000000000000" charset="0"/>
                  <a:cs typeface="Thonburi Regular" panose="00000400000000000000" charset="0"/>
                </a:rPr>
                <a:t>GPT-4</a:t>
              </a:r>
              <a:endParaRPr lang="en-US">
                <a:latin typeface="Thonburi Regular" panose="00000400000000000000" charset="0"/>
                <a:cs typeface="Thonburi Regular" panose="00000400000000000000" charset="0"/>
              </a:endParaRPr>
            </a:p>
          </p:txBody>
        </p:sp>
        <p:sp>
          <p:nvSpPr>
            <p:cNvPr id="23" name="Text Box 22"/>
            <p:cNvSpPr txBox="1"/>
            <p:nvPr/>
          </p:nvSpPr>
          <p:spPr>
            <a:xfrm>
              <a:off x="9499" y="6303"/>
              <a:ext cx="1581" cy="580"/>
            </a:xfrm>
            <a:prstGeom prst="rect">
              <a:avLst/>
            </a:prstGeom>
            <a:noFill/>
          </p:spPr>
          <p:txBody>
            <a:bodyPr wrap="square" rtlCol="0">
              <a:spAutoFit/>
            </a:bodyPr>
            <a:p>
              <a:r>
                <a:rPr lang="en-US">
                  <a:latin typeface="Thonburi Regular" panose="00000400000000000000" charset="0"/>
                  <a:cs typeface="Thonburi Regular" panose="00000400000000000000" charset="0"/>
                </a:rPr>
                <a:t>GPT-4o</a:t>
              </a:r>
              <a:endParaRPr lang="en-US">
                <a:latin typeface="Thonburi Regular" panose="00000400000000000000" charset="0"/>
                <a:cs typeface="Thonburi Regular" panose="00000400000000000000" charset="0"/>
              </a:endParaRPr>
            </a:p>
          </p:txBody>
        </p:sp>
        <p:cxnSp>
          <p:nvCxnSpPr>
            <p:cNvPr id="24" name="Straight Arrow Connector 23"/>
            <p:cNvCxnSpPr/>
            <p:nvPr/>
          </p:nvCxnSpPr>
          <p:spPr>
            <a:xfrm>
              <a:off x="7823" y="6578"/>
              <a:ext cx="1582"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5" name="Straight Arrow Connector 24"/>
            <p:cNvCxnSpPr/>
            <p:nvPr/>
          </p:nvCxnSpPr>
          <p:spPr>
            <a:xfrm>
              <a:off x="11102" y="6578"/>
              <a:ext cx="1582"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sp>
          <p:nvSpPr>
            <p:cNvPr id="26" name="Text Box 25"/>
            <p:cNvSpPr txBox="1"/>
            <p:nvPr/>
          </p:nvSpPr>
          <p:spPr>
            <a:xfrm>
              <a:off x="12872" y="6304"/>
              <a:ext cx="1581" cy="580"/>
            </a:xfrm>
            <a:prstGeom prst="rect">
              <a:avLst/>
            </a:prstGeom>
            <a:noFill/>
          </p:spPr>
          <p:txBody>
            <a:bodyPr wrap="square" rtlCol="0">
              <a:spAutoFit/>
            </a:bodyPr>
            <a:p>
              <a:r>
                <a:rPr lang="en-US">
                  <a:latin typeface="Thonburi Regular" panose="00000400000000000000" charset="0"/>
                  <a:cs typeface="Thonburi Regular" panose="00000400000000000000" charset="0"/>
                </a:rPr>
                <a:t>GPT-o4</a:t>
              </a:r>
              <a:endParaRPr lang="en-US">
                <a:latin typeface="Thonburi Regular" panose="00000400000000000000" charset="0"/>
                <a:cs typeface="Thonburi Regular" panose="00000400000000000000" charset="0"/>
              </a:endParaRPr>
            </a:p>
          </p:txBody>
        </p:sp>
        <p:cxnSp>
          <p:nvCxnSpPr>
            <p:cNvPr id="27" name="Straight Arrow Connector 26"/>
            <p:cNvCxnSpPr/>
            <p:nvPr/>
          </p:nvCxnSpPr>
          <p:spPr>
            <a:xfrm>
              <a:off x="14512" y="6578"/>
              <a:ext cx="1582" cy="0"/>
            </a:xfrm>
            <a:prstGeom prst="straightConnector1">
              <a:avLst/>
            </a:prstGeom>
            <a:ln w="31750" cap="rnd">
              <a:solidFill>
                <a:schemeClr val="tx1"/>
              </a:solidFill>
              <a:round/>
              <a:tailEnd type="arrow" w="med" len="med"/>
            </a:ln>
          </p:spPr>
          <p:style>
            <a:lnRef idx="0">
              <a:srgbClr val="FFFFFF"/>
            </a:lnRef>
            <a:fillRef idx="0">
              <a:srgbClr val="FFFFFF"/>
            </a:fillRef>
            <a:effectRef idx="0">
              <a:srgbClr val="FFFFFF"/>
            </a:effectRef>
            <a:fontRef idx="minor">
              <a:schemeClr val="tx1"/>
            </a:fontRef>
          </p:style>
        </p:cxnSp>
        <p:sp>
          <p:nvSpPr>
            <p:cNvPr id="28" name="Text Box 27"/>
            <p:cNvSpPr txBox="1"/>
            <p:nvPr/>
          </p:nvSpPr>
          <p:spPr>
            <a:xfrm>
              <a:off x="16340" y="6303"/>
              <a:ext cx="1581" cy="580"/>
            </a:xfrm>
            <a:prstGeom prst="rect">
              <a:avLst/>
            </a:prstGeom>
            <a:noFill/>
          </p:spPr>
          <p:txBody>
            <a:bodyPr wrap="square" rtlCol="0">
              <a:spAutoFit/>
            </a:bodyPr>
            <a:p>
              <a:r>
                <a:rPr lang="en-US">
                  <a:latin typeface="Thonburi Regular" panose="00000400000000000000" charset="0"/>
                  <a:cs typeface="Thonburi Regular" panose="00000400000000000000" charset="0"/>
                </a:rPr>
                <a:t>GPT-5</a:t>
              </a:r>
              <a:endParaRPr lang="en-US">
                <a:latin typeface="Thonburi Regular" panose="00000400000000000000" charset="0"/>
                <a:cs typeface="Thonburi Regular" panose="00000400000000000000" charset="0"/>
              </a:endParaRPr>
            </a:p>
          </p:txBody>
        </p:sp>
        <p:pic>
          <p:nvPicPr>
            <p:cNvPr id="32" name="Picture 31"/>
            <p:cNvPicPr/>
            <p:nvPr/>
          </p:nvPicPr>
          <p:blipFill>
            <a:blip r:embed="rId2"/>
            <a:srcRect l="4807"/>
            <a:stretch>
              <a:fillRect/>
            </a:stretch>
          </p:blipFill>
          <p:spPr>
            <a:xfrm>
              <a:off x="105" y="5662"/>
              <a:ext cx="911" cy="641"/>
            </a:xfrm>
            <a:prstGeom prst="rect">
              <a:avLst/>
            </a:prstGeom>
          </p:spPr>
        </p:pic>
        <p:sp>
          <p:nvSpPr>
            <p:cNvPr id="33" name="Text Box 32"/>
            <p:cNvSpPr txBox="1"/>
            <p:nvPr/>
          </p:nvSpPr>
          <p:spPr>
            <a:xfrm>
              <a:off x="758" y="5725"/>
              <a:ext cx="5367" cy="580"/>
            </a:xfrm>
            <a:prstGeom prst="rect">
              <a:avLst/>
            </a:prstGeom>
            <a:noFill/>
          </p:spPr>
          <p:txBody>
            <a:bodyPr wrap="square" rtlCol="0">
              <a:spAutoFit/>
            </a:bodyPr>
            <a:p>
              <a:r>
                <a:rPr lang="en-US">
                  <a:latin typeface="Thonburi Regular" panose="00000400000000000000" charset="0"/>
                  <a:cs typeface="Thonburi Regular" panose="00000400000000000000" charset="0"/>
                </a:rPr>
                <a:t>New Emergent </a:t>
              </a:r>
              <a:r>
                <a:rPr lang="en-US">
                  <a:latin typeface="Thonburi Regular" panose="00000400000000000000" charset="0"/>
                  <a:cs typeface="Thonburi Regular" panose="00000400000000000000" charset="0"/>
                </a:rPr>
                <a:t>Capabilities</a:t>
              </a:r>
              <a:endParaRPr lang="en-US">
                <a:latin typeface="Thonburi Regular" panose="00000400000000000000" charset="0"/>
                <a:cs typeface="Thonburi Regular" panose="00000400000000000000" charset="0"/>
              </a:endParaRPr>
            </a:p>
          </p:txBody>
        </p:sp>
        <p:sp>
          <p:nvSpPr>
            <p:cNvPr id="34" name="Text Box 33"/>
            <p:cNvSpPr txBox="1"/>
            <p:nvPr/>
          </p:nvSpPr>
          <p:spPr>
            <a:xfrm>
              <a:off x="2277" y="6931"/>
              <a:ext cx="3225" cy="1161"/>
            </a:xfrm>
            <a:prstGeom prst="rect">
              <a:avLst/>
            </a:prstGeom>
            <a:noFill/>
          </p:spPr>
          <p:txBody>
            <a:bodyPr wrap="square" rtlCol="0">
              <a:spAutoFit/>
            </a:bodyPr>
            <a:p>
              <a:r>
                <a:rPr lang="en-US" sz="1400">
                  <a:latin typeface="Thonburi Regular" panose="00000400000000000000" charset="0"/>
                  <a:cs typeface="Thonburi Regular" panose="00000400000000000000" charset="0"/>
                </a:rPr>
                <a:t>In-Context Learning</a:t>
              </a:r>
              <a:br>
                <a:rPr lang="en-US" sz="1400">
                  <a:latin typeface="Thonburi Regular" panose="00000400000000000000" charset="0"/>
                  <a:cs typeface="Thonburi Regular" panose="00000400000000000000" charset="0"/>
                </a:rPr>
              </a:br>
              <a:r>
                <a:rPr lang="en-US" sz="1400">
                  <a:latin typeface="Thonburi Regular" panose="00000400000000000000" charset="0"/>
                  <a:cs typeface="Thonburi Regular" panose="00000400000000000000" charset="0"/>
                </a:rPr>
                <a:t>Chain-of-thoughts</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rPr>
                <a:t>Instruction-following </a:t>
              </a:r>
              <a:endParaRPr lang="en-US" sz="1400">
                <a:latin typeface="Thonburi Regular" panose="00000400000000000000" charset="0"/>
                <a:cs typeface="Thonburi Regular" panose="00000400000000000000" charset="0"/>
              </a:endParaRPr>
            </a:p>
          </p:txBody>
        </p:sp>
        <p:sp>
          <p:nvSpPr>
            <p:cNvPr id="35" name="Text Box 34"/>
            <p:cNvSpPr txBox="1"/>
            <p:nvPr/>
          </p:nvSpPr>
          <p:spPr>
            <a:xfrm>
              <a:off x="5283" y="6931"/>
              <a:ext cx="3346" cy="1501"/>
            </a:xfrm>
            <a:prstGeom prst="rect">
              <a:avLst/>
            </a:prstGeom>
            <a:noFill/>
          </p:spPr>
          <p:txBody>
            <a:bodyPr wrap="square" rtlCol="0">
              <a:spAutoFit/>
            </a:bodyPr>
            <a:p>
              <a:r>
                <a:rPr lang="en-US" sz="1400">
                  <a:latin typeface="Thonburi Regular" panose="00000400000000000000" charset="0"/>
                  <a:cs typeface="Thonburi Regular" panose="00000400000000000000" charset="0"/>
                </a:rPr>
                <a:t>M-In-Context Learning</a:t>
              </a:r>
              <a:br>
                <a:rPr lang="en-US" sz="1400">
                  <a:latin typeface="Thonburi Regular" panose="00000400000000000000" charset="0"/>
                  <a:cs typeface="Thonburi Regular" panose="00000400000000000000" charset="0"/>
                </a:rPr>
              </a:br>
              <a:r>
                <a:rPr lang="en-US" sz="1400">
                  <a:latin typeface="Thonburi Regular" panose="00000400000000000000" charset="0"/>
                  <a:cs typeface="Thonburi Regular" panose="00000400000000000000" charset="0"/>
                </a:rPr>
                <a:t>Chain-of-thoughts</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rPr>
                <a:t>Instruction-following</a:t>
              </a:r>
              <a:endParaRPr lang="en-US" sz="1400">
                <a:latin typeface="Thonburi Regular" panose="00000400000000000000" charset="0"/>
                <a:cs typeface="Thonburi Regular" panose="00000400000000000000" charset="0"/>
              </a:endParaRPr>
            </a:p>
            <a:p>
              <a:r>
                <a:rPr lang="en-US" sz="1400" b="1">
                  <a:latin typeface="Thonburi Bold" panose="00000400000000000000" charset="0"/>
                  <a:cs typeface="Thonburi Bold" panose="00000400000000000000" charset="0"/>
                </a:rPr>
                <a:t>Multimodal input</a:t>
              </a:r>
              <a:endParaRPr lang="en-US" sz="1400" b="1">
                <a:latin typeface="Thonburi Bold" panose="00000400000000000000" charset="0"/>
                <a:cs typeface="Thonburi Bold" panose="00000400000000000000" charset="0"/>
              </a:endParaRPr>
            </a:p>
          </p:txBody>
        </p:sp>
        <p:sp>
          <p:nvSpPr>
            <p:cNvPr id="36" name="Text Box 35"/>
            <p:cNvSpPr txBox="1"/>
            <p:nvPr/>
          </p:nvSpPr>
          <p:spPr>
            <a:xfrm>
              <a:off x="8451" y="6915"/>
              <a:ext cx="3859" cy="2519"/>
            </a:xfrm>
            <a:prstGeom prst="rect">
              <a:avLst/>
            </a:prstGeom>
            <a:noFill/>
          </p:spPr>
          <p:txBody>
            <a:bodyPr wrap="square" rtlCol="0">
              <a:spAutoFit/>
            </a:bodyPr>
            <a:p>
              <a:r>
                <a:rPr lang="en-US" sz="1400">
                  <a:latin typeface="Thonburi Regular" panose="00000400000000000000" charset="0"/>
                  <a:cs typeface="Thonburi Regular" panose="00000400000000000000" charset="0"/>
                </a:rPr>
                <a:t>M-In-Context Learning</a:t>
              </a:r>
              <a:br>
                <a:rPr lang="en-US" sz="1400">
                  <a:latin typeface="Thonburi Regular" panose="00000400000000000000" charset="0"/>
                  <a:cs typeface="Thonburi Regular" panose="00000400000000000000" charset="0"/>
                </a:rPr>
              </a:br>
              <a:r>
                <a:rPr lang="en-US" sz="1400">
                  <a:latin typeface="Thonburi Regular" panose="00000400000000000000" charset="0"/>
                  <a:cs typeface="Thonburi Regular" panose="00000400000000000000" charset="0"/>
                </a:rPr>
                <a:t>Chain-of-thoughts</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rPr>
                <a:t>Instruction</a:t>
              </a:r>
              <a:r>
                <a:rPr lang="en-US" sz="1400">
                  <a:latin typeface="Thonburi Regular" panose="00000400000000000000" charset="0"/>
                  <a:cs typeface="Thonburi Regular" panose="00000400000000000000" charset="0"/>
                </a:rPr>
                <a:t>-following</a:t>
              </a:r>
              <a:endParaRPr lang="en-US" sz="1400">
                <a:latin typeface="Thonburi Regular" panose="00000400000000000000" charset="0"/>
                <a:cs typeface="Thonburi Regular" panose="00000400000000000000" charset="0"/>
              </a:endParaRPr>
            </a:p>
            <a:p>
              <a:r>
                <a:rPr lang="en-US" sz="1400" b="1">
                  <a:latin typeface="Thonburi Bold" panose="00000400000000000000" charset="0"/>
                  <a:cs typeface="Thonburi Bold" panose="00000400000000000000" charset="0"/>
                </a:rPr>
                <a:t>Mutilmodal input</a:t>
              </a:r>
              <a:endParaRPr lang="en-US" sz="1400" b="1">
                <a:latin typeface="Thonburi Bold" panose="00000400000000000000" charset="0"/>
                <a:cs typeface="Thonburi Bold" panose="00000400000000000000" charset="0"/>
              </a:endParaRPr>
            </a:p>
            <a:p>
              <a:r>
                <a:rPr lang="en-US" sz="1400" b="1">
                  <a:latin typeface="Thonburi Bold" panose="00000400000000000000" charset="0"/>
                  <a:cs typeface="Thonburi Bold" panose="00000400000000000000" charset="0"/>
                </a:rPr>
                <a:t>Multimodal output</a:t>
              </a:r>
              <a:endParaRPr lang="en-US" sz="1400" b="1">
                <a:latin typeface="Thonburi Bold" panose="00000400000000000000" charset="0"/>
                <a:cs typeface="Thonburi Bold" panose="00000400000000000000" charset="0"/>
              </a:endParaRPr>
            </a:p>
            <a:p>
              <a:r>
                <a:rPr lang="en-US" sz="1400">
                  <a:latin typeface="Thonburi Regular" panose="00000400000000000000" charset="0"/>
                  <a:cs typeface="Thonburi Regular" panose="00000400000000000000" charset="0"/>
                </a:rPr>
                <a:t>Improved trustworthiness</a:t>
              </a:r>
              <a:endParaRPr lang="en-US" sz="1400">
                <a:latin typeface="Thonburi Regular" panose="00000400000000000000" charset="0"/>
                <a:cs typeface="Thonburi Regular" panose="00000400000000000000" charset="0"/>
              </a:endParaRPr>
            </a:p>
            <a:p>
              <a:endParaRPr lang="en-US" sz="1400">
                <a:latin typeface="Thonburi Regular" panose="00000400000000000000" charset="0"/>
                <a:cs typeface="Thonburi Regular" panose="00000400000000000000" charset="0"/>
              </a:endParaRPr>
            </a:p>
          </p:txBody>
        </p:sp>
        <p:sp>
          <p:nvSpPr>
            <p:cNvPr id="37" name="Text Box 36"/>
            <p:cNvSpPr txBox="1"/>
            <p:nvPr/>
          </p:nvSpPr>
          <p:spPr>
            <a:xfrm>
              <a:off x="12035" y="6930"/>
              <a:ext cx="3783" cy="3536"/>
            </a:xfrm>
            <a:prstGeom prst="rect">
              <a:avLst/>
            </a:prstGeom>
            <a:noFill/>
          </p:spPr>
          <p:txBody>
            <a:bodyPr wrap="square" rtlCol="0">
              <a:spAutoFit/>
            </a:bodyPr>
            <a:p>
              <a:r>
                <a:rPr lang="en-US" sz="1400">
                  <a:latin typeface="Thonburi Regular" panose="00000400000000000000" charset="0"/>
                  <a:cs typeface="Thonburi Regular" panose="00000400000000000000" charset="0"/>
                </a:rPr>
                <a:t>M-In-Context Learning</a:t>
              </a:r>
              <a:br>
                <a:rPr lang="en-US" sz="1400">
                  <a:latin typeface="Thonburi Regular" panose="00000400000000000000" charset="0"/>
                  <a:cs typeface="Thonburi Regular" panose="00000400000000000000" charset="0"/>
                </a:rPr>
              </a:br>
              <a:r>
                <a:rPr lang="en-US" sz="1400">
                  <a:latin typeface="Thonburi Regular" panose="00000400000000000000" charset="0"/>
                  <a:cs typeface="Thonburi Regular" panose="00000400000000000000" charset="0"/>
                </a:rPr>
                <a:t>M-</a:t>
              </a:r>
              <a:r>
                <a:rPr lang="en-US" sz="1400">
                  <a:latin typeface="Thonburi Regular" panose="00000400000000000000" charset="0"/>
                  <a:cs typeface="Thonburi Regular" panose="00000400000000000000" charset="0"/>
                </a:rPr>
                <a:t>Chain-of-thoughts</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rPr>
                <a:t>Instruction-following</a:t>
              </a:r>
              <a:endParaRPr lang="en-US" sz="1400">
                <a:latin typeface="Thonburi Regular" panose="00000400000000000000" charset="0"/>
                <a:cs typeface="Thonburi Regular" panose="00000400000000000000" charset="0"/>
              </a:endParaRPr>
            </a:p>
            <a:p>
              <a:r>
                <a:rPr lang="en-US" sz="1400" b="1">
                  <a:latin typeface="Thonburi Bold" panose="00000400000000000000" charset="0"/>
                  <a:cs typeface="Thonburi Bold" panose="00000400000000000000" charset="0"/>
                </a:rPr>
                <a:t>Mutilmodal input</a:t>
              </a:r>
              <a:endParaRPr lang="en-US" sz="1400" b="1">
                <a:latin typeface="Thonburi Bold" panose="00000400000000000000" charset="0"/>
                <a:cs typeface="Thonburi Bold" panose="00000400000000000000" charset="0"/>
              </a:endParaRPr>
            </a:p>
            <a:p>
              <a:r>
                <a:rPr lang="en-US" sz="1400">
                  <a:latin typeface="Thonburi Regular" panose="00000400000000000000" charset="0"/>
                  <a:cs typeface="Thonburi Regular" panose="00000400000000000000" charset="0"/>
                </a:rPr>
                <a:t>Agentability</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rPr>
                <a:t>Deep research</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sym typeface="+mn-ea"/>
                </a:rPr>
                <a:t>Improved trustworthiness</a:t>
              </a:r>
              <a:endParaRPr lang="en-US" sz="1400">
                <a:latin typeface="Thonburi Regular" panose="00000400000000000000" charset="0"/>
                <a:cs typeface="Thonburi Regular" panose="00000400000000000000" charset="0"/>
              </a:endParaRPr>
            </a:p>
            <a:p>
              <a:endParaRPr lang="en-US" sz="1400">
                <a:latin typeface="Thonburi Regular" panose="00000400000000000000" charset="0"/>
                <a:cs typeface="Thonburi Regular" panose="00000400000000000000" charset="0"/>
              </a:endParaRPr>
            </a:p>
            <a:p>
              <a:endParaRPr lang="en-US" sz="1400">
                <a:latin typeface="Thonburi Regular" panose="00000400000000000000" charset="0"/>
                <a:cs typeface="Thonburi Regular" panose="00000400000000000000" charset="0"/>
              </a:endParaRPr>
            </a:p>
            <a:p>
              <a:endParaRPr lang="en-US" sz="1400">
                <a:latin typeface="Thonburi Regular" panose="00000400000000000000" charset="0"/>
                <a:cs typeface="Thonburi Regular" panose="00000400000000000000" charset="0"/>
              </a:endParaRPr>
            </a:p>
          </p:txBody>
        </p:sp>
        <p:sp>
          <p:nvSpPr>
            <p:cNvPr id="38" name="Text Box 37"/>
            <p:cNvSpPr txBox="1"/>
            <p:nvPr/>
          </p:nvSpPr>
          <p:spPr>
            <a:xfrm>
              <a:off x="15695" y="6885"/>
              <a:ext cx="3783" cy="4215"/>
            </a:xfrm>
            <a:prstGeom prst="rect">
              <a:avLst/>
            </a:prstGeom>
            <a:noFill/>
          </p:spPr>
          <p:txBody>
            <a:bodyPr wrap="square" rtlCol="0">
              <a:spAutoFit/>
            </a:bodyPr>
            <a:p>
              <a:r>
                <a:rPr lang="en-US" sz="1400">
                  <a:latin typeface="Thonburi Regular" panose="00000400000000000000" charset="0"/>
                  <a:cs typeface="Thonburi Regular" panose="00000400000000000000" charset="0"/>
                </a:rPr>
                <a:t>M-In-Context Learning</a:t>
              </a:r>
              <a:br>
                <a:rPr lang="en-US" sz="1400">
                  <a:latin typeface="Thonburi Regular" panose="00000400000000000000" charset="0"/>
                  <a:cs typeface="Thonburi Regular" panose="00000400000000000000" charset="0"/>
                </a:rPr>
              </a:br>
              <a:r>
                <a:rPr lang="en-US" sz="1400">
                  <a:latin typeface="Thonburi Regular" panose="00000400000000000000" charset="0"/>
                  <a:cs typeface="Thonburi Regular" panose="00000400000000000000" charset="0"/>
                </a:rPr>
                <a:t>M-</a:t>
              </a:r>
              <a:r>
                <a:rPr lang="en-US" sz="1400">
                  <a:latin typeface="Thonburi Regular" panose="00000400000000000000" charset="0"/>
                  <a:cs typeface="Thonburi Regular" panose="00000400000000000000" charset="0"/>
                </a:rPr>
                <a:t>Chain-of-thoughts</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rPr>
                <a:t>Instruction-following</a:t>
              </a:r>
              <a:endParaRPr lang="en-US" sz="1400">
                <a:latin typeface="Thonburi Regular" panose="00000400000000000000" charset="0"/>
                <a:cs typeface="Thonburi Regular" panose="00000400000000000000" charset="0"/>
              </a:endParaRPr>
            </a:p>
            <a:p>
              <a:r>
                <a:rPr lang="en-US" sz="1400" b="1">
                  <a:latin typeface="Thonburi Bold" panose="00000400000000000000" charset="0"/>
                  <a:cs typeface="Thonburi Bold" panose="00000400000000000000" charset="0"/>
                </a:rPr>
                <a:t>Mutilmodal input</a:t>
              </a:r>
              <a:br>
                <a:rPr lang="en-US" sz="1400" b="1">
                  <a:latin typeface="Thonburi Bold" panose="00000400000000000000" charset="0"/>
                  <a:cs typeface="Thonburi Bold" panose="00000400000000000000" charset="0"/>
                </a:rPr>
              </a:br>
              <a:r>
                <a:rPr lang="en-US" sz="1400" b="1">
                  <a:latin typeface="Thonburi Bold" panose="00000400000000000000" charset="0"/>
                  <a:cs typeface="Thonburi Bold" panose="00000400000000000000" charset="0"/>
                </a:rPr>
                <a:t>Multimodal output</a:t>
              </a:r>
              <a:endParaRPr lang="en-US" sz="1400" b="1">
                <a:latin typeface="Thonburi Bold" panose="00000400000000000000" charset="0"/>
                <a:cs typeface="Thonburi Bold" panose="00000400000000000000" charset="0"/>
              </a:endParaRPr>
            </a:p>
            <a:p>
              <a:r>
                <a:rPr lang="en-US" sz="1400">
                  <a:latin typeface="Thonburi Regular" panose="00000400000000000000" charset="0"/>
                  <a:cs typeface="Thonburi Regular" panose="00000400000000000000" charset="0"/>
                </a:rPr>
                <a:t>Agentability</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rPr>
                <a:t>Deep research</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rPr>
                <a:t>Study mode</a:t>
              </a:r>
              <a:endParaRPr lang="en-US" sz="1400">
                <a:latin typeface="Thonburi Regular" panose="00000400000000000000" charset="0"/>
                <a:cs typeface="Thonburi Regular" panose="00000400000000000000" charset="0"/>
              </a:endParaRPr>
            </a:p>
            <a:p>
              <a:r>
                <a:rPr lang="en-US" sz="1400">
                  <a:latin typeface="Thonburi Regular" panose="00000400000000000000" charset="0"/>
                  <a:cs typeface="Thonburi Regular" panose="00000400000000000000" charset="0"/>
                  <a:sym typeface="+mn-ea"/>
                </a:rPr>
                <a:t>Improved trustworthiness</a:t>
              </a:r>
              <a:endParaRPr lang="en-US" sz="1400">
                <a:latin typeface="Thonburi Regular" panose="00000400000000000000" charset="0"/>
                <a:cs typeface="Thonburi Regular" panose="00000400000000000000" charset="0"/>
              </a:endParaRPr>
            </a:p>
            <a:p>
              <a:endParaRPr lang="en-US" sz="1400">
                <a:latin typeface="Thonburi Regular" panose="00000400000000000000" charset="0"/>
                <a:cs typeface="Thonburi Regular" panose="00000400000000000000" charset="0"/>
              </a:endParaRPr>
            </a:p>
            <a:p>
              <a:endParaRPr lang="en-US" sz="1400">
                <a:latin typeface="Thonburi Regular" panose="00000400000000000000" charset="0"/>
                <a:cs typeface="Thonburi Regular" panose="00000400000000000000" charset="0"/>
              </a:endParaRPr>
            </a:p>
            <a:p>
              <a:endParaRPr lang="en-US" sz="1400">
                <a:latin typeface="Thonburi Regular" panose="00000400000000000000" charset="0"/>
                <a:cs typeface="Thonburi Regular" panose="00000400000000000000" charset="0"/>
              </a:endParaRPr>
            </a:p>
          </p:txBody>
        </p:sp>
      </p:grpSp>
      <p:sp>
        <p:nvSpPr>
          <p:cNvPr id="65" name="Text Box 64"/>
          <p:cNvSpPr txBox="1"/>
          <p:nvPr/>
        </p:nvSpPr>
        <p:spPr>
          <a:xfrm>
            <a:off x="11577320" y="6365240"/>
            <a:ext cx="709295" cy="274955"/>
          </a:xfrm>
          <a:prstGeom prst="rect">
            <a:avLst/>
          </a:prstGeom>
          <a:noFill/>
        </p:spPr>
        <p:txBody>
          <a:bodyPr wrap="square" rtlCol="0">
            <a:noAutofit/>
          </a:bodyPr>
          <a:p>
            <a:r>
              <a:rPr lang="en-US" sz="2000" b="1" baseline="-25000">
                <a:latin typeface="PingFang SC Semibold" panose="020B0400000000000000" charset="-122"/>
                <a:ea typeface="PingFang SC Semibold" panose="020B0400000000000000" charset="-122"/>
              </a:rPr>
              <a:t>1</a:t>
            </a:r>
            <a:endParaRPr lang="en-US" sz="2000" b="1" baseline="-25000">
              <a:latin typeface="PingFang SC Semibold" panose="020B0400000000000000" charset="-122"/>
              <a:ea typeface="PingFang SC Semibold" panose="020B0400000000000000" charset="-122"/>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0cnVlfSIsCgkiTGF0ZXgiIDogIlhGc0tjRjk3WEcxaGRHaHliWHQyWTJSOWZTaDVJRnh0YVdRZ2Rpd2dkaWNzSUhncElBbzlJRnh2Y0dWeVlYUnZjbTVoYldWN2MyOW1kRzFoZUgxY0lWeHNaV1owV3dwY2RHVjRkSHRzYjJkcGRIMWZlMXgwYUdWMFlYMG9lU0JjYldsa0lIWW5MQ0I0S1NBS0t5QmNZV3h3YUdFZ1hHSnBaeWhjZEdWNGRIdHNiMmRwZEgxZmUxeDBhR1YwWVgwb2VTQmNiV2xrSUhZc0lIZ3BJQzBnWEhSbGVIUjdiRzluYVhSOVgzdGNkR2hsZEdGOUtIa2dYRzFwWkNCMkp5d2dlQ2xjWW1sbktTQUtYSEpwWjJoMFhRcGNYUXBjV3dwY1ltVm5hVzU3WVhKeVlYbDllMnhzZlFwNE9pQW1JRngwWlhoMGUzUm9aU0IwWlhoMElIRjFaWEo1ZlNCY1hBcDVPaUFtSUZ4MFpYaDBlMkVnWTJGdVpHbGtZWFJsSUhSdmEyVnVJSFJ2SUdKbElHUmxZMjlrWldSOUlGeGNDblk2SUNZZ1hIUmxlSFI3ZEdobElHOXlhV2RwYm1Gc0lIWnBjM1ZoYkNCcGJuQjFkSDBnWEZ3S2RpYzZJQ1lnWEhSbGVIUjdkR2hsSUhCbGNuUjFjbUpsWkNCMmFYTjFZV3dnYVc1d2RYUjlJRnhjQ2x4aGJIQm9ZVG9nSmlCY2RHVjRkSHRoYkdsbmJtMWxiblFnYzNSeVpXNW5kR2dzSUhkcGRHZ2dKRnhoYkhCb1lUMHhKQ0J5WldSMVkybHVaeUIwYnlCeVpXZDFiR0Z5SUdSbFkyOWthVzVuZlNCY1hBcGNaVzVrZTJGeWNtRjVmUXBjWFFvPSIsCgkiTGF0ZXhJbWdCYXNlNjQiIDogImlWQk9SdzBLR2dvQUFBQU5TVWhFVWdBQUMxSUFBQUt0QkFNQUFBQmxlS01KQUFBQU1GQk1WRVgvLy84QUFBQUFBQUFBQUFBQUFBQUFBQUFBQUFBQUFBQUFBQUFBQUFBQUFBQUFBQUFBQUFBQUFBQUFBQUFBQUFBdjNhQjdBQUFBRDNSU1RsTUFNcnZ2M2F0bXpZa2lFSFpFVkprVnBLT1BBQUFBQ1hCSVdYTUFBQTdFQUFBT3hBR1ZLdzRiQUFBZ0FFbEVRVlI0QWV5OUM1UWtXVm52RzlXUDZzN3NxcTY2c2x4NnZVaVZNZ2h5dkdSak44NkFRcFRUZzZQNHlBWmN6QkVmV1l1UmhlSzVWaDluZEZTT1pvbkg1Y0Z6blNvY0ZxQ29sVElESEE1SzlSTDFna3ZOT29BZXVTcFZ4d2MrcjFtTWNIa2NiMWN6V1VNMzgraDl2LzNlTzJKSFprUm1SblZsOWovV3Fvd2RPL2IrOWhlLzJQR1BMM1k4S29vd1RUNkIzL3h6T2MxUC9xWmlDMEZnb2dpb1EvZS9UZFJHWVdNeUNDd3dPVjNJV0kvc1VSSjQ3L05IYVEyMmJpSUNEK3dtTjdhaUR0MUhraXV3UElrRW9OUUh1RmVyOWFVRGJBMU5UUktCbzFkYmljMkJVaWVBVFBZaWxQb0E5KzhEM2RZQnRvYW1Kb25BRkh0SlluTW1YcWxiaVEyK3VSY1gySVJ0Zi9Yd2JrODEvdHpoZFE2ZWxVcGcrRzY1dmQ4S2VyZzNxYU1mNzJKZkhkemdtelJ6MHBTNjJueGsvYkR1eW9mWXptRjFEWDZWUzJBRTNmSVV1eGowY1dLVnVzYjJneHQ4azJaT21sSWZZV3pwa083S2F2M2FJZlVNYnBWTllCVGRNa09TTTdMTDNxTFM3VS9SRGRQNTBsc1pud1ltVGFscDNQMndEakVjeVFpS3hxZXp3Tk5CQ1l5aVd4NWpGMExOVDZwU255U2wzZ3B0OEUyYU4ybEt2Y2JZRTRkMFY2Nng5VVBxR2R3cW04QW91dVVVZXp6a1ptbEtQZnR0b2VaQ2VTZGZGTW9kTXU4WUtYVkJFdzhzRjZ3d1RzVnZtRktYMUEvcWpGMHB4ci95ZGNYS0QxcDZKbnlnRFdvdWI3MlNPT2RzZnV5T25aSndqYVJicmdWSEEwcFQ2cjNjRC8vUEZaWFVQTDFuZzdHaW80WEhKdlhtS3VkMXc1UzZuSDdBbjF4YXpkTVBuREwxUldlaHZPU0ROMmJ3b3h6T2VUR04zYkZURHE3UmRNdGp3VnN3WlNuMThlQjVJYmpqTjFrcm1EOVVacHV4eHdvYXFOWi9zbUNOTVNwK281UzZwSDV3aXBTNlZSRC9RNmwzQ2dvYXlGZThlVU1HUDByaW5HK1RvMmpjanAyU2NJMm1XMDRGZzh5eWxMcVdmeFJ4bzR5dTNXVGhjZmxlWGUrQmpDY1plOVVabDNVM1NxbEw2Z2NuR0h1MEtQcEtuSHlub0tpRlBPV24yZlU4eFVaZHBpVE91ZDBjczJPbkpGd2o2cGFOMEMyMmtwVDZCRnZPdlpQTFVPb3F4Vnp6dVQxUUJkT3ZCeFcxVUxSODViZnIrNjhvV21tZzhvNVN2L0V2M3YvSmU1ODNrSlhDbGNycUI1dURQUHF4Y0JCbjRnZk50ZHdrY002OXc0Yy9kaVlCMTRpNjVRWTdrd1pma2xJM0Nnd1NsNkhVczR3Tk1PcmN1Wm9HVkdiT1RJMTF6N092TDdNSmJkc3E5UXlkeEFhSVNMV2hZdk95K2tHSHNjVmlubERwMllNWVFkNWp1OUt4aWVDY24vR3d4ODVFNEJwUnR6d2R1aWxkamxLZkxISWNsYUhVeHdkNmlPdGs4UkdUL0YwNVVIS1BQZDZhcWhlK05SYXcxRGZyeGloMWFmMmdNZEF6bUd1RlIwejZjazBXb09mNFd6THZJS1duTk03SnpjdGVIdmJZbVFoY0krcVdkR05TZFNLSGR6bEt2UjFveVduVVQ1YWgxSE9EdmNKV0R6N0o2THM3dXFXSEdGMk8wd1hURjBabk10T1NWZXJLL1o5aUE4WFVmN3UvbW1rK1kwVnAvWUFOOUFicU1YWXB3OUdSWlI4eHc5UVR3YmtBbHlHUG5ZbkFOYXB1MlFoRWI2VW9kVFgrZklGZFhJWlNiN01DQStYVzE0M2lnOXUyY3RGVXRjNWVFRVZ0RnJyVUtXcXJiM21yMUZUMEhZTW85ZW5pM2JDMGZrQUJXSkVlcHVsVXluK3ZjY0U5NzQ0OVp3MHV6M3o0WTJmc2NZMnNXeTZZbXgyV2ZDbEtmYUxRZ0dBWlNyM0h1blliODZkT0JaOWt6RisvVUVtU3ZxMG8yaXYrNEhlaFZsUmhUNm5wZm12eGNRQTYrUVhPOUQxOUthMGZFTHJBUFplZXZvaVY3ZEsvQlZOengvM0dubk4vb3JiRThNZk8yT01hV2JjOFlhN01MTjlTbEhxbDBITjNaU2gxUEdDZ0doZTRFMm9oRHBaYUVEYzlWd1lMRDRzMjZTbDFGQStnMUhSS0tYb2VLNjBmSEdXRGpXTWNMWHF1S1lxWmhxbDNuRHJqenRuWmxQN0o0WStkY2NjMXNtNUp6Mlcza3NETFVPcHE0SXlRYk5kWkxrR3A2WUI1ekdraGYzTGxBSWMvYXV4SmNveGVlMStpMlFtZUxuSHlsYm8rZ0ZMWFNLbXZHQS96K0Z0ZVAxZ0k5R1RqV28vRWRObkRIM1FuMjIxKzNEbTcyOUkzUGZ5eE0rNjRSdFl0NmVwaU5jbTdES1UrWGt3bVMxQnErajdUYm5KTGN5MGZLelJ1azh0a1ZpSGFHMXo0cWk5L2NZdG14dzVVcVpzREtEV1BxUytTcDNMSzQyOTUvV0N0V0N5Z25ZNmllc25QWVc3NmpvMDdad3N1UjJyNFkyZmNjWTJ1VzliU28zdGxLUFZDTVprc1FhbnBYYUgxSEgwclhXUld4TG5wL0JKeTZKRnZLM3pSMFVPdjFCdWsxTXVHUXg1L3krc0hUZmUrbmZFcFI2TGpEVTZFS2t4L0pwU2JONi90QisyRFNNOWg0cHgzczBXNTRZK2RjY2MxdW03WlNldFFHVXBkU3creTlOcmxKU2oxNWdBeG8zU3hQdENkeUY2Ymw3V094cUl1MkhWemgxNnBwNWtMTlkrL3BmVUR1aHh4MEZtSS9WUEgwckZLb3RMQ0FHOU1XUk4xMy80ZzBuT0lPTnZ0eXBVYSt0Z1pjMXdqN0phYjZSZjNTbERxS2Y4S3NPOU9Ma0dwVi96UXBxOEx0a0I3c0Z0VjFrRHVGTjBvM3JXRk53NjlVa2RQZThaT0lYL0w2d2NrWnZQV2xTS3BVMzN2TkhlR2VUeUU3bzk0cDVCQnBPY1FjUzVDbHNvT2ZleU1PYTRSZHN2QW9FQUpTbjJrb0V5V29OUTFkMkNoVUgvYjlJT2lRbldMRmFaLzVMTnFhNndjZnFXMnpsSXFoNy9sOVlNamJORGg1bXJmcHpkWGhybW9vclB2c290cElPbHhEZHhZenA0bi9SZUdQbmJHSE5jSXV5VmRjRjlLQUM5QnFUZlpVcUtSM29zbEtMWC9yRlR2NXYyMXg5TURSSDZCa1MyUlVqczdvekZtU3AzRDMvTDZ3ZHpnTzZuUmI2QjZLS1dteDdSYWJnY1pYbnB1S0dkM1UzS2toejUyeGh6WENMc2x2VTkrTVVHOEJLVnV1N0Zpb3JuUTR1aVZlbmFnZDQyRmJ6TURoMnVoVGV1VjV5dDFQR1pLbmNQZjh2cEJwMkFzNE95RzdkUVI0S3preWFHVWVpUFI4WWFYbmh2S09ZR20zK0xReDg2WTR4cGx0MHcvWmx5Q1V0Y0xQbmN4ZXFVK1B0Qzd4cklqc29MZTkrdSttZXM5cFo1aDQ2WFVlZnd0cng4MC9ER0dUTVNCRlhQOW5ob1pTcW5iaVZzMFEwdlBqZVVjNE5jemE5aGpaOHh4amJKYnlwY3RYTnFqVitxcG9sSHA2Slg2NkJDRHpiV0NWd1F1ekVKcFQ2bVBqSmxTNS9DM3hINFFEejZXZklUMWVRdDFLS1ZPSGw5RFM4K041VnlvUDFQaFlZK2RNY2MxeW02NTVqNW9KZmJENkpYNmRMOWpJYm4vUjYvVUMwT283Y3JnVjliSkRldTk3Q24xd3BncGRRNS95K3NINGY5ZTFKdTJYanVkR0ovUStXWStsRkludjRzNHRQVGNVTTZHU2Q3RXNNZk9lT01hYWJmc3BHNTlqMTZwNTlnVGVmZXNMRGQ2cFY3ejcrc1VjbWVqNEpNcmhZeTdoVDJscm8rWlV1Znd0N3grY0xMWU83QXU5SWh1MWN4N0djbUZZWlNhdnFWMnhiTTN0UFRjVU03ZXB1UlpHUGJZR1c5Y0krMldtNm1ScE5FcjlYYWl0L2JkeGFOWDZ2b1EvOHJ1R0h1OHI4Y2pLZUFxTlgwdVlxekdxZlA0VzE0L09PWStpRjUwWDlUZEoyNENsWWRSYW5xMmFza3pPYXowM0ZqTzNxYmtXUmoyMkJsdlhDUHRsdlFVMFk2UGZQUkt2ZGJ2N3JydlFCU05YS21yL2U0YUpUMXdsNCtuM3c1eVY0OHU3U3AxNHhBcjlaL2UrOVByeWEzTzQyOTUvV0J6bUp1K0RmZXpwTW50b3VWaGxKcUU5WUpuc29qMEhEN08zcWJrV1JqMjJCbHZYQ1B0bHZUcXk2NlBYQ3YxMU5QM1h5cldURCs5KytPcEk5T3YwM3VwbVJna2ZsWDh2SzJlTlRLVWV2YnAzZS9SOVg3bk5wMEt6UC9TTm5EcS9Db3Y4RHYrOFJLb0UxVmVYNzk5bWErby9FZjI0aDJuQkwxbzVDd05scHg1L1hsMjU3OUcwWWQyVGYzcXErL3Qvc2pQbUVWS09FcjkxL1JKRFNlbWZ1T2Z2UC9oZTE5SVJXWS9FWi83OFMxWjZhUDNkRy8zNmtmVVN2ZjJEOGkxZlgvOWIrbjVoMFRhTjhMeXF2UHN4YThsczk5UHZqMlhQaVQxMUkvZC83THppbXZDMzNEajVmV0RVeThPdCtqbXZ2V1cvYThTeTIrdDczK3Z1MktsenlWZkhxV3UvdTc1cm9EakdxWjA2cXVYNDgwNXNYVm1zYlJqWjd4eGpiUmIwanRVRncxd2tkQkt2ZGFOMmJNcDV6MXhsNzQ5MlBJTEZWcEtoTzFmd3M0NXR6SGZGL2lxUWxpcHA1cXNyaU1VRWpXbEVRRlB2b1R0bXdacUpoVW82R1pOMGYrYWxXK2VyTEd6M2lzbzlFTHd2RnR5Z1BSL2lkbVBmdklXOW5Xek5ueWJiakxhSEhaYlM1bmJKdjFUMC95YlA2R1Q4aDl1MDZlYmFDTGxQaFZ6My9aM2VKM3ZaN1NER0pkdlBaMk1HZTBxOWsxNitYVDMzSjMzM1hmSFdlRisrK3dkUEczdkdQUlE2cVJ2M0NEeDRkTXJvM2V4ZjYzeUQ5Q1JDTkVrOWtMU1grMUFZbjdRL2NCci9vc1lrNThvUDhtNXVlTlpDMzN1UStSUTZsbUNjNTZ4Ny9KYTVBdWI0bjlET05tZTlFd0s1L0tPblluRTVYU0hLSCszcElHMEsyNU4rcGNqVWpwUGRiZm9kWkZXTkJWZlc0LytxazluOWkwa2x1aXVpcXQwTSt3ejBZb0o1T2xycEpjUzVhT00wWS90Nit2VCt1blVkdktldW1QRGJZQTJMK2VGOGNyK0QwYnY1ZU1jUjdxdmpXWnE3cmgyNG9WZ3A2bWN5VmwyblJONFQxdzNwOFdaT3Z1eFZ2U2JEYU1aMjF6MzVEUy9vbE0wL3h4VjFFcGRhZDQySDgzU2VaUHkzczQrSGtYL25WbnBqMmJqUjM4d2l0NXExWnZPd25MaWpiZGxNbzlTcDN5ajZsR0RQZnBsMVM5bTdBL2l6MFowbGRGeWxUcnBMeStmbmc2NkgzZ2VUTE52V3EvdWNWcTFyMnRGSHpUOWp3ck45WG5XdnI5U3o4YnM2OWVqOXdUNkNlM1ZkYzhQVjNvbWhuTjV4ODVFNG5JNlJJRnVTU0tRK1BlcVNxa1hLTHRHSVZQN2VvdXVmSDJ4ZFpyS2tTUXhka3N0VUd3NFo1U2ZJck5kZDYxSUIyUHFLVDZncnYxb01pTnhxZHB1QXpTNEV6Z1RwS3BFMFdtMlRMbHQydURHeFNpaVlJZXJtNXBNSks4emlzN1hyc3JEbFVZdHliaVlHdXdiK2J5cTVsSDA2NWN2L3d0akw3cE1VK3VqbHk4L3pOZ2pQSDM1czFTcWN2OWR0QjFQUmcvd2ZSR0pBYXNLQ1NaTjdpWERtbGhMRXE2SnpuN3lPNFU4UDhKYi83QkkzbXJEdnV5WU91VWJWWDhUNjNJaUN5SzBwejI2SHAyNnYwWW1MMUJtbFBTWDU2V25nKzRIbmdkNy9MOHNucUp6M0hIK2daRFhtUDVIQzhmNlhIYjFWZXBLVFY3YXZDVnRxSjE0bVR4eXBXZFNPSmQ0N0V3aUxyZGZGdWlXZEdsdnd5eGhReWwxN1ZJVXJiRXZuSlEzSE5mNHYySWRjRHJpUGJCYWpYZjR3YUhIUERZQ2dVZzRwajdLajdXNmlpR2JURWZYYWFmaVpkc0FWK3JkZEpGMHp0cnplZDVSOXVSSmZpVHZNYmJLbCtYVUdPSzFHVzVobWkxSlF4U1lYcFNwZCttRG1zTFRMYldTajFNdjZqVGwweG5OVG0raFpZR08xSjN2c2dmbC8zZmR0TlduOWEzaGh2T2kwVHRvKzYrMmhKa0dEWnQ4d0JvazBYVVdYQVVKK1ZhTm1RQkVjVEZ0Z1hxRmhVNHpVcW5KVU5KZjE3WktIM1EvY0YwNDJWM25pekhiV1NQLzZXTGptbDE3UFBXZ3FsM0hVMzJWZW9VOTB1SUZDZEl1bjBjbkxvZ1ovVkJIMGtrNWQ2Um5ZamlYZU94TUlpNm5ReFRwbG5UWVArNVVwYVJVNmdydllTdnMyaHEvK3ViamJjWC9JYXFvU0Q5SGpTenpuT1BYNldmT0hCd3JPa3JtNi9RVWpLbjNlUGZYLzllVXFtbXQxNVgwL0RUM1ZEZEFBbUxWVDVjSXpLZmxrWHlhN2ZOckNUN2FZQTQyZnJoZENWVEpuN1ZweEZqL0U0eUtEZE03OXRxN2wxTFRHZlhKRStxYzJxQlRYM05IdEU5Uitobmx5TVpWcGNQSDNKTlQyL3hUeGczV1hYWjl6bExxb0c5a1UxWnVpSTd3cFplRXBVMkxLWWRTSDNBL2NMYzFXaEhuR2RxVDM4aEhJenJNN2M2azIxN1o1RUkvcGFacmhRdXlUa2VkWFJjdWFodDhWM21UbFo2SjRWem1zVE9CdU56dVVLaGJwb0pUcWRTbnVhRFNZYTVHQVVoRXFJY1BOczE1NGUvQ1kyUmx3MXdVTmtLSFNVaXBwL2k3S3pRS3c2dUxxQ2hMcWYwR0tLaFpGRFY2LzJ4SUVhUmg3WGhYUElUaHh0UnRSdXFkbktwUC9mT3NLVWxxelNqQnRJcXBqOWtEbUk3ekxXVzdsMUxUT2VySnppVlpjSnV4TjZ1WWtNNHA4bFFxd3JjZHNaN2lYaHVPa3d6eFBVblRCbnVKVEtqZkxLVU8rdGJXcDlZRjY2NjRxWGhCV2N1aDFBZmNEOXlOclNqR3RCbWNSczJMcVdtbkovZVlXN2R2VEwxblpKL09aeTFlZFcyVi8vS3A2VnpmcUF3ZDhrd001K0xIamlDUjY4Y3E5Y1RnY3JhN1dMZU1rOEdwVk9vNUxnQnJabWlFRHZoZHA0bEN5UTB2YXErdFVtWFNHbVVpMVR6UER5bjFFYTVOSkVKWFpFVjNnRmJtNkYrL0FWSS9MU2E2UUdqZVhCVzVQQVNuby9Zb3piWnNzUTZOTnFTbUI2bE14cFM0U0hIL1ZaOVM2b2FqL1hVenNOUkhxVDkvVGpteHlkalBMc2swWFJJcHpZNWlmUmJ6NVlGVWFVZVVYVkdqSU1wSTV1aEh5RGRxUnVrOW9WRk5reDFTSmcwM2gxSWZjRC9RMjhubkp4U2tGWGxYaGxBNWU1VE9kbHR1NFdTNlQwenQzSHdnemIvRWE5ZTN0STNZcUxqS3NkSXpNWnlMSHp1YVR2LzVCT0p5TnJwWXQ2emI4RTdha0VxOWZZYVdHbWE0bHZvZ3p4aG8ycmJYOTN5SWM1Mk03T2tRallMa3BLN1I2cEJTaTFDWlRoaktqVTJqVUFtZlJPeHRHeUNOV1UyVUNDeE9xdy84MEdieVVKMGtVMGMrdlBDQ3V3RzZOcDFzc3FaRXRGOTE0cXJhUlY2ZlpHMVIyNkVoSmo0eXpxZWVTaDJ6ZlIwcHoxSERPN0lLaGRyYVU4cVVZOWRSMncwUzZZenlCVkcyN29mVVdVb2Q5STB5bFczU0pXbU8yenhSU0trUHRoOG9Qbksyb25vTmtWbWtIRHA3WGJEcmFXQnAyUzZsVTMyVWVzM1NwdDdNRzVwU3ZZbVM1Z3luelJycG1Sak9BeHc3R2tiLytlVGhjcmU1V0xla3g0amR5bnFjZW0rWGN1bjVYTFdPK3BVOVFQM3lnYVYzL3RITHhIc2FjdFdLRzhDY0ZqSm1JbW15cTYvZUhUc2hwUmJEMUJUUkxjcHlKN1YwT05WRVVneFRrK2RhTHRkNkg0YXl1cmhiU1VrNkUvQmdpNFlRZCtVSzhic1JPaXNjajBrYXc5TzNPWFVwU1VwZ012ajlMUEdVN1k3Skl0MVZDMzJVMmdTelJFSHZGOXBRcmZQa2l6cnBMYmpTUTYyTG9kTGp5VXY4ak5HUFRlTU9lYWg5STgvVWFZSUdhK3lwdFpoU0gydy9NSHg1SWw2V2kzc3lmSDZUdmtJUXVhU3ZxM0oxK0xlM1V0TmxuanFKVWUxWVlEcXByai9FYUoyKzVGRzJqZlJNRE9jQmpwMHc1MUR1NU9GeXQ3Sll0Mnc0T2lLc3lKaTZUdXJoM0cwa1JkVVJuZHRVUnJwRHFtR0xyN2xpUE1mejdVZ3FoV2hYMGtaQ1NoMXZVYmx0SXlOVHJsSFh3bEV1dGJZQkNoM24zZFhoZE9lTXpDZEZFdTdNL0wxYmJzN0VyVzV1N2pScDVTVmRlT1VpVDYyNXpBbkJrbHpkVDZsWFpURSs2R0Mwd0Y0UzFjMGxQWW5BcmlwS3N4VzV0TUs1dUZPR1VnZDlveFpWZGJycTBFRjgwWmo2WVB1QnU2bXorc1JXVStEL1l0MWQ3VVhZN2dxWjdxM1VHK1l5ajByWHhJNFJYVkRVcFYxdnoyc2l4MGpQeEhBdTlkaVpQRnl5VDRuZmd0MXl6MVVOYmtBb2RaWGZHbkdldGZaQ0tkRk1yNTh2cWJ0S3ZlZUc0d3RjQ1NsMDVUT2FiSkFzbCtWdlFLbW5SRnpxT0tzdHVQVjRPdEVBaFlYSkVvRmxNYlpOK1hQMmdXZW4xSnlKVzUzTS9FazY0Wm5UMXZZRnFrY1pPaENtSmRJK0ZaVDFVK290MVNicHBqSFlOT0UxblI0WFpRSGFDdDZNbXVoTVFQYW43TmxDNVllVk91d2JXVlNYUG5US3RyNFhpNmtQdGgvb3plZHpjWStESjF6bitiS2NnanRkcit6M2xGN1R2WUJaRTN0RGpCeUsrdGxLUFRtY1N6MTJ0RkpQRGk3YnI0cDJTeEsvZGFlMlV1cFpQbmhnUjRVak90d1RsM0ZlbmRSQ3cycEoxRkRQYTRoQ2E3czBJMzFXVWtJUnlhVlU1U2lnMUtkRUZCbmJnSzUrSmwyUDU3UjM2Y2MyRUIzVDhSUmZtVFZwQkdGM2hsUnF1aVptNGpVVmFuMm1SVCtrZGlZbUZvTWpTdnY2S1RXdnl5ZFNhak1VWlpWNnR2bk5jalUvM3l5cUpKL1YrUU04RHpvdHluVmhwUTc3TmhLbFB0aCs0QUNJNWhTdThGMFIwdStMYnVsa3VtZE1UVmR2VGdkcmk0T0p2NG9nSjI5b1JHUnA2WmtjenFVZU81T0hTM2NObWhmc2xtdEJwWjc2R3JKRWluQkJHU1lSU1IzcVRwdXA1RWFXVW45d25jcHV5K0ZDU3Ezb3h3QTlDd0dsbnZscUt1RU1ha1JON1pwWE00cDBBenNxLzRTOVdFK1VkQlkvcmRJZDQ1aXprcFF2OFZDc3V6SkhtaER6VjhmTlJERHQwQ2FQc09XelhmM3VLSnFMQTlvdlY3UXhxOVE2UjF3WkxOb2xPdS9SOEVyem9wTWprbUdsRHZ0R0xRNC8rdUVwdGQ1Tlc5S3QwZmNEZDNOUHI4b2x1a2hNamdIeEZaeFBqNm1uVWhNWlozeEQ5SitLMnAxa01sdXBKNGR6cWNlT1Z1ckp3ZVYwdElMZGttUmszcW10N3lqeXJFMTdZVWNkc2xCTVBlY29kYzJOcVVWVERST0hOSkpqTDJKOVFLbEZQa1gyUnFMaVpaRVYvbkhNNmhzZTRZS0ozTDJnTzBlTnU0bmlPUmVKSTkzV2U0WEJQT2NwTlFtRnVxVkkzWEZSbTZTWXk0eHdpTHpZT2xGUXFjblVvNmZsbXozYU9wK0hsVHJzRzNtbXZLRmhNTnNSaW8xKzNJQis0RzR2cGUyb203Y2kxZzhVbVZ6dllmbTlydnZnL0xvcEpCSXJ6dldOdW84aVhrV1FwZWpVNE8vRlNFdlA1SEhleTMvcy9Lb0wxS2IvVzh0blMwdVRpOHZaMUp6ZHNwMnQxQjBiYm0vNjR1STBFMDY2U3QyMDhxb0syNlBkUHFQaDJzbFNhdXJldTdxY3Z1alN5OTdjdVFMUWx4amUrcXlGdWpNSWE4c01xOVFrbFdMNmNhWFYyLzd4Ryt0TGx6NUtiUUo3VXVvejJydG04dmg0NDhmdWJ6aUt6OHZSY2kwZFM0YVZPdXdiS1k2S0hLbFgyWWQxaWluMURlZ0htcEthRTdpTGlTeSttRmJxQjFubTVFVFF2RzZkdVFFNTBWdU9Oc3pRRkwvVGs2SFVrOGM1LzdGRHV5RThwVHVwVnVySnc4VTdqNXB5ZHN0MjhvSmZQdnZCalppbm5rV3drTWFvV3dyTWV5bzE5VjkxdEdjTUhHWXBkY2Y2T3VPTURxYmFwd2FNdC9iMlRxcFlLb01HSW16QWFOY1NTYnN3U0lvWWkwbCtycFFQK1JqM3lGeGQ2OGZ3U2wzNTRhWnNhZEYxa3g4Wmw5d01rUTRyZFladjhqbHpxa2UybG95cElaVzY5SDVnSEZXSnpmRHplUFZVS0xFdEtZWis5ZE9mMGlSMVlMWnFtMW5nb0J1N0ppTjFaUlJwNlprNHpnV09uYmtRVjU2WE9Bc1N4b25GWmJvSUpYSjJ5N1pWUDFuYktuWGQzcjliTStMcU5wR2Q3cW5VTklpeEpLdFNUN1lSbXJXV3BkUjIxQ1E2MVd2NG1Sb3dRV2Y3Z3JYYkwrVXF2Rk4yMkppYXZrZksreUZOVjF2Y0xNRk1LUFVTeis0M1R0MC9wcDV1TXZhOFAvd0lIUW1Md3FENjRYTGlMc3QwV0tremZHdHJDeHR1ZCttbjFIOVR2MzNMTnB5S3FVdnZCN1p0bWVxNHp0dVY2Wmo2ZU15eUp2OWhlWHB3eHgwOFhDRGRsdTkyU2V2WlNqMXhuQXNjT3lmclliamRuN0Q3UktXMFVrOGNMbmRMTy9tNlpkdnJhbVRBS0RXZEpjMk5yNW96UXV3MmtwVjJsVG8xUGpsbjRoQTZWcThFVEdRcHRUT29jY1M0RnFoUERlenE3TnF5VHZXZlp3d1lIUjN5am1JVXZVTjN6ZWR5Si9iODgxTmRReGcycG40dmpZWi9nT3pUNWkveWRzeEVYU0Y5dmdvcmRZWnZGRXBmRXVic1J5NW9zWTlTZjVqZFhuZE9xQWZmRHd3QWxhQ05TMmJ4NVZnSERxR1Z2Wi9TSXk3dXhkMEM5V3p6U0NCWkkvbktHUDJZT003bEhEdGFxU2NPbDl2VmNuYkxiS1cyRjZmODluamk0SGRiQ3FSZHBmYnUrZk95SkJ6enNnNDlUYmNvVTk1dmhsSzdEczA5NXRYd0Yyd0Q1SG5MWDlkcmlZNjdpNEgxd3l0MTlKNGFFZVFUMy9CR09VcE44ZDNWSGU3K1hKSXFLV3I2eEJaVzZnemZxdDVYVHpXajNrcDlrcjdhZk5MWnZ3ZmZEN1NmZWg0ZVNoMUdxVGZOc0pCb1k0T1VlbVZKTnllVU9nRmVTOC9FY1M3bjJKbFlYTGFQOE9GUCs0cUNrNThNSU5aWTR0NmNpYW5wTEhsR1ZhUW4rTm15WTZSdnNxZFMyeGZZcVdkZkN0aktVR3FLT2JWRFVXY3hVRTluMlFZaThXQzR6dTgzcCtOdU5WQm1Ma3d5VUxKSDFwdmxWLzJYcU1pZVAvb1I2ODBhTHFhdU5MWDNjMG1sWHFIZE41LzBMYXpVV2I1MTJINkxMSFRVQUk0MDFsdXBHN3hHMHlwVlNxbnRiaXFwSDBndnpXL0dVT293ejFNditJT3J0QjF2WUZ1bVFSNVQyKzBYMlZwNkpvN3pwdTU5ZHV0NWFzaGpaMkp4T1pUeWRzdTFUS1dtcytTaU1ralBaaVgwM0drcGxIU1YybnMzalJlMmd4aWRnSUpRZ1F5bG5uTUdOUnJMM0ZMR1pCdUlqaWVPbEl3YU1wdmMyUW9VbURNZkVRbXN6Si8xVzNSMGlqdVdiZithbUhLWGhKWGhsUG9Cby8vRWFkRjFhNHE5bkprUDlwa1ZZYVhPOGkxdXNHdnIxUS82aDJOUHBUNHV2ckxhc1lNREI5OFB6TGJLQk9tbWUzL0FyRTNnTXZrcTBldDU2bzV2Y29PeG4zZkdlM284VHoxeG5JbkVWcEljTFE5NTdHaWxuamhjRHFxODNaS1V1dVZVYzhhcE4yM0FTNkp0N21kNWhiTVdYS1ZlU3h3ZkZLRHJ3VHZTcnBDRkRLVmUwQThlVTUyRTA1NFZwNEdvNXlpSlY0c1d5SjFXTW8rV04rMmRWV2R0L3U5VG0wcDNNN0c5S3hZQVgwV1ppNkpJVUtuWFZzVTZ1a1EzZTREMmhybTJhR3FDTkQ2aEQ1VTViVkRXakI1OGhJajR6eXpRbXJCU1ovaDI2dHBVamZ4TS9GUFhrRkpyZjJtTWg0ZnhtL1phN01EN2dkcDhNNk9MeE1mTWdrMVFUSFBCTHFWVHZaUzZyZTh4eUdxYjlIM3pKY2NDY1U4OHo2Q2xaK0k0N3hVNWRoeEV2Wk1UaTh2WjdMemRrZ2c3dFNocFJqODZOdUNsSHFqRjFTK2N0ZVFxZFNkUmw4WlQ5UUZUVHdzSXQ1aWgxSFJZdEZTRDB5bmhVU3Y0ekdrZ1dsbDBWdlJMMnM4ZGVTVTNRcy91UFVpeWxURWxEczdxYmNaYVF3d2lMZmpYeEdSbFY1UVlTcW1wc201M0xxSFV0WmRFYlh2VzFjNkVsVHJEdDZPUFJaWGZybmRmL0ZwZFc4eDdLZlcwZE9lb0hmay84SDdnK1VvTGRJWmJTdWJSTWowYXN4cklObG05bEpxT25pVlRVRHh2NVEwenBTOXN0ZlJNSE9jaXg0NURyRTl5WW5FNTI1MjNXell5bGRyUmNEclFseHpiWHZKdjdtWG52dHVPZ3Y3cHZkMFgvd05kOUZobFgwaU0xZEVESHlva3BJNnMxY1V6bWFIVURTZXNERjdHS2lQVXdKSzJaei9xcm5PeTUrVE9kYlgyMVc0cDc4UEtlc1UyeTV3U1p4SDVjU2xSanp6YkZWOGx1YWJOQ0tGUXdmQlFTcjFncUJKOEhxVFBiS2syVHRMQUZabE9FZ3NyOVZIdmtYTCtmSjh3czZEMm1ES3BacjJVZWtQdWd4UDI0WjREN3dlK3MwSkhkMlhldEJ0RTB5dmZ5OG1pN25JdnBWN3o3MEZ2ZXZUSWlPMVJ5cUtXbmtualhPalljZW4yVGs4cUxuZXJxZFBzeXVYZTNkTGUxbEcxVFV6dEJMeDFHUXVldmZPK08ySVJEOWZPM1hkdnpDdFVHNHlkcFN2ekxWWDdmV3ovR1UxMnlWWHE1RWYvNlJ5aURoUWFvUWs5VHAwVlV6ZHRCTDU5VWJVWG1wR0FMS3I4bWVCZDFWQWx5aU4zMVBtbDZsMW5kRklxUjRXUHg2Umk0Y2wvNUpZR0s3ZE1nekgzakM1M0hER25WdFZZN2xCS1hiTlI4NXpZL29VbDFXcUhOb3JHUnJvdHRheG1ZYVhPOEsyOTVGZVdTNzJVdWk2MytvamR3d2ZlRDVJdWQ4em8yZVlWWngzdGdDMW5NWlhzcGRSdDA1ZEZOU0svNU5YMzlqUmZvNlZuMGpnWE9uWThSRDBYSmhXWHU5RjV1MlV6K1dDRFZtb240S1hoTmo1SXVzRDRKSldhcDNoemEremFmQlM5dWE1dTNQMFZ1OWFLb3IvZTM5Q2FSMFg4LzU4blFzcEx2R3JtZHhpeWxEcG1PdVNOYWp2U1F2Q1g0cFZkdGVJSXFWVHV5UTRZbmZJRXZzMitrTnRHb09DTThZYmpXaExmN2JIMzJlaEJOajBNUG94UzgraDNYVFcrNlNsMVJUeGVzK0FIZjFReXJOUVVZSVo4MjdzUzJMRGc4OVJxblBxazZsWkhiRWM0OEg2UWRIblBqSjYxTHpycmFMQk1rM055YmJLWFVxL1lyc1lya0ZMdjJvcVVTajJBcGFWbjBqaVhkT3hNS3NlZUZnZ0FBQ0FBU1VSQlZDNjNrK1R0bHJIV0NWMVpLeldkSlhYQVM3dUJKNnUvV21Qc2EwU3ZmaHZKeS85TldVZllJeTJhVVZrK0k5VzVLdVpyc1QxQWFYalEwejNlblpkNVlURnd1Q2dTaVorTTBRODdWakpqN3E0bGFvcEZhdUNTeXQ5ZUNoVkk1ZjNtRnMreUEwYkh2RUdaSWY4MytZd2U3S0VtT21MWXRta2tnN0lvTUZVbkFsZXBUWXpTVUp2UzU0NGlIZm5tT29CVWVaR1VlSW1NMDNSTVBJeEFjbVJPY3pJL3JOUVU5Sm1iQVk1dmplQzV5b21way81dXFnNXd3bzV2SFhnL2tOdEp2OVUvRjBrN2xGclgvWVBuVSs4V3E3TitlaW4xaGkvTjFQTldQVE0xTzJBbjg3WDBUQTduVW8rZHljUGxkSStDM1RJNXNtYnVLTktZNmhWbGx2cmpxa2lTbHMzTHZMWHVGazgwdVNZSWpkdmg4ejI1eU8vcDJXRDJpQnVsVVNIcXpxS3dHRGk4eEtzbHB3eWxqczJBOXdubjJidVBQbU1yVVo5aTZtV1YxZFFKcjhqTXc5L2pMWjlrWGI1WlV1SDRtdTBYdU90clBCQWVmSm94Wnp4K3IvUUNHZHEycHhLZXBlTXdWNm5wTWtadVkxT3g2cVBVOU42eWlZWGJubEkzemdqWGE0YTYycElNcFE3N3R1YytlMlpRT0VxZDlIZFBNVHZLcnVuaUpmY0QzUXpOazExaWpUMlhjc2xGTmVnMDQ0MEVIVW1xcVdPSkozc3BOWFcxUmFjNGRlMVZaNUVmRUdhdnlId2pQZVBLK1dDUG5iSEg1ZmFHSWJ1bFZnUmpVc2ZVMUFsMUlHVkdTQ2h5dWlRTGRvUVNuMWFqbjlSRGx5bWZGRStaYVRoS1RiTGRVdGxpUm9hMzVESkp5cnk3UnFjemxMcHBsTHF6cEl2eXdRT2pCU3FUQkdSWkptZkRzZmRhNG9DaTVZdFVZYzlvWmxOdHBiUVNheW1WaTBWL1o1eG9ka0h3STBrK1k2eFE0eTI1NENvMWpXYkl6YW9yUW4yVW1pQ2J5TERwS3ZVcEJmdEJ1enRsYXhsS0hmYXRyVSt1eG0yZWNKUTY0Uzh0U29UT2Z6WXJ0eDg0amlXN0JDM3pxenFLbmRWbHhRbnZrdW1vem5aTXVNbGVTazAybDJ6WktwSGZ0WXVVV2pFN1YyVWI2UmxYenRSZFY5MU5wT1dMdEx4bnRueWt4ODdZNDNKUURka3Q2WkFTbW1zdGFxWGVNQnBPK3Z4OHRiNnVKV1p2a2Vmb3B5S28yNjNUNG9LUjBtM0hLc1V5U20xNEZYRjg3NGdFM2VZeTZpSXk5RStHVWplVWVFV1YyQnJjWnNsZ2tmK0RtbFZwNmdFOWZxTXRpemtmS1hBM21oaUl5d2R5NTVJb01PMEpQQTNZUzM4OUkva1hxTG1XTHQwUm5HakR6VVdCc3dPSTRrVmRrSjZmbGdHZ3J0dEhxV2tmNmRIV21hdkNUbWRSMkZwUmNTVHRCVytyYUdlWnRpaGhEb213Ynh2czJycGJYS1lkcFU3NFM3dEFsdCswTWxodVAzQzhTM2FKRFdKRHF5bENVQXJ0dnZETnIremN6dURZVWNsZVNrMTc3NHF0OFJScTZJSmRwQlM1TXU5bGpEdm5BejUyeGgyWHUrK0g3SlpFWGtmT3lxcFc2aFVaaVZEdWc4eDhoNzZ0ZTdYVVN2Mjl5R3J0MjNudHB0WnhrZ0duOTVzUVY3WkE1NVpMSWtYS3BHUkVyakMvR1VyZDBVUHFKMVJzeENzMDZPaTRhR3FLQkttV09sNmF1LzRhdVVReTRnMmQwOGdCVzZMSHNMczZMdGg0d3ExR0NyUHVMaGRORTJMbERua3JoK3dYckVsU3UxVmxrWkoyUzlSMXN4bVJkMFkzU0hLdWFDZnE2bVRIenphWFpPYXhieEVoZTN1WEw1N1U2c1NqSHVNR1grTXJkV3lJQkgwajE3cDMzSEhmZlQveWZiKzR6aXZMaVJ4WjFHbmYzMDF0YmtHZlhhbGNxZjFBKzBIekJyRzQ2Q3hUVCtZbnFiYStJMTNSMTNTeXpFTHlDSENxOG1RdnBhYi9jV3Y3eWluMm4yVERyekFXTnBKbitYSG5mTURIenJqak1oMkJFa04yUzdva3ZlS2FvK3NZcFo3Y3NEZ3FxM1U3MEtwZjQ1ZHZucEFrN2pxVlNaTDBvcWZVTlY4aVNQa1dSYTAxRStRNFJuZ3lRNm5uZEhEYWNJN0RPcm1aT05lUUpEd21MQjczYjJYcVZtaTAzU29sWmRJbExGZTVqYzgzcEdQVitxb3V5dWZUWmt6SHpjMmZKaXc2Z3A1U3h6V0JXMUlHMXZUcFJ3UjlaNHpaYlRsR2RQeWF6S0hBM3NUQXhFRnVINjB5VzlJd21iV2RPbSttdVVXcnA1cEdxUmYwZUlvMG1GQnFHM0VIZmFOOVpxYi9YUmtRZHh6TW52RDliZXROYnB2MitYL3V2bUNxY3Q5RzJnOGN5OGt1c1NmNldZVzlXZ1VHRHltbXFzcUtpUzhjRzA2eXAxSS9hSU9OcWVZMzBGNWFvZzVqNHc4NmwxSFBjcVp4NTN6QXg4NjQ0M0wyUFA4T3ZhZFVCYnNscWRTaWE4NHFOWjNPMXNSeCtKQzgzeVpLVVR3OHp4UEhSQ1JCSjlobGtTMS9hSEZITFhwS3ZaWTRGTlRuTC9uUWFuQjBJa3VwcVlMbzlpZmRHMEkxc3FJdWFvMHJXaDdXWG1DeTNBVEY4dDRCUkhiNXNWVzdzQ0VWOENILzl0bHhxNld1bGR4cFVtck41U0VkUDMrSTdhOExBOFJzVlZ0YW9ZSFVsbDRnSnhjcHZhRTBtY0NiWTc1dE5aY3p2Q0NxUEVDZHVzVlRiNzhXZFNpR0ZFUDBNMDJkeTNYU2Z4ZmNpNm01SGIzdmdyNnRVUUU5M1NZYXBKKzI4ejZONzI5ZDk4bUdjM0ZWYWovUVB0RTgyU1hJelVWNlRPbFJ1dTVvMGVwcVhSS2pwSmdhL2dsRVo1dDVUNldtODVyaVZtbFF0Nm54N1Q1cXJ5ZUp5cTR4UklteDUwd2JaRHVpM0tBU2o1Mnh4K1h1K3lHN0paRmZkYzBacGFadWZlM1lkVm8xVTJmUE5pVW9hQkRkWEQ3OU51ZUZwbndnY0Y2VjlKUjZXeCsyYXVVRFF2cXFqWE9wZUY0VnlJaXA2VGpneWw1dGZJc3F4MmNyMUhPNG0rNUVHOFVkZVlkU1EzY1ZUL1BSRHZjQXFyRDlTL1FxeXo0ZFIxeWpaK0pGWHNwTVIzVjhhSEtLSlVpcEd6S0ttektmYTY3VTVlbUZwRlFkMXUrOS9IVHUxdFZuZkpwOG9ha2FNNm9rdy91cHl3L0h0Szc3bk12cjBhL0xjbDk3K2VOUnhXVFQxdktvOTRWVTcxUzh5dDlJZkZIdGM5SHB1eWlQc2R1RXVaZUw5TzJYcFhYS3NrcXQ3WHpmNVJZdm12YU5Ndmt4WTZadjVNV1VJOC83dmkyKzVQbkxuVGtqY2ltUXNLTURwZllEMlp6NFRYYUpEZmF0bE45WWl0cWk4MzdJaHJ5aWVPeUZHNDRkbGV5cDFIUldsQnM0VTd1NnhhOEc2Zktwc1dpTUVMYUxabUVTT0IvZ3NUTUp1TXkrcDhTUTNaTFVkY2MxWjVTYWRza1RsZmpmUjFNTlQ2Z2FVblhsOS9rM1pKQ2k2enVMbmxLN0x5enlzbE14KzY2bzhyUDdGQVl1NnJyZVBFdXBLUUQ5L2FqeXZxc3RwelNwVXRlUGdXbGxnejNlaXQ0Vy82UlR6azNXNkVNNkY1eU1ObjNYZWJiK0V2NWl5aXVqMzZwSldUWHJGMlNrYlphTEptYlk0elB4MTg5SDBhL1ZURmdjVGRPZzZmOTQ5ei9XMmFNdGFZL2dxZW1pekhnVFBidit5M2NMVmFIQVRVMWIvQjZWbko0VTRpelR5MVRsN1pSODBlKzlubjBkcVdhVG9Henh4eUg1SkV6d2NXd3hLZXV1VXZPZ1gwN3JvdW1VYjJUeFozVVJNWituY3NhUlM2SlM1UGpMeDVOMlJTNmQyZFZGQVMyVzJnK2tFK0kzMlNWT3NaL2liMk8xYU5EKzBWYjFMeE9oQ1oxVldrN2xkTEszVXMvRTdLVjBkbnNWNDBKTlFjQis2eTNPSlIraHZXSXNUZ1RuZ3p0MkpnS1gyZm5pWHpwNVNsV3dXOUxSTEE5UFkxS05VNU1xWG9sK2llMHo5dlV0czQ0ZjM5ZHBhVW8ramJkZ3gwNTVFV2ZSVStyVThNRTdHS040K3RLR2R4M2xOSktsMU5IM1U4VzR1K3dVamFML2EvLzNVOFBSMDNYV1BjODFLenlkYW43cjVrVm4xV3hNL2p6YW9nTXRadWZsSWVlc2JUdGhrWk9kT3psRjBzQzNPR2JzTTdiU3FUcmowNk9hL2tiM0xOMnh1K1A4V2QxYWRZK3Z2OEJyekxLejUrNjg3MTVhUjBvdHk1Mk51VkxyN0dWZTZvTzhQTHZXb3VSMDg5WmxVc2J1dVR2dnZlT3NVbXBlOW83enNkbHVHMVBQR0R2S21hUnZkUHBtWDgvWFZmL3JyLzV3a3hwWm9yUndoTXpyczQvamIwU2ptVHRVUkx5T2VVWWsrRSs1L2NBMGsrNFNmOFc2ZFRvSFI5SGRiRDltLzhFcFNjbFQrdWFubjIyWGVpczFmMHgwL3p5ZEpPZEZqUlU2WXB3QWdjNVU5aWJLUkhBK3VHTm5JbkRaYmpSc3Q5eE8zUzVUU2szQjlzVW8rc3Y0M1BlNmpVVW5SQVNpN25OMWZLVjJGajJsbmttMThkYW5zOXRmeXk4SFpQZjJXcUNGVEtXT1BucExmUHRPc25pVVV1cG81dUh6Ky9iT1Y2b0NxUmh0bkoxbTc0cS9RN2d5L2ZUdWM1SSsxZnBjSFZzejRaVDRsdDU3dnBPZCsrbC9jQXRVZnZlZTd1My82dVlrMHRWWDNiTlA0VnIrNmJkKzdwNzlyMnJsTFcrVk9sMGo2ZHRENGp3bXkxWHBkSm00NmxBcnJMK2JwT1o2dW1ETWw5NFBURXRSb2t2OHpUMzdIeGNyWHhWL3JVellva2U4YTBhYmIxSjlsRHFhK1ZSOS8wYy9vSXBYZi83c2o1bWFsR2oydEQ2ZW5BL3cySEZSMHBWTDRwQzVxYnBsT3pYSXE1UjZJeHp3MGlYSkpYb0U5VEdCY01GWGFtZlJVK29vcGxnd01OVlNDcTRLWlN0MXdBcEZlaUpxREs3S3pOeGN6RnlWV0VGaFVTdVJOUkdMdlpRNnVZRk5iOFNBZ3YwK1JEck1Uc3ZXV01uOXdEWlVwRXRzTXRtWm5kcCtzcDlTKzZVVFMrbmpLMUhBV3h3UHpvZm0yQmtQWE00ZUxxQlVxVzVaMDNlMGpEMmwxRmtCcjNqM1pXMVhGTi93RDFsYTFGWjhwVjZURi9GNnBaNW54R2E5WW1wZDFadFA4UUdaZ3RQQ2J0NEtwMUxuc3J3MUQzZTVBa3A5eW45cGhrYWhsM3R2MnhxNy9sL0ZSRjNDdVVRcHVSODRQaFhvRW0wMXBPN1U5cE5ES2ZWQ3Y3RVZ0NjB4NFh4WWpwMHh3ZVhzNFdHNlpaeUtLSlJTTjZ6c09rM3hPNWhQMGxPODZ5SnZ6anNPK1Iwc21jK0hyS21VbVRacHlEczkwWDJ5ejZWemVVN0JtSHIyOGJDWlhybWRTNzNXdXV1T1pYbnBGaHJEZEFHbDNrd2dpTmxpN3cxdTZ0M2Y4UzZiU3U0SGprOEZ1a1RkUFpjNEpreHlLS1dtUVVSanFHOWlURGdmbG1OblRIQTV1MzJJYmttUEJGeDBMUEdrVW1yOU5uTmliY1QvVWZjcE5keEFkeDFkd2FQRkxWWGNWK3JqK3NEbGE2di9peXBEdCtnWFZUSXhLNmpVcCtWelVna2p2UmYzdG5xdnQyczNVb1RzdW5GT0ZWRHFqbjdtVG0zdlhtSTVoY0hjUjJ0NFE5b2w5d1BIamZ4ZG90STM2RjN4MzhKM1dzbVJwT3VQblJ6RlpKRXg0WHhZanAweHdlWHMvaUc2SlQyTDUyb3ROeXFWbWlROEhLblNyZTZ0bzBvYUtTcGVWSDVVcUQvU29qYm1LN1YzTk96cGUrTUxma1N1RFBGWlFhVStlc1dwbXpNWjV5ekhIM3ZZeWwxMm5Bb1dVT28xczV2bEJxNEVyNUdjalRlUFU4ZnNDMDUyeWYzQWFTbC9semp0UFBEdEdIQ1MyK2tiMXM3YVBrbTZyM09oVHhHN2VrdzRINVpqWjB4dzJmMGJEZEV0S2E1dE9aWjRVaW8xZjV3NnNVSXUwZzIyeGM2U1dsVTNZeWZIK0cyWnVnay9mYVVtdFp0WE5laFJMWFpkcGh2MlJWeTlVczBMS3ZYQ3hVVDkvb3RUdVkrK2FxYVgvVnM1MUNVS0tIVWpvVGFkUGtyTis0allkbnBXMmRzMzVmWURCM2YrTHJHWk9BczVSbFR5eEF2VGVmbHp4SDJkbk1YSGcvT2hPWGJHQTVlNzc0Zm9sb0YvOGk2Vm1nVDFpdHVHVGRPN0w4MGR0ZGpScWh1dDhDT3lZOFl6elhjZlpFSG5jT2pRZTNnaWs0N2lGeWd6eVZsQnBkNWJUaHJvdTN6NjgzMkxxQUluelRibHJURW01UW9vZGR2WDI2ak5sbnB1Sk8zYVZWR0FMc0NXM1pMbDlnT25wZnhkWXMwR0VVNzkwU1hiQmZyUGVIQStOTWZPZU9CeXU5SVEzYkxqamlCTG0xS3A2VTZJRnczWjlqYllWZjBWYWg0Z2I4azFNUmZ2NHpyK3BMRVRUd29kdWFNN2xYS1VtNTdNMW9KdmpjdFVNYVd1NXI4YU13MDllTVVrK3lRMkUvRmtuK0xqczdxQVVpZGZBMi8yZVZ5Q0x2bmxyajNtM1ZEa1gvWXo5NUJIM3c4YzlQbTdSRlY4UU1DcE91cGs4cjlIOXJJL0hwd1B6YkV6SHJpY0hUNU10MnlrN3cxSnBkN1FZWkhUa0V6U2dJa2R3VzZxTDFjZmwrcmJWTEVVdlZsOHphdG9QbmhCcndLb2swT1BKMDJMS2ZWcHZ5bXYzYXlGdmRXc05jbjh0ZFR3VUxMRW1DNFhVT29UdnB5UkVLLzMzR2k2WVRFdkNtdzRYVVZrbE5rUEhKZnlkNG1UWnZ6T3FUN0s1UEhFeWFxWDdmSGdmR2lPbmZIQTVlendZYnBsUUkrbFV0UGoxRElzY2hxU1NUcE8rWmkwbk43T3Z5OUJ6M1BVNktNWk5MMUxDdlJVM0xTZnRCWXJ0blhzemIvOXQ4dXo2QXI1Z2xnVitDbW0xQnRaZ3lnQnl5cXIwbTFsci9UV1ZQeUxBMi9kZUM4VVVHcmFWOHZPeGo1Z3hyeWNURGRwcER6MWtFaVovY0R4SUgrWDJQQzJ6REV4cWlTeDI4cHJheXc0SDU1alp5eHd1ZnQraUc1Sjl3MWJyaW1lbGtwTkY2ZXBOYXBrM2IzMlhXT1A3RVNWdFgxVmVJOS9ER2VxOGZnQ2ZRemh4MVY1UGp0dFl2ZUcrTEJaRk1rUDZqbEZuR1F4cFc0dU8xWHpKZDMvdzlpN3hvbXNRYURlMWNaZ2JRR2xqanB1YkR3Vjk3c0pSNGRRU3hEd0ZaNnl5dXdIRHZQOFhhS1orOWF5WTc1UXNwa2RrYVRzakFQblEzVHNqQU11ZHg4UDBTMVBCS0lqb2RRVUZXVXE5WXA3N1ZzaFNUOXJuODZyMU5pdGQ4V1B6Sk5TNnpGcjZXcGRQZkFSZGM2SWpKbFlEWlM0VzZMVGhaVDY5QUR2a3N2L0xhYWI2elZmeVIxOTk3SnlHTmNWVVdvNm83L1NiRVBiSHdzeCtUWkJ6MzZJaGNSTFpEeXZ2SDVnbTQveWQ0bnB6THZhanJuaGtrVSt4VGdPbkEvUnNUTU91SnpPTTB5M0RQVWlVdXIzZkxKSlN2dTFsMy9SYWNZbWozKzlUZFBBeDZ2djZmNm9IU2lwdk9yOC9yUFdvNFZ6OUgrYzNHSWIraGI3aVVkYVBIK05mWU83Mms4WFV1cVZGL2lWY3l4TjU1YmZLbnNpaDcyeExGSkVxYU8zTVBZR3VaWDhBMDEyZDJkc3VWTHE1RXRrVkxxOGZ1QzRrcjlMYk9ZZm1uRHNGMG9lU2R5eTZWbjU4SE0rVk1mTzRjZmw3dTFodW1YTkhjaFFSa21wOTBpbnhlUzJNMXg2bHNtUmJQbzIvdVByMFJSOUdLS1ZiYkNJVXMvb1UwQzJ1ZFNhYmZNRVFtcFZJdU9JZVpjbnNXTDhGd3NwZGZTM2pIM3ozOU41K2Mvb3MxcS8wSGZqbS9LQ2JDOU5yN1IrNFBoVW9FdlVIbmZxbFpPazU2QUtHRDcwbkEvWHNYUG9jVG03ZnBodVNlT0o2NDRwbVNTbFhxRVBHOTlIWHg1T2ZhRS9WVGgvUmxzUENMNlhmenFhdmFqVm8yb1JwWjc5aVI2R01sYjliWHFyTTBydTZVR2JqUFZqbkYxTXFhT254WFR1NW4rUEx2ZmY2TGJvVjFPaEY3WEw2Z2VPVS9tN3hPbEFwT0lZR2syeWtUNWY5VEI4MkRrZnNtUG5zT055OXZRdzNmSjQ2TUpNakZNN0RZd29lZExjV0hrYmZaejYvK3hwdFloUzl6UTA3TXBUL2U2ZERkdkFEYXhmVUttanl0L2RjcGErc2YzdjhyZ3NuNmc0cHErajNDcUhxaCswQjdqSDRXNU1ydlJtc2JId1NlRjhRTWZPcE9CeXUxSzZXMjZFM2pVclNhbWp0V3V1TXozVGgwYXBPNk84cXVpNXlRZS9zcWhTRi9Id2lJaFZHL3FKSUsvcUllb0hzeVo2OER3YzhjSjBLQjRhVFJ1SG1mTWhQSFlPTXk2blF3UzZaU04wUDZVc3BUN0ZsaDF2ZWlZM001ODc2Vmx0NUN1bkR1TGllT1JlNXpSWXBsSlgyR1A4aVR4MWE4SjM2QkQxZzRXREdkdXFCY1lZZlNhRExoMWl6b2Z4MkRuRXVOd2VrTzZXVThHQjZMS1VPdXJrdm84M1YrUWVqTHVOSTA1dmxuKy9hY1FlRnpCWHBsSkhkUDFXYlY1dEJkMDVOUDJnV21nQU9iZ3R1VElmTEc4TTdmQnlQcFRIenVIRjVYU2tRTGM4Rmh4QUswMnBLODcvZTNVY0N5Um52emVRZVFPeTNwSDd6dU1OY0c3WUprdFY2bW4ydkhxV0RoNmFmbEQ5cm1FWjVxcy82NzQzbEs5SzNsS0hsL09oUEhZT0x5NW5od2U2WmZnellxVXB0ZU1Na2plZVFLbEtIZjE2L2RiZnYvSGJlRWc4MkN0dCtBT2NpKzNpOGV5V1UrRlBXa0NwaSszOGNTMWRybEtQSzVWUy9KN2NUeEtVZ2d0R0V3U09oZTk4UTZrVG5DWjBFVXA5Y0R1Mm52KzVwNE56Q2kyTkM0RTkvUzZLN3pDVTJ1Y3hxVXRRNm9QYnN3LzJmd0gvNEp4QlMyTkdZRHJqSzNGUTZqSGJrUU82dThEKzZjLzVORDlnZlZUTFQ2QVM1Mzd1S2I5UmxMeEpDR3luM2tzUUIrNmYxdzdpdmEyYmhQRmgzc3dGZWpPY1R4Y09zNU9UNHRzRDNVbCtqR2hTOXRMaDNJNUs2cjBFK3BTTW1LRFVoM09QamRpckJiVzdvZFFqQmhzeVY0bVhRdG5JQTRHK0JCNUt2WmNBcGU0TGJaSUtRS2tQY20rKzQva0gyUnJhbWlBQ0Q2d21Od1pLblNTQ1p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ZWXdLVnAvN2ovWGVkM3gzakxZRHJJQUFDSUREcEJEcU1UN3VUdnBuWVBoQUFBUkFZWXdKUTZqSGVlWEFkQkVEZ0ppSHcxc3ROeE5RM3liN0dab0lBQ0l3dmdXb05veC9qdS9mZ09RaUF3RTFDWUFOS2ZaUHNhV3dtQ0lEQStCS1lnMUtQNzg2RDV5QUFBaE5Mb0xuamJ0ckFTbjNpU2RkTWdiVGZmb0dLS0FvQ0lBQUNOdzJCdXFmVVJ3ZU5xWThOcXRSKyt6Y05kbXdvQ0lBQUNCUWdFSTlHcVk4T3F0Uisrd1VjUjFFUUFBRVF1R2tJc05FbzlkeWdTdTIzZjlOZ3g0YUNBQWlBUUg0Q0ZWOHBCeDc5MkJoUXFSUHQ1M2NjSlVFQUJFRGdwaUV3UFNLbFhobFFxUlB0M3pUY3NhRWdBQUlna0ovQThSRXBkV05BcFU2MG45OXhsQVFCRUFDQm00YkEwUkVwZFR5Z1VpZmF2Mm00WTBOQkFBUkFJRCtCN2RFbzlRd2JVS2tUN2VkM0hDVkJBQVJBNEtZaFVCdU5VaDhaVktrVDdkODAzTEdoSUFBQ0lKQ2J3QlFialZJdkRLalV5Zlp6TzQ2Q0lBQUNJSERURURnMklxV3VENmpVeWZadkd2RFlVQkFBQVJESVRhQXhHcVUremdaVTZtVDd1UjFIUVJBQUFSQzRXUWlRd281azlJTUVkNkE3aXFuMmJ4YncyRTRRQUlHYmswRGw5ZlhibC9tbVYvNGplN0gzaG5nMmo5bDZobEovOUo3dTdUL2oxM3ZuWGZHdHo1cjM4L1RTWDVPWnBGSlhYMzFQOTBjU05uUjVQVSszcjlmWStVZHZpVy8vQUY4ODhUbit5LzhyNzh2T0wvRms5TWEvZVA4bmJ6a25rdkxIOWJINnF4LzdvNWZkc3hSRlU1ODQrNnlXVXdoSkVBQUJFTGhSQktacXJNdllKV3AraloyVmlZUXIwODNYK1RtVkgrWkNyU2Fsd2ZKdDhydFpOMmJzMjkzaUgyVHNYTXoyZVFQSjZjMmYwRVlZRTJyS0M4eVFQK2NaKzFaUitIVDMzSjMzM1hmSFdjWmJhWis5ZzZlZmlFTHRpK0xPVDZVaGJIK1dzaGFFN1k1WVh1SkZaa1N5eTVOeThuems0VHBqU3hIOUc1dXo3SVZSTksxOXVNQUxiM01uenNjdFdSRy9JQUFDSUhBZ0JGYjJmekI2TDNza2lvNTBYMHN5ZVQzZGFJT3hSUzkzV21pWituR1YraTFkaW9VcFRoYWFKcXY4RW1OdmlLcDNzMzFWempXMDR0alJTbDJwc1d2cjBUdGo5bzI4NUdsZGd0ZHV5NFVub2xEN3JsMUtWL2NZKzdFdisvSkdkeXVLR3YyVTJ2ZFJLL1ZUcnY3REVVYW5DTk9hMktwdDZVUXIwUjRXUVFBRVFLQkVBcWZaTWxsdms3ZzJMbEw4MkJUUnE5ZmVMR25UNTcyY21jdVhMOWNZZXc3TkxsOXV5VlU4cHE3RVBJU05tc3pLUGNuY0szbmVYbXFRZ3pJL2V2bnl3NHc5SXN5SW1wUzN3aDV0MFl3a2VvZG1zNS84VHFHTWo2elR3b2RGOHRidmlrTHQwM3AzNmpEMjcybTUybmdpcXNwNC9hM2NaUXFWYWFyYy95bEttcGc2NGVQcy9TL25CYXZ4SmJyS1lCZXB0VnRvbVhXZnM4enJmbEhNRjU3VDRtbE1JQUFDSUhBd0JOYWV6OXM1eXA0OGVaWG1lNHl0OG1WM29zQ1NoOXlKYVNWd1IvRUJPZVM4eVNOUk5iWFpOWkZTeXF1enpaeFVVbFpTT2FlMEEwYmEzMEhOWDIySjFRM0c5c1hJTXkwbDIxZjExZXdrVTJlTFUyeitsQjVacVRhVlVsT2h0enRLbmZieFExVHdDUGxWWit3S3QwakxiSmNuYUtLUWU1K2ZSRENCQUFpQXdFRVJtTzd5YUpWQzJQMkZMMUFJUzRwMElkbjBNY3JjVDJhbWxKTEgxUFV0VVl5MGJFbVZKNEZXOXBxTTdLZW5wRkx2c1VkbG9ST01DYy9Fb0ljSzZUZFlkMW1iNkszVURTMzQwZG9Mam1tbGpyYXRZeFdyMUFFZlNlaVhWbGFqS0dic01kNGc1OUxpQ1Q3VkUyTkJNaGUvSUFBQ0lGQWFnWTBuaEdrS1plTmRHcW9tUlZwTnRzWEhiWFBGMVAvemNWbVZidGhwVmU0WWpWOWdQR1pQVFFtbEprbGNrbVhvSGNTTE1rVktxa1pUTnRoTGpJR2VTazFLcXdRL09uSjkyeWoxbkxFZVJWYXBBejZTR3kvaEo2ZUdydEIwTGhQVzBxY3Q0eFVTSUFBQ0lGQUNnZWFxTUVxQ3lVTllDb3paVnJJVi9xU0UxSE4zVFZJcHFlckxsMlNCS21OS3N5bHkxV01iZEJKWWR1dXJkRUtwTit5WVNzME1qdGQwNW9vYUJlRjFrKzE3dGp1TW5WRVpGVllQS25Xc3g2bERQdEltZnl0M25OelpFbmJJNEs1STBFOWJuNFowQnVZZ0FBSWdVQ3FCYVhWYmpXSnFIamFUbk9wWTFHbTJIUWkwVTBySlJYNUhWVEpCTUExaExLazhHeTA3bHVrV3B0VnludDgwTVhoa1E5MEhkWXhldHlGMXFuM1hLcDBxakM5ODZGMC9WekpuM2FFeERMWHBJUjhwb0wrRFMzM2xVeStWZG1ucnJ1Z1dHaGQwQ25NUUFBRVFPQWdDUjlVSU1JMHc4TEM1VXJlaG8yMSs2dUYvdFFzNmxZeHBTY3ZNcUVDc1Iwc29GTDJrSzFqQjFEbDg3aXMxeWJtS3hxT0laSFZlbGlUZEZLYVA2NUZybnAxc1h4YVZ2N1ExZHFobHd6Wk1QaTdwY2thcFF6NVNpMnhWbCtSekdrNHhqNys0WHJobGtBWUJFQUNCY2doMHpraTdGRXhmNGFtWnY4L2JUbElwU1FXdjZicDF1Q2ZIaVFBQUlBQkpSRUZVTFpSTm83WlJWTk9qemJxVW1QdEtUZkd0am45NWZMK3JpbEpiUExuaWpzRWsyMWRGeFl6RVdRKzYwQnVLMW1aUXFVTStjcVZXcHdscGw2SjByZjNUT3VHMmlEUUlnQUFJbEVlZ3RpcHR6NW43ZDNuYlNpb2xxYUFSMHJvS3IybTQxenkwVE04bWh5VE9WK3B0Tzc3TXc5aUx5aG02cDBrUjdaU056eWsvMmI3cmQ4TXh3KzFvOVE4cGRkQkhVbXJydUxCY005Sjl6SjRFM0RhUkJnRVFBSUd5Q09ncmVZcENMeFZySTZtVXBJTGlnVFp1UlNzMWpVTFloMFk2akFWYThKVjZqOWtuNEdna1JJVDUwaUNGdUEvYTkya29MOW0rYTVzaTRsMnpUSFo2S1hYUVIxSnE2N2l3dEcxTUxwd3hwcEVBQVJBQWdZTWc4R25WQ01ub1ZySDJra3BKU3UwSXF4eXlwanlycnFSMTgra21mS1dPalI2S2ozTm9oWTAyK0FCejg2SmJQZG0rczQ0L3JMSnNsbWxKMnlGL2xuUytIcWNPK2toS2JSMFhOYWlZT2hFMVZyVUp6RUVBQkVEZ1FBbnNCUVBlWGk0a2xaS2t6QVNiT3FZbWdUVTNDS09GNE1uQVUycDZZTTZHOXFTV1pqaUZTajE2V3I2am8zMUt0cS96YVU1aHNyNVdvQ1d5MDB1cGd6NVNIWE1EVVJxbWgyTmtUdFV4N2JTSkpBaUFBQWlVVHNEY0E4emRVbElwUS9FcWxiR0R1cHZPazNPMkZVK3BhY0UrWFVjMzhXemxCbU0xbzl1aWRySjlhekxpTDFYYXhUNUtIZlNSNnRpMmhTbnlSbDRubkVvTWk5aUdrQUlCRUFDQlVnbVFEcGtITjNJMmxGVEtrRkszU2Q2K1VrOU5kMGpDTk9JcE5RV3U3SFpkL3BrNml1Vmx1ZmhlTXBWNEl0bStzM0pPcTZySTY2UFVRUitwam45ZUVLOHJpc0ViM0ZCMFNDTUpBaUJ3a0FUb3JsdFNtZm8xbjFUS2tGS3ZrYjQ2VTFkSW5XL1lVMnA2VE1PYm5tdks4bkVSc3lBU3lmYWR0YVRVem1NbWZaUTY2R05BcWJmVkYweTJ6UmlQMHlLU0lBQUNJRkErQVJyWnZWS3dsYVJTaHBTNllZZUlzNng3U3MyL01CSlFjMTYzWXo3MXBDd2wyM2NhMlBDZTNPaWoxRUVmblRyYUxrWDE0cFlpYmlocUlwaURBQWdjTUFHU29Zc0ZtMHdxWmNsS1RlK3YrUGY0a3UwNzdwZWkxRFF5dysrTzRvYWlBeHBKRUFDQkF5V3dtWGg1T2tmalNhVU1LZlZhd1ppYWozNWt4TlRVbkw4cTJiN2o4bHpCMFEvOWFJZzFFWWlwMVMxRjNGQzBsSkFDQVJBNFdBS2Q0Qk4wUFgxSUttVklxZHY5aDcrOTBROStSM0VyMk9vVW8vL0Q4Z0ozVmJKOVp4MHB0ZmtFU2QrbjlJSStCcFNhZndHVmZEdGFkRHpmOFF0SkVBQUJFQmlHd0o3em9meWNkclJTbmxRUGpZU1V1cE1jc2tqYk5rcTl0aW8vMkwrY0xrTTVEejVDNHVrOUg1ZHMzNmxHWXpuT3UrQ082dWIyMGFsajdDNkk5eWR4UTlFQVFRSUVRT0NBQ2VoWFZRbzBtMVRLa0FwdXVHKytoRzE3U3UyOStlS1ZyNzBrYXZ2UDZTWGJkNHJ6RzVNdHMreW9ibTRmblRyR2pyeWxXTHRrTXBBQUFSQUFnWU1rUUdPdyt1WHBWK2R0TjZtVUlSVWtjUXQ4N3RwcndWTnEvbjhMTDNpcjFjSkplakdRdnEzbmpqd2syM2VxMFRPSHppQ0tvN3JrejVJdXAvK1RRTkJIcDQ0dXo3L1BlbzF1S0xaTUJoSWdBQUlnY0pBRVNOclVLM25WeEZQTDJWNGtsVEtrMUhTSDBCa3dEdHJ5bFhyTmtWSzNlSWZjcTVLMnRteG1zbjI3aHVUVXZVSHFmUGZEVldvOVFoTDBNYVRVWkxVYm5leDM1bkhjUUJJRVFBQUVSa21BSHFjV3p3cEgwU25ubFpIZUxTU1ZNcVRVZkRTalpjMThzWlBXdWI1U2J4aEgrUHFwVjZwU0ZmRis0b0wzS0dHeWZXMlF6MnV1NER2ZjBxTkgvWlpVT1hKTmptVUhmUXdwTmYvbk1UdTRvYWo0WVFZQ0lIQ0FCSDV6aXpkbVk4MWo5b3RLZmJ6b3FFOTBIRmMxUWtyTm41ZFl0bmFhV3phdFV5YWNiL0FCWUJwaGRwNmFQcUZITzQ2SlNKYWVETkZqTkZRMDJiNDJ5T2VrNlY4d3l4UTA2OGZ3YUFCbFNlWFRHVUxkZFF6NUdGUnFzcnJZMGZXTmVTUkFBQVJBb0dRQ0o1bDR3NXRya0d4cCt3V0JGcWNlL25nNmwrb3M4OXdUTkREQnA2QlNiMWhwNUkvTHlaTGVMMm1pMU9ibUR1VlRnT3NNbHl4Y1VVVWJaMFNDUW1WZVNFN0o5blUrbjVNaTI4K1kwR2tvb05SMFRsQktIZkl4cU5RVWtYOEJOeFJkemtpREFBZ2NDSUUxT2FCQTEvVzdzcjNtcFVDN2JYZllWNjhuZ1Z2bDZXTktCb05LVGNNcU9pNG0vUXlOOFpJMlMxR3R6M05yNU1rV240dXBka0hPVDZtOEI5MVFPZG0rcWlObUpMUjIxR1hiS2pXRjEyZFV1VG1qMUNFZmcwcE5ZZmlqMXF6Ykh0SWdBQUlnVUI0QlBrWjdoY3pIK2dHNGFTZWlOYzN5RC9OYnZkWFpwTXlMUEQzM21Nd0pLalU5ekdFSHZoZnNpSVNzSW41ajlaaTAxRUFLZ0MvcWxWUDZTOUFyNmtGcTBrL3JYN0o5WFV2TTIrYlV3LzhCalltcGFhaUZieTZmMnJUTk1oWHlrVnBLYjNGRUhFSW5HMlVHTXhBQUFSQW9oUUJGaVh6ZzlsUlhDOXRHUUovNDRMSC8wb253aFVKUkVaOXVrd0UrVVpBcWxuazYxaU1MMFFNMkhLL0dxM3hkY3RxVFpXZWtCbGRpRldKVHNRZlZDTVpKcGdmUDk1eUgrSkx0ZTNacCtFT1BlRkFjYmRMMCtJWTZyMVJ2SlZ1cVNzQkhPamtGU0ZBVmJkVnJEUXNnQUFJZ1VDSUJVanYrVk1YRzV4c3lQcTdXVndPdFVaenJ4TEs2Z0JhemhxcXlhZU5WSG55MlpEa3FwY2F4b3hNMnV0WTIrSHhiam5jY1Y3Sk1penRxdGZwdlhGTk5vOVFMZXFpRVNpVGJWNVhrckVyL2U2c2xreXZQYy9TMW9iMDUvam1TM1hWWkl1QWpuY0tjTzV1eW1MaFJ1YVRUbUlNQUNJREFBUkdncHluNHdFTHR3b2FNTlI4S1h0eFRnQnFJcWVsUk9GNjNvalY1emI2UHlEL2ZzYXMyNFNrNnFLN1dYNkt5L0JsWlg2U2NEUlhzVHBtZytxSDlGaTg1MDZUemhFaUpwKy9ZZC9GTVBpWGFsNW42bDZ6K3BFaFBzLy9OVWVvRlBSaXp0MHRLL1d4Vk91M2p1MmdVZTB2Yk1uTzZwYmhzRnBBQUFSQUFnWU1oVUdIN0ZGSWYzNDlPaVFIWW1YZ3gxQzRmSXdsRW1IUi9ieldLSGhLeDhOTXVQNTBLc2ErOS9KbW9jdm5obUpMZDUxeWU1OGFxVGZhSVNMUzEzQ2FhcUFwcHR0RThpZVJYOENLbkdGZjIwM2R4dSt3Mm5sTjl1VWpmZnBsOHBzbHRYMlI0UHczNVZFdTE4UTEwM2pCakZyUXB1N3pZTzY3eWU1ZnNwLy9UT2w5SytEaDlXVFRhZmNibE4vQzFkcUxhZGdFcEVBQUJFRGdnQXUyck85RXNEM2JYMkN1ajM2b0oxVTAzM1RBUDhibnJLblgyeUVmZUxNVzlJelNVZnA3Z294SnEyaEdscDJOMjlROSs1ZGYycEVTNkJsVDZUWXg5elMvZmJiKytkRGRqci92SXUvK1pYZWZyNTZRdHNaYmYveFRUUlZIVGJWK1pjbVl6ZGZib2ZEUzF0Ny91S25YVVp2di9FRVZ2SmErNVV1dVJGdDlIUGk0dnArUllkU3g4Y2xwQkVnUkFBQVRLSnpBYnMzUHMwVllVa1ZhZFoxZTN3aTFPTjE4WFd2RmVMbWR5dktUVFBYdkhmZmZkY1RibVNuMzIzSjMzM1h2K3JCNXZQbFVYc2ljQzVaQ1pxdERNQzNiVjc0anlNaEtmNjU2Nzg5NDd6aXFsNXBidk9COUxwWTZjOW0xbGs1cHVNdHFrL1dVS3ptMU1IVlZxakoycnMyOFN6d05TT3p1eXZPZmpjWGIyRHRxQ084Nm03aXJ1bWVEY05JTUVDSUFBQ0pST1lQYXUrRHZtZVN2VFQrOCtSeVFLTlBuT1o4WXZ6bEduOHJ2M2RILzA5N1B0Vmw5MXovNUwzZFZ2dXl1KzlidGJiazQ0M2J0OTN1eDNrQko3U2gxRmYzTkxmT3Yza3IxL3VmTTUvL25mL2EvYWNEOGZaYm1WaTdvODVpQUFBaUFBQWlNa2tGRHFZU3pYbDRlcGpib2dBQUlnQUFJWkJFYW4xTUhYNFROYVJUWUlnQUFJZ0VCK0FxTlQ2dU80b1pnZk8wcUNBQWlBUUFFQ28xUHF6ZURyOEFWY1FWRVFBQUVRQUlFZ2dkRXBkUnMzRklPRWtRa0NJQUFDd3hJWW5WTEg5Q1FKSmhBQUFSQUFnZEVUR0Y2cDMzdjJsZHl0V2VjZm5vL2VUVmdFQVJBQWdadVl3UEJLM1pRZnFEcWhQK2wzRThQRXBvTUFDSUJBS1FTYy84NDFtSDMrZnduNHVFZm56R0QxVVFzRVFBQUVRS0FQZ2RQQmIwMzNxZVN1NWwrb3VrUVpNZi9CQkFJZ0FBSWdNSG9DOUFIVXdKY0FDN1JEL3ltR3g5UW43ZitiS1ZBWlJVRUFCRUFBQlBvVDJHRHNhcXQvc2V3UzlKOWl1RWgzbnA5ZEJHdEFBQVJBQUFRR0puRHk4bmRTUk15dWZ0Ly9PN0FKK3V4ZTk3UDA1QWZiR3NJRXFvSUFDSUFBQ0dRUm1PTTZ6U2Y3L2V1c290bjVKN283MFZSRC81ZXg3SEpZQXdJZ0FBSWdNQUNCT2ZHdGFmcW05VEJLVGY5bjRSemJueCtnZVZRQkFSQUFBUkE0SUFLVjE4Y3ZwbnVLbU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c1ZUF0VTNmdXo5TDd2M2M3MEF2UHZMZitqbm5sbWY3MVZrOU90eStEWDZScTNGVVRRL0NodldJNTdLYi9HRzdEUGZXU3lCQUFpTWpzQVJ4cWVlU2wwVFJRNVlxWS8zOTJ0MEVOS1dSdEY4RHJUcGhudm01TGQ0US9aWlQ5K3hFZ1JBWUFnQ09RNytHM0xVajBJcWg4QXlpdVp6b0Mzb1lYNkxOMlNmRmR3YUZBY0JFTWhOWVBiK2w3c3g5ZC91cjZhcS90MG5ZeXB5d0RGMXdxK1VVeVZuaktMNVVkandOek8veFJ1eXozeG5zUVFDSURCU0F0dDI5T00wWS9zQjJ6TUhyOVRreFllc1h3R2ZTczk2eWdpYWQ5Q095Ti9jRm0vTVBodlJWc0lNQ0lCQWlzQkpLMG1rQTJ3MVZTQ0sxZzQ4cGlZbkhMOENMcFdlTllybVIySEQzOUQ4Rm0vSVB2T2R4UklJZ01Eb0NFeGJwZDRqcFY0S1dGNjVFVW85YS8wS3VGUjYxaWlhZDlDT3lOLzhGbS9JUGh2UlZzSU1DSUJBaWdCZEordG5QMnFrMUZkU0JhSm91NjlTbjNneVVLMUhWbzd5amw4OURPVmRsYU5CMzlRb21oK0ZqVUc5NnIvUGZNdFlBZ0VRT05RRUhEblpJNlcrR0hDMi8xRi9yS0JTNXlnL1pjOGdBWmVLWnVWbzBEYzVpdVlkdEw3eGdaZnlXK3kvendaMkFoVkJBQVFPbm9BalNSdWsxTXNCRHhiNnh0UkhDeXAxanZLT1h3R1hpbWJsYU5BM09Zcm1SMkZqVUsvNjd6UGZNcFpBQUFRT05RRkhUbWdVOU5HUXIvMlArcm1DU3AyanZPTlh5S2VDZVRrYTlDMk9vdmxSMkJqVXEvNzd6TGVNSlJBQWdVTk53SldUcHoxakorUnIvNk4rbzZCUzV5anYraFZ5cWxoZWpnWjlnNk5vZmhRMkJ2V3Evejd6TFdNSkJFRGdVQlBJSVNmOWovcVZna3FkbzN3T3Z3cHd6ZEdnYjIwVXpZL0N4cUJlOWQ5bnZtVXNnUUFJSEdvQ09lU2svMUhmS0tqVU9jcm44S3NBMXh3Tit0WkcwZndvYkF6cVZmOTk1bHZHRWdpQXdLRW1rRU5PK2gvMWNVR2x6bEUraDE4RnVPWm8wTGMyaXVaSFlXTlFyL3J2TTk4eWxrQUFCQTQxZ1J4eTB2ZW9uMkhGbERwUCtSeCs1ZWVhcDBIZjJpaWFINFdOUWIzcXU4OTh3MWdDQVJBNDNBUnl5RW5mby81SVFhWE9VejZIWC9uQjVtblF0emFLNWtkaFkxQ3YrdTR6M3pDV1FBQUVEamVCSEhMUzk2aGZLS2pVZWNybjhDcy8yRHdOK3RaRzBmd29iQXpxVmQ5OTVodkdFZ2lBd09FbWtFTk8raDcxOVlKS25hZDhEci95ZzgzVG9HOXRGTTJQd3NhZ1h2WGRaNzVoTElFQUNCeHVBam5rcE45UlR4L2VMelJPbmF0OERyOXlnODNWb0c5dEZNMlB3c2FnWHZYYlo3NWRMSUVBQ0J4eUFqbmtwTjlSM3lpbzFMbks1L0FyTjlsY0RmcldSdEg4S0d3TTZsVy9mZWJieFJJSTNOUUVwcC9lL1o3QkFNeTgvbnozOWcvMHJ2dk9sOVc3UC8xYXAweXlVdVdwUDNUL004L3oxdzcvbWF6OWpGT1NKNy8wbWZIdEg0OGlJeWZWcDM3cy9wZWR2K0NVbW5yOVBmdlBtWThpLzZqLzAxdmljLzltM1NuMjF5eXQxTlZYMzlQOWtXU0xxazZvZlBUT3UrcTNQb3ZhTXBQeHkrVEl4RHZ2aW0zQk4vN0oreCsrOTRXMFl2WVQ4VG12dWxzclg0TnVEWVBsMWVlN1A1cmNEYjIyVFJwSm9wVzVudWNxSzdrTG8rcXI3dzJCeTIweHZNLzhiY01TQ0lDQVMyQ3EyYTB6STMybjRrVjNwVWhQTjErWHl1TVpKMk5HVmRrM0JWZXF6TDhrZ2FUcEsweVpWS1dPS0xBVFJlOWozWml4YnpjbEtWSDVGL29ITHpHMVlCVHhxQ2h0M0kyaVg2YzY1OW4rc3EvVVA4dllPYXE2ckkyOStST2ludmpSbjArTlptcXNlNTZ4YjlXRm5IbXdmUFFhTXNsWTl4ZHNRZVBYWHZmY25mZmRlLzV4dWVxRDFIek05aStKSmZxSU5FMDA4bklxWm1mSkFtMXFlc3Jib0Y5VE5GOWRFK0Q4M2RCajI2U0pORnFSNzNrdVM2WjJZVFRkWkl4Mi9HMHRXVUQ5NXJjWTNtZWVNU3lBQUFqNEJMYXZyMCt6NnpwdmpTbXgwUmswYnpDMjZDenE1R3o4NkE5RzBWc1o0K0ZpeHZRbGpMM3V5OTc5ajAzMmJGVWdYYW5EK0xRVHZhVkwwUzBGbG80S2t3WmQvZnNvK21QMmJLT0lTYVgrTDR6OTFIbzAwM2lrdGVCOFMrK3YyQ3ZXb3dvcG1GYkZGZEdJL05GS1hhbXhhK3ZSTzJQMmpXbm5RK1dqRDdPcnI0MnFmOHlZVkdCZXkvaTFKMjFMZUwvRTJCdWk2dDFzZjU2WDBVcGRhZDQySDgzV3c5K1h5dHNnTjJnbjBYeWJnM3Ryekw3TjVrZTl0azBVQzZEbCtiN25vbVJxRjBZemRmWmpyZWczRzM1WHlXOHh2TTlFWS9nQkFSQUlFNWdpa1l5c3lNVld0SFY1cmpTZjF3dk9mTzE2aXkrOW5iRmRQZzlOOUQ4UC93UFByN2E3NjNKOXV0SmJQOW1rQm5ZcThXZDVpYWJiL29mWS9oYlBmRXYzamZvNzBLZnVyMUhwQ3p5WFR6TktvQ3JONXkvWWpUakpoSzFxelJqNzZPWExEelAyeUdVK2lYVlVkNFU5MnFJWitVZ0VFbE9vL0hHbHZPOVFjMTdGS1BYM2sxZU1YUlhEU1BTMXYxZnlsWHZ5Rm1ibC9ydG8xWlBSQTRMWGlUQ3V2QTF5dTNiaXpSOW5xenlETnNOUTZiMXRvbm9BTGVVblBGZDJFN3VRenR6aTNGWlZjMkdQLzB2SjFNNEtXd3p2TTJVRk14QUFnU0NCQitteVBLcnJvTGtTRU9VanBET1BwT3RPYTRGcnNLdnB0VEtucGdQSWF2TUZJaWRZcWRJa3NSUitSTkdtMWR2b2xJbmwxNzVPS3pXcGZzUFJwTGIyN0dSM3hkYlVYenFpcHlrdUd0ZEloZmltbW9tc3I0b0ZKYWhtaFVva3kxZWJXZ3BYMkJPNnNGRnFmdUhCdmtabXQ5azFrYkRuZ0xkUTI5VlluQkNxZGt1MEVUWFAxYUJmaDVwL292a1RNbStGWFczcHRmMjJMUU50bFBZOFN1M0M2RjE2cDVMRFc3ckZBaGJEKzh3WVFnSUVRQ0JBb0xGTG1ZeWRrYXZvNE5PREE2YnNNZEtnd0g4RDM3aXFibUxSZW00ak1GSDhxT0s4TDQ3bE42WERsUlpJcVp0YndnQ0o2NUsydEtjbGdRZU0xaThTYzJYVkRTVDNxTWk4ckZsaHIxdVhxYm9KcWtXODZDbTFzVTVlcXVLNllURlBDdWViakRkMGtiR3NpbHFsM2phRDhUYTZiYkl2eUhKVTdNa1RTdDRiSVppOFdLNEdWYnRxUm5hNytqUkoxVitpMS9iYk5ncjM5VGUrWGJRQno5TzdzR0x2YW5TY2E2M2NGbTBqNUlYWlo5cHp6RUVBQkVJRXBsaUxidHd4OXBoY1NVSjVKVm1NOG5UazZxNml3MnhITE5NL1kvSWswQll5b3NRSFVGbzhQMXhwanJILzUzRlpqWXdwZGVOUjJrV1pHVkZrWjVXYWhxb3ZxUHkyRGVkNTVEOHZzMGtMbEVQYjJrZGFrUkJDY21sSkZpZTVNKzNJSFBHYktFL1hIYW84L3pmb09xaTJTdDNSYlVZZEk4VUx4ajN5cUhOSkdpZWYxcDFtYkRKWGc3WTRUMUh6VEY2czBNS2UyVXQ5dHkwRGJjRHo5QzQ4WmphUC8yZjJMZTRHVGZrdGh2ZVp0SUpmRUFDQk1JRWovRUtkNVBHS1hFMHF1SmdzU0d1Tk1qbnJZaVB2VFNOSXptcEtrdlNvQUoySDVUdDhaYmdTS2ZYZFMzdzFqVzB3YzUvS2xiUk5ZeXFLeU5nRldkaVJkVjVSS3pXLzY5Z1NKU2dpdkNpTHBwUjZ3NHA0elFrTmRlbFVlVHBmcmV1VngxaTNKZE5XcVp1UHFDdzY3ZWtURjUwOWxtVTVHbFE2SjFOOGZPZVNTdnF6aEZLSEcvU3JjS1dlMTFtMDJhc3kzWGZid21nRG5nZDJZY09jU3Ztb21UNVA1TGFZc2MvMFJtQU9BaUFRSXJEQUkxZ0tRcy9JbFhTTXAyV2tiU1RBdFVBaW9lNHowdnAxZDQxT2s3RkZtU1oxa25iRGxVaGo2anVxRnRNREZpUzkrZ285aWtpMnpLaU12U0Fuc3hkMFkxSERpTlljdGJJczhpblMweEY2TXFadTJ0RFFocExHR0NVU3dybGlJbGF4NnFJc2FwUmEzZGVqWEhKdlNhN2tUMzJvWk16MnRYeVRkN3RxdlQvTDFhQmZoWnEzZHhCb1l4V2pmdHVXZ1RiZytVWnFGNUtYaThZSkdodVg2ZndXTS9hWk1Za0VDSUJBZ01EZUltWGFTSHJGeUoxVGR1cmhmM1dXZEpMa1VJMVlMR2hoMUt2VXZHWXVqa21kWkV3ZHJrVHRtNEh3V0dzUG5UNk1PUFByYkxOZ2xYclA5WGJOTFBEV0xna2ZTTW5NVXl1K0VKS0lLdStqaU1yUEoxeW5SYjg4U1pHV1dscG5Gb3hTTjB3N0hkMjRLS2U4am8xbU83QVRiZVpxMEs5RHpmTnJJam1SaTFJMysyNWJCdHFBNTdYVUx0eTAxeUtDM0k1b1BML0ZQUmYybXJ1Z3R3TnpFQUNCRkFFaG9Odm02R3N3bGlxU2tWRTNZeUtiNFNpUlpFVHJMeDlFWHVkMndwVklxWTNnMUhXWXR1R01YUEJoMExSUzA5VzZ2cDFHcHR2bXFPZGpMVnU4TlQ0a2NsMGs2TWNYUXBKN1k1QzgyOVdsN053dlQ2ZUtLM1pkUTIrWlZ1cDNkYmYwMnFieGd3K3ZxK1pqZTFsQzNsM1VaYjE1cmdhOUdueWMyb0FUZy9sYmZIM2ZiZHR3WGJCbzA1NEhkdUdhMjBQb1VtZUp0eGpsdHBpMXo0UVYvSUFBQ0lRSlRBbGgzak5IbjRsb3c4WGQzSTY1REo1ekJ5RnNFVHFNdFV4V1loWGJoaXVSVXV0YmRLVGxTdDRiVnR6RURTc2pyQ2FtcGdZY25Xb2JoYVNZVW84Sk9DTW92aEJ1bXdFZmV0ZlNGUzdqdjE5KzB5dERiUzJMZ2txcEsvWG42M28wRHR2VmFicjFxRTRsc1Q1M2lHSDJKVlBBVGVScTBLMGc3aWlhS3dOeHJoTG5nTDdiRmtZYjhEeTlDMDNnTGh3aGxaZlhFa1VzQnZlWnYxMVlBZ0VROEFpY0ZGb2E2eEZoaW5pY0k5OHJtVnFZYlg2enlwc3ptdTBWb213ekpERDk2WG14TGx5SmxQb3hYZFVvTmJQaWxxSFUxSUFSZURlbWp2NTJmMVdaczVxZGlLbjNISjlKMmEvbzV1M2NGODRWTCs1ZTBMcXRsUG9wKyt1NklvMEQ2Tk5FRkhYMEtURFc5emh6SzNWR2c3b1pPYWZtbmYxRlhnbU1mYmVOQmRFR1BKOUw3VUtpb2srLzVBSzFMMDlGUlN5Rzk1bS9ZVmdDQVJCd0NjeDhOUzFSTUtXT0hqb09UZWpxRnV1ZHB1TjVNVkNpNDl6T1M2OTJLNUZTRzZuVVNrMU9xUWM0ZUYxN2lTNHU3aThJZTl1T3dIdEtiVnR6Wk5OWDN0aFJYbW9xc05WKytacU9vb1h0VGQyeVZPcForeVF6SDRhMlVrWWV6b3NLMUp4MmlrWS9sblRhbStkcTBLdkJsZEpSNmprMWZONXYyekxRQmp6dnBIWWhqUlNaMDY4WVhSSTdLYjlGSW1KT3lobjd6TjlFTElFQUNDZ0NkSTE3UmlZcFpTUXpQeDVTaU1WQTZiMmV4dHhLcEJIS0FUNlNMVWMvS01JejRwYWgxSDREYmEyS3JpdFpTazBYRC9ZaEY5STdKODdUMVgzaHBQTExlbzI0a3lidkwwcWxick5WczI3REZjOEZIYnpTdDZ4MGlaeEtuZEdndGlMbnZsSVRSdjYwVE45dHkwQWI4Tnduek51azNlWW9OZDFhRlRjNkJyWFlEdTB6dVduNEJRRVFTQkNnbzI5Vlp0R3h2cGhZMlcveGpSKzd2eEd1VlhmME4yRWxVWW1hWGRJbDZrclRTTkQwL1VoYUZZeXBxUUZUTFJDZlZiNzhCejZacGRRa3cvSmhGTjZzLzF3SHorR1RwOVE4YU55UitmeFhhYUw2N2dmcGxIa1drTDRtd3FTSTgzS2J1bFpzTjRZMnpKeVdlQmt6NVdyUWxCWUpYNmtWc3I3YmxvRTI0RGtSVHZpNjdXNWVGTVh5RmtVaGkwdDJHOXBRYWdzREtSRG9RNkJqanBjTko5THNVMG1zcnZ4d2s0bHBNVkNhVml3RnNxTjBwWkJTVTU3ellFZFFxV005V2l4YWFadXRFSXR2L3BSd3pBNGFlMEpJOXRqdFg2bW1aL3B4b3ZMWks4L1ZiMHV0b0JrcGszUk94TlExdmNRTGtCdjcydkJYTm5Va1hsaXBzeHEwUHZDVXI5UjBxNVZmaHZUZHRneTBBYy9KNEJKdngwNGs1KzcxQjBuNVJWcVozMkxjYTUvWlpwQUNBUkJJRVdpWWdJK093L25VNnV5TTZTWmp6L3ZEajh5RlkybzZ6UGxSbkp3Q2xVSktUVWJ0bmJsd1RFME5MRnJyYmMvMzE5QWpHTi85VCt1T0VVOTU2WEVQYjNxdXRhTlRxZkpiZW8xUWFobndjNlYrRjJ1YWl4TCtwcmszZFNYUHdrck5IUXcxYUgzZ0tWK3BhUXlaSzNYZmJjdEFHL0NjRENaMklSVktLUFVTTlZuSTRpSlZVRlBiMjJjNkYzTVFBSUVRQWZ1d1c4TWRHdzRWOWZMZVMrSGpCeWlIanRORmI0Vlk0TU9sZ2V4UXBaQlNiemdpR3g3OVNEVGdIdlhWUGZvSEFldmtobVBFVTE0YWtPOTNUdkxLODRGWXFibGkyeWltbG9Qb0pKV2Zyei8zUWVlV1pNTkppN0xpcDdCU1p6Vm9UZkpVV3FscG8vdHUyNFpEeFVHYjlqeEJtTGRJWU4yN3IzVjVMMkpRaTIyUEtyZVBDUVJBSUlNQVBhU21ENzdZaldNemlwdHN1c3ErdXNPWGlpaDFzTkxJbFpvVTRLZUVuNDRtZWNyYlY4MFM0OVNKOHE1U3MvMFdDYWE1WVpqV08rNUlZYVhPYWxCc2xmazVlS1ZPYkI2VTJ1d0xKRUNnWkFKMDBYeEdOa0V4bFBQUVY1OW1LMDE5elI5V2F2NWN3TVdralhDbGtGS1QwWUZIUCtoejBPcjFDc2VJcDlSOGhHQSs2WnkvN0pYbkllNldYVThPUzJrbXFlUVhEbXYyM1I5SzZ2T2VMVjljcWJNYWRHeFNNcTNVbE5sMzJ6TFFCanhQNzhJOWYvUWpsbjJua01WRnV3M3R2bnZCbGtVS0JHNXlBblNZN1VvRVRuVGRuOGtENXBnbEE0dUI4blNZTHlXenc1VkdyTlFWMG84dDJYS1dVdk83YnFwSTBrVzk3Q2sxTHkrdUgrUmEybUl6VHMwZmpLTjdlVStxZW0yRFJSdmk4OEl4ZFZhRHJ0R2tVanQzRkxmOGN2NFNlUjg2Q1FZOHA2MWU4dXRTSWIybGZJVXFVTWppb3JWSTF2cWNMMjFacEVEZ0ppZXdZRVNJQXJrcmVXRlVZNk4xZEp3dUJxclZUYXh1Vm1aVUNpbDF4b05mWklvRTZZS3dTQTBzR2RPUlBlb2Z0R0xwYUpKUjNyVlYrYjhObDIzZFVNb3JUd3NKcFpaYVIwRXRKMFlYSTkyV05OSUpQa2hTU0ttNWcxa055a2Iwcng5VEsyUjB2bldmL2RabDdUd0RiY0R6OUM1Y1NTbjFJaGt1WkhISmV0S0dVbHNZU0lGQWJ3SjB1TFJrQ1RyZ0ZudVh0V3RwekVTUGxNeUZxelhTdXA5UkthVFVORkJyeG42ZDIxN2tnRkZxYXVDTWRjZ2U5VFg3ckdHV1V2TjdaWmRzM1ZES1Uybyt5ckZzUzlFV1h4ZExTcW41VTlTTGN2V0c1V0xMUjRXVk9xdEJ4eVlsZmFWV1h2WGR0Z3kwQWM4YnFWMjQ0SitJbUx3ZUsyUXh1TS84N2NJU0NJQkFpa0REU09KbVgvbXlsZW1RMVljY0tjUWl2Wk8rWlZlS1ZDYzlZcHRSS2FUVVBESzBCbWt3d0l6K0dxV21CcTdZSW0wZG41RjhHWTJYU3YzbnZKU252UHlqZmhkczNWREtMeC9yUVhsUmRFTkg3VnFwU2FyVWVZdk9kdmF6MnNadVlhVW1iZGV2STNFanBrRmpVU1I4cGFiZEowWW0rbTFiQnRxQTV4MEh1MnlaZHBYemhTVitVdGlpRllVc2h2YVpOSTVmRUFDQmJBSjFJeTEwWU01bmwvUFgxS3lxendtbFhsanlDL0FYOUhUVXJkZGtWQW9wTmIwNDZEZ1RWR3Bxd01pMzg0NmlFN2pMcC9TbXhKaXlyN3hyM3NpSjlzK2QrK1gzVE5ETXl4Q29NNktzVm1vK3JMTXVjdWgrbnZOdXBjaWluK0pLbmRHZ05pam52bEp2cXpOWHYyM0xRQnZ3ZkRPMUMybUF6Qm5qSm9VV0o4VkNGa1A3ek45S3FYUXhBQUFnQUVsRVFWUXNMSUVBQ0tRSnhFWlFTUjNTcThNNVBKcVMwaVRlbVY2TW9wUlNVK3pySE5SVG41VmZwQWhWQ2lsMTFMU25nb3pSRDJyQU9SVzB0Ykp2MkplN1NVSEloWkJTVXlIblMwRlRyMHh2cGEvVXBJSlNtMFZCMHNJTElxR1ZPcUwxU3lLSGcybUpsUGo1WXBrdXJ0UVpEVnJMUE9VcnRmYXE3N1kxZzJnRG5xZDNJYjFXYnk1WXhHTW04Z0tpaU1YUVB2TTNDMHNnQUFKcEFuYmtzZTVLYTdxZ20wTkhyRkgxaFhCTTdSYWhtMDcwYXB1YjQxWUtLalZKbFZSRDNpekZleVlVTTZNZlpNNFphQ0NkbWhjZVVzVXJ5bFZTTXFQVUZQK0pzWUdvY1luVzBuQ0Y4NlVoL1gvRFZUVXg4OHRUbzQ2eWt6Q3RpMEpHcWNsQk9YSWROYndSN2VhV0tKZEhxWE0xS0t5WkgycmVHWXZRWHZYZHRneTBhYy9kSFNaM0lUK0J0a3o3Uk9VTFlxR0l4ZEErTXhhUkFBRVF5Q0NnRmN6OWI3TmUwYW1IUCs0dDh3V0tPRTFzMVE0cnRSOFZiNU42WmxVS0tyV25qWFRSblZacVh6WDJ0Rkt2MlBDWEJrMk1VcE9xU1cxdTdwRC9GRUE2Z3hRTDVGeHk4c3VUWnRsWWtDb3JXVFpLelFlK3Q0U0pEUjFkOHlYNW54cnlqWDdrYWxBMFlYNm9pbkpFdEtVVyttNWJCdHFBNTZUTGwweHJmQmZ5aXdlYlF6VjJ4ZXBDRmx1aUN2OHgrOHprSUFFQ0lKQkJJTlpmY25BSGc5MnliY1pXM1dXZXBySW1wcWJEZVRFdytoRXRXTW1Nb3NhRjdFcEJwU1lWc3RwSUpRSktUUTFZMVlpMVVyZHRURTBDWXBTYTlFdkduL1Y1dmdFa0VsdDhMcVlhT1plY0V1VnI5c3pFSTN3VllGdWxKZ1Y3Z1RCQkp4WDdaWXdqS29ETUUxUG5hdEQza3BxMzV4c0twWlZYL2JZdEEyM0E4OVF1ak9ndXdCbmp4Sm9Pc0F0WkRPd3pZeEVKRUFDQkRBSk5OU29RUFdnbHppM0tMNEd0OXFnMWRLbXV4Nmxucm9xWEVUdUxiaVdlSmtFeldqdkZoeWF5S2dXVm1sNzhNMUU3ZnduUXVFRHlxNFNWR2pDcVFXa2x2UjE5U1U0QllKTi84MjZXMUpxbVdJM3R5S3YzWTg0YmxGTjZVMFE1L2VPWEp6akxlczJHZWJqYUtqWHBwR3lHb212N0VjQUZPVGhBYlJ0RnBZYU4wOXFnbk9kcDBLOUJ6WWU4NnJ0dEdXalRucWQyWVZTTjdiQVJuVnZrZ0JKL1N6TzRzNElXemViYmZlWnZGcFpBQUFUU0JOYTBudFpFYkp3cVFCcWtSY2l1bzROVXg3UEh2a1ZvVDN2WHJsVXBNaml2a3NkNGNKbFZhYzRScjlnYzhoUzk3YXJhWE9LMUp2QlBiQzZxZlBNZlpjWGpHT3JkbEExN2dyaGpnMXM3SlVjSTlxVGxHYW1abGRnTzhUNG9nMjFsVk0vODhpU0tTblVqR25YUkZlZ3NacU5yNVM2OWg3bXFiRlJqbFhMR2lzaDlJMVc2S1RuUDA2QmZneXYxODNWVzNYalZkOXN5MEFZOFQrNUN1bll5cDJqK1pQdXFhcjJJUmJrN3FHS0gzTi9SN21NT0FpRFFrOENDMG1FZTRWd0tsS1FJelVhRVpuM0RhRlJ0cDg0RDN1YVdXYWNURHpIemI2c2FZbWdnbzlLbUU4eFRZeTFadjFvMzZyelIxVU1YdEdyT1JzUFVnRHJTS3l6V3NzSFBMTkxFa1NmSjk2MUkzUy9jbGtIM2NhV3l0S2hWb25sUnR1ai9Kc3AzREFRQ2RVRVZwWkYzUFNwRDdjc3JDRkp2ZlZZNW9hSnIvaFNiTms3dUszSFhPWHFlcDBGZFZzNUpxWDlYQit1MDJkb3JQcGpjYzlzeTBBWThUKzFDZm1HMHBMeFlzM2QwQzFsVXZqbjd6TjhzTElFQUNLUUpVRGpVNHJsdGtwUDU5R28rTXBtT3FTT0t2L1pGdGJkZm85aG9QNXJWaXVGYXFMSHV1bGcrTGIvVG5GRnBUWXVjSE1yZVZTYmVwUy90WitKUFUxQ3FmU00vOVVoSXRha3Z4VDkwbll3OFYxU3N4T29FVWEydENsbnBMSWw4Mm81RlNtd29uWnd5UWZWRGNrTkVJZWNuVVg0bVp0OGkxelpNOEJxUmkyb2ttbDh2c0dlTEFrL1I1NHhxL1NXeWhuc1NKUGROVU9tMFJzazhEZm8xcGdoOC9TZEZYclZtdllyNmJsc0cyclRuVVhJWFJ0R0htUHIvdm5SdVdEWCs1TFlZM0dmR0RCSWdBQUlaQkVqWkx0Q3FkM1RyTnZCemkxTGNxUFhReWVZWDNpK2s1Vk4wZ1U4Uzg2S2FqaTJkTWhIZG94Sng1bFJkcmcxVmV0cmxwNU1wOXJXWFB4TlZMajhjVTdMN25NdFNsYlVrcmwzbk56RDNMLzlpRlAyNkxQMjg3OXNTN1dpeE9NbDIyMVRrT3o2OVE5a0xaSUxQMzBmUk13bk53K3I4UXlPc2xGR3RyNHFhRVZmWnIrREpVeWJ3Vnl2VUxGbitUZXFTNDcvcmdIWDY4bDNVSm52azhyK1NrUnBQc2hmenAyUklpeDRSRzlBV3A0QXBzMVhyMnYydnZaeCttb2JxSlJ4TU5lajdSMHRUZE01NlYzZUw1LysxOW9vdjlOMjJLSUNXcWlVODU1YVN1NURHc09weXA4NllHeHk4WEg2THdYMG1UT0FIQkVDZ0I0R25zRWZYbzdmRzN4SUhRbWRlcldFSGhoMHJieWRoZXRIdnZaNTluVGpBbWRRTFo3MUlmcGpLZk9UZGY5WjhwQ1hYQkNwMXlJNlluaERQVzhzMEYxcDYvcnJPYmx1UHB2YTZXMXlwUldTL0xkZWJjWm9Qcys0Ym91aHA3QnVpdGxpelNOVW92R1RkLy9rRHRlNnlrQ3hhSnlkU3ZxLzU1YnZWZlQvS3VwdXgxMzNrM2YrY0ZlSkdnZkwvMzVmOTJ1OHc5a3BwanlSSFRuUTJPcUdTWXR4ak9tWlgvK0JYZm0yUDdmS0NmSkJkVGx0OFdFSk9vcHcwWTMvN05XaExxdFFVdjBwb1hQMzc2RGUrbnpGNnRjaE8vYll0Z0paWDlqMFg1cEs3VUJTNi9qL2UvWS8wYm10TGxKQS9SU3ltOTVsakNFa1FBSUVnZ1dxRFVUejlPRjIvaXdBNFZXYTYrYnBVSG1WOFVHak90UllscDV1M0x0TXNNTDFHRkxxNnJGZWxLM1c2WisrNDc3NDd6c1pjcWMrZXUvTytlOCtmMWFPc3ArcU1uV2ZkWHhBUEJVcWw1cVh2dmVPc0dWRW40ZHlQMlcwdFI2bWpHWkpxbW42Qk4vcWE3by9wdHZsL2duRUdjNk9JNnRJazQxOWR5SmxubEdmZnBjb2NaMmZ2dVBPK084N0hRcW5GVnNSU2dibmZOSW1RblpSYWJ4VXB0ZDdZb0ZMM2E5RHhUU2JGUXl1em9yR3U5a29WNnJOdFVScXRxT2g1TGswbGR5RmRRTWpOby9PN08rVzNHTnBucmlXa1FRQUVRZ1FxcjQvM3Y2cmwzQjBMRlVybi9kYlAzVVBWMHZsZXpqdnZpbS85dDg0aG5hdVNzVkQ1N1h1Nkw5NGhiVGozSS8vMjkvN3BWMHkrazNqYk0rTnozMHZMNzd2ekdmLzUvL2hJUzZ5cC90MWQ4ZTJ2ZFFySlpQVlY5K3kvMU0xOUd6bjMzUzAzeDB1SHlwOTd6cFpYSnJ4UStkMTd1ai82KytGMVBYSUhhM0RtNStPQVYzMjJMY3BBRy9BOHVRdHBBSVEyNzNZYTgvR24vQlpEKzh5M2hTVVFBSUVNQWtjeUh4L0xxSUJzRUFBQkVBQ0JBeVl3eDlqcUFUZUo1a0FBQkVBQUJBb1I2SVFmMGl0a0E0VkJBQVJBQUFSS0lQQWI4OHBvTGVQUmp4TGFoRWtRQUFFUUFJRUNCRTZ6cXkxUm5KNTFEajBTWGNBVWlvSUFDSUFBQ0pSQ29NSGtVNzhSUFIyOFdFb0xNQW9DSUFBQ0lEQVVBZjVheGtWaFlZRjFXME9aUW1VUUFBRVFBSUZTQ1BEMzdCYUZaZi9kNEZJYWcxRVFBQUVRQUlFQkNQQzNvT25ORXY3MUN6VUtNb0FSVkFFQkVBQUJFQ2lSd0RIOVpiY0YvVkc0RWh1RGFSQUFBUkFBZ1FFSUhHZjdsM2kxaXZ5ZzNnQVdVQVVFUUFBRVFLQmNBclBxbnlwOXlQbTZjYmt0d2pvSWdBQUlnRUJCQXMxbjh3b25NNzVhV3RBWWlvTUFDSUFBQ0pSQTRDSDJnU2o2MHNUWGpVdG9CeVpCQUFSQUFBUUdKVURmUkQ0WHM2NzNHZnBCYmFFZUNJQUFDSUJBS1FRcXZ4M3ZQMnVyRk5Nd0Nn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U9nY3BULy9IK3U4N3ZPamxqa0h6alg3ei9rL2MrNzhBZHZVSE5Idmgyb2tFUUFJSERScUREK0xSNzJOenE2YytNOFBuUm5tVktXSG1EbWkxaFMyQVNCRUJnekFoMGhPcnRqcFhYTjBneWIxQ3pZN1ZyNEN3SWdFQXBCTjU2dVVsYXZWdUtiVzcwYi9kWGU5cnV0ejVVdVhML3A4am5JakgxYlBPYlE0YUs1ZlZxZGlRTkZITUhwVUVBQkc0bUF0VmFpVXA5bXJIOVhqRDdyYytxKzQ1aVNyM0gyRktXcVNMNW1jMk9xb0VpenFBc0NJREF6VVJnbzBTbDNxYmdkN1VIekg3cnM2cFdDeWsxSDdlNGxtV3FTSDVXc3lOcm9JZ3pLQXNDSUhBekVaZ3JVYWtwMXV3WnpmWmJuN2tmNGlLakh4UzU5dzd0TTV0SnJzaG9kblFOSkJ2RU1naUF3RTFMb0xuamJucVpTbDBqamJ6aU5wWkk5MXVmS0c0WDYwV1UrZ2g1d1d6ZElWSVp6WTZ1QWV1YnY1TnNQbElnQUFJM0NZRzZwOVJIUzQ2cEwvYWd5bVBxWHVzenF6YUxLRFVQZWE5bW1pcXlJcVBaMFRWZ25mRjNrczFIQ2dSQTRDWWhFQitZVW0rUVJpNzNvTnB2ZldiVkRNa01sNitRRjU4UHJ5cVltOUhzNkJxdy92Zzd5ZVlqQlFJZ2NKTVFZQWVtMU5Pc2QremJiMzNtRHNtUXpJenlLNHhkeUZoVkxEdXIyWkUxWU4zeGQ1TE5Sd29FUU9EbUlGRHhSYURNMFkvb2FjL3d6Z29wd1AzV3B5cW9qQ3pKREplZmV2aDd3eXVLNW1ZMU83SUdqRU9KbldUeWtRQUJFTGhKQ0V3Zm9GS1hoVFJMTXN0cVQ5azl1R1lUTzZuazdZSjVFQUNCUTBmZ09KUjYwSDF5Y0VxZDJFbURPb3g2SUFBQzQwcmdLSlI2MEYxM2NFcWQyRW1ET294NklBQUM0MHBnRzBvOTZLNDdPS1ZPN0tSQkhVWTlFQUNCY1NWUWcxSVB1dXNPVHFrVE8ybFFoMUVQQkVCZ1RBbE1NU2oxb0x2dXdKUTZ1Wk1HZFJqMVFBQUV4cFRBTVNqMXdIdnV3SlE2dVpNRzloZ1ZRUUFFeHBOQUEwbzk4STQ3TUtWTzdxU0JQVVpGRUFDQnNTUnduRjZ0OXQ1R0tmWE5sd3hFTXo5LzUyY3lWdVhMUGpESjlOMDVxR1pUTzhsM0Ewc2dBQUpqUTJEMjZkM3YwYzcrem0wNjFXOCtXODlRNm8vZTA3MzlaL3phNzd3cnZ2Vlo4MzZldC9UT3UrcE9nZXF2ZnV5UFhuYlBVaFJOZmVMc3MxcFVzUHJVajkzL3N2UE9lOXh2dmlYZWZ3V3RtU1ludXZQZStqZit5ZnNmdnZlRlZHbjJFL0c1UktOL2VrdDg3dCtzMHpvN0ZaSE0zL2lMSC9qa0xmWWY1SksxL1ovZWltWmV4SzN4LzJKN3l6bGhsLy96MzVlZFh4SnA4Wk83V2FlQnlsTi82UDVubnVkbnduOCs3L0I4OTVmLzBNODlzMDRvWnovbGJwM2JwT05KbE41SjFpdWtRQUFFeG9uQVZKUFY5ZGNzNkt1YmpoN3FyWGpOMVVzNnFlZVZIK1pDclNZU0RqN0ptUHB1MW8wWiszYVpKWDgveU5pNW1PMm5qSmd5cjZIUFBwUGsvb0xLNElFZy94dzEvUmVaczR5TExsbW15WHIyUldMNTBWYTFlWDNySWZxR25yTitWcXg2TW9wT3hWU1o3ZStZUnFMb1o4a1B5bHAyc3FLZ1VxK2N2ZU8rKys0OUg0dC8zRFhUUFhmbmZmZWVmU3lLWW01Yi96T3Y2cyt5cTkvM3NucDN1Zk1JMlpQTnluOUxzeTFjT0dOYXlkMnMyMEJIR0NIdjMrZnhiSWpzK2VnOU1VOFlwQjIrUk1Sb2t2K2xzY3VUb1ozRTh6R0JBQWlNSDRIdDYrdlQ3THIwdTgzWUYxSmJRTUxKeGNpYjZJdElkcHFYcTBndmQ2TzNkQ21lL210WFZxTmZZdXdOVWZWdXRxL0tlWWI0d29mWjFkZEcxVDltN0pKY3BaWDZLVmYvZ1U0ZFZNdFJZbDZDMXIrMDlSc045dmlIcnJlaUZmYVl1MTRyZGFWNTJ6d1BLYld3VXJXL1lxOVlqeXByckxzam14Ry9ZYVZXMnlhVldpNGtsYnJEUGs0R3F1L2JGOTlCN2FIVStac05LWFdDWjBNNE16L0xydjdoTC85WmJEYWxJN0tYK0JZNVNoM2FTYndJSmhBQWdiRWpNTVVIbTRVZWt1dE54aDVQYlFHWGdlVkU3c3ovMzk2N1FFbHluV1dDVWExK1pYWjFWNTAxN081d2pMTEE4b3BoV1ZWYjNSN1o1aEdKdW9YQURKTnRHYXpGRE1vQzRTT3Z6Ymo2V0RMYXdXdG5qWDFZTU41UkZkakhOaGk3RXJjbFc1aWhDb1FadzJFbUM4c0xlTUN1V29ZQkE0T3pFTWdTeGxTMU9rdTBIcGJ1ZnY5OTM0Z2IrYWhIVjFiMUgrZFV4bzM3K0IvZnZmZUxQMjVFUmF5dHJVMEtjUU4yYTJ0TlZVaE1YVXEvVEFjTlEvMUlneTllUzNuckFwRnViRHVrT2Z4K3crWEg3M3MxVkZiTDZXSXlLMTg3ZmV3KzZMSXhkYWttWGdJNWVQNk1USi9GdWNVckw5MTNPL0tmUzk0REVrK1NJOTRyczQ4S2FSb0NkWDFha3JaRW1mcnp0NlVRSW03OEVsVVplUkdsTDhHSFR6MkNoS2IrbytMZnl2WkpYVEoxNlQ0cVV6RzErdmp2U1ZXY0RLRFdWL0NCUnhzUXVKTEY4d3RyTldTUHJ6ODVEdkZBVnA5Q1AwQ2RvV0pxOVQxZEdWUEhPa2xieFR0R2dCSFlXd2hjUXk5Y3Jva0phVFhZd2FjeDVRbVJnQ3BXeCtaM09uSkg4VDJLalJjTTlhTnVTNmhQRCtJdCtTRFcvRlp1R0E2ZUZsODF4UStEZHc1QVZrMS82cVZjZDB4OVFYVG1xTjZ5NU1pSy9JS0FYLzUrTUhVNWxicnd2Y0luak1ocGZhSkFSSDdlNU5FNXhZdTZYWGJ3UWNOMXU1cHp2MlhxYWZNQjNrUFNDclQ4bUdGcVJOcVRRcHpVd2daU216Z0ZTUW1kc1hJaGh5Zk9VK0xUR3NrWENQR1RXZzFRRkZXZC9naFdrblFTbHh4eDFFMDU3eGtCUm1CUElMQitEbVlhWXNHOHppMTBFRnRhRXZCZHlwSUF4ZFMxSlZrRGJGalZWVUhRcEFGYkk3S3lndXozV3E3RUVzSVVWY1IyRkFLbVorVFNNSllkc0MxWU1iQkh2YzBmU2lCNTVOM1pjZ1RiengzUm5GKzMzejBzaWJmT3lacG83NTJOQ3BnNmFYdGZBenRpUWJGZnFpMjdrMHBOZndVRzVHN1lPNWszZ0NZRHFyVUtZR29GSk50WWtqWjdlT0xNSjFLNnBzQUdUemVhTWtYbkxRczV2a2ZBVEsxaDRSMGpzRDhRR0JGTjNIb1NXT3lsRGJTYVorcTY2RHVtL2dlOWRnTFdNdXZkYmN0ZkZSTjlTbFgycDJZWkJpc1pKcWdHYWIrU2VBKzZxN0ltVGdPYThJOFpGZ1JQbWVweUtWdVgwM25udWZhaWtnLyswdndNMTU2emVTc3FoZDhpcGo3b1BFaU9pVmVZK3FrK3JSeDFYM1djTnQvcjhwaDZ6TmhJaUE2aUZrdlZOc2FIa0wvTzQwbm5FRnE3bHh2UzUzVVN0YXM2Q1FDWXFRMFd2R2NFOWdVQ0IyaHBBc1I2VVhrejZZakN1Z2UyRTB2MnlDV21NeGZXSU5OWFYxVXhRa1BOTVRnSmFLWktEcmlRMlFtaDI0Tno1dkNnNkRSVkdoWjlMN1diTjZyQm5PZFUwWUpkZTA3dFNTQkpYRGt4OVQrZFZuVXBGRjlVU1ZoSEp5VnNXTHcrTHhQMFU4VFVPQitvUlJ2VU9lemNON2NvRHpvUll4R21ocktUU3NXQWFoSHcrMHg5WjFWSmNYaktVTnQrSVF6Z0dTdkhQS2JHclViVkx1SFZEd01FN3htQlBZMUFoWUpwQkg2YVdCYnN6SGRlK2FUbGN2TWtRS1Mwb2l2WTlXN1FZbFhuSVU0MlNaMUR1Mmt2aXNjdE1zMmhpSmZQa2ttbHgxNmw2a0xPT1pYQ0NXSktwZW9leWJ0eVdqTFpNR2NIOE5lcXFveVViZ2QvVE1CZnpOVGdSc3QySnd3WHUrb0x4dEFrT1dCS3ZaZ2E1dzJ5SHR1QWF2MHpCL0MwWDZ1MWVFcW1ucENpOFVQZlhWeFNCMUJVVlNsYTNiZTJUN3MrTWFXOFp3UVlnVDJIZ0Z5bUJpZE1LTXVQeHI3b2V1ME5Tekcvc2lRQUtYYWhOalg4MjdaQkxjVzZUK1RrZ0JFTnE2TE1Ib0NweFl4ZjJUSHhwT1dlV1UrMks1ZUwyMVhkMW5rMkJvbUxNaGV5YlZEcU02T3ZUcTY3ckJnaHprSVRnbGZNUlFpVzFBMVRleUYreU5TRHFEVUtvRHFLcDJScUpaQ3NXN2ZuTnRTdVVnNXR6TlFLQi81bEJQWU5BdWtTWEZtMjVEY1NJZE1pWDZkdEsxVURYR0V1eGNFVm1yOGFibEUxQ1orUFU0MXc2L0NpVTFBM1hFOU1QZTd5NVpMRk9YVmNzMkZreThiWmZybGs2aG5kRnBSNVhpV1IwdUVuVGc3dWxxTEhqTHFKM2dHVENaMXNuN1JGcG5yRnJPNWdiYVFyVXcrcTFpaUF4aWllR2FhdTJMVjZabXJiU1p4Z0JQWWRBaU9DWEZvWGNrZEpuemZwdU1zV1lXcDdoNittS1JmcnpmWkNIRGNNRGFrNXFRdVdTaWtQM0RzbHk4RFVyaDNsdUpnWmpLczVIQVpvR3ZiTEpWTXZTU2x5K2JxcWtsaDdNVGRMaFZzTFRqeG0xRTFjUzdOR01qbGppMHgxbUwyaU0wZk53bkkwcGg1VXJWRUE0ZURlSEo3SUJqa3ZXbnR3SXRDWU1sTmJVRGpCQ093N0JJN0o2REoxMUZVNzJiZVBFYVpXVDVCQWdtSHE0R0dTdGpzaFdDVVFzbW9QaUlVVTk0S3BEYStxMGdHWnVxbGxnc21xT3Zubkd6TTY1Y3YybUZHWDZwMWJuUys1VzU2VzJNR0x6emQxemYraTkxR21UZ1pVNjlrREhUazhvU3BnYWx5UzZQdWt6TlM2RzNqSENPeERCRWIvT1p4QzRHdFhZaHZuK3ZZeXd0UVhUV1BEMU1Sb0pvOFdXY2J0Z1U1TW1paGFIaThZY2dKVHUzWlU1Smk2WmxZeEtBSzMxcnB5R1ZOcjZmUklTTldrN2I0dnBuYTNGTzFDTkFRWUlpV0d4TC9BQjF1Y3FWMlZ2dFFhQldnRzdISjRJanRnYW9Uc09yaG5wblpJYzRvUjJKY0k0Rmt2U3ducFZOOHVUaHVTMEMzQUZTZE5ZOFBVOC9aeFBaU0FZNVpNQmJNSDAweVp0SHhTUXAwendOVHVyaCtWT3lZR3Q2K29GclBlWFVkWFRreHRWMDQyejlUMEtMZlNjNDA5alRtbUJvOWp1K1ZIbk9tazF0NVFoVm9MaGEyeUNhYTJRZ3llRUZieFZ6L280WTl6VWdNenRRV2FFNHpBL2tSZ3pGdUI4SzcwZXprYlllcXFhV09lUGtBZHgzTUxodnRNTGZVK0ljV0hNZzkwbzFaOXdkU3VIUlU1Sm01YnBscjNZblJYM3AweVMxLy8ra2Y3b2t5NkFwaVFSbmszRkcxTVRjOHAwM1laNzZNeVd6ZW03bHR0R0ZOWGpXeURKNDRyMW44cWhBMVYybE1FcmhKSWU3VmhwNGN2VmVTTkVXQUU5aVlDYlJmcmp0cG90TGNyV1JLSWNVVkxpSTF2TkZzamlKK2xBanhCN2NmWmlFWFZEVEl3dGIyYkppczZKaDR6REdvWHc2bUNLKy9HMU85N0RQcXd1VFZ3anhtbEh2Y0RXOVF0eGNsVmwybXJZeGxiYmU3OXJzVk1QWUJhcTZDUWV5c0JVOWZNOVZBTWZkaWQ3U1RuQ3FjWUFVWmdieUZRZDZzRng4eURESDE0a0NXQkdGZk1Ha0pUZTd6MVA5eG92WGZKWllFZDFRcENGNllHUjE2VUxYRGw3OWk4TDZhK0MwK1UvTkIvbit1UHFjMHRSZitHb291cDhRNVZ2ZjJrTWIrUXFRZFJPeWhUTnd3YU1mUmhXYmFUakxHOFp3UVlnYjJHZ0hmMzdrQzRPdHpWa3l3SnhMaWlIdnR2RjA4cW5nM3g3ektDcWRYemdtRHE4TDlrUENhdTZXZVowZmFjRmVXVkZ5MFlsOWZ4TCtwemFORWZVNXRiaXY0TlJZK3B5M0JOYnZic1U4RFVnNmtkbEtrblRlUWZReCsrWmp2SkFzWUpSb0FSMkZzSTRQa0J5NHBqOXJtdzNqNWtTU0RHRmFBekt6c21FVGN6QjJicThLMm5XbW9mVE4wUzRtMnlkbjlNVGJjVWwxRGZ2NkhvTVhWUy9nM1lUcHR4c0lDcFd3T3BaYWJXSGNvN1JvQVJDQkhBbTVOT21wejJoRW4xM3ZmRDFMT095S0lDS2FaZWNpVWdlN1ZRM2kybXhwbmxsV2lDblYxNDZHZWRHcSt0MXY5QzJTZFRMNnNGOFdVTERwUjZSSXEzYnJ5dVJreHRudmlJTS9XQWFqMEZzVE1mVEtnRTY5UU5YdjF3dzRkVGpNQitSbURNZS9TalB0Vy9wOU9aeHdwaXpOTHkxNUlqb3VuRzNJckxoeWwybmRxRXFxclVpNW12ZVpJKzkvV3JrNFo0WlFXdlBMNzZVVXJ0T2FGUHBzWlNERjFoK0RjVVE2YkdKd08rQ1B2TkMwcWlURDJvMmtHWnVzWk03WVlQcHhpQi9ZeEF4U05MMGV6ZjAybmQ3cWdPVldOTTNjNCtGNTBSVDg5K2hFeXRIc3ZvRmxPM1p2UVhiK2M4WVQyWitvSTdaL1RKMURpTDROV3Q1ZUM1Ulk5SWxmTERxYUhLK0FsaVVMV2VnaGllVUlydVduU09BNytxUENxb25lMGsxNUpUakFBanNLY1FhSmwvU01iYmh0emphNzFkeUpKQWpDdm0vZjk4aVlnRUkyZis4MFg5YTJJM3BrNmJ5UWV2RTZkZjAvVGw5V1RxU1Vkd2ZUSzF1cVY0TEhoWGlTSFNDek5HT1ZiYTlWM1lhRXc5cUZxakFPSmplQ0s3NGh4UnJ6MWRsYVlVMU01MmtxekxQNHdBSTdEM0VLamJsZGJrb0h2c3JiY2ZXUktJY1FWV0VMby85NWZheFFOU0NHSlhGblJoNnBIb0k5KzltQm9DYlR2RjFIOHNQZlNZTWVkeG5kWkw1SGNtYlpHcFhybG9zK3JtLzk2OS95TUVGQ2RsaFlIVkdnVm9IY01UMlFGVHUvOG1COUpWcVJJL3FmTTEyMG1tQ3U4WkFVWmdqeUhRY1A4SXNueCtBTnV6SkJCakZqd3ZiVzY0eFNXdjIvOWpvZksyeDNCRjY5VEhvZ0o3TVRWdW0ySXBRMjJTcVVlVUdJOFpUYkhkZ3hNbmttWEh5U2d3MVpmZEtlMGFBNS9IMUdQR2o0SFZHZ1hRRmNNVDJRRlQweDFaWmEvUDFONVpLZHRKcWpML01nS013SjVESURWQkllNmVyUXhnZlpZRVlzeEM3NlZvT3BsZjY2VlY3ckxoTkhrNGF4NlI3aEpUbjdCdmFIVnllei83TVcrZU82YVZaK0xXUHBnYTVQZE1lRVBSTWJWYXBDRUxqcHB6VWNNazVMWEJTV25kd0dvSFpHcGdycTlaY0txcVNwVnlTY1JlUDJRN1NWZmhIU1BBQ093MUJGeTBPUm9OVjR2OGFldWJnWWQwc0JwamFub29lY29KYUN5NXRFcUJZT2dCQzcwMXpQZTJ1akQxb2VBV24yblpLNmJHR2NFRXg1RGRIMVBUTGNYd2hxSmpha3VGZUZwUXIyUlBPcVlHUHlxbUhsaHRYMHc5WTd5bWw1TThyUTRRdlZkMU5tN1RXdk95bldSYmNvSVJZQVQyRmdLcHVTV1dISW4vaCtLMU40ekhQS3BvRWo3eW5DcU5Ndlc4SXhERXNmbHdHRzljdGFzUzlGbEFIYXQyWWVvVDNuOG1Pck42TWJYbHpnU2ZHdStUcVJGOGI0UTNGQjFUdS8vWEtabW8xbVBxdW1IcWdkWDJ4ZFNyMXU5Sis0U2x4OVM0eVdtWk90dEp0aVVuR0FGR1lHOGgwTEJNM2E3R0xBZXoyYTl1K2VVZzRSazZQcWhYbEtOTWpZVlV0NlI3SUhKM2NkS3hDaFlTVElEZGhhbVBDWDFtOEcxSmVqRjF5OFhVcU5wZlRFMFhCSjhKVDE2R1NKZmQ5dzlHektsbTFua2lERk1Qck5Zb2dITlJQT1U2OVhuak9tQXlpMHZBVG9YeDh0MnhscW5uTTUxa1d2S2VFV0FFOWhnQ2RVUEVwVFFhTytNSzIvOC9RdXNkbUdTQ0RzeC9vTWVaeFg1UkVUVXIra3FkV3BudGdyYzhBbHBaVWZtZ0lFZndsT1dZR0lIM3UweGp0M2ZsOFhmcHRlMHlRYkxjb1BXSzQrcUJSSThablRDVHF1RHI0QmZOZ2R5YjZzdm1sRUwvSzZtOWdncGQ5MWpIbkJjR1Ztc1VRRkljendSRzJWTVZ2RFpwUEFWaVRHMmwxaElTTWtGV21VNmlORytNQUNPd0J4Rm9tOHYzSSs0Mm1lOUdYZWpaN21jaWpYRDVKR1V0VitsWGhuTHltTkx1T2JIMzZLQU9tZVYwaHNyQ0RaeHMrYnRoemhuMEdacVFxUTNqb0hGRGlOTm5iNzMzM2hjLy9oZE9sRmVPTnpEWmtCTFp5cVo1dDhweWRwN0sxWGZKWUdqd3ZMUVRTS21EOEh3MXlFb3BITWUyYkRCTGtrUG1ZNDRMTnI2OThIWkRtd09yTlFxZ1k4ellqclREazVpNjAwUVdiUzBQWEhzOVVyNXAzVEYxdHBOVU8vNWxCQmlCUFljQUdLRXBqYTZmajlwZUExOVZJeVdHVGVzenFuREIwQk1PMGFTcGNyMVBmeDJKa21MYjNvakRCZnc1MVNqQlRiRncyUUZHR3V0QVZXYTd0S0xyRTYyWmNpd3ZtK0NXc3RVTlM2emRhb3NPUEFjQ1hrcU9xRE5CMTZjSXNlN2oxcU9sSnZQKzdHVjNKVkNCTUxsQmhUYW5mcTA1L1F5czFpaUF4SVVvbnNUVURlMHE0bWkzbmxRMzRmV2hKOWJOalZuNXFRYnBxT2trWlNyL01nS013SjVEQUh5MFNFWWZ0YUZhNk1JaytHb2l6RkpIa3pMQUxCbE9ublZoSzFIY3FtN3lBaFAzbFd2MFlxWGNOcHFLNzFHWmRoa21TVDZHd0hISnI5cHlRVFlJM1c2ZEdWMHBVeTRkUWhHeTFZVkNLVlh2ZFVyS2t6TWd1R3JTcmxKTE1sVFRLeDFtTm5CK2VIS2g2aHljbUNnQUFDQUFTVVJCVkV0VWFka3VPNVJyWmhFZlZ3ZUtRVTg4ajBqMlVwUHFEYXJXS2tEYkFqd3JRbnhTQmZaSjIwQkxxaXJHMXZYVmRTRyttYkpveTNTU3l1UmZSb0FSMkhzSVRNb1hkNWJybWpDekRreURucWF5bVhSOFFSTEZSeVZUWGJ2MklsUVRONjc5ZlZKYWV5UkZzblBEMmpqVktqZkVKWmxvYlRUcE9MZTlWNThwL3NDUTV1RzEyMGxXNThWcmVrSDZ3MHI0Uys5WWtvMWJWS3EzRFJMdGxZOVk1WE1tKzhhMXYwR2RDZ1N1WVA4UXpNVmR6RWNRTEJ0RDcxaHJvaUMyMWYzSTNsVC9nYS9JMVE5MU96WDVHbnNkZ0hkQnk3TkN1WDRlVEMwdVAwN1dENkxXVjFDTUp5UXVUbjRuV1FzdFpwVWFSN2dNV2FYYyt5OG5ZR3J4OXArWm82T2drMlFHL3pBQ2pNRGVSQUNYNkwrVGxCNjYzSXliajJJZHcyWEtTelZ4NmJQdlN5Y291dzF5a050WGFZMVpiOFNNb0pCVVhQN2RYL3pRdWlJU21SWCszQ25FUDM3ZGgzNVRpTmVxZkZveVVKdGVxMTQyeDR0VTRlT3BPYVE5UFhqaWxkTy9WNnR0eVdVVG41VW5RZFgvOFBySnpwU00yTVczcVk4NHFycUsxRkFyczFYc1hUb1VXTCtlSlkyTEQzZCtIVEh6bndnYzZRMEI4ZmMxazlJN0x4R0hZaHRVcmErZ0xTWGdKNGRuQlV4OVFueExrbndRLzdMVU5McXhiNG1OdjB5U0Q2QS9pS25OYWMvdkpLOHlKeGtCUm1EUElmQmp1RWVYRW9YRnQ3c3VTNGJNRi80YUVZSmFLVzEzVHAyOTk5NnpwMUppbGxPbmI3MzNuak9uekxyQ3NSclZFOStRRjZCelFOSzAvYUErUENSTzRZN2hQV2RQZ2Fia3RrekM2WmpzT0NFNnYwMjV2L0xnN3orR1J2VFBPbDc1Y2FzY1RHMXNrcEhuS0tnYTI4OVMyN3M2UDRGZloyZ1JVeC94enk2cSt0a3pLYmk1OGxSU3Jvdk9HU3l1ZUcxL0hpZURzMkpqeW1QcVpBQzF2b0ppUEN0MENmSVowUUdvTC9WMDQ2d0JCMC9YeEhjbEFWTW5YaWVSNjd3eEFvekFua1hnODllbE42OXN3dm9Icms5dkdlL2RydlRKdXp0ditaMHU5VDU0ZTNyNmhxVXVGVnhSdVdaQ2IrUTlBTHFhY1dYZFUrVXYzSjdlL0lidWRUS2xvMmVibVJ4OVNPL1NLMyt5MXJuMUg0TUt4Mjg3MDNrTGdEeHgrczJQLzlidktSN2RoTnE0VHAwcm1UcjV3N3M3TjJNVkp0eisyM1hwVFQrTXJMKzk5WVozLy9nL00yVjlkcEtwem50R2dCRmdCTGFNd0JHQmhXYTdZWm5oR1h0d2RTUVVVMThkdnJLWGpBQWpzRWNSYUltcWIvbTZmOC9QTDlpM2FXYnFmZHUxN0JnanNHOFF3SU56d1hLTGZlZm92dkd3bHlQTTFMMFE0bkpHZ0JIWWJRU091LzgvbEtiZy91SnVtM1NGOVROVFgySEFXUjBqd0FnTWpNRFJ6Qk9EZUlwNFlCbDd1d0V6OWQ3dVA3YWVFYmdhRURqay9mODArWXZucDY4R3R6MGZtYWs5TURqSkNEQUNRNG5BTWZNLzA5cTZZL2F0SVVOcDdnNFl4VXk5QTZDeVNFYUFFZGhXQlBCL2ZPb3haUzMxaUg2dng3WXFHV3Boek5SRDNUMXNIQ1BBQ0JBQ0RmZWVEVHBjZHU5TXBjT3JZQU5UejF3RmJyS0xqQUFqc0pjUnFBUVBVSmRTLy8rOTk3SmZmZHUrck4vRTFIY0Ryc2dJTUFLTXdKVkdBTGNRRjUzT0YyUWVCWEVsK3pZMTdkN2l2Vzk5Wk1jWUFVWmdyeU13TFo1c0doL3c5cnB6Sm4yMTdCdm1Ld1ZYaThQc0p5UEFDT3hCQkVyNGhwZStxWWdYTk1uWDVPMUJMelpwOHB2V1FOUkMzTEkyczBrQjNJd1JZQVFZZ1N1Q3dQR0cyUGozNE9wZi9RMGhYdGE4SWlxSFJrbWRlSnEyaTBOakVodkNDREFDakVBTWdaRy9CVlhoODk5Q3ZDWld2Si96NnAzVDZrM2R6TlQ3dVp2Wk4wWmdmeUR3b1hlY1NUdTNmbWxwZjNqRFhq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ekRzQ0pTSDNVQzJqeEZnQkJpQnF4MkJjdVBTM05XT0FmdlBDREFDak1Cd0kzQkFpT3B3VzhqV01RS01BQ053dFNOUUVlS0pxeDBEOXA4UllBUVlnZUZHWUZhSXJ3NjNoV3dkSThBSU1BSlhPd0kxSVM0T2dFSHBoWDkxMysxblZnZG9zVnRWSC96Nk4vN1U5Ylh4QWRWdnJ0V0FTaUxWZis1em4zcjBucGRHQ2ppTEVXQUVHSUdrSklTWUdRQ0hOdW9Mc1RwQWk5MnFXcGVXRHNyVWs1dHF0V1VmUjZYYUo3Y3Nod1V3QW96QXZrVGdHQ2lpT1lCbmJVa3Bxd08wMksycWRXa3BNL1Z1NGM5NkdRRkdZUHNRT0NMRVFKSGNCOVlhWU1EVjdUTmd4eVI5NGRFVWxnN0sxSU8zT3Q3NDdxMzdVTHJ2TVJnYjc0bHRVYkIxRTFrQ0k4QUk3QjRDQ3dNLytsSEdBc0hxN2hrOGdPWVJVUFdnVEowa3RCQXhTS3YxYlhyTThmNGlwdDR1QlFNZ3gxVVpBVVpndUJCb0N6RXhvRVh6ZTRXcGs5bkJPRmZqTUZnckl2YW5Ca1F3V3IxY3dOVGJwaUNxbFRNWkFVWmdMeUJRRjJKcFFEdkg5Z3hUNHpRMFNIU3NjWmdlcU5VSk1QWEdnQWpHcTZmeDFZL3RVeEJYeTdtTUFDTXcvQWowUlRPTkZkK1IzV0RxSTgvNUZ2U2JYaDZJYzQzVXdWcmhmenlGTUUyM3RLL0ZtWHI3RkRqcndnNTErWnhpQkJpQm9VUUFsOWIvMU51d1dzRFUxK3hDVEgxd1UweGR1UUpNVFNIdjVkNFE5bEdqRVdmcTdWUGdiQWc3MU9WemloRmdCSVlTQWREQXlkNkdwYnZPMU5kY1FhWWVqTi9wZ2ZRK1RuYTlRVTRLbUhyN0ZEZ2J3ZzUxK1p4aUJCaUJvVVFBOGZGaWI4UEVyalAxMk5BeWRZSmw3WE85SWV5alJnRlRiNThDWjBQWW9TNmZVNHdBSXpDVUNDQitiUFkwckJSTzdOMVkvWmdmWHFZZWVlU0hleUxZVjRVaXB0NDJCZGFLVElmYWZFNHdBb3pBY0NJd0s1N3ZiZGpoM1dmcTZlRmw2dDc0OVZtamlLbjdiRDVBdFV5SER0Q1NxeklDak1CdUlOQVFUL2RXZTJqM21ick9UTjI3bi9xdWtlblF2dHR4UlVhQUVkZ1ZCUERmRm4yc3NWNnorMHlkTWxOdjR3REpkT2cyU21aUmpBQWpzQU1JSE83ck1iYmxYV2ZxVWNGTXZZM2RuK25RYlpUTW9oZ0JSbUFIRURqUTE2UEFrN3ZPMUFlWXFiZXo5ek1kdXAyaVdSWWp3QWhzUHdKai9URGdpTmgxcHE3MFkyY2Vuc0dlakRidE45Zkt0Tjc4L29yZFVjeDI2T1pONXBhTUFDTndKUkJvaTJwdk5RZDNuNmxyek5TOSs2bnZHdGtPN2JzaFYyUUVHSUZkUWFBdXBucnJyZTg2VXg4U3pOUzkrNm52R3RrTzdic2hWMlFFR0lGZFFTRHQ5RllMbXR6dDFROVFDOTlSN04xVGZkYklkV2lmN2JnYUk4QUlYQWtFanIrbzg2K05udDk4R2FWRytuaXo4dkZhQVZOLy91N096Zi9PeUZQN0IyNVBiL3FtOFRCUEhaVi83czgrZGRzOVQrRGdpL2xtU2ZsMWQzZmViR1E5K0xrM1BucjlhZFM4OXN5TlB5dGIveWtzOEppYVBnNTdIVlZJRXZyKzdtMW5xcFFzLzlLZi9lZmI3a1p5NU85T2ZWT1RjcEtrSWg5dE9mejk2VTAvTktkeTdHL0UxSkYzM0wxeEE2eFhyV3pON29sZi90enJINzNPZmFuMkQ2OUxOOTYrbEl4K0I3V0tHNnJrb2VMcC96VTBLcjVPN1Nrb3ZmQ045MTEvWmdVQ3Zuakd3OTUrcFBmNFkrbHBCNytIalc5Smt1OVFaUkgvTWdLTXdEQWdNTklRTmZQME5ONmtlUTQySFJYUEZGbDIxK1ZGS2lxOWlZaGFiK09xc3ZwdjhqdEZKeFhpKy96Mm54YmlkQ28yWkVNL0gybUs0K2pyTXVXSFpPSjdnK0xSU2RFNUk0VE9yRk1OdlBINUkxRFFXVW1TOS8yZGJDSi9pT3FQeTVSNkpUUmVVSXJ0SkVsVEdxb0pQa2x6U255N2tsOGhwdjY0UUliWW1GSloramRpNm9kVEljNVFQZGtxcUUwSDA2Zk8zbnZ2UFdkUytRV3QwYzdwVysrOTV4VFFReU5oMzRGWGZxZTRmTWR0dGM1VSt4SmFGQmdxSmI4VFVHV05pak8xcDZCTnV1ajY1cUVBKzdyTUhrOCtrVkxDd3QrbUkzVWZnajVHSUlTOGZvcDFxTFNJZnhnQlJtQW9FRmgrZnU2dytkL3hscEQvbTNpdzhETmI0RDBpbXdRUFhMdHRYUGtobWZyOUhjVEFDSGJQT2Q5K1hvaDNKZVU3eFlhdTUwb01qejZSdE1WYi8rS1h3TmFhU21XVjBxUjRhaTU1SUJYZktRL3JwSEFqR1VuZjFwd0V0OU1MaXV6V0IxTy80UEpmNGp5a1RLZ2djVXk4YkR3cHZWTnNMSG4yUkV3Rm9iOXRMaG10WDJwU0s2K3VUaG96RkZNcmk3Sk0zUlovZzlybGh6Ymt3NDlkbVBxL2l0Zk1KYVZaUVdjaXUvWE4xQm5zNjlLWThlUGk4bi82aFQ5S3JjeTJ6SzZTZUkrcFl4MXFMZUFFSThBSTdEWUNJeFNNR1E1cUNQRXNERm9RY3dWbTBUU2ZRdG5vMnRyYXBCQTNZTGUyMWxTVmlhbEw2WmZwb0dHb0gybHd3R3NwYjkxZnFhQU0ybzdmUjVIeEV5ZkVxK2dJckRkQmU3Vk5peWViU09FRnJKSzM1RGRuTjVJTHp5TGtKOGI3L05yYUl6aHZTQXRJYWVrK0hPclByS2p2NzU0a09jZnZleld5cStWMGtUN0tkWjZ5WkhSY1Y1L09XcmVCTC9JanBvNm00bDlTazFMajVSV0RFaDNiN2ZPM3BaQXZidndTNVl5OGlOS1g0TytueUJqOXBkcWo0dCtxNm5YSjFBV0dvc3BSSWRGRCtPKy9kU1hPMUo2Q0R6emFnTEtWTFBaZldLc2hlM3o5eVhHSWhtdnlGSnNrSDZDT1V6RzErcDZ1aktsakhhcU01bDlHZ0JFWUFnU3VvWmNvMXpSRFlzWVRSeHk3cGNnd211UVR1bkE2Y2tmeFBjL0p3Z1dQMUZwNjBkc3dibGIwZTRYNDZxUnFOcEtLeTAxVGZreUlHWm0yRkEvVzNFZ21WeEk4VGFhK3BnTDZVUTExbTQ4WnBrWUFDMHNsVTZQb1lSRFRBVlNzQ1hGUjFxd0k4UWVYNTJRU0luNVN0MDZTaUtrdFEzQkhPL0NYT0MrM0JSODBYTGNyUC9kYnBwNVdTekowQmFHL0xWQmdxSG5mRks1Y3pqczFjYVpPRXFjQTV4SDB4WVVjOWlWNC9HbDFua3RlNEJ3dG8zWlZ5LytJWHYyZ1F6aTRvck41eHdnd0FzT0Z3UG81MkdOWURYTlZSMTRGUm1McTIwbWVuZGdVVTllV1pFTlFUVlZMQUVHVEJtd0ZiMzBDSTNjNjQ2b0tLUFNWS2tVeHVBNUpqd2dUNHMrS2pjTUloYUZJTktsYWxxbkJtWVlVazNuakU0V3Fvam85a3lTcDBPdnZVSk9lSndIWXBzVkdVeVprOUo0MTFWa1Bld3FZR2tzMytnd0FPVWNzZ1BaTHRXWHhWYTBncVdtbWpodGFFbStkVXpWcmZsQmR4TlJXQWRyQW81WEdrbXpzWVk5VGowaGZva1RpMzFxc284dXVlL0E5QXZ1Y1Q3WkRWVVArWlFRWWdkMUhZSVE0RDlQMUdXa0tpS2s3VTlkRjE1ajZIMmp0QkJ1WXlMeUxyMjNKczJJaVNsWEgvTkt5N1JQNkFHbk5aWFRmcmFweXdUR2FWaUZyQVpuZ0lrWElXYWJHR2NjeTlaaGphb2g2SmVYRGVDV3lBbnBxSW9NMnVEd2hFd2tZMTdTMnByYXNQY2tCMkRtdWE0WTd4UGpHMitTWWVJVXBUUFdwNXFqajhXbmpYZFJRbVBLY2Fnd3FYVEZpY0liVHB5eWJveE5HQVE3aDdWL25zYWR6aUxVWmFRMGoxYTRhWWN6VUJnbmVNd0pEak1BQldxNEZzVjVVTms0V3NZSjJBUlFpbG5SNjJxY1Q1Q0hVZlhWVmxTSGMwN3lCazRCbUg2SzZLVlVjL0lLSVhYN2RMSGxRVEd6SWF0Sjg1bXBaYkxTUUNaa3FTdTNHMUxEbXBOWUQ5NzZYaklESUpabFZjZWNHaXJUVmlqV0p6WnJxblhFUytHUlpUd3ZXTzF3VmFCRVU1aXNWS0twcExBOWFoa3pHSWt6dERFVktYU3NnTW5kdGlwbmFLSUF1Y08rZFZleXhPZXhscUcyL0VJYnptN0hTWitxVVkycUZHLzh5QXNPTVFJV0NhUVJ6bXRVVzdHeU9HKzJUVW9TcExibXE5VzdJQU9kVXRTZ1hKUWV5d2RRdWpnZVo2cVdDaGcxd1hheGJFUnRucU8ySDN6SXVSWFJqYWdTNmhxbWg0U3lsUzQrOVNqYWp0WUlKbGNKdnl4Qnd4TlFGdTNTRGluVlQwVGJWQ1hDalhVRTRZYmlZVm50VUxMemdXUGVBS2ZWaWFtY29DRlNmc3dDempkS3RuS3hhdndBa2I3OVdhN0dYVEQxaG11RkVaTTRpUGxQWG5PM1pEalV0ZWM4SU1BSzdqWUJjcHNZOG4xQ0dIRFhoYTVGZDE5NndaSXF5RXh0U3pPb0JBbFhOdm0zdmc0eCtKR3VFMEwvWm1QZ2JlVGhuS0RJRHJldW9YQWFNaXBrckxpeVU3WE5NblRvTEhBR1NCakhqRkVvQ2M4Y0xKbjZObUxydWsvT3NmK0NMSXc1ZjBSbmVKM2dOVTFmTUJRdFd6QTFUUncwZGc1MkxVZzRzdHJHd1Q4aUJWcjhnaXIxMFZBbWtobkRtdkJLQTJsV1Zvc2pmbm1XbW5SdW1sUGVNQUNNd0ZBaWtTekJqMlU3UkVidGszTnU2N01URy9EZVgxNWovbXBNYUhyMkZENThaQlFGVEU2bVNSUlNMbThWcldqWlpwVHlLaFcwbUhRL0ExT05VMzJ5UU0yUFNKRjJGOFhsVEVZWWFha1gxbHVlS2JTMFR3RzlDNTdSUDJpTEgxUGFjYzlpSWl6STFUaTQ2NmtXVS9ueE9qczB3Q2FNQXgxSHNNMHdOci9YMUNqTzFnWkQzak1EZVFHQkVQdTYycnA5Nmc4MHUvdXZwUUlTcE5STlFwS2JDYXl6MDJwQU56ek1ib3ZKbEIweU5oaXJ3QS9sWnpzT3pHeW9ZQk5mWVRCTFJQMU03STZnZDVDelNYbTVZYVpCbVJVejFsblpSdFZYSTFLRFlwN1cweVJtZDhGYy9iTVE5YXU0TlJwa2ExeEZtSFVoNDl3czhRcmF5WmNJckFQZm1zRWVkd0ZGWXFmRm5wZzZCNUNOR1lOZ1JPQ1pEdDlUeFFpMmd3cTdtUjVoYVBVR0NWb2Fwc1pwaHlJZWVyVkNQUVlkU1E2YWUxWStockxzd2xSNER1U2piZ0hnbS9NYjlNN1V6Z3RvSEJFWmhmQk9aRVZQSFBQN3J4dFJ1OWI1a0hpaUVRRU9rNE1YblNRRnQvMFh0a2loVEozKytNYVBMZmRpTUhGM2tkbDRCZE9Td1I4WEFVWnp3cEtNeUFxOGFNYno2WVpEZ1BTTXd2QWlNL25QWWhtalNQUFNRTk03MWJXeUVxUldoUW9KaGFtSXBLM0E1R3BTR1ROM1d0cVJteFVQWnB4WTlRRHlyVmhvUy9UTzFNNExhUTg2aWt5UFUyay9FVkJocythOGJVN3RiaW5ZaEd1SU5rUkpEWG42RDAwZXBPRk83T3B0ZzZoejJrQlk0aWhPZUR1N2hhdFhvWXFZMlNQQ2VFUmh5QkhDUmI2ZDVPdFczc1JHbVBta2FHNmFlOTI0TUVtOHNtUXB1SHpJMUd0QUtBVDJvWU1rVU5kU2xQUVJNdVlhRE1MVzdQMGZ0SWNjS0o5YVUvNXN6bnpkMTNRT21HMU83VzRyZURVWEwxT0J4YkxmOGlHLzVEakIxRHZ1c280VHBPV2tFTTdYZkY1eG1CUFlJQW1OZXFPcGR2ZmV5UHNMVVZkUEdSR3FvWThOMXZFN0VMdGlhZXRpSFRBMWJhSVViMGJLckM2cFRRaXBlSmtub1A2WjJSbEE3eVBHWXVxWWl6SWlwdW9TYVlHdEZMd2xrMGJKWmx2RnVLRnFtTnUrU3V2enZaRjM1MDQycFMxLy8ra2MzRVZOWGpYU0RQWTVEUjRVSnBabXBEVmE4WndUMkVBSnRGK3VPaHJmZXVqb0JhbHZ4SzhUbVA5aHQ0eHZOMXNpRXhLcHh5TlFIUVNmSXg4cXZ1Tm0wdTk0OHMxWnhoc3EyL1RPMXZkMG0yMEdPeDlRTkZUbTM4cWFtNWxhbWJJVUs0ektSLzRIVjZwYmk1S29yTktzZjBobEJtM3NYYkRGVHYrOHhXZFZiM3JkeW5HaVY4Z3BpMktOU0pYQVVKNTZMc21WQjdXeUhadlh4TVNQQUNPd21BblgzZk1ZeDgzQkNIL1prSjNacy9zOHEyakcvNXYwZXZ2U1FxWStnS2twcGJkZmZYaUpiVkhhRXFTY1ZnVVZNaFFVVHp0UldNVk9iVzRyK0RVVVhVeWYvMWJqeWswWmFJVlBmaFlkbGZ1aS96KzFJVE4xZ3BqYjQ4NTRSMklNSWVIZjlEb1FMdWwyZDZZZXA2NWtub0NNQ1E2YkcwODIwQUlPbDgwZ0FXOGxrOWg5VEI0OWhaMEpOTURVRnhIbFRhV0Yzd2xuY3ltaDNKZlFmM1BKaXhMK2g2REYxR2JMbFpzOVVCVXhkWHNjL3ZzTjl2TURFUGEzaWhjNmVTaVM5Z3RoWkVqVXFRVXl0SGVWblAwSVkrWWdSMkJzSTRKa0FTMlJqM3JNT3ZheWY3bVAxbys3SkxwQzNINWlhYUg0Si92azNGSDBpTGYrR0pHb0hSZ0ZUdC9EWkFna1RNM1hCYU9Gc1J1Q3FSUUJoN0VuamZIdkNwSHJ2KzJIcVdVZE9SUUpEcHZaV1A4WnpMU3FacUhiYll1cUxVQlV4RmZRNjRZd0FqZVpOMHNYTHF1YXlCUkw1WHNpTGgxbGVWNE0wKzgvdWNhWit2LzB2engxaDZnYXZmcmplNUJRanNOY1FHUE1lL2FoUDlXLzlkQjh4TmRndHZKbVhGeDh5OVVIUUdlclFIY1dsWE4xS2hpdTNoNmtiaXNCYWVWTmh4SVF6QWhVS21ScG0wOVdJZjBNeFpHcTg0KzZMRUdmK2l6M0sxS1hVT3IwalRJMXpCWjJTZVBWRGdzQS9qTUFlUTZEaU1hNW85bSs4WWVxaittMGZzYlhTdG5sc28xaHN5TlJqS3U2ay85S1l5cldCcFFGWFdxYWVuVkYxb3dSSXp3SGE1UjFaRDNJV25YQVFXQlZIRVZOMWlhN2F5bWgzRXVTWkJTLzNLQWZQT0FZeE5WVStuQnFxVEtLR1huRG5paDFoYXRIblUzcW1RMzBIT2MwSU1BSzdqQUFZcUtsTk9PenVZL1UycWgrbW52Zi9uU1F1TW1ScU5IZ2U5WUwvZkxIdEtobXUzQjZtRnVxYUltSnEzVnNYNnZvOHRiNmxlQ3g0cjRsaDZnc3p4Z0hjSjlWM2JLTk1QZWxPSUR2QjFJVHBxalFsZGs1RlFiWkRqZG04WndRWWdTRkFvRzVYVDVPRHZaWXFmSE96RXpzMi83RXEwT3U1djVDcDIvcS9YR3JtLytsOGpaVmVURzMrTlJLTllNMUozYlo3VEUzL1FyaUNtaEZUWWN4RnA3K1YwZTVLa0tyVHdvWDhKcVhOTmt4ZGNUTHE4alNFR2pGRFlhWjltbDB4OVI5TFdVYU9GV3dTWGtFTWUxU3JPTzdIdDMrRnVYaUNxMVVqSkhWS3N4MXFxdkNlRVdBRWhnQ0JobnNpYlBuOEFQWmtKM2FNTGZCY3RIMW5kWUhva0tuWE5Ubk9lbVJpRzRKNHh1MEJFcm1ZMmlQQXNYNlpHbTg5a1MrT2lwaTZFQ3lidERMYWZVdUlFeWVTWmNmSktEUkV1dXhPZjljWXFHT0c0czZ1ZlQycVpPb1JCWjJSRStpakE2OGdoajFxd0twRjJ3eXZvSktPeXBOUzFXUjdwNGRwemVTOCttSEE0VDBqTUVRSXBDYlF3eDJ4bFFIc3lrN3NHRnZRRlhmVHlmeGFMMjF5UTZaT2RTdzlIN3djYWVTMXNuWWx3NVU1cG02NDh3SUVuTlFxdXNmVVlHZ1o5a2RNeFlNb2xqdTdyMzVRUlA1TWVFUFJFdWt5TGVlbzdhaXhMMllvTEtibnVtbERuSTkxcUcxbWF2U1B2cjZCWDFXcFJ5NHoyVUErMjZHNkN1OFlBVVpnR0JCd2REVGFLLzROekczckVPeVFack1ZVTlPcXdKUnIxVmh5YVpNQ2orcGJrc2loQUhlT1N0eVNMaDBkVVdGcEpjUFV1SjUvam9xVCtxTGNKWk9HQ2VXaWF6ZW1ubEVOOEF2YVVnU1pOeFhXZUdzM3N4bnRWZ0lsOExES3MrRU5SY2ZVbGdxeEFLRlhzbU9HTHJ1MUZtQ3lYVXc5WTgyRWZIMG1RUFJlMWRrNDJWbnoycGtPdFMwNXdRZ3dBcnVQUUdwdWN5VkhlditINHJVM2pCdUx3WnRUbEQ2aTJKSldocXQwVEp0OVM5QzhsNG1ITUZScDhBdFdja0VuT0VRZElNTDFUaHQ2cVJjYXJYYVNnYWJLNHNhS0V1a1JZTDE3VEwycUd1QVhRdFZCeE5TR2YwV3dudEZ1SlZBQ1VmQkdlRVBSTWJVenVtU1lQMmJvdExNWXZMOWRUSzE4SXhNbmphT0p4OVE0STFxbUJoSlRWTkYwS0tWNVl3UVlnU0ZCb0dHWnVsM3RaWko1d1FYVkE3UE4wUDZnZmdRdXl0UllIRlh4TU5VODRFV29kQ3czMEsxN1pBSms4WXpLQmk4dXFSUitKOC9KSkVvRHBnYWRxM0M4cHJObkhlMEl4M3ZRa0h0S3IycGwxdzBiUjB5RndrVmJNYzFvdHdVeUFUR2ZDVTkwWmhsNVdaOEpVRzNFcktiRURHMjVtQnB4L25ZeDlYbGpKbEF3QzFGWThEbXBzOGM4cHA3UGRLaHB5WHRHZ0JFWUFnVHFadldobEdyQ0t6WnFHZE45U1JlRG1TY29hZjREUGNyVWlLNDlIdFpYMzFxQTJoR0RySmljaGsxajRkY2ptVGxab2VLVXF3WXBFUm8yUTBGdGM4OHNPZFp4dkFjTjdteEIxU0hIa2lyWVhsOFRSRXoxS0UyK05HcUpXc2MzeUt4ZERJb2NVK3VURHoxK29SR0lHWW84Zzg5eWcxQTdycHd6Y2dMaGRPQVZ4TEVuUjQxenRNcGowbGcxTXFhMlVnc1pYUlJOa0Z6VG9aVG1qUkZnQklZRWdiYTVKRC9pVmlHS1RLc0xQWnRSQVRIb1NhcTNYS1ZmK1FseGVVenAxQWEzNzlHQkdqTEw2UXlWWlRaaTZsZm9QQzlrTDZYbUJKSWtGL1JDTnM0VFMwSHJkYVhHcnE4djJMRHh3dHNkRzJHNU9jZlVuVGt0Q0dlRUdaMk1tT3A5cExjTk8xY0M3Y0VCNUxqWVdaYVkwOGl5d1pkVzM4K3JSakZENTkwTmc3UHo1Smo2ZEJxd2RPZTZRS1ZSZ013eEZ5VjcyQk5UZDVxNlRjczVpcVVhZmZJbzM3VHVtRHJib1lFeVBtQUVHSUhkUlFDenZDa3RxR3NhNldKT0RYeFUxZVdHQU9zekttUEJjU1BlQmFkbCtwLytPaEpsSEREMVpWUFE5cDZpWG5iRTJOQ0dUZXVGVkcyQS9LajZFZzRPYVNhbis1Q2FUT3ZYdWdnVmQ4MXNDQzJiVnNTejlhcE00V2FrNDFFNFpLSk9ZK3BIcmNDU1NCM1Y2YmIrRGllWmNHa0dHQ2kzNE1pVXJsa3haNXFZb2NqVG9CMTREcnkvWk82akJpdjJ2a3FqQUhseDdJbXBEWGFJbzkzYVU5MDRldWlKZFgwTEYwS3lIZXJyNGpRandBanNNZ0xnbUVVeTRhZ052NG9ObWdTYlRKamlTYm4yVURLY1BPdGlRcUt0VlYzdEJZYmd5clZYbXBiK0hrejliSDFDNW9CTkRPZGlUZGNHMVIvZGFNcmlja09JYjVNcDg0TmJZeE5Jenorak15QkxrZnFKNXhFZ1htcXE3SThoc2x6U05lU3VJcW9ITHpkbDhpUEdPanJLbXdxVm11UWZmaDcrdlVTMmlmNGdUalhuRzFWT0dDeFJjdG1lQU1vMTQxN00wRklxaEVTb1BEa0RKS3BKdTByTlNZNCsvZENoMjZ3Q1pCVmdYeEhpazJvSkpXbjdqbGFNcmV1cjYwSjhzNUdaNlZDVHpYdEdnQkVZQmdRbTVRMjNjdjE3ZWhzekRkcVlNdFV1eU1uL1VjaysxNjY5Q0VYaXhyVy9UMHByajZSSWRtNVlHNmVhSUx0TE10SFNoR3VhNnoweDlZRU5XUU9zNFhFU0NQWWJxTTR4eFY5dmVyUUJxZUxHT3g2ZnN4TEtrczNMdFJtVE15M2tDazY1Zmg1TUxTNC8vcTdrOE5ydDFLeno0clYzbVVvSU5aZktEY241eDJzbXVxVENpS2tJZEdlbzZLaFliVUhNdjNyY001RHkzVlkzbkU1WkJvTWYrQW94OVpONmdlVnI5SGNNVVNGdnFGdys3NUQ0aDREb3BPZzhnaGpkeUxsanJZa0Niek1GcEtBWSt3cE93cFBmU2MwQWg3bGV3Qkd1TWxZcDkvN0xDVEFYYi84WkJhbmZvVlRNR3lQQUNBd1JBbUNqMzBsS0Qra29zNnRocUtwak5GUXIxY1Nsejc0dm5hQVdiVXg0dVgxVlBoT3Qwb3JWOEdLaXk3LzdpeDlhVitSQWxZT05tRHBadjdRRUM0VDRzbDkwcHhCdi9leURYMVRrbTlTVlRQd3V1VXJ2RmVKYmZ1Rk9aeExpek85ckpxVjNYaUpxd3ZZY0xZam83YXUyV1FVTkRvbTN6WlgveDVwNHZtbXo1VHVVc3FaK1JuUkE4ZGNpbUc5Sk9STmU5U0Jac1hmcGtJMkZCTFU5UzB5OStIRG4xd0hYbjhCUnMrVU54WWxpRW1lVWYzajlaR2NxU1hDYW91c0hLeWQ0OTFOR1FWdnJ3bXE4cXkreHI0Q3BUNGh2U1pJUDR0K2Jta1kzOWkyeDhaZEo4Z0gwSFRHMU9VSDZIZXBWNWlRandBZ01CUUkvSnNUcGxQaWg5M2JYNVVWWDZkZG9rcXZWejNibjFObDc3ejE3S2lXMk9IWDYxbnZ2T1hQS0JNakhhbFJQQmNpdXNVbEpwaDZ0aWRPZ3FSODBtV3IvbTdLZGlzaVRldWMwYVRpVCtreE5IMG54MXJhVDVPY2g1YXpZbVBLWSt0UlpXSFAyRkhqTWJKV25rZnBUS2Z5bGN5WlQ3aU9td29pTlZMeXMyWXVwai9obklvVUJqQVUzVjU1S3luWFJPWU5IeFQxbE9VT2hmM1JTMnZTelpNcGRuWitnSEl1bDE1U0tmUVhGMkZkb1lRdm5HblJBNkdnSm1rN1h4SGNsQVZNblhvZVNFdDRZQVVaZ3FCRDQvSFhwelN1YnNPaUI2OU5ieG51M0szM3k3czViZnFlZ25tVHFaUFNuMDlNM0xHV3JmUEQyOUtZZmFtWnovZVB5ajk2OThTby80L2h0Wnpwdm1XcUQ5d0FBSUFCSlJFRlVnUzhuVHIvNThkLzZ2UXkvK1JXVFA3eTdjelBXRHNJdFl1b0hyMDlQL3pCcVBYVHJpOS85Yno3YkRPdTdvOUd6QlVYMExyM3lKMnVkVy84eHFCQXp0UHlGMjlPYjMrQmtialVsbVRydTZIKzdMcjJKdlByYlcyOTQ5NC8vTTZPb3p3NDExWG5QQ0RBQ1Z3c0NpcW12Rm0rdnJKK0txYStzVHRiR0NEQUMreEVCWnVxZDYxVm02cDNEbGlVekFsY1hBc3pVTzlmZnpOUTdoeTFMWmdTdUxnU1lxWGV1djVtcGR3NWJsc3dJWEYwSU1GUHZYSDh6VSs4Y3RpeVpFYmk2RUdDbTNybitacWJlT1d4Wk1pTndkU0hBVEwxei9jMU12WFBZc21SRzRPcENnSmw2NS9xYm1Ycm5zR1hKak1EVmhRQ1lHdSs1NEcwbkVBQlR6K3lFWEpiSkNEQUNWeHNDZUZXRmZLdlMxZWIzbGZCM1diK0o2VXJvWWgyTUFDT3dueEhBZTkzY2k1UDNzNk83NE50MDhFNlVYVENBVlRJQ2pNQStRZUNJY08reTN5Y3VEWTBiRGZjNWhhR3hpUTFoQkJpQlBZZkE0YlhIUU5SaTQ0N0g5NXpwUTIvd205WkExRUxjc2pZejlLYXlnWXdBSXpEVUNMaTNSdysxbVh2U3VEcnhORzBYOTZUNWJEUWp3QWdNRFFLSEJMMDltbDQ2UFRRbTdSdEQ1QXU5NmNYY3pOVDdway9aR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tQi9JRkI2NFYvZGQvdVpjL3ZEbVozMVFrRzF1ck5LcFBTZis5eW5IcjNuTzY2QW9oMVc4ZURYdi9HbnJxK043N0NXNFJRdisvQ2wyMkRiOW9PNC9SSzN3VTBXMFFPQlpVRWJNM1VQbUtpNExhRmE3YVBtRnFzY2w0cWUzNktVSVdnK0tSMjVLcGw2VkxyKzVEWjB3dmFEdVAwU3Q4Rk5GdEVEQVdicUhnQzU0cmFjZktzdVk2ZFN6TlE3aGV5Vms4dE1mZVd3dmpvMGZXQ3RBUUl5TWZYeHhuZGZIVzV2eGtzRjFlcG1tc2JiL1BuR1RMU2dkTjlqNkpOZGpLbGY4UEtvWFFObmZ1SFJGSTRNSGxNWEFUT3dBYnZYUVBYaGRzVFVtd1d4MlBkUUlzLzVZcVNHcTZSY2QweTlMa1IxdUt3Ykttdkt1RzVjM1RhTFRnaXhVU1RzSTd2SjFLUGl1U0s3QnMybjBISmdwdTRHektBRzdHTDkrNFhZRHFaT2trMkIyTlZ4WHlMUCthNVFEVlBoZ21WcTZzQ25oc20wWWJObGZqdVplaGxvenhSNFdOcEZwaTZ2Yng5VEo3T2JZT3B1d0JUZ05Zelo1ZTFpNmsyQjJCMFIxeTA4NTdzak5VeWwxMWltUmpCVEhPWU5rOG03WmN2WWRqTDFPdEN1Rm5teWUweGRma2hzSTFOUGI0S3B1d0pUQk5nUTVxZmJGRk1ubXdHeE94NU9Jcy81N2tnTlUrbEJ5OVFId0IxaXQwMDdNdGlsZDJObFJ3ME94WTl0SjFOUEF1eUwxdmlNMjd2RzFPOGpzd2JyQXV0REpMRzhDYVlPZ1lrSTdUTXI3THMrRzIxanRkcDJNZlZtUU96dWg1TTRGSE8rdTdGY3FoRTRZcG1henErWGR4dVhnNFBSUkcxbm1Ub1VqOHVQMVczRFp4MW9uN2ZTTW02bnUzSkg4WXVQMUdEVWJqTjFDSXhGYU9CRTJIY0ROOTl5ZzhaZVlPcWhtUE5iaHZycUVPQ1lHcXVqNHA5MjIrbHJCbVBxZEdlWk9oUy9yVXc5RDdTbkxOb1p0M2VIcVlralgvYis3V1RxeWlaaTZoQVlpOURBaWJEdkJtNis1UWJieHRTYkFiRzc5VTdpVU16NTdzWnlxVWJBTVRVdGlKM2JiVnpHQm1OcXNiTk1IWXJmVnFZK0hOeHh5cmk5TzB6OXQyZmYvaU1KeHNOZ1hkQnR4RGhLNkZZckxBdUJDY3NHT1FyN2JwQ1cyMU4zVHpEMVVNejU3Y0Y3MzB2eG1IcmtrUi9lZFhmbkI2S0owczVPeDR6NGJXWHE1Tm9YZTJlWmpOdTd3OVN5ODNlZHFVTmdOajBnTTMyM2FUbWJicmczbUhvWTV2eW1JYjY2R25wTVBReU9Udy9FMUlkM2xxa3o0cmVYcVFPME0yNWYxVXdkQUxQcGcwemZiVnJPcGh2dURhYmV0SHZjOEVvak1HUk1YUitJcVEvdExGTm54TzhnVTJmY1pxYmU4alRJOU4yVzVRMHNnSmw2WU1pNFFUY0Vob3lwMDRHWStwcWRaZXFNK0IxazZvemJ6TlRkaG14ZlpabSs2NnZOdGxaaXB0NVdPRm5ZY0RIMWdQL0t2THl6VEowUnYzTk1uWFdibVhyTEV6UFRkMXVXTjdBQVp1cUJJZU1HM1JBWUxxWStJQWFLcVNkM2xxa3o0bmVPcWJOdU0xTjNHN0o5bFdYNnJxODIyMXFKbVhwYjRXUmh3OFhVbFlHWWVrVHNLRk5ueGU4Y1UyZmRacWJlNnNUTTl0MVc1UTNlbnBsNmNNeTRSUmNFaG91cGF3TXhOZjRUM252U3JZdVRteXZLaXQ4NXBzNjZ6VXk5dVI1enJiSjk1MHF1VklxWitrb2hmWlhvR1NxbVBqVFl2MTNVZDVhcHMrSjNqS2x6YmpOVGIzWDJaZnR1cS9JR2I4OU1QVGhtM0tJTEFuMHc5Ui9lOC9hNUxoSzJzUWp6YTRCMWFoRGNUc1RVeHQyYytCMWo2cHpiek5SOUQ2clJuNzcxNy9PVmMzMlhyN0xGbkxoZVQraStaR296Tnp3L09ka0RnZkluejNSdWVVT1BTdG5pMFhlYzZkejgyMEd1WmVwZi90enJINzNPKzBobjZVZlBDS25neDBDSUwwbVMwZ3ZmZU4vMVoyaTE0WXNROHUrTWtDRDcxdjlIWlk4K2xwNytwbkZUUmU3THI3dTc4MmJUS21qa1pQMHBOSFZqYXBndmJ2MUtrank4U2lLUDAvdUUzT3JIZzU5NzQ2UFhuMGIrdFdkdS9Ga3FsMXMvYW1YRnJMdFo4YWlrbWZyemQzdnVLeTBELzVaZitHZjMzV1krTlp4M1d6RjFCTVdjb2swTmc1d1VMd1Bqb2FnTHlyLzBaLy81dHJ1clNUTHlkNmUrcVduYlBIQjdlbE9tczBmZWNmZkdEZWovaW5udkIzMEI5anJxSEJwSGZ3WFhxekt0Zmg2NHJkWjV1eDdLUGpBLzkvdWZldVNlYjBlZDQzK1hHMDd2dXk3ZGVFMHpTUTVqRUhUQ2tVWU53cUdoMUpSZmQ0OGJnU3JML3ZidFdsWnZzV01CVTJjblhueXdXbk5rSWdlaXpBMEd0R3BRZnQxMTRxWXZOZFdCK24zZzlscTJUMUNRaytqTitZSXBLY1hsNW9hdml0UGRFVGcrS2NRWklYNnd1TlpkbHhlemhVZFQwY0VZL2k0LzN6SjFDdDd6WHY4MUFnWFlYcHQ4VEh5bFhNTTc5dHJ5R016NGtPaWtRbnlmRmhMTHh2UTVoUW1FdW5ZYm5SUWQyUHU5S2lQV0tIbmYzMGtOOHVjSjI5QkxmRHdWYjNuME92RXZqb3NKVFBnMzBXelVHMDNWT3FYeEdaV1B3RHlydWcrMVNrSFczWng0VkZOTWZXZmd2bXFkL3ozYU9YM3J2ZmVlUFNYR2oxUHFuak9uNkFzZ3JWTm43NzMzVExwRW9yQ2RvM1l4dHlWVEgwNEp4UTBmeFp5ZTNzTWcxNlJIUmhlbXBrQlZpR3FDajkrY0VzU2djdnUwRUtkVHNiRm9qckgvY0VxRGMyUEtNclg2TnFUNnhzMnlsSExTVmY4VG1TRytRZVo0d0toR09HMGN5d1B4UDhnMlR6YkxqZWVYUHVxOWsxREtpUFVkT0wwaEJJYk15NXBPczB2MTYxcFdieGZIZktiT1RidzYyWjhkck00Y1N1VkFsTVhoZ0paWk5BYXdYUnFYUi9MbkxnakhCSFFCaTh6TlMweXBvZm8wVFp1U0ZQaUUwNXNhWnVlR0ZNWS8vU0Z3UEJYZk9wZDh3bjhkVzZZaHh0NmxUTmJ4OU1uL0kwaytJTndzUTRVaXBxNkxKNyt1L0xWQy9HNzY1UVF2eldsYXBuNS9CNUV4d3NCelNycnBZUys3UFBuOGVETGE4UFdYSnNWVGM4a0RxZmhPMlNyU0tLR1h4ZGd0eHRUSEJjUW15U2ZTR2sxTjJPUTJ5cS9UNFVZeWtyNnRPU2wwKzM3VUtqZXk3dWJFbzVwa2FzOVAxVEwrZTlRWU42NG1zNW9RTFpVYk1IWE1iV0xxVXVObDR4UWNkdnZHVSs5aEVMZXVTMjRmVFAyQ3kzK0o5eG9UNXRoK1hvaDNKZVU3eFlZK1J0YkhoWGpiWERKYXY5U3M2R3BkQ0MzNW40UjQ2OWM5K0ZjTjhjMGtMc0xVRVNBd3VGL1YvT1c2ZVBiaDU1c1lOODlRUzdmRitpNFpyWW1mYUNhL2lqYXVva3NacHU3aFdrNXZGOGNhcnVmeUU2OU9BeUV6V0owMWxNcURTTG1aQVUxWkl3MXgrZGQvNVVQL1VWeHEwaUZ0bnhHWDM1Q1UvMThoRnRXeCtvMUlUTW1Na0trajR6czdOM3lobk82T0FEcE14alR2ZDZNaDI2Q05QcGdLTTJjeHJMRjlKSGpOc21YcVR6MWlldzJWM3F1dUtTdnlXdmlvRUhQSkJ4NXRvTUpLQ2N5TnJXSGVvQnpKZm8vVWc4bDhqbXJLYlZvODJVUUNyOE5kb2VOSW95VDUvTm9hVExpMFJwdlVRVFc5YmZieW5EekNkRG1Qejh1aEZvS0pHNmoyV2hNRjhrdWVHOG1GWnhPWXE5K3ozWTlhS1RQbmJrNDhxaEZUWjkyWHJTTS9veEl0c1hISDNNaHRkd00zY2VPWFVPdlRLU1Z2bVV1TzNVZUIwRGxxK1BtSTI4VFVDa1YwenlyVmltNTlESU5vdTI2WlhaajYrSDJ2aHRIVmNycElYNHhDSDJBREs3Nlc5dDQzdlVaVDhTOHBxOVI0ZVVVemRlaytHbHdxcGxhZkRqNUpOV2pEa1BpL2FGOXVkZWF3ODRBcDNYYzdHajBYQWFKVW8rVzRaQVRGS3dsc2Vab0V1QzNXZDBsZEJRbGx2WGUxWmFvLzEvSjZ1emptTVhWKzRzVUdhMkJTQkVRcXp3eG95bG9YbDVkby93bnhjdHBoTzZSUG0vZjdwODhrSnRHYjg5RXBLY1hsNW9iTTVaKytFSmpXSjlCeXF1ZnhrWFBaZHNRRUUwR21mV2ROM1JBWkZWdW1UcEw3emZrVjh5WlYvWTd2ckoybktTR1pyOVRBekxpQXkxRnNDemFvd293TXNwZks2UlRWd0lma3ZrcDcybzZaYndiYUNaMXBOSzdxWWQ0cjhlb3crRDBzcXZxNHJsbUNvbkRNVkx0aExHNGtreXZKUWJndU0vdFZHM2MzSzE0eTlYdHk3bHYxMlVRZDNLVDhtaFVta3FOd1Q2MVlsVkY4VGpmSnVRMm1McVhTTmFBWXU3NVFEZnNZQmxtamVoNTNZV3EwZlJoTWZRQVExTXdIYTFwQ2ZYclRuSU5ScDJVdXBvNTIwRUVLZ1FTTGFKcXBNVEltaFRocERKazB3VWE1OFFxWjV3TkRMOHN1NTRHNElDU3JKOHR5WEZiTWNEQWlhUS9ORWorVDl6R2pCbGd2bWN4ZzM0ZHJVYjFGamptbWprNjgzR0FOakNrQU1UK2drd04yR0gyczA1UXl5ZzB6c0tiZERDenFGbS9PeDZka3dkd0lyZVdqQWdRUU5KNVRSVzNOYkpYejJhbzFjRUkxeUp5Ly9OdnFHRXkyYWtzOHBnWXJtRXR0VkptU1Zlb3k2MzllbEFjVkRQL0dra3dpc0szS0JINHkyZVpMVTNYUk1UWFdqV0JvbTFPWm1VWXFNMGRaUmdEMkMzYUdIVFJUTXpzZFo4WEdZUkFIWFVFM3FXVy9hb25icDZnQklpOUNRTHViRlU4eGRXMkpxaUZzY2U3TGpNZ1BoT29QTXlCVjFSWGFoclBwWEtjN2tRTFQ1d0lCWU9xRCtqUlh0d1FYMUtDRGZvWkJybEd2RFBSUWFFdlFBQ3FyMHpOSmtncTE1QUNDMWs0MFRHVHJzb0MvWTJxYzgxVk1EWG56anFuZDhQdmFWQTgrRHhoRXpjOGR5UU5SMDhDaUY2Qjk1TjJCaWVvZzAzZUloZzNZYmRNcm1WWjl1QmJWVytCWTRwZzZQdkd5Z3pVd3B3REV5SUMyYWtaZXJWMThyNWxzeVhFenJDRzdRS0kzNTdQeldCc1VueHVCdFh4UWhJRHRNS0tZSnRXYW5hRmZmNnRqbGt6NEdUUnZWbVFHeHBhYmpHNnEwUHd6VE4weUxGdnhRNUF4SWY1YUwvTkJ4dE5HZWlhYlpqSnRiVHROTVdLcU1vc3VXTStyVkthUnlzeFJsc3FXdjdQMkc0K0hqWXhwNDVHdTFoWWJDMVZKbzVJVStsYUxDRWFmVkFKM3MrTEIxUDhRY2Qrek1VakNHUlZ2MG93NXFZdXVzU2RKU0RQa2tYTWJUTjFhVkMyVzdia3RFRTRIZlF5RDhndi91R2lieThtVEdkMlpHcDY4a3JDdDZ4NEY0bHBNeFZ5b3RVd2lvWGpQeHRTSng5VG9lNE5IM1FpQVpEV1U2VVJyZ0VHajU5bzVJQkJacXVZWVRackdjNzVrK3U2Z1VTUFBiMHU1NnNqbzdWcUIzcmhqSGxPdm0yRWFURHhBNXcvVzBLUTRpREN4cXVyWmVlUkNoclkrZWVKNlIxZWloU0dMVDF5aVArY1RkRXRrZXNmblJtZ3VIOFVSUU8rYzF5VVlQSElnNjFEUHE3K01rYi9rSGJzNGlCYVo5VG91eW4ybXJobW14cG4yZWRVVzA2WnFwYUFyNzlSSHFLRkpLNkVlOXJLZk9xM3JMNWdsajJUZUROVWttVFFSVGRoSXk4cFJsbFdOQzI1bnMzRi8yc21WRlpmRlJtc0ZDNlI2QXZldHRzRGRySGhnOGVxSSs1Nk5ZZEpONGRRdVlSelFkSlRRU2ZhY3JwOXpHNmRNRDBYWnc2Rm9PdXBuR0Z6QUtDalliUGVGa3Jzek5iam1lNTlEZzNrMXVJQTBIZEVHVnA2aXZYOEtCNjVScGdhUUo2bXVYT2JXaXp1QVF3Y1NIakJnNm4vS0E0R0J0U3BiSjZrallKVmhmek45VjNkeEJaanNGYmFhbCtqdFdvRmUxODEwa3RHTzBTUXpZVTlxT0JSNWJoQm5CcXRuU1NHSVFIMUYxelB6Q0g2T3E2eWE3Z3NNaXprajdLRFFLeUxGM1dMbmZIWWU2L0ZSTURlTUJ0NTNRMkRXOVFXbUNnMk5FYnZPWU51QnczVkVaN0l3RmZUVmVNc0pDSmphRGk1UWg2NktmcmV4TXcxRSt4MVJ5K1Z5dGNITHRuTjN6RkpSdzAyb3RrbEdaZVVveTloT3k5NXVrRStlVi9rWXBpdXVCaTNEYkp5aDR3Ky9aWngyZzZpTnVac1ZENU90UHM5OVVoWGQ2aGJtZGRzWEIyMm5lS2ZJbk51cFkwQ2d1QnFWVG5mMTVuUko0VEJZaHNrRlcvYkpJQzJxTzFNamxqdDdFalZMajcySzZxTnlsZmJZVEx5M1lIc2RtWFhMSTRrZlU0T0xTUWkyZVh2aGgzWXE2QWhHWkNvMnpLbGd6QUl4YlMvcUlkOUFvT1RaWDlSWnNRY0pBSjZ3UjlQZVNMS1o4djVrRDljSzlBb3pwT1haVnp2bU16VThpMHk4ekdEMUxKRjNnYzdaRERnNXJnN3lBeG9kci91UnpvcVNYSEh6d2phRjMrZlZ3VUpSdDlnNW41M0hPbFNEaU5qY3NDbzRVWXdBVHY0YU85UkpKVEVlMWJENmphNjlZY2svcEtsaXd1Q0tIZXBoVEcxN0RRR1NuaUJZdlhQQkY2aktYT3hDc1IwUVliYVpoTVRyYXBoZ0Vsc1pZMmJZaFkyMExBd0xNekZEMitWRXNsbXpldmlGMDVHWTJqSWk2dmF2dHNEZHJQaW95ZGFvZktJdHhJektiWnZWbFdUZW52ZDZNSFZWeTRQU0NaME1kMzBOZzBPcEtOcms4eG1oU0RycXlkVEdKNm9NRHhkcFQ1dSs5Ymx1T3BqeVpyMkQxSTBkeDlTVEtqWkgxVEhZdVVKdE1reHRUd1VPQ0RSU05VbSsxUy9iMnA5cFc0ZXlGdnlqTWYvQU5xQ0Z1UjZ1VGRxR3M3N2VxR01acHRianYrSk5QS1R0V2R0Wm9WTHJIbTRPeE1pQXhzZzE2eHN3bitZT0dOdWJRdllnTGhIMTdaeVhUSjJmM2dWekkyc3hIMGNRbUxjUkNRb241VExGTmFhN0l0VnRWczMyNm9JTlQ4SjVZWHNOVTBsTFJHaHVMdUprVjlyQlZYT1JDZWFRbDIxRFFBaXBTdVdZL1BiNUJYVDhxc3dNRytsNHVUdFQyMGs1ZlY2S3lOM2d4K0MzaXFSbjlxaTcyZ0ozcCszTVZPcWlKcXVpNk8rWUFZQnVFWXlyS2kxdGVnQjh6dTNVa1Fac3MwMENMWnNkQm9HUS9FRnZwdGFlVU5PRzljdU1SQVI1N3RvbmFYbmxNVUlET3hwdVFBL3ArTmc3aFNFZXNPenBnS2haZW9mOGMza1hLQ2ZzdTFuOU1KQ3NpOHZFcWt5RVA4VFVYVjJqQjE2V1ZKdEFiOHd4VkxPVGlkcnAyYlJnUmovS0s4RmdWWEwxYndHSWtYa0VJVlhkYUZKZC9TSzB1dWlFMVRXK0JSSlIwWmxKb1pVM2ozVTNBdllZRlRnVm5DcEVvQ0hFbEMyY2xkSGE4a21iVVp4bzIraHN6QnZnL3J5d3ZZWUttdVJBSW03bW9TdDFyOUZ6V21hT1VROTcyU2Jlb2RoSW1iVnNFckFOQSttOE5ERnNwR1hsS010NTQ4Y0t5K2RVL25TR1NqRnVQU0Q2VjF2Z2JsWjgxR1JuWVM2RjIrMGF4ZFRPME5xVXFlWUJuM01iOVpkMFBjeVVxbWtTN0J1YkhBYUJrUHdCekhvdW4ydHlRR2ZlUWh2Q2VuYzBLd2NLYU5ET2Rub3l6SkZmak5CUTIxd05sbEp6cGVnQlEweTlwSFU3SUlTVmloNVNvOG5ZWi9kQjMySHN1RUZNajR5NmExTGJnR0pxNXd5dDY3b2o1UnBkbEk2citvSGVtR09vWmlkVDBvNU92RW93V0owZFNCV0F1T3kxMFBPb2JnZFc4aDQxSGhZQ1NGcDZrQlJJRE16TXpHTTlKY2ZzSUE2b0lMQ1hENklJQkdPSTVzSWM0cG5GYU5Vdzgzamp1M1VHMEo4d1pmNjhzSU9yb0h0QVZjK1lkaUZUZTlsMjVSQ1NUOHJhNjU0NlhNRmRsSmxSV1RuS010cXdUNFV3L3c4ejJsVDUwM21tbmxBbDlOdS8yZ0ozcytLakpqdDl1UlI2U3ZFUUVocUtrcjJoNkYvazU5eUdyMDB0emhGVUtIL1R3eUFVa3p2cXlkUjIwVXMrK2VXTzJqSnVCWlQyck4yYnFWSGJrdWJoeDhlVk1mNklqQUlCTkhWVjlORDVuQWN5SStnNzRHdE9DQ2dFSlh1OGJac2oyemxERDdXNUkrWGFwcGs2UHZFcTNxeXdScWhFQVlqclhnczlqd0RGbEduOEp2enZzTHlZV0RVNU1uQ1hBQlZJUkVVNzUrVWxzemVQbWFrZGpKdExZZXJxVlM5cWowRzBoSWNkbWdQSlFyOU5tQWIrdkxDOUJoMTZ2bVZYUHk2YWRpRlRlOW4yWVRyTDFLazc4Vk9zb3VKTTBKN1hxSGRNVGN0MTlQL0EvamFkWitwVlY5Ni8yZ0ozcytLakpqdDkrVlNxNDdKRFQ5VTBua2ZkOVBlQWp6RzFrUWJicWlidDc3ZGhHUGppYkJwbWRZK3BQYzRESU81b1dmSW5mdTFzNzgzVUdMMVBXODBtNFFGRHAyZVQ3WUNvMlVDNzVWMGNtbnBxSC9RZFZsYnNDVUd1NU1ibUM1amFPVVB4cFR0U3JtMTY5Y05aTnVaTnZJbzNLMXdObVlLK0dJZ0FZOVhVVlBNSWZHMERJMTB5NlhHM1hLQ1hrZ29rb28yZDg1S3A4MU1Tc01lb3dOakIrMklFcG9QUmpTNVlTVTY0UVZYY3ppc1o4d2FNUHk5c3IyRm82K21LcXl4M05ZdmhlOUtJQ1puYXk3WlRDNUpsTnRiSTNIMGZ6QWZWOFZGWk9jb3kyckJmZ0JpeDhacHhMd3RRckhpSFNjVWZwUU9vTFhBM0t6NXFzcTgvbTE3WGxETDJkRXV2OWwvaldOQURQdWUyb1hnSWRBUVZTb2R4SHNrdGIyWVloQUwxRWN4eU51WnFvUHM4enB2M2d3YUF2eVF2WkM2NlZpMGIvZEkxa1Q0ZGU0OUlBQ0N2dHJQZ25CRVJCV0xTZHZ1c1c4WTJMZlIrMnRaQnhsaGdOY1hHd2JCUlRYcTZobnRDcGwyZ04rWVlSTnJKcEMyaUhReVpNSWZBYThxa00vdjFBQllEWW1SQUkvSzMwMDNMUUk0bkZncGxiOFlsVWhQUHpPajRMcGdiV2h2dnVpQlFFNkxxaXBlcFkrYTlPZXVLQ2xJLzkyZjMxYjBCNHhHRzZ6VjNsOW10dFVJY3VySnFwTmJjT2w1Qk5pVExhUWdlTWlQY3V6VWRiWlNqTEtNTmV4SkQyLzg1YmpPblBjR1VXZkdQQjFCYjRHNVdmTlJrYTB3a0FYc2s1N1NyODNwR1ZTUWlzcW9IZk03dGdzbnZxOWpxTVBCbCtXbVkxWjJwdlZJQTVJNFdKUGloV2EwZVRJM2FKMzNsTXUwQmswU0JhTnN6LzdvblA1UXo3UStGWmQ5T3VZNG11eVZzQWFaMnp0QWRTWGUwb0lRVjZJM2FHRkNnVXBTWmVCWGZ3dENVbWhCVmwyTkFqQXhvbk1iZGFycHNRUXR0SzY0dGhxeDhJQ0F1a2VxRlRGMDFUZTMwTHBnYnBoN3ZDeEdnTSt1TUswVi9MeWIxVlpmUlBWVjZVd1B0c1UyWWV2NjhjTDFtVitrd0ZxcW02aWFaR2dzbzR1WnYxTnYxSnJ5SjBsNk9zcXhxSkZwa056YjNIbEJNSjI5VVNxWmVzaTBHVUlzb1M2OUtCTzVteFVkTnR2b2lDVWk3U05tVGkwQlpXcnAremxiemdNKzVYVEQ1YlZ2NTN6MWJHQWFlb0d3U1pqbUt5aGJTR3ErNkpKSWxMWFNHNmRodmJNaGdMZzFXamxGaDNNaUkrU1Q4MFdVcWVzQWtzVVplWk9wZDJKbldlaC8wSFE0OHEya1Y0M3ltT2c1N3VsYWtOMnBqUUlHUW5wOTRGWDNCbGJjRVh2c0dHaEFqQTNvTUhSQzJ4MUNpU3h1ellRVEtOZm00UktybDVuekI5STdQRGFPQTk0VUlVSC9aMFMvSmFXWWt1MVpWMlBod1E0aVgvcWZQb29NblRCMS9YcmhlYTVtcnFubS80d3VvcWlBYmtpK1NGaXlnQk50THBPcG9JNHl6WXBvNG5tb3hsNXRTUXZaUnJBeFRENkNXVGdKSzVMenZMaWI0aXRZa2QxR1QvUXJaTkV3Z2Q4cGlEbzVOVUdtNlJMOXk4NERQdVYwdytVMVQ3TGMwRER3NXVTVE1LdTZDREozTjZnN1JPM3FqUDVJVFRtYkxHNnN4bjFEN3ZLdXRVeDR3U2F3UitTNEhsdjFuMUp5SXpOQ0FuUm1tcnVhYmhFd2RjYTFJYjlUR2dBSnhRZGpJVGJ5S1A5UkNjd0RMaE10cGFSQWpBM29zZDNPVUtpMjV0bUJxU2VWeGlWVFB6ZmtDcG9aNkpXOCtrT3gwY0NxT0FMRDNMM2dxaUxBUHVKWGtlQnVUKzJ2b3Q5L0dBVHA0d3VUNTg4TDFHclFzeWhydTNSSTRMS0NxZ214SWxoTUtUd2o1NXhhdE9Ob29SMW5HU3JtL0g0TGtwcmcrTXgxUnBlSXJHa0J0RW5kM2VxdE1qZXNmdXZZOGZKbitINEh1N0l4NlhlY0JuM083WVBKTEZOVFBWb2FCSnlhZmhGbmRtVm8vZUVndDYrYjJzQlZEVjN3VDlvak9nT1BtS09KVHByYXU2UUVUWjJvRXhlcWVPcGJtemhueG1YM1FkK3VoblRYRDlFRWJNSFZYMTFBNXJqZmlHQWwya3lsSlloTXZHS3lCSlJsWURJaVJBVDF2QTE0akFKQTR5T1VkQWVMWkFvblV5RE16T2lVTDVvYlJ4L3RDQkJiQ3prRmZ6VXhYQzJzSEJZaEZMcTlRenBnM25meDU0WHF0SEx6MTFFaUpkMlVSZ1VQeTlqSjE4b2xKakVQYTlQU2Z6bEJweFpiQTRzakFSbTdjaGJpN1dmSHh0Z2FjMkw0aG43WTdncHR3NmowTmg1NTN0VHpnTjhIVUM1c2ZCczZFV0FwbURUMVRoMjhmalhrUi91ZExQU0JoV3YyUUF6TnMyQWRUeC9YMlp1cm94QXNHYTJCS0FhOUdCdlI4T0FvZ0pWTUpKL1N0TW5WOGJnUUc4MEVNQVhTdzk1QmVncjU2bDMrNUUydWk4MG9Oc0xwTWovVms2cVF0TnBxbzJ4WjJxUUZIQlZSVmtHMlltaTdJTkxWSzdlb24yaWhIV1Y0RG1YemY5ME9ZRUZXVm42WFNpcTlvQUxYa1o4VGRyUGlveVZrTGcrT1dYTHRkUURnTklGRXk1a1Z0VzJOcXVMckpZUkFZbUQ4WWhLbG5Rd1lrWWVpY0NTY1UvdHVlanhFYWFwOTN0WFhLQTZZZ3BzWmRybGVpTW5ZL21XdXRNNEsrV3c5WFA5TFlmVXhhMlBGNkorS2FldDFlWG0vTU1kUnlZVTk4NGxVOGJESmVBSllKbDlYU0ZTTURlaXkzK2tFeDlaSnJpeUVyTCtQaUVxbWVNN05vZWtmbmhsUEJxUUlFMnVHb214ZmlwOTIvZXhlMFVkbjRKeWE5V29jT25qQlYvWG5oOVZwYUYwL05sVDl0dUYzVkxxQ3FnbXhJbHFFTExha3VHWFYySDIzVWs2bVQ1RDlnMnBrSEI2ZTd4ZFFEcU1YNmNjemRyUGlveWRhaFdHSkJBdDJha0pjeFRmRDFTVmZMQXo3bmRzSGtkNDNCL0tZelplWUF3OEFURWt2Q3JMNWo2bFpvQklsRDUwdzRzYWpRaTZtcnJyWk9lY0FVTVBVMVQ5SW53WDRWWDN6TE5UWVpRZC9CRE44bjJGZzE5ZHcrWkdvMDhaZTJWYlc0M29MT2NwTXBQdkVxSGpiT0NwbUNnUk11QzZaSUVDTURla3hrN3loU3BSWFgxbFNJUzZSNnpzd2lwbzdPRGFlQ1V3VUlvTjh1ZWtYZ2dyVHFIUmNuY1JWakNCUDlOMkVxK3ZQQzlkcXhwMFltMGJ2bUF5VzZjZ0ZWRldSRHNyUVVvWStZTXVyc1B0cklVbGIrZmR1MllYSW41S21qYVQwcWorb1pXL0VIL3dCcWs3aTdXZkZSazUxZGtkUUJ1VHhOTHhyRVZla2kxa0JtWENVUCtKemJCWlBmTmFZVjRMNkd3VGEvbnpxa3M3WjVrTWNaVmd0WUVGYU9tN0tZVDZoOTBwVGJ2UWRNQVZPM1p2U1haK2RzbzJ3aTZEc2NaSmg2SWx0ZlB2dmh4ZFFSMS9EMFVWUnZ6REdJdDVPcFlPSlZQR3d5MXNSQmpBem9nK0ZOSzRqQlVNb3d0WHlxS1M2UjFGb3ppeTZaNDNNall6RWY1aEZZRDZhQy9IOFFPeG55dGIwY3NJYTVYaDdyeWRUWFBKT1VmcVBXdWVVTm5vQ2lyaXc2Rnh1bXBtVzN4VUFPSFVScEwwZFpybG41WlRaZE44dy8zWTJwQjFDYnhOM05pbythYksyS0plRFBzN2lkZzZKUnVzN0hReUN1bGtkSU9iY0xKcjlyVFA4cVgvVU9GNEJ4YkJoY1FIN0JaZ2Fab1d3ZUFBQVMxVWxFUVZTREo0V1NNTXRudFV4cHlOVHpia2laZXZXQWUxdWVWVEdmVVB1aWFXbjNIakJKckJHdWdKckpCNjhUcDEvVHRHMXlpYUR2S3VFWlJYai82K2NhOW5TdFNHL2NSa2VCQlJNUFJzVjZqQXdDTENlZFlTMWRNVEtnYVZYYVZhUVV2UEREb2pIOXI1WnhpZFNnSjFQSDV3WTE1YTByQXJQaDBoNm1hUEVsWUNDbzRyb2YvVGNCOGxpaWNuOWV1RjZyZUNPRmFxbXRnS29Lc2lGWlRjTmE3Qlo5dEZHT3NveG1Hb0kyamZHNUtnK211ekUxM1RnNlo5dVlSRlJ0RW5jM0t6N2Uxa2lPN2VXcmdZN0sxYWxVUEowYzloOSs5WURQdVYwdytUMFZzLzBOZzJWTTNJSk5QMEh1eVpSSm1OVTNVeU9reTY2OHRVMm5TMkV0ajQyOFo1OEJwQnBmcU8zRnNkb1VENWc0VTBmZXhwNzF3dDVSbEpkYjBPZE5FbUs4cFZ5RHpEcDF4TFhZVytCSlRNd3haTnZKVkRIZW1sdjVhdUloZXp4dmhjd0JMR3JteUtPV3FaZ2YwQlJtWjRTa3dZTGx2RjdFYWNjbCttWVdCRThGYzZQQWNzNTJDTFJDL2hrTFl5dFhMNWVhZEpFdEdrM2dtYllxMWZIbmhSMWNTVXVXVWJtL0ZWQlZRVFlrcS9FMkc3TXgyaWhIV1U3N3FEZTdVcjE0TTkyVnFmdFhXK0J1Vm56VVpHZGhMRlhIZXhuVUZ4SHBZd0pIL0RqV0F6N25kbSttN25NWUhFcEYwYmJaOTFONzFJcDdYUDY1aHdCWUNMZ1hWbG9pOFFodHpIQVhhdnVRS0FROVlPSk1mU3lyTklKODBIZTR6ZWFkbDBCdjNzT1N0bTBZVTBkY1N3cjB4aHlEVkR1Wkp1TVRyK0poWTQxUUNjRGlvV3hCbk0zTkkwUUMyY3ZWZGU5NkdUZEdOTklGRW4wemk1ZzZUZ1VaaS9rd2o4QzBDU2hWMFZoNG1LOXZjaWlTbU5NSDZMZUo3a3k5cmpqV05OYjdBcW9xeUxaTVBSKzhjR2JrdFZKYXRGR09zcHdCb3pxT3BweFpVWlVGd0dLRkV0RjE2cVIvdFVuYzNhejRxTW5Ta01JZnpKUkZGYkJYUUdvTFQzc1ZQVUxLdWQyYnFXSGJxaWRzTER6MFNnWk53cXpuaXR1RWRFWmpxdWtxZnkzU2FPNXhiOHRqbzRaamRmVE1TZGtNdFQwS0hmbXl5VHhuaEVhQk9PRXVyMHk5M0Q3b095dzllZHdNRXM1ZUNWRHpucTdoL1hvNU5aUVJjMHhtS3kxRkU2L2lZWk9SV3dBaVlIdkcxWlR6cUJIdzhyWE5CTjlyMTlqS21yTTZyaXVRaURyMmhGTEUxUEc1NGV6Z1ZBRUM2SzVWcndoVGRNWTdMRTVpdE5xQlZ1bkoxSFdmVTZ6UUFxb3F5TWJvdUNpYllyWENlNjJQL3RaMHRCSENIVVVUOVVXclZDZEd2UUhZMXM5MnRUVlRIOUxrQUwvR1hidisxU1p4ZDdQaW95WTdmYkVVdXFlNnZrb2xCMkZiNjd4WEIvQ2MwNGM1dDZNRTViVk5rdmxORG9OQVNPd0FadlhOMUVrOVdCUnRMTW4xZUk4R1FSUzJReVlkVTA4Yk52RUhKU0JTVDF0NHdNUmo2a00yNUlnNW9QTEN2bXY0WnhUSWo0M3VrS2tqcnVHdThGeE1ZY3d4MURNVTZQdFk4U1llMGhhYmpGZzBpWUVZR2RETFpvNUpDZlExVlhqbjBUa2NsellYU1BUTVJESSt2dU56UStyam4yNElBTTRKcnh4VU1PTWRlc2xyYndnR0F1STJHMWUwdkFIanp3c3p1UEJLTkcra09KbnhyaXpvWVJvekYyVmJSQlhlOVdwRlpVWmxZYllvVG0rc09LMHFOZXBkRU01cmpzTmduNkxTSTVwYndzSGZ2OW9DZDdQaW95YURuQjc1MThyRXlDOG0xeE9wN0FkRWNqT05LYStLQjN6TzdkNU0zZmN3OERUMmxZUlovVFAxUEU1RVZxcTZrOUR3U1hIZFl5T1AwT3FHcVVGbjN0WDdzaG9aSGpCeHBqNWhUM0ZXZHk1UkNZWUdDRzNSVnBrUFQzSW1QOFBVcUZVMVJmb21TWUhlcUdPT3FZc21IaXlVQThNcThSS05LSWlSQVEyc2RKU0MxcU1VaW9HVFhRNWFQSy9FeGlXaXpNMzVnbmtjcHdJbGxYKzdJSUExdDZvckxxTUhWdDJobDhLRGxVOTVoL0pGRWVZWWpTYTZyMzYwL0VkOVRMT0NyaXpLeGloU1U0OGVWRml5UWliUHlXU1U5akN5bE5HMTNDQWVOV01PclN0NjNzM3IwOVJCdmFwWENRZC8zMnJ4ek51S3RjOGxzdUtqSnNzWGZjNjRSbUVLOCtheU9rSEN0WmY3U3dWMElsTkl5SC8yRGQzdXpkVDlEb1BRbkQ2T1lGYi9UQTByVkJ4TWdnL0lzenY2WU5HcVNiME9VVjhua2tYQ01qVnFuN1MxNndvUEQ1ZzRVeC9yWnFHV05oOE1EVHgrNGRUTStqUm9sV2RXUCtoVEFsblhDdlJHSFhNVVNFODRHeTBOYitMQjlYR1RuOTJqYk5IbXBiWmlma0RqOUdManIrU1E3SUJKTHdmaGdRNndDeVE2TTZFdVByN2pjOE5heDRraUJERGpMN3F5RndnMzMxMHVwWlpSc3VSbDBXM2lPWFU4ZWxrK09OQ2VvRU4vWHJqejY3eDRTbGRXVGRSdnZDc0xlcGdrYTB0eDVYL2V5REd2azRyTFN2VzZaY0Jwc2lrNHIybGt0TFVua0RGQmVXTnVPQzdSc2Q3NlYxdm83Z1NKTXVMakpzT3dMc3lSbW5NUGdwZkwzcHBzQ0h6VzdkNU0zZTh3MEZEMHYwT3ZlVXRWMlhaZ0JzZGZLUFMrcHBsVTVKb0N5T0drYVlXMEc0TnRTMWpIT25aa29JYU5BRWMwYy9rak1nb0VmSCtYVVZHMEQ0ZEdPWFZPb1hYMFZOVGJ0UUs5VWNjY0JSWk52SXFIVGRhTEFoQWpBeHFublVYVHVpSURsZ3Y2YW9KeTUvWHlvSHhOV3J4YjNKd3ZtTWZ4dVdGMDhyNFlnVWx2cmh3VFA2Tkk4RFc1K25XaGFVeVhZSmlaUGozNFBYSTJ0VmFwQ0VQYXNxZ2hERWtqbmJObjc3MzN6WGY4K3prdEFMc3hieGFtN3RRZFp0c0FBdVBxb21wYlNsMThmMEZIK21FakV4aXNLNm1qM21xSlZnOUNQR2NzcWV1dkt5SHVPVWw1eTFWVnNod08vdjdWZ2h3aTdtYkZ4MDNHQWtmMGEwL0twSFc3S05yS01JVGhFcXFYZGR1TGxGQk4rcWpFdWQ4K2g0RnIwR2NLdldhNU05OEV2UkF3TmY3OWJrYlhLcWNxcGI3QkxEUGJnR1pGRjlOVElVMlZ2dkIyT3pMbzdmemp1c1pCdmVMbUF4TUhvaUhFNmJPMzNudnZpeC8vQ3lNOXU4LzBYY1dHS1JSQXpHUnIwM0VmcnNYMXhoM0Q1WUFhcFVVVGJ6a2NyS0ZKY1JCTCtYbUVxd1g3bUVqdEhBbkJHVWVlTWluZGNQTXVMaEhQaUx0N3VtUGVVSFBUT3o0M1NEcHYzUkc0NEtBZGFYd2JudE9wNGorVGdtaE50cTlobHFERWJYVjdKVFM1SWo4VzFWaWlRblJQbGZhME9jcEJkOXZ0ZjFPRitGMXdNNHorYmJpcEN3cXlJZGtNbVdVM1l4dm5WYXQ0STFSY1F2a2hUZWRhQWUwd2tVeXNOMkxZd2t5dStveXFPTzJGRTVUVHQ5cTR1MW54Y1pOQmJZNEdsQjNlYjhYQzY3ZW1DbVBlS1JLR0xpSEx1RTBQWDFFVjJsQk5YekdvWS9QYjV6QXcxZnZlUTU5ZTJvdzF3YUtyNlFWWkRJaE1nSHBFbno0L2F2dTZKRktQRlhGRzA2eGR2OWFORE5SK3BWWlVmNFZLZU1BVUFBRlF6WFpKeTh3YW0razdCTFpWWFdYV3Yxdm5OZXZEdGJqZXVHT1lJRHJjcU5zZURDYmVkR2F3ZXFZa1NRR0l5eGJEUk0ramNrMXNORlhUUXgyVmFCdkY5TDVoU2Q1VVhpRFJtL01GMHpzK041UksvdTJHQUFhZEhwMmxPcUtRU2FKRDc2TlBwdWtreHZLRU9hQTl3aC9WcHg5NUtxSE9QSzRHVXN2Tk5mL0ZBck5vYnJhWEdUSElmRmFucWU2cVRtZXlaM1IyUzlnNU1XS0RnWSthY1pWcHBHVWhSSmhBOC9rOE9XSHFHYjgvYW9PaVNYbldNcCtSTERlRStEYXRYTzc2VmlzLzBnZ0ZjclB1QWxzNkF4cnhWQ25pUGt5MlZ5dStjcFUrYU10UXowNGJLbXQ1NFduR2Jjd3djLzFEMWFMTTJlY3d5RnZVUFdka0VycmZVRmpuWXdoeWwveFNMTC9OeU9OeVRUTXVla0dUK2NQUEE3R1htTnFZOGVkbCtzVHpDSGd2TlhVK2xsWG5WRGE5M3BvMkQ1Z0NJQ2piYkowWjJTajNrK203aDhXR1VnTmVqYmZvdzdXNDNyaGpORUZXcEZYeGlaY2JySUVIQlNCR0JqU0d6c3RWMDNVTjlXZ3F2a2ZsMUYxSW5SUkl6TXo1eVBndW1CdUJ1WHdRUmFDdFE4clJ5Y3RMdEJTRmVWR2Z5TldjeGtpWjhuUHAzUGp0eURpV3ppVG8zdStZZkNKSlByejJJaHJ4TDEzN2NsSmFleVJGc3ZNRFg1R05xQWZ0OXAyVWRhMnFlK1BhMzl1Nk42eU5GMlZyeVRldS9ZMFVoMm53RFpRNHBpS29BbGw0NmI2azlISnRScmJ5ZjhEVWRSVnBqOVQwWlhLU1hKRFQ3cU15LzAyUE5zamdHKzk0WEUxSmF0eXZXbm0vTlhTWG12dmlDMDFHTE9aT1d0UXEyREM1bXlvRDlaWnNrWWJucFhlb0xOL3RFZDBSTjZ6Tm1mNHhLTnJtbE9odkdBUk5laHg4L0w1SHZ6R1ZLTno4QTJ2L2Q3N3k0YlhicWJUejRqVzNUQXdDdUNRWnRyWFIxQzBNRng0VnF5MVUvMWVQSzhMQ3Z3M0tVMDY1ZnY0RXNpOC9yb1FnTGVsaHBJYng2RVlrZ09rQ0JNazEyNFpVcjNXN25kOTN5QzNwZDB1UE51eEZnS3VMaTlMK1hHc1pwZGc3dlhuSHpHUzZZNjBwbHlOeUV5ODJXSDE3NkQweE01U1JBVEV6b0tuR3VqNnJmNDFkUm5xdnp2a0RjNjZnYWpHSnhreWE4NFhqdTJCdVNKbjgweFVCbkROZmhhSDNvK0x5RXVvZFJxVDhmbjNkNHpkRFYyZVdSRDZDNGZVZHYvVU84UzlBaUEwVkd5MmJrZmMwclM2b1RjNmI4anZOb2R6VFpHaWJuSys2dW9nYUNySXJwcmFPcis0VTRxMmZmZkNMT2o0c2FBUXRHR1hmOGd0M1ppd252MGJGczZQcHQ4S1FEMDNhZUpQbTM2WFB2aStkb0FwMW85RWpSSHFiVXo5cUkrNlNTRjk4c2NrTnZDVHJIRldQYlNXM2h1MFc5dFg5WG1udm9tcmt1VTEzb05TMkpHOEx5N1JaWXZCVTlEY012QVk5a3d0R01lMGpYWUFocFRkdnJmb3cxbU4vOXhjL3RDNVdyZnpQaUE1WStGcGMzN1JrL1FsVmdwUC85eldUMGpzdjBYTVYyTFJQbjhHby9PeURmOVJRVWJZZGtZdjBVbE85WllINGVHcEthQzhaM2lvM0NiL3ZLQTkyUHYvL1BmaFhOZkZrMDFUeDl2MjVWcUEzNzVpZFRQTFdkMlRpMWEwRFM1NFZmcklBeEhCQVU0UFJtdWg4NVJkLzZUK0tiN2JOVWVrZnYrNUR2eW5FYTIwV0VubUoxa3pNK2JheEtKemU0SXAzbWhLNXh3emtyVjhFRUtkdG5NSDRWcUJOaTQzb2EzcnZ1cXhad0lyOXRJVDZxU1l5RGpkdW1zSnV1WE1LdHczUG5rcUpxVStkdnZYZXMyZFN5ZFRyNGx2blVGNytsVjk2VXdPdHFraTNUVjNxU3FwN3o1bFR4TlR4N0lySjFreWRZTnhnVS9GWFVTUFNpQkFoczB5QVhHd2ppREh1eDUya1ZJaS9Wem4wKzJ0VVc0WFk5YzVwOHVWTTZqTjFuMm9qN2tvZG52Z0NQMUh0YU9PN0Y4N0w2ckdmaGdFZ3FYdXJHQkw0ZTg2ZU1pY2R6KzNqRmx3UWxFRXh3dFMwQ3RuSE1JalpWSkMzMEVHdnF1M3NxU2hUbjhKOVBMTGFZK3JrV0kzNlFGMHlhY0hvNjQxVXZLd1pNblh5OHdnUHpvcU5xWkNwazd0ays4dFRzckVIVENFUUowVG50Nm55cnp6NCs0K2hyVjRPbHMyOUg2L3ZaSzYyODBrYTE3bnRrT2pEdFVLOU9jZmNCSkhhOGhNdlBsZ0Rzd3BBRE9hUmJIQzRJUUg4Q2ErMXFpUiswTXRDTWlmUm4vT0Y0N3RvYm9TeStTaUt3T2hqdFkyM3lNR0s0dkpQbi9JN0tkcEFaLzZIbjdwNzQzOXBkcXVoeXo3cVJSN2xIeFBlY2xjZmpRdXFmUEQyOUtZZmFoWVV1dXp5ajk2OWdVdUczQ2JmcGZlSjd4ZW4zLzZYZnRrRDE2ZTNqUHNaMlhRL2FvdmQ3U2xlcWV2QzFBOVhqVVh2TWJmT1RJYS9MM0xicjVOTmIzWVlaT1ZzOGJqMHliczdiL21kUU1nSHIwOVAvekJ5SHJyMXhlLytONTl0bXJManQ1M3B2R1VsU1U2Y2Z2UGp2L1Y3bGpJZndNajQzKzJScVZ5NHgwMDBGeXMrZ1BQRVRMeHF0dS9JenB2VjJsNjhRVDQzY0syTDNnTEhyTUMrSjU1dGdVUUJpUGtCWFg0ZE9zQXRTSkVNVkRwOXd4S2wvSzFBb2w4bGx5NmVHN21xbkhIbEVXZ0VveDloYnZQSzIzQUZOVzdaM2ZtSksyanQxYTdxU0JBNG5MQlBWdXcwTHJ1bGQ2Zjk2aTUveTNPanUzZ3UzUklDeDhJclNreUdxUzNKRy9MR1czZDNlWFhJWGR4UDVyWGtZcHoxYU4wOGFtSnpkaWl4VzNwM3lKMyt4RzU5YnZTbmgydHRDb0dGekYyYVZFeHNTczRlYWJSMWQ2Y1g5NGlyKzhETXN2dGZHZW5OTmJHYm56dmc1MjdwM1FGWEJoQzU5Ymt4Z0RLdU9pZ0M3Y3kveGExbmpnZVZOK1QxdCs1dWZXbklYZHhINWgzM242R0JYN2pQZDBXODJ5MjlWOFM1UWlWYm54dUZvcmxnNndqTVptTG9hZk52NFZzWFBZd1N0dTV1T294dTdWT2JqbVppYUR5bmZrVTgzUzI5VjhTNVFpVmJueHVGb3JsZzZ3alV3LyttdzdPV0Y3Y3VkSGdsYk5uZDBjdkQ2OXkrcyt5US9jOVg1Um9ldTc0aVB1NlczaXZpWEtHU0xjK05Rc2xjc0EwSXRQVC8vUnBSbVhzcEpudS83TGZzN29uWTQ4NzdCWjFoOCtPWSsxOGlhVnJtbnRlT21idGJlbmZNb2I0RWIzbHU5S1dGSzIwU2dXVjZsNGkzTmJ4L1FQT3k5MHR5eSs3T245d3ZVT3dCUC9DUGRjR3oxMGYwLzczdXRPbTdwWGVuL2VvdWY4dHpvN3Q0THQwYUFrZkNDOHpzR04yYThPRnJ2V1YzNnpQRDU5VCt0YWdScnMxbHVXVEhITjh0dlR2bVVEK0N0enczK2xIQ2RUYUx3RWo0QVBWN3JsRFVzbGx6dDlwdXErNk9YSm1IRDdicTVuNXBYd2tlb0M2bFYrcUNiN2YwN21xL2JYVnU3S3J4VjRIeXRualdlVG15engrbnByZlRiTW5kSS9iVkhnNDBUdTBZQXJpRjZEMisvb0xNb3lBN3BwYmVHTFVyZW5mT28zNGtiM0Z1OUtPQzYyd2VBVHo1NUY2dDBBclhRall2ZFdoYmJ0SGQrcm1oOVd4ZkdqYnR2WlVHNzdHN1l1anZsdDVkN2NRdHpvMWR0ZjFxVVA1Kys2azZla0hUeW41M2VVdnVIaTU0bWR0K0IyM1gvQ3MxeEZOelNqdGUwSFRsbnJ2WkxiMjdCclJVdktXNXNidW1YeFhhLzF5STcvNEx2S2p2ai9CTmpwL2QveDV2eGQxSytLRE0vZ2RyMXowODNoQWI5SDNQWC8wTlFlOVd2V0xiYnVtOVlnNUdGVzFsYmtRRmN1YTJJbkJ0aXJmZTB0K1RVOXNxZDBpRmJjSGRQeDBmVXAvMnIxa2pmNHVCMmNHZmVNMFZkWEszOUY1UkozUEt0akEzY3JJNFkvc1JLSDNodWxONEcvU1BiNy9rb1pSNGxiazdsSDB3Z0ZFZmVzZVp0SFBybDVZR2FMSXRWWGRMNzdZWXYxa2hQRGNHUmU3L0IyNG4ySVEvVXQ1UEFBQUFBRWxGVGtTdVFtQ0MiCn0K"/>
    </extobj>
    <extobj name="334E55B0-647D-440b-865C-3EC943EB4CBC-2">
      <extobjdata type="334E55B0-647D-440b-865C-3EC943EB4CBC" data="ewoJIkltZ1NldHRpbmdKc29uIiA6ICJ7XCJkcGlcIjpcIjYwMFwiLFwiZm9ybWF0XCI6XCJQTkdcIixcInRyYW5zcGFyZW50XCI6dHJ1ZSxcImF1dG9cIjp0cnVlfSIsCgkiTGF0ZXgiIDogIlhGc2dDbHgwWlhoMGUyRnNhV2R1WldSY1gzWmxZM1J2Y24wZ1BTQmNkR1Y0ZEh0dGFYTmhiR2xuYm1Wa1hGOTJaV04wYjNKOUlDc2dYR0ZzY0doaElGeGpaRzkwSUZ4MFpYaDBlMlJwY21WamRHbHZibHhmZG1WamRHOXlmUW9nWEYwPSIsCgkiTGF0ZXhJbWdCYXNlNjQiIDogImlWQk9SdzBLR2dvQUFBQU5TVWhFVWdBQUIvUUFBQUJMQkFNQUFBQ2NwcUx1QUFBQU1GQk1WRVgvLy84QUFBQUFBQUFBQUFBQUFBQUFBQUFBQUFBQUFBQUFBQUFBQUFBQUFBQUFBQUFBQUFBQUFBQUFBQUFBQUFBdjNhQjdBQUFBRDNSU1RsTUFSSW03M2U5MkltWlVxNWtRelRKMW1pMGJBQUFBQ1hCSVdYTUFBQTdFQUFBT3hBR1ZLdzRiQUFBZ0FFbEVRVlI0QWUxZGZaQWNSM1dmazJUdDZieTZPNElkQTA1cUwwVUJSVXc0QlV6K3NCRjdpWFVrSVZaVzJGS1JBR1l1Smk1U0pIQkgrSWdkd0hkRnlsVEZ4dXdCNFNORmt0M0NnVUNNdWJNTkFYVFl0eEFMcXdod2wwSnkrSWhxbHdCL2dLRldTTGZHbGl3NnY5ZmRyN3RuZDJaM1o3UXI3ZXAyL3RqcDZlbCsvZnIzM3UvMXgrenNlbDdZY2V2VGJ6eDQ1SlZoZHpxVGw3NzFJemZlZGVTWG5SRjJvVWdaZ041ZFN6Nzg0M2YvNXU1Y3BidU45THYwSVVISHFlNTFZNnRzWUVCOUYrRUI2QzRhWFVobnBkTlZ1aUQ1QWhJNThNTHpZTXdCNkYwR2ZVRDlOZ0JPWGZFQUlxUVo5Zjk1WTZLTlNuR0s3TGppNDJqZ1FoLzFkNVIvTHdZb0E5QmpnSldrNlBzUCtuQzZpcTRhenpodHROZHhnVzIwMlpVaVg3UFV2MWlJamM2M2tibndxYjhxeEZRczRBYWd4NElyZG1HYVdGVjByZGpHYWRWYXh3VzJhckJiOTlPVytoa0FOdEh4ZHJaYzhOUW5SenNSQzdjQjZMSGdpbDk0MGxBL3ZuRmF0Tlp4Z1MzYTYrSnQzMHo0RWM1aWpsN3RxRFY4d1ZNZnM2VzQwNlVCNk8yNFR2SXllVVA5Qk1acDNtekhCVFp2cnB0M2M0YjZXYmp3OFk0M2hTalpoYlgremljNnJtaGlnZkl4UnJ6YS9RbDZlVEZlTDg5ZjZZeWhmZ0xqTktnZGNMWk9DR3hvSVY1R1FKOTRWUU9seTRiNnE2RCtldUJlSnk2NlEvMXRQVVI5R2dmT3hJT3FQMEhQOVNIMUV4aW53WlFCWit1RXdJWVc0bVVFOUlsWE5WRGFldUU4WEhnaGNLOFRGNk5kR2ZVdjZpSHFwNERiNC9HZzZrL1EvUTVSLzQ2NWVHakZMMTAxbzM0QzR6UTBGM0MyVGdoc2FDRmVSa0NmZUZVRHBhMFhZbFZ1bnZNRmlwelZSWGVvUDlaRDFQZXdzaXpHdzZnL1FSZWRvZjZvMkJVUHJmaWxMZlVUR0tlaHVhQ3p4YmQyZzhDenpBanFrMXlZOVVMdjBhczZZOXVBTXQyaC9ud3ZVWC8wL2s4RnV0ejZvaTlCVDNXSStqdTZzSmxjQjdsRC9makdxWlBsZVVGbjY0REFoaGJpWlFUMWlWZlhMZTE0b1p2ZHNYUjNxSi92SmVySHg2b3ZRUi91RVBXSHhiNzRpTVdyNFZBL1hzWFEwcjNtYkozU3B5KzkwRnNhVUQvVVMzVm1WK0x0eUdhbGZxODVXNmYwNlUvcSt3UHFuM1BxWDdSWnFkOXJ6dFlwZmZxUytrTmlRUDF6VHYzTUpxVityemxieC9UcFMrcHZIVkMvR2ZPOXJrejRzNXVVK3IzbWJCM1RweStwWHgxUS81eFRIK0drTXcrQSttMmJyOWVjcldQNjlDWDFjd1BxbjNQcWI5dXMxTzgxWit1WVB2MUkvUkV4b1A0NXAvN1NKcVYrcnpsYjUvUnBUZjJoMzlyNythYU8xdlJtTjVhZDhNSUxmWnV2NTBDSHgyM09DWCt2T1Z0Q2ZYN2xTbi8vNzh3RnFNclVUMy8vSTFmY05WMjA5MjYrMHQvNFpNbnpobk5DMUNxZWQrdlRicnoveUovaS9vN1ArdnRmZ0F6blNOOSt0UGF0NXpzWlNQN2ZidithQjcwRU8wNGh3dEszWHlsdStFSkpOL0FQOE1JRzZoKytKM2VEMVNyOXBvLzg1VjFIcDlEOFp3KzhnT3ZwNm5GT3FlKy8rNHJkMDdURy9laDBiZTl2cUtwREQ3Z0FmUFBwN3pwNDVTdU5VRUM4OGIxeGIraFZiazd2ZzM3NEh0K0JUK3ArK0s1YzdYdnYwZDNZQVM5b29INzY5aU91MlI5Kytyc1A3dDZQQ285T1gvODgwLzJHUkZ0ci9hLytxNytmdkMvZU1mck1veHRYVnp5dnl0L2hkNHdUcmwxY1ozTUVLdFhxTUFnNHpEVjFsR2lqTTNIMVVTSmJPLyt6aE5pUGQ4c1hYQldZK2hmQnRPNTMwWDhncjArVjB1WFQ0dy9oamI0ZDhocU0yKzZMQXhEaWJ2a01aVVZ0V29pWE9uSlRuME1aWC94QkZQWHpCL1ljTzNaazJwZHZEUXpWOXU4OWR1VEFrN0oraUxBZFdkbjR5UW9WdVBtejhrSisyTmVCNzBSekNGSHNjVFJHMGE4UHBMTlFsdUpWd3FNZzVhQ3ZONG1hTDhRZmtoakVRZ0JRWXdDUUxjekxEK2xuaVROM2d6SUxoWlBjWWwrQS9sUjRoaTgyWmxocG5EOUEvUkxpSlpTVnVvT1lyNDhLNWRBeFhCWUMrZGVWNUpYbkxWR0JEYy83VDJCbDROSDNuRk03MUVmajhKNVRjMDYxTnBKdjk0V1lKdit1TXZXUndjWUoxUzYyc3prQ3BVTDFHQlNvUVlxUmpzTTBhRDVNL241c3p3SDE2a2VHcUREdGw2aFliSDJrN05iTy8wSHh5VGt2TldtOWx1cEZVQi9jK1V6cG0wdmlzVXRQbC9BS3hKT0crcW55ZFJVUFk0RGtyR3pZUzJYRmlUbnZzQy8rV0Yzak16MHB6bnpZODU0aFhod3g0YzlMaUxSWjhHSXZIWkw2SWNKR3krTE1HNzkreXh2RXlSSkVjMDJxWWFoL2lUanpIaS85RENGbVVBSUhVLzlIWi80SkwxaFhaRjZTandLMUFrdStzNFlBanRsR0VWM0xucTU0UTJYQjNQYXBCS05SRUEraW1mUk5HK1kxM3I0QS9jMUNQTWRMM3lZMktnYWtud254eUU4Zi9sQlp2QmhaZUxQTEhseG1LQ2UrWGZLK0RCL1JsVFM1UnYzdmxMTFdORVlpSjlxZy9nZEY3WFZlZWxiRWV5SHlLMEo4Wjg0YldqcFpxckxOZlZKYkdTZE11L2pPNWdpay9qUmdVS0FHZ3c3RC9iWm5BMmVSOGpLeWlpZ2hHVjhmRXREYStiZUlMMUZCRElTbjZhd1BwdjcySzdKUW9haHpVem54R2lUQlc0cGdrK0lYWHVxS2UzRHhoUGRXaEFMUDJ5bkVzaTVLWkR4RmVYaVRHV1hWY2FuWUdLZlVPMnUzT2dUVk4rbDArVjAreElucnYwQVhveStpOU1sUFV6cEUyS280STRWOVZid0NCUzVmV2JrZmhWZm9rQjFDM29oMjJxK3g4NnJmQTUxSyt6TlEvaXgraGVDdkQ1YWgyV0xLbHkyVkNUa0ZBQUpLRVEzanVCSGFNUFczaVA5Um1VdE0vYjRBSGE0b3NWKzE2eWdZODcrcEsrbloyaHc4SEZobmhiZ2FwNVdWa3VvaUJua1o2dFA2N0hueTl6QTN2RU9QZWZoVnRqTzZWT09wTmZYZnJFYW5WSmt4YmhRU2tqUGtpOStsN0ZUNUZZYjZqbkhDdEl2dmJJNUFhcXNCZ3hDSG9YTEJZK2lnZFBqYTFRdVUvd01mRGlTdUtpRVpYeDlVYXNQNStWdi9HQkhYVVVNZlRIMVlHWEd4cUhNUENiSTRSU1F5WVZWVmVDZW9uL1lYS1IrL0xtZEczTzFDVEZDZVp6MEhXYnRrbGpmNUowNUpsYVUvYWFnM1AybTNxaWZUWG9nd3k3SnYxRXF5TWx3Vkt3OTdwSTJQNU1YUE9mdFNJYWEyb2xqdTdINTdLRlVHOVErcDV0YUVHRS83QzlRQ0FEQXRmYzFRUDQvcHJqeEcyUFg3QXZSWmJRZ25lR2M1bXFYTHIxWmR5anVSblhLK3dTVmdqWEZWeEFQN05yenNvb2NIZ1VKbk5aNWFVaDhDWHl5ckhlSkI2cnVOVWhwelpua2l0cVVHWFN1NmdEVk9vM2FKbk0wUkdJcEJuY093SG5YNlpvRFFoTTREN0dyOW5FaWZOcHcvSlI2UmJDWXlPTU8rcGI0SHp5NXFiWEo2cm9Vd2dhelJaOHRzekFHZTJLa2Rmc24rSE4wcSt3Q21Bcm9GazBWVEFSc2t0SEI5S2ppYzNNbG1Neld0TUtQaDZNZTFmdlhVZnd0clFNdVNCUzBlSTg5VWZzTHpmTDJTME5teFQxVzRmRm41TnRDWTRsOUhXaEkxRm1WK1pUTnR3MEZPalhwOUFUcHNWRlI5S1dONkp3K2dyN04rNHA5U1dYWFV4N3hRbC9BS2RtSStLVGFHRWM5cDQ2aWtxalYrdHFUK0pKc1QxbHlrK3FQUlV3Z3IzdllDWTVDbHZqRU9TdFpybDhqWkhJSGhHTlE1ak5YUVRhRnJOamlXOVVDWlNKODJuQi9RNktFeTQ4WnZReXhwc0tKU0QrRm5uMHlCN1dadzh6eElLTXlvRXBDaGFZNU9US2s4RkY2WEtWUlhDVnhsSTZtUG9VRTdHdllPaFJwYlFvUVIzNVQ4QXBPNG52bzVMa0hXWlgwaDZsb2FoSmRNZlNVRkkvYjNueEoxNkQ1eFNUcVBDZkdQZWpXTGljb3ZLSnJRQVdVcU1vRVBYL3ZxRnZ2YmhubmxyWDBCZXNHRThhcFFhZ00wUFg4aEZ5M0pmdFpSZnh1WDhHaDZQNjZoZ0tpMUtiblZ3dk1mZmNNNXRhSyt3K0djMnYvWlltYUhqcGo2NUN6cjdubVlKellhQitYcnRFdm1iTWJhSGlZM3BwY09CblVPVTYrbnZzNFpBbm5lckpyTkp0T25EZWUza1JnaDNURFRjNmdQTGhhVlltdG1LZS9iM2hIMUg5K3ZOVWVKR1pXY3Q0RWtxOE4veHVrV0NwcWxnYTZyVHdnUXhxVEQybmxDaE9XTkdYTWN2T3FvaitCZ0tMdE42RVdCQjU2K2xHSWRSTEpqNm9ZUGljaURkNndjVGNlRXVHMUtYU1BnbjNBQW1PQlNPVTM5YlJiWE1jV2hmZ0E5eGJCS3ppeFFwd0N3TmhwTjNSZGxQMkVIbFpCWENBNG1ibU1hcVFJM0xSQTNabEVLSWprQ3E5THVaeXZxbTMwU2NFSnRJVzZMRm1ZRVUxam1DOWpKVXArTmc1dDEyczNiSHJIbnRuWTJtalRyZVZBRUJrR0hDZkVvcWVhc25mQjdlZFcvUlBxMDQvelFTRStHd1RtRGtrdDlPOHNEQWdzS3h5V0hWb2gzRzNyaVFHUGhzaXBSdHNHaG9KTE9sRWdPQUJIVVJ6RXpaNzVZanphTnd1QkZKMVZEWkZBRlpCMzE4MXdDNVhCclhSWEhIR1RQUGlSVEQzeEdaWmpQREFSRkhMb3BVeFFKc05mOEhpVnFPUUFVdVJpSHp6VnVHeVJTSGVvSDBHSDJLZDBUSG5mbXpWN05Hcm84SSsvbUxWRndEWngzNlVxME82WE5oMTJoalduS2Z2dDNLK1p1ZmFJRjlURitHdStjVng1U0pUdTJPS0JvMFJSWmNxalB4c0hOT3UwU09adDlKaGFGUWRCaG5MVzFVWThTME5mMGFuVmQza3FrVHp2T1AyYU1DRkk4YnRSd2tMSFV6eG96VDdMbHFZSnZuUVQ5VTZhSHQ1akFoaVlxS0lZWm0yVTdMR2t2U0lnOWxrd3JudjZsd1JCaG1MeHh6RWNIRlBHQzFFZElZRDVDdHJsQUw4V0ViY3hKamFBZkVZZmNJbmFLSW9tZW1ta2RLcks5a0swTWhpS01ZZFZPK0xkWTZzOUllYjBMZXNFeHNUWlcxc3lVWU5MUVVYK05zNmx6S0xRb093bHkyWm1jeW1uOGJFSDlqQmwySlBZa2VISzVVVXA5enFyRGRucXFVK0VDYkJ4Y0I3Vkw1R3lRWWdTdW1XNGpkOHhjQkIwbVpEQ1JtbUcwTmw3clMvUVM2ZE9XODlQVWJWeTJpdUkyRnBtT3lDZDJSVm1BZHNWVlVVeTVuR0RxV3pKQjJyb3NpM2hocUEyYUxpTnpudTlSQVV3eHpIMVp3WDVrT0h4Z0ZiWlBab2NJcTlwd2srWHhJRWg5QkpmalZxaFpwUkwxS3pZL2NRcVdOT3NTNEVJZHBBTUFUTWtFUGhqRHFvMkN3NHI2L1FCNjJjRkpQZmdGZEJ6dGFOazhKL3VaTjc1Tmw1UE9MaFVlTHpFV3NGYVV0YVVRK21oT2Zjenl6RnlRRnUyRXR6OXVLa2NsVUUwaExndk1PbDFpNCtCR1VMdEV6Z1lwUm1BRUJrR0hjYlFLNkQ1a1pyUGVEdFhoUlBxMDVmd0lLaHlCaEZtdE9CMXhxVzlaazNkcDdKdUlZRDAvWXdkQzJ1OVpSLytXYklSb1NuM3dncWQyMlFtSlM3Z3dzajRkYitYeElFajlOVmRGaWxVTHNqVDgxL3FRekVuMkFVdnl0SU5DNHFLV0FrUHRZNEhzRE5DRWJ3K3A5V0FmZ0E0ZnREaE5TZ0tCeWp3MnBIeWhaNGg1MnpuNWJOUHhhWVIzWGFqcW9NTG8xSitiVXgrNGFsbW9CNGNDeUVOV3YzcFo1aG9xbXdCTmV3UTI2ck54VURTb1hTSm5neFFXaUJFMEZJT2d3M0FNTlpweUlzY3gxZHVxTkUra3oxcGJ6bS8vU05jR0Fkc1JhQVRVaTBveFlhREx1Nko5SVVxcWdLWCtxaDI2NmRIYWNkeEg3WEZkckNuMTdUNWZTbzhzNGNJV1dOZ2R6MWVwSVBXaDRqS1hrT1pkbDFlZ1BvYzZlemRCQ3BaOGtxdFpjeEZZK3ppYm5RRkZUNWQwNXErcGMrK0RqdVdaeGFrZ0IvTXhoMzdEOTFWVVR3RHpvdTZiWE9wemNFQWVvTllrcURyZVlBclhKWnBUUCtQZ1NsTkdEQTViellxU0pRMlhIK0drUGtObEU2Q2JVWCtYclpmSTJWQ2RyUTB2RE1VZzZEQ1IxSjgxQStTOEdnQVQ2UU9yTE5zdUFmNTFlUlhwL0s2eHVTT29ZYW1mTStTRmdrVWoycmV6UERQZlJaNXBHd01JcG52NE5CR2lLZlVSTm5VODF5dGpyMUVZb29uZHZtZEZndFRQOGpndmI2OHhVOUY3eHpKY05mNFpsanpPdFlBTEo4T29qMEdLdmxBY2Z2UXE2QlN2ak1ZWkdmTUxkanBtN21Bdno2RStadUoyYktidk4ybUxWeDF2c0ZXRHFlYlVCOFF6cGp5c0QwTFBtOURMTjVZYUlnd1VkMHJObXFITE1oVjFnOXI1anE3S2M5dHdOa2hoeGtSaEVIU1lTT3F2bVJnM3FlaWFTSjlzVE9kdjZZVVF1S2hnbmpTeENkYytVOVV1ZGJIR3NxWUMyMkFwRENPR0lFMnBUeXNEMVl6ZTVXc3BUT2xFVzZ0bWkwUk9NaGIwRFp6RytCNlVjYnpURm9pYmdpWDNjWjJjN1ZrWTlZa0NRcnpzdlZ3OGNPNVYwT2VkZlZvaXh6aDlMZE5HTzlPSFBCdUxjb0N5Q3k1NnJReUorZ3VtaHBQNHB2TkZpc3ZGeTUycnk1eFNTTUswVHFnSEkySG8xZVZnR2ZrK2lkczhiZ2RWbm8yay9vSVJsY3paVUoycEg0VkIwR0VpcVcvMytYeUpYVEo5QUpmdFVndm5ULzM0WFFkYmVtSEI4Qm1RVmd4YXZ0bjlvUW4vUHNvblV5bXI0d0t1RDB2aGx0UGZKdHQ4WG9hRGQwSEtpaERXdU5JTFVCL3VZVFdRbThKcW1RM3FPL0hCOUNGMkFwYWM0a281Ry90QS9lT2N6YzVBSXlNZFovVENoTzk3dlF3NmRMWTRyVWtzYzA2ME0zMUFPV05vc3B5dEpCLzlGR1hCcWx2SVZQWFNQc0VTZnN6WVlrZ0ZuUWUyZlJ4ZkVwZ0xGRkZmMmJHTEZIa1RLay9aVXJPTzF4cmp5RkhmZGlIY2MxczRHelhCQWpNUkdFUTRqTlZPcGRBMzFRZTl5NWRJbnhqT2YvTURDbjhMSEhjRSt0Z0oveGh6RWh0YkRvMURxQTltaTJ0ZXFJL2RjaXhBMS9YS2ovcllqUHF3czFybVpKY2xIQ0hDb0ltamdDd2w0NDExUElKc1hOL0FDVEpWNjJvS1ltOGtUVVZZTXBUNjFBRjV5TGQ3dWNYZUJoMDAyV0FEdnJBc0J4RjBZWXFWTitlOHkycGNPRXRyMnY1Y2x3V3JBVnVZdXVTaFVjY3VVNG9TODRIdE90andNVy9FcmtkMFVkaTQzaXQ4MWtBV21ZMmt2dldVUk01RzBwa3hVUmhFT0l6VzNaNEEyaHhkYlZYOVM2UlArODUvSjFiWG4zamZITWNiYXBnN2dxU2xQdFE0VGpmcnZwWVZRbjFhM3JySGErUmswRWFXcHRSSE0zSnprK042dURBbmpraWQ2cWhQbGF4QjdiQnhQcWp2ZlpDeCtGK3RLazQ5RHZva3E2ek90WXBjUXExYi9YVUtucjVvTWxHcGp2cFQ4bDQxWUF0VDNQdDRzQkhuU3IzaGFVck9CcDRPd29ZbnZLb2FIa3dSK1RVeFoydFMzb0RFWGJZRXBGVDR5bkh3Z0hhSm5JMkVzc0RKQ0F6YXBUNlVuQ0I1ZXBjdmtUN3RPbjk2RmQ5dG5VTmpMYW1QTUs1MlZaM3ZVNk5lQ1BXeFlyRW9VMGRrNEc2VCtyelB4N3Q4TFlXcEJvSnJmZHBhcU9nYk9OR0lJSy9nTnRoelBQc2p3cEtobzc1OCt4RUtJTUpXZE1zOUQvcFNBMDYwNm5SNHBEdVNkNm0vR3F5VTQ2R2lHckJGT1BoTnQva2dhWit0SnFtZm5iQVpLa1dUQ0RmeXlDSEtWWG5XVVlPWmlxb0I3Ukk1RzdYUEFxTXdpSEFZcGJyenVhYTdxbmY1RXVuVHJ2TURrTy9JcGx0VFAvalNMdXZiYWVyVFB0ODRoUE8vQmlmcWZWMmw4MHQ5TC8xYXVDVWRISFo2SG5UWWdIWFZkbTZEK25XVmNwMmlQbTJVT2xFSG1wd1libHp3MFhQN0NYWktlYTVUR2ZjcmZKK1ppdXVxazAzZlE3S0ZWT0Y1bHhoY0gzTnF1N3FrVEJhNEZBUXV4eGkwUzMwb0lPT1h2eWliU3FSUFhhVW81OGZyOXVxN0EyMk0rbmpNY1MwVXdzbVp1WWFOK2pUanFFalZ6Y2RZQUVCTTZ1czh5eFNrOXlta29UTTYwSWNMYXpIaHA4Qkg4VU1mQUY1dDFaeVhVUjlLcEc2SEU1aTFhTytEUHRsb0lLaS96bmlhYzc1dTFIZUhYWi9INm1xRE41ajZKdEZzMUlmUjdBTWpPWmlmbUhjYjBrSkc3Ny9YaUZNSjFOdGxzMllkTlppcHVCdlFMcEd6VVJNc2NEVTQ5VEFZdEV0OXpGMW9kc3hmV0Vxa1Qzdk9uNEp1bWlJdU43a2pVTUt1OWIyTFR0RlBObjA1eThHQ3VodzY0YWZOQ1lkNFZHck1GZDkwclUrejh5ZFJRKy95VWRrUVlZMVJQeENJcWRJaXRhc090SzRxbkMvcTQwSEhSNkdTR3BiNkFIVFFwSjVjMEg2SzhUVG52QXN6S3JsRG9hbFFkVGhuYXRZbG1sR2ZucXc3N2tTamZybFlWei8wRXZWMjJSdFFyOEpYam9NSHRFdmtiQ1NVQlVaaDBDNzFhWE8wWkhiNXV1bjhoNnlKWFc1eVI5QW5oL3F6RXo4QW1FS2NtcVBPOGhFeTRTZGJMZkI5ZFFhZkhiWUM0ZWhSSHpleHA1RG1wemZod3BvOGI1bWNxSHU4NkFTZUp0U1A5YjUraENYRDEvb2FpV0Zmei83NkFQUkM4QkU5OVFBK3VVLzN4Sjd5bXZyeTVYbGMxRkZmRWEvcWNNNVdEYWFhVVovNDZKU216U0RIbDV3NzlVbW9QR1h6WmgwMUhBY1BhSmZJMmFnSkZwaVB3Q0RDWWF4Mm5JS1dNM2lGVCs5aUp0S0hkdmdYV1Y2azgyZnRWS28xOWYyUzk3WXJSZjNQSVlkUW54WlowTjg5c1A1dzJOcVUrbXFmYnp0UDZjT0Z1YjZnMmpHalBsR2Y1b2dMdHYweC9uSmFOUFhCeDZpajRTdWo4b3NDVXl5K3hYUDlReE5jRUJnOFR1bXNSYWRYUVo5M3Y5S2o5Ri9pWlN0M2g4N3dkT2xra3ZyVllMd0FuTXV5TFBJck10SGtveG4xTVlGMXFVNUwvK2lCdzIwREt1K3oxN09PR3N4VTNBMW9sOGpacUFrV0NHblN4cnBaZzBIYjFGK1RPcyt1S3dHSjlHbkwrVkhJRUZKNTRWTmtrOXdSWE5oUmY5UVUxZjFTcHhEcTB3aFJEQlNTMzdXeU9VMnByL2I1TGpJSWhndXJXR2txRmFDKzUrdkp0Ym8zejVPYmFPcG5ZS1dJdzNrMHdZMUdXREpzMUs4ZTUwcm9HRDJ0N1FmUU1VbFQzNEV5dW51Rk1NTGxYZW9ERkwxdlJMWElhOGRsOWFyRE9Tc3ZtR3BHZlN4NGVSeWdTa1Q5aVdEdGlDdW9iTUZ2OHZwT3hkWlA1R3lvem95SndpRENZV3pEbk1MNGdLV1d2NkN2RStuakJ3Q2FEM1YrZk9QWURHbVMrcU1xdkhKSDBMNmwvblkzOUxLbW9XdDllbnR6eXBhZ0ZObXJZckthVXgrdXNzdkxHS09GQzVzeHduUWlTUDNWd0RLdndPRS9tdm9qUGpRTVA4TGYxNTlpQlZxTStobTdhTDVJYnVIMEEraGdXNzIxMXh4ZjRhNEhSMzJNems2VXhGeFZqeFd3WjhYVWlFZzBvejY4SlJDSEduV0xFQXFWbmVuQnJLT0c0K0JCN1NaRFBYZW12b0dncytFdUM0ekNvRzNxdzBOUGVrTm1VcHRJbjlVMm5IK2V2emtudVFtN05hUCt4VWFmQUJCaG96N2swazZkUGticFI1M0xkcGJiL050ODhpbjhrMmFYVDM0bElFVFlMcGFPLzNVcFVUcG9qUXlUWFJZRGdFV1ppS2Erdk4zMlI0UWx3MGI5REkzMDZ0Z2krZFFQb05PUVhXSzFQZThuU0tOdkRyRkh2eVR2NXQxUmY4aVFuZTRoZW1qQ1ZoM095Vm9oSDgyb0Q4dGFERkczN2pKRW1zNkN5bVprYS9ibVhzV0tnSEhpT3h1cU0vV2pNSWh3R051d1NlV0F2UDR1SC9JUzZaTnB3L2xSaGdkWEdXMmFVbitFTjk2TWxqSVJSbjFlMWFxUzhnZDcwVlRSVklSYk9PSFlaT3NFb3Z4alpwZFBmazNMVFA3aGdUU0lPbnJqS2pkT0ZUSEtxRTJtcFJsY3dlcU9DY3Y4K3NmNW9MNWRKKzJRRTFkSCtkNEZmU213VjFJR3duQnFKL2JyWDhZcmFPcVBTSW9CNWhLd1Z3Y3NvUGVxenBiNmlFTjExSGZXRmR4YzJCa3FPOU9GU1NjQ01WTlJLNmhkdU9jeVNWQTh6Tm1RYlFSR1lOQSs5V2N4UnZJdVh4ZWRQMi9EQS9qV2N0UXZvbzhOUnhqMVlTeG52aWhYdXdFdVlsclVoUHBZSEd5WVhUNjVhQXdSWnNPNW5oMkJSaXBDbEJlaEk2eHVTMWpmT1IvVXQ3UGRsUFRFdmdCOTNwMzRqa3JPdzZsbmpQWDFlZ3k4V2FBODlXdmtHYmNFSkN5cjRpaFVVYW5vejJhanZ1ZTc4dzBhOWR1a1BnanB4S0pWUnczRDFIcnFoM3V1ZGFWUVowTzNqTUFJRE5xbi9ocVE1MTIrTGpyL3JCMzFRYzBXMU4rdVI5VTYrNFZSM3dQTUdDajBrUzBpQWRKWkFBRkVFK3JUUHQ4bHprQWZLc3lPcFNNcXNzTm95aU55RldvM3l5dE5wREhKMEZPQTgwSjl6UURDZ0NEb0M5QVJuTzBleFZhSmNOV09FL2pScFNKNkl1ZWpFM1RlSnMySlhZeDlkQ1dQU1VNN1ZLem96TWhUVStxdnVnTUovdUlpT0FtSWxDbHBQV051KzQ0YWhxbjExQS8zM0ZiTzVsQS9Bb1AycVUvN2ZMa0ZvM1czbkw5Z0ptVmVwa3l6MFIxcU9lY2dnNUJRVkhxQVc4OHhHdGxFS1BXeFE3ek9SVWJWUW1IUzRTTGN3am9XbDdObitFcnV1TDBNRldaSG9LcU9JancycUVCL3lKbXh6dXRwcVF4QXpScTJiYlpJUlZnU1lCbTlHY01NaHgxYWs5QVV1RDlBejhuRmlZSkJ2U3VEQUdxQzk2Z21NM0RZUldYR1pHaE4rOEpFYkhpTFduOUpjbzByUWRHZlRha1ArOW1hbzc1d3AvSDJSa2dLS3UvamJLVHRjTVRHd1UwNG02dGRJbWR6cUIrQlFZVERzSExPR2FQVGh0UGRSUHEwNGZ6QWxLMjVaNTZvdVYwdHFueHJkell1bEN2am4xZjM0TjlBcjdydnc0NnF6dDRPeW1xa1U3NmRsQjFTZ3pIQzRiS3VobVc1OFF0SGtrbWl1NllzTXNPRm1XbERycWdxcnFyWU1xUldCMEJRTHpWSmNaNGhEaldQT1VhRFZva3gwMU42eEdFc0JjV1BjMVdPUkJucnFDTXlIczczQmVqNHpjTUozWlcwcjFKWk8yeHVVek10K2dVV2FmSE1sQ3dMR3MzcFNvaUNxcGJjbVJuWHVaR25wdFNINjFnQnN5ZjBid1V1UkFxek43SjJnbEFRWmdBZ201a3R5NHdyUEtHenVRTERNUWc2akoxRldGVk5LaGVZMVhUTCtURzUwSXVoclUvQWJjZlZKaHF0cHN6cUdqcXZhNjNRS1Q1T0xyS205TlNPMHlpcko5WmV4dUpjVnZYVE9VUDMrUnBQenJsbThJeDloOEFVTVZUWVJrbFZHcW5wQkVxUmc0eG9taGRNSHhEdmk2b3NQUVl3NDVMT1NuUmFjemdPWlV0YUNBQXc4WVlmUmtPdEJYMjdxaFEwRlhvWmRBUkpIclYzNnFmcUQ2bDNPS2d6UzY5V1hlSlF1alFocnhIVHA5UU5QTi9WMFVGKzcyZEI1MGFlbWxJZkkra3Vydm16MnZpYXRHemVaUEd0a0ROVVhsVFpLZUhiWUFRSDEzMXExQTcyMGxVODY3bXRuTTBSR0k1QmhNT0VxRXdMUWpPczRYNGlmVm83UDBLS2ZDUEhTMmNucE1xRktWS0dxTWZkaHlJOFJRYUZ6Rkdib0lJNEtITkdwdVFxbHJkaU1TM1RGSHlJWWNNYWJVRVdIUEx2dzFTaEl0TkdJQkxIWlE0K0VFNk1aU2d2UkJnR2dsZW80cXV2VVdmNmtlWmRTTTdyNkRQa2k5OVhkNVpZRmZvN1NGRWIxK1hQNWpScFIyNENhMExMQWxqczhKUXRXOG9ZRHFWekVwSStBZjFIM0sxMGpsN2FvaU9yLzIvVnUxaGJqN0pvK0V4eDhNT2ZLYy9Kb2hoVUptUUMxaXdMOFhLZGpqdzFwYjVYTUdIb2J4SEZZV2cwNGk5R0NyTTMwTFlPOVplZWhzM1lWWXh4UXJSTDVHeU9RQzhNQS9xbUM4K3ZxZXl5VkhFTUtYTVlwZGZzWUV0NWlmUnB3L21yb0FKQmVCT2NFb2E5SDROdGF1VitIL3JVN2w0cGVXOWZlUkdwOXNxN3g2VmlzM1NoajQwS3FhWExYcjB5eDJXdlgzbFFsZ1hKWGtLSjdTcTJVSklwT0htYWVyK3g4bHprc1RnNkg2ZEM4bGhpZytuckVHR3JPdUw4ME13UE1EYWdGK25jaEs3MEZsM2kxem1PRGEvY1E4M1VybG9KMjdQUXRkbzRQYXBRdVg3bDh3YXNxMWNxTGdDTTRiL2ZTMUg3bEdiQkQvWGtvejlBQjJ0T1ZnaU4yWTBTblhCY3JQMTNOUGRMbGVGNWh5VEZId0x3OGtqcDMzUVlLak5aNzVEL1NDNnV2L3UrT2E0VGRtNU9mUXhMeWdPZlN2L3lqVzJFQlcvRXpOakR4Sms4RGtGYnhESjU3eC9kdDJoc1JzWUoweTYyczduV1JzT05HRVE0REwzVFpnOVg1UVZ6Z1VSc2ZhaHlhK2RQWjBHRi8zaFh0cllnbTZEb2pEbWNQdVpvc3FHT0dSTDNGWjh2NlV6V2gwbjBNVzdMNm5uaWJVSThjdG5ESDdXTExXOG9KNjZiODBaWGErTkVmU0hIQzExZG5pejFuWCtzb1lZOUwxUlk3ZDUzdk9rTitxK1hxUkM2Kzl0L2M1dDFDVlQ2NGs5ditYUDlQL0h5R2FsdTd1ZFVQUEZSWUtWLzdvQzFTUHRGNm5qY1ppUFNaOFRNcGJVM3dpTSt3SEcvVDBBZnhvN1BuNzNqbGxWbjIrVVNJVjUxMmNPL1dqNVpZdkRnNXljdnU5bmZ4ZGVvZFBwZkh2NFEvb0pPRjFsaVZEUjV1V0RkdVRuMU1aS2VxbmplelZsaVBzM1JyMDN4MzN6WHlXbTR2RVRVRU9nZmhXY1Q5V2xpYUJ3Y3hnblZMcTZ6dVFLcC9RWU1DckpsZkFRZEpvTDYyS1VLOWlLdVBySjJhK2NmeWtxMW5rZkY3Nng5RzNXeEE1a0FBQU5RU1VSQlZKOUQ0c0QrdmNlT1RCL0FyQ3BUTzdEbjJKRTlCK1NVL21KUmV4MFYrL3JEVDNzQWxXZzNZSWNwQytwVDJXTjdEdmk4UkFUbmNLaVJnK3BoQnBBVFlsclVub2VwZ0x5RkxKblFINWI2T3gxM2t6VzlSbUhEWlZtTlZOWkhlcFZ5aW56cDZVcmkzM1RPaURpQVhVcnF6bGxTbjN0S2xtU3dRSDNPSnVwVDlwNXBIOTVWUFVFLzAxT2J4dWJObkZha1QwQW5jK0dRa3pldCtaMHk1OHlDdnNUcHZ5aUhWem00MXBWT2NWK1hhdnZKTGFiOXM2SStUWmozK0tMMm9Hd1lPemE1TXlXWmJQMEJ6OW53eFhVbGgvcldPT0hheFhRMjE5cFNuM29NQ3V3WlFZZUpvTDVYNWxVemR5Nm1QcXFhcXRUTStkUHZ2OGUvNWozY1NKTXp0dWsrYlc0ZmhsZE1tS3VJeE52dThXLzRSTW05bVhydDBkckxGdUVmKzcvMXNiOTQzenZjVzRIMDBKNUFOYnJYS0N4OSs5SGFkd05UOS9UZkhkMzRqQ3NJbGZaZlBlN21uUHMwdmJtWGZuMnV0dmVMSmRONG40Q2VlajBRL2l1ak5TVU93NllmWTFyTE80ZDMreStyeUpUNm9FclgzT3RrdEpWc01lcDczdVZIeE41UGNNTmZPWHJEUWx0aXFkRGJkdnY3UDRYelRYdXZldmJmWDFhaXJGWkhJbWR6aENiRGdBVmNjaTJuK0p4SW44NDUvMDY3V1FhTnNPeDdraFVibkx1R3dLWUJ2U1gxdXdieFFIQkxCR2JGbEZ0bXRXNG56cjAzU0hjS2dVMEQrb0Q2blhLWnpzdkJBN2VLSzFXOWdPcm1ETklkUjJEemdENmdmc2VkcDJNQ2R6amZ3eVdoMlBUcm1PeUJvQWdFTmcvb3c4RTVaUVFlZyt6emdjQVcrOVZIMlR4MldjK0hHcHVyemMwRCtwRDV6dWptc25BLzlIYkVmWUlEaGZGSXZ4L1U3bThkTnhIb1IvSGdaM0QwSkFMYmc5K3R4YU41ZXJBL09McUt3QUQwcnNJN0VONFdBdmpLRWo5VmxlVjNPbC9UYTB2QW9GQjhCQWFneDhkc1VLUGpDSlRkNzhuUjkxUE5PMm9kYjJvZ2tCRVlnTTVJRE03bkQ0RnE0RUUrWGo5YlBuKzZiSnFXQjZCdkdsUDNjRWV4cnpkajFmdFIzWWEvdlROSWRSQ0JBZWdkQkhNZ0tpa0NlZk0yRnIyS0c1eitKNVU1cU5jQ2dRSG9MUUFhM0Q0SENLVHdPMWQ2cHc5djcvRDdlZWVnNGMzY3hBRDB6V3o5bnVuN2pyTFllQzdJLytYWENub0pjbkNjQ3dRR29KOExsQWR0dEVCZzlITjROeHUvcXlmRUoxdVVITnp1R0FJRDBEc0c1VURRV1NCd3l6T24vZHJlTDR5ZmhZaEIxYmdJREVDUGk5aWdmQ3NFL2grb2haQmUxeDhQWFFBQUFBQkpSVTVFcmtKZ2dnPT0iCn0K"/>
    </extobj>
    <extobj name="334E55B0-647D-440b-865C-3EC943EB4CBC-3">
      <extobjdata type="334E55B0-647D-440b-865C-3EC943EB4CBC" data="ewoJIkltZ1NldHRpbmdKc29uIiA6ICJ7XCJkcGlcIjpcIjYwMFwiLFwiZm9ybWF0XCI6XCJQTkdcIixcInRyYW5zcGFyZW50XCI6dHJ1ZSxcImF1dG9cIjp0cnVlfSIsCgkiTGF0ZXgiIDogIlhGc0tYSFJsZUhSN1pHbHlaV04wYVc5dWZTQUtQU0JjZEdWNGRIdGtaWE5wY21Wa0lHUnBjbVZqZEdsdmJuMGdMU0JjZEdWNGRIdDFibVJsYzJseVpXUWdaR2x5WldOMGFXOXVmUXBjWFFwY1d3cGNZbVZuYVc1N1lYSnlZWGw5ZTJ4c2ZRcGNkR1Y0ZEh0a1pYTnBjbVZrSUdScGNtVmpkR2x2YmpwOUlDWWdYSFJsZUhSN1lXTjBjeUJoY3lCaElGeDBaWGgwYVhSN2NIVnNiSDBzSUdkMWFXUnBibWNnZEdobElHZGxibVZ5WVhScGIyNGdkRzkzWVhKa0lHUmxjMmx5WldRZ2MyVnRZVzUwYVdOemZTQmNYQXBjZEdWNGRIdDFibVJsYzJseVpXUWdaR2x5WldOMGFXOXVPbjBnSmlCY2RHVjRkSHRoWTNSeklHRnpJR0VnWEhSbGVIUnBkSHR3ZFhOb2ZTd2djM1JsWlhKcGJtY2dkR2hsSUdkbGJtVnlZWFJwYjI0Z1lYZGhlU0JtY205dElIVnVaR1Z6YVhKbFpDQnpaVzFoYm5ScFkzTjlJRnhjQ2x4bGJtUjdZWEp5WVhsOUNseGRDZz09IiwKCSJMYXRleEltZ0Jhc2U2NCIgOiAiaVZCT1J3MEtHZ29BQUFBTlNVaEVVZ0FBRExZQUFBRmZCQU1BQUFBYitMa09BQUFBTUZCTVZFWC8vLzhBQUFBQUFBQUFBQUFBQUFBQUFBQUFBQUFBQUFBQUFBQUFBQUFBQUFBQUFBQUFBQUFBQUFBQUFBQUFBQUF2M2FCN0FBQUFEM1JTVGxNQUVDSXlWR1oyaWF1N3pkMlo3MFFiK1pjYkFBQUFDWEJJV1hNQUFBN0VBQUFPeEFHVkt3NGJBQUFnQUVsRVFWUjRBZXk5ZTVSa1dWa25laUt6cXF1NnVqc3JiYWQ1Mm1ZeXpXUFpBbG11NVZxaU5KMmhWMkNwYUJZenN4QVpla1dxMTlYaXlGUUJMcGZNTFNiVEIycTNjTE5ZemgyWTduWWl4NFVNZE5OR29vajltQ0pTZkhRM2xHUUpJbytpNXVRZ2ppajBaQWt0M1pWWndiNi9iNy8zT2Z0RW5JZzRHWm5SZk9lUE9QdnNzL2YzZmZ2M3ZmYmU1MFJFa3JpamRzTkxiNzN0bnErNWlpZEg2ZHJ2ZnRVdjNkRSt0dXVES1FYZnFJVFo5ZEVPeUdCVTR5K2xqRktOQmh3b2QyTUVHQUdMd0pXQ2ppZGRibW5LWWUxK2Jpa0YzNmlFc1VyZFo0VlJqYitVTWtvMTJtY0FzamlNd0JnaThDUjF0WDBWemtZbHpINDF2MUdOdjVRdGwycTBYNUZrdVJpQjhVSGd3S20zQzIvZDhzTTdKNnVWdlhLQzVjUjcrY01waHRYSHV1VkE2NC9MVVE1YlplQUxiNXFyVUpnQk9SbGkrWFBsQlBNc2hxc0p4MStDMW9BaktxV01US1BLN2JOeWdpWHc0aWFNd1A1RVlNdmxscXVGMktsVXlNb0pscFp1cXIvY3NpSEVXbW5hUVVNUHZxRGV2L0NGR1p5VFQ5RXJWMDdRbzExUjBSOS9DWktEajZpTU1oS3ZVZVgyV1RuQkVuQnhFMFpnbnlKd3lPVVdlSjJvZE9GU09jSHlHQzcxczI2aDRQZDRlZHArU3c4K3Z6b3NPMkdHNEJTU05GZVZFelNFcXp5NzhaZWdPc1NJU2luRGExUzVmVlpPc0FSZTNJUVIyS2NJSEhTNVpRTWhkc0RwZTN4d2xST01zNG5WTnZySkxaaHVEcnBpOCtDTGlhSHFuREJEY0lxVHI1eGduTTF3dFc3OEplZ01NYUpTeXZBYVZXNmZsUk1zZ1JjM1lRVDJLUUtZSnByM3hKb0lzUmVIRkxOVjl3aFVRZEFqMTA5eHE1L2NJcC93OWtQZHRmWGdjNVhaa2hObUNFNlc2SkhIYkRGSnFpRG9rZHVkb2h0L0NmcERqS2lVTXJ4R1Zkam5makg0RXNoeUUwWmdwQWg0cmthenJ0VWhtYmZySG9FcUNIcmsraW4yRmM1b3FyemREM1hYMW9QUFZXWkxUcGdoT0ZtaVYvbTVwUXFDbHZKdUZkejRTM0FZWWtTbGxPRTFxc0krOTR2QmwwQ1dtekFDSTBWZzBxMWI1aEJpancvSlBLMTdCS29nNkpIcnB6amZ6N3BsQWdQLzUzNm91N1llZks0eVczTENETUhKRXIzR3p5MVZFTFNVZDZ2Z3hsK0N3eEFqS3FVTXIxRVY5cmxmREw0RXN0eUVFUmdwQXA2cllTZjZpV0Y1aTdwSG9RcUNIcmwraW4yRnM2UWh4SEkvMUYxYkR6NVhtUzE1d2d6T3lSSTk2dWVXSVVTM0JIZTk0STIvQksvQklTcWxESzlSRmZhNVh3eStCTERjaEJFWUtRS2VxeVUzdmFzK0pPK0p3TlVxSURpb1BQMkZzOGxIZm0xQVJqNThoU1E4WVFiblpLblBCYm1sQW9LVzhtNFZ2UEdYWURINGlFb3B3Mi8wSkRMNEVzQnlFMFpncEFqNHJqWTg0NE5oYmhtZTRLQVUrZ3RuZzNKSmtsTHdWU3RNSThndGc0cyt1cDdWanI5WTdsTEtLTldvbUVmbXpyNHgrSXhjZk1rSTdEa0MxYnJhWWM0dEVZMVdHMXRYT0xkRU1LYXFVclpjcWxFQmczejF2akg0dkdoY3d3anNMUUxWdXRvMW5Gc2k2cXcydDZTY1d5SVlVMVVwV3k3VnFJQkJ2bnJmR0h4ZU5LNWhCUFlXZ1dwZGJZdHpTMFNkbGVhV0tjRzVKWUl4VlpXeTVWS05DaGprcS9lTndlZEY0eHBHWUc4UnFOYlZtcHhiSXVxc05MZGN5YmtsQXJHc0ttWExwUm9WY2NqVjd4dUR6MG5HRll6QUhpTlFxYXVCV0gyUHg2UFpWeHJPdXd5cEZIeVZDalBQdWFWSUg2V1VVYXBSRVlkcy9mNHgrS3hrZk0wSTdEVUNsYnJhVlp4Yll2cXNOTGUwT2JmRU1LYTZVclpjcWxFUmgyejkvakg0ckdSOHpRanNOUUtWdXRvSzU1YVlQcXZNTFljRjU1WVl4bFJYeXBaTE5TcmlrSzNmUHdhZmxZeXZHWUc5UnFCS1YwUGM0ejJ4aUVLcnpDMkladndzUDRJeFZaV3k1VktOQ2hoa3EvZVJ3V2RGNDJ0R1lNOFErSjQ3MHZ2LzFQUEgyczB2UFhYYm1XV1NwL2JDbC83OGJmZmk1L1luUDNiaG5kTld3dXR1VHovM3ptUDJrZ3JYM2RidXZQK1Z1dXBBTzhndEhrSGQ0THJiMno2QkcvN3Uxa2Z1K1d2Y08vQ3g5SHlHc083Ujkybnl6ZmZ1M0FVWnczQmVlL1c5bmZlOXlTUDI5M2VtTysvZlRLWStUM1hmK3NVZmYvak96OGk3MTM3eFZRL2ZjUjdGbTg1ODlnMnloajV5M1ZHWGhjODI5Z281WVFiaFZIdjFuZUp6ZjI2MDhDT0EyTXN0SGtIRnQvYnFlL3lSVHR6OHFsTjNuS25qM2l2T2RPNzNFZkRFTEZXODRZdTNQbnduSVpNa0V6ZS9ESmF5SnN0ZGRaZ2J2K3lTUTNNMHlzaHB6TFBQTVRaNENTbC9NQUw3QjRHSnY4UmZscVRpajl4Yzd4cEVMZjJ6V2pRZG83OXlxVFhGQlVIQlh4Ny9JTVQ1Vk93czZrczYvWkJzS0g2YnloT3ZiYXNyK3FRTTVCR2srMG55R3JBVW9tTmk5Z0haSElIeWloUnN4RTVkTmhydTQvbXBFR2ZFenZFd3QwdzFSZWVNRUI4eXRHdHZFZHR2UTFZOHZuQ0pxdERIL0pJYVZnV1FKRW1lTGpwcHA2N2JaN3VqT2crZmJ1dWY4c0trUkY3OVpsdFpUZ2VhMUVkY0lrU1Q1M3hNWHNnUCtjOElLUlc5SDRFNzJCS2lMY1NuVFNwYW9QdTBsbnc5QmlURUIzM3graW9yWlFFWkhGdVM2RGtxZHRWaGZ2elVKWXZtaUpTUjE5ZzFjaGpMSk5QNEdqeEp6d2Nqc0k4UXFDMko3UjlJa2krSmQ5Z3Rnb2lydldUNysvRnZHaktxSmNsM0NQSEdwSGFMMk5IWEdNMzNDZkdlNzdyMlpTM3hEbHpnaC8vY1FXMDhnbkxrWHhiYnIweHFYeEppVVY3YXVEVFIrdlN4QkdzZUwwU3FCdjEvUGxXSWQ4OG1VeXVYcHVldDNFZ0VUZkg0YkhKZEt2NVFVMXdRV0xBbHRkZnZxRi9XVDBudUlPSlBwdStlYnByL3RjbDFSOWM4ZkhsaEk4TDB6Mm15SmJaLytsdWUvWFBpMGpRNE5FaFNmY1J5eTFSYi9ONTA4dTByNHV0MnBOUzZudHpZZVZPU1lNMnpuQmV6WEUyUDNCTFRZV1Q4NEpWRGN6VEtpR2pNczArVFc4Yk80TXNwajFzeEFxTkQ0Rkd4czBuY2J1emNZSDVqLzRwVFRZU2haYW85Y09ydEtLN1Ywc1ZrU2VpL2RFSHErR1c2dCtHMlpQQlBHNzlQVmJVVG5Wbk1SOCtlUFFzS2QrRjA5aXdGUW84Z3RUcXNzOUxUVEhhYU9IVTd1RHlXdk9BeXRUNGl4RG8xRythWVNzV0hxZjlFNnhQelhtNXBpQ2VJQThTdDA5M2trUGhkZVU1V1ZHNjU5UkhJb1hMTHl4OU9hZDF5L2RmUlNOMmtnQjUyUjk4SWZJcWk5eGtUcG45T0cySjdrNGcrUlh3Q24xODVleGF5WHBJUS93bFZld1RwY2tXbHo1bytKOG56SG01aGJQV0pWTFp1aWN2VWFwQmo0aFNCcE5ZdHp6dExSTThSbVM0NmpJMGZQYkpvamtZWk1ZMTU5am11QmorSUpya1BJN0NiQ0Z3aHhHbEZmK2xUSnJjZ1I2eTRpZTJqeUMxWFlyK3FiZjZLOG9UK1Iza2JvWk9rYVpZYXRkWmZLV29ORTc3VnBVK3cxaktUNW9iNGhobmJqY2d0dGJST2x6VW5oN25iOS9tRWtIdGN5QjRkU0hKTTk4ZGdUOHFpU1lzTkZTSXAzZWwvQkh1YXlTMUlrU2tpYUxPZTRPMVNJWHZsdWlOclJ1SExpQnNYcGs5T1YxcU5QS016TFJrZ3gwTXQ3dkFJSnM4d0NrR2pUZDFrQW5tZ2ZyM3FNdU5BY1FSS2w1NWhjZ3VVMWRTNUJaMkxkQmdmZnc3TjBTZ2pyakhmUHNmUzRFdnJqaHN5QWlOQ1lNTUVJWnJNbTcyZkpFSHNXZFlTWU5xKzFrQklUb1g0SjZwQ08zMnJKYjZxMm1DbG9hdGVsT3I5ckVhWVczeUMzMmxaWW52bHVLSkFEM3NlTzZJenpZb3dJVi9mN1B2a1pNVHF5b1ZSTzFnSVBBdWlOWmZiMmpxM0lMSHBFU1JZcWUwY2ZGenQ2TWxvbnUwT0NyWXFoQzhRdUVDWVBqbTFqRnlUYjlkZ1ozT0xSM0NpYlJTU0xMai9PcHVIVGxxYlVqWnMvYXdGUXZaMWdUOXN0QnFhYzdtbFFJY0Y0N2ZRalZRWlJScWJzU1pNNjlTeE0vaSsxTWVOR1lFUklJQlozS3BoMC9SeUMzYWdsM1U5RXNBSEtKS3M2SEMwWU9QS3ZKbnMyMlNBdGtLR1lXeDQ2RzBuVGNVajJIWmhiY2tGZCtTV2hVWFZlRXRGZnQxVG4ybzMvNStpWXpac2lhc1RSakwxTi9MSFZBTklwd01xb3VBcTZnNkppK29PTm1oMGJrRUt0YmtGSTUxQkI4UmhHVWx6M2VXeWhlakl3NGZQMU1selhCaEsxbjF3Y3NsZ1FlZjRKSnRiUElKWFdSMVJwTnpVNGh3VjRnZjE0eGRrQnowdkNFUXRlK0hsRmhBOVo3ckZkUmdmZnc3TjBTaGpmQXplZ01wblJtQXNFZkREK0l5WFc3QVB0S3dIaEREMElkcEltVk5CYXNMdHhHQ2I1amcxUXBDVGo1TVR1WDFVcDZwY2JuRUVFU1ZuWlJOOFhDWDAvazZTNEwrRXordHFDTEpvV3RqejlhTHdNSStyYlZzL2NtSTJiL2JFTUlLNmJ0T1VzL21yWEdJOWFuSkwyMFg4TGJGekFoMHdZcm1neW5XWDcwbk5hb3EwTXRNb21CcDFMaENHTmhsdGJ1bk5xV0ZIMFRZS3lPVVdSM0RGeXh4dG9iY3BrNk5DM0lKY1NRZFF5YUdtN3BUNjlISUxKZzFlYm9ub3NHRDhPVFJIb2d4NnMyM1dETkhYbUxQUFpKOFl2SkdTejR6QU9DS0FFR1BqRzgzUGJYQjB1MXkwVy9VZ1JZK0pqLzRxRFJGM2RIeWkxN3RrRVdIaXRCbzl2RlduaFlhTDQvS1dJOWd3ajBKUWovQzRxbnBpMHIxam5oNGdCcTdyV25kQ1VDZzY5S01WMTNiR1pVYTUzanFtYnJYY2JCNUxFdFROV083SmxTYTMyTDBuK21iTXpobnErZnozU2dLNTdoU2g0L0FwZnVxelFKZ2s2WWNUOHBzZUpYanF0SkRMTFpZZzdtaUZRSVNHTUVOREdtalh0V2hpOElmNW9PRGxGZ1RsYzVwbVhJY0Y0OCtoT1JKbEZHck0yZWQrTVhnREtwOFpnWEZFQUZ2aE5wM1E3b205Q0YxTlB3R1hJMXd3MlFOWHVrTlRtRzBYWkFXOU5HaVlnb2JGRW9SM214d2lLWmlMMU9Vc3hFQVhHblgvNURBYUZCd2ZObTNNZWNOTzhsR3paQzZRQ3UxY0hZSWlYOHk3UGJGREpnRGJBRTIzOVZzTGttNitPejFqc1lnRjhCbEI2QndYQmpmNjRZUWxvbHc3b1J0QVVKZ1Y1NVlaSDN3TXRZNXVPSUNyM055amNtcHlGVjMwZldBaVlQcUV1Y1hPTzV3TzQrUFBvemtTWlJScXpOcW4vQTd4ZmpCNEF6Q2ZHWUZ4UkdET3JSdmt3d01iS1RPdWhqaHNqcFlKMWFob3lza3ZGalltMGlBRTZpMkhobzFvcXFNbGlBeDIwZENpUllYcG1wcDN1T1RPMnFwcjBuOEprM3lUS2RENWhCRVlJdGp4UWRCMVNoNDIyUncwUGNLSWJ6dklCWnU5VXQxcG0zRFZpbmVGUjk1V3loMDFReHExVmhpVSsrRTA3ekp2MHp3cUtjNHRTL3JGTmltR2UxS0RlSTlYRTlUUjlpRXlsYVhQeGJubHBLYUJsTE1xaS90S0djVWFzL2FwY3N0NEdYeHB2WEZEUm1CVUNLeTRnTjR0dDNTY1BOaU1kbGRMTWtBaGVKa3ZTMHlrNXEya1JsRnVtVEZCUjlKRXJEMnVpS2QyOFVOUGJkWWN4LzVMRU1qR1VDK2NiM203Tjhod3E3UW5acWIweVpUWjNBb2ovam5IUGQrZFhtODRhUnNVNUpZQ1lkQ3RUMDdybXRNTERHU0Z1UVZMUXkrZFFhNS9WbDJSVzh6aUJ3OTdURkxYWlBzNkZlZVdUVTNINnJCZy9IazBSNkdNWW8yRnVjV1pPRDE5Y1ZmNzFPRDcwaDAzWmdSR2dZQndBYjFiYnZFZWFHQlR3VjB0eVBueFVSdTg4QURsb1dOSzdvWUwyN0xDK2k1dXJMdWh6ZHRNazVvM3pPUzZaYWpjQW9Gc0RQVnl5NGEzMVlZdG1ZdHlrK2p5dEJibWYrbHpHUEZQTzFIejNXbDdhdE0yS01ndEJjS2dXNStjamh0T3IzMlRLaFhtRnR3d3lSNHRzYXpVbVFhNVJiNUZUdDEzSzdjWU9HMXVLUmgvSGsxSXQrdktLTmFZdFU4Sm1ETngydmQwVnd2NzArQ1ZQZkFuSTdCL0VNQ2NUTDh5VERMNXdURjBOUzlTVVFTd0E5aVMyMDF3dVB6N3JJMmkzTkkwMDI1SlpjYUd1OVR0NDlpNFpCbjFWNEJZTm9aNnVRVWMxZzBoakJ3YlhGaTlDUHo2VEhDRUVkOTJvQ2NVMmU3RjhIa1VDNFJCaXo0NElSWHF2VWFQY21GdXdZNmRYcWxRYTZ4aXRKS2h1NHVtLzI3bEZrUGY2ckJnL0hrMFI2R01ZbzJOdGNFYjBQbk1DT3dYQkRBblU5ODRsd0lWNXhZdlVzMTVEOFNUZVRsdjMvQkNsaDFab3lpM2dLV2RnU2YwV3F4K21KKzZyUWNibHl5MS9ncWhRQ2YwOHhacy9JdEZRd2lUZVN4dEtPd0tjZCsvTnJWMERpTytFelhTdlJnK2oyQmNtS0U0YWVxRnVRV2dlaHFqdVhwZGRrRnVPYWY3UnRjdEw0eC9nZWh2cDAwbmV5N2NFN1BiUjFhSDhmRkgwQnlGTW9vMUZ1WVdENzY1TVRCNHF4Y3VNQUw3QkFFRUFHL1h2VGkzbUhlNUlIYkRKZ05jek1pbzFmWkNsaDBZMnRYdEJRckdkMm5tNk4xQXVOTVBPZ3JDbFUramJCa0NyYm0ySjNSdVFTaDJuQkhJYUZDUWtvNXR2Y3RFbmNMY1VxY3FlVVM2RjhObk91SGNqZ3BERGZyalpLTzJwUTJKUE1WNEJMZkNHNmtReTdJVHdMYTR0RVdPSUlZVFA3d05SczI4UUZteDZyYkgxQzBpSTJpT1FobkZHalAyaVFGaTN1SGgydkN2WnFRSllVZzJSMnRBcENuVjdRVUtodUFvRE43bnkyVkdZRDhnZ0dBVFB2VEZQcEU2akdmZ1NrM3h6UTFFNnAzL1lvNldYSU9JSUhyb2huREp1dWxEWjBPUWdzcW11d0ZuMXhMRTRwSnIxMWNwdFE5eHFKdkpMVWlkNG40aitSMXFhazkxOHZpZ1pSQkcvRTFiSCtsZURKL3RKYmZTVnQybEVZWnErdUIwRktnN0lycFVtRnNhd2ZNbXltNnJza3VQM0FJbThjTytUR2RGS0ZCV3JEbzEzR1ZuTS80SW1yUW5xNDdkVTBheHhveDlRc3J4TTNpckZ5NHdBdnNFQVVRVDk1eXl5L01XYitLNlpBS0FPbmVPeVM5Y3JPWUcxQ2pJTGJTcnZ1bGF1NGxrTEM2NWRuMlZ3T0swNjJEQ0dYSDJqMDlTa3g4MU5mL05kQ2lLK0pIdXhmQVpZamlEUVVRWWF0QWZKMjhTb0trWDVwYWxYRzVaazExNjVKWkRiUU5HZU83bzM0cldiT2xVb0t4WU5XaEZ4aDlCY3hUS0tOWllZVzVaeW9CeGJCOGF2S2NaTGpJQyt3S0J1Wks1eFM1bjVMZmN2U3NhQlcyZGU5RkRENnhSa0Z0b3h4dnVhUTdhaDFIbFdGd3lyZm83WndReXVRVXZ3L3FjRmMzYUNtcnBvQ1FwanpEaW0xcjFwMUh1U2pZdGhrL1R3cWxBR0dvd01DZE52VEMzYklUZnRHbWI1MkU5Y29zbVcrWlVvS3hJZGNINDkwWVo5UFdXVXBNcHo4UmhJTjRWZ1pNWmtzYXJzWGNHWDBaajNJWVJHQ2tDZStCcW1hQ3kxN2tscWIyT01nc09FMEFHanZqWTBqRTBQQ1ZtQXRFSkw3OE56RW1UTDh3dG1YRFlIcGZjc3V2SzJJdmNNZ0tEOTh5Tmk0ekEva0RnYVAvVHVLVjhCRVZnWHMyTnA5RmxHcmZwV21NcXJaOHBSK2E4cmxsL0pRaDAydlV3NFp5MllUSUxEOWxvNHRWdDNMSFBNNG9pZnFSN01YeU9lK2s5TVNkYW5GTWZlMkliNFo1WWFoNDk3OFc2cFdEOGtUR09RaG5GR2d2M3hMeEp3dElZR0x4bmJseGtCUFlGQWdPNDJva3didEV3RUpqWGNzTnBGT1FXZW1CYmQ2MGhnWDVJdmV1NWhUaHZPczVlcWZZSzNCSW5WVTFSYm9sMEw0YlBJdzdLcDkwbDRMTkpwRDlPZlR6TEJ4UHZSU2VubjMyVVd5Sm9hcEIyVlJuRkdpdk1MUURUZTl3b2hZUks5NWZCTy92aUVpT3dQeEJ3VDlKSkh2aTduYThWdXRwQytOMEo2dGMyODJLNk1FZERwNUJEK3RkWERFRnM1R1J5aTk0QTc1bGJ5djkvQ3dUeWZCL0JRWVp6K3Y3aGNTTmU1bnd3TmZ0R2hVOUJJdDJMNGZQSXg0V2hCa1c1SmM1SkwrODh5blpQYk9ta3FqVUVHN25jY2xvMjJKUGNFaDkvWkl4MlpMdW9qR0tOR2Z1RUZIaFB6UHBCZ3Y5V0M3NHNSRkppU09lc3RLWUEwT3RVcnM3Z0RXVStNd0xqaHdEMmdyMlFWU3EzelBsZkpWTWpYckZ4MlVPZ3lOWGd1SDZFUDJxLzV0OHJ0L1R4L3kwUXlQUDlFenEzMEpPUFJVOUNGSy9YUVZrK3FkZmZsek1CR3JmbnZVV0dmSUtiNlY0TW44Y21MZ3cxNkkrVDl5VlhUYjB3dDBCdTc4dC90RzVabDEzMkpMZkV4NzlIeWlqV1dHRnVtZHNyZzlkYTVoTWpNSTRJME96UnlWMHF0MkRtcDcvc2FEc3VCUE04WGQwb21NYmg5Vld6KzBRdDRibDZ4NkZYYnRtQ3JBV0g5K3FQNUE2Qkxtb3hjRHBoTWtUYmZJZlEzcHQzelZiTVQ5a1VSWHlhclM3Ym5ySlFESi9YcmtBWXRPaVQwekdQcUN3VzVoYmtFTyszT2ltTWI4b08xZVdXdHRuSmxML0pkczVJRnROaHdmanphSTVDR2NVYUs4d3RlMmJ3QmxRK013SmppQUQ5eklZTFdhVnlDeDdDWm5mK1ovSXpPL2MxNWV3V0FmMmR5V2tIRlNLUGpreXh1T1RhWVdXUlF0ajQ4V0cvSGNvelFiSTdZY2E0Rkd5VlVaOHR0NU4ralhrNXRURGk1N3NYdytjSlZDQU1XdlRKYWRFaktvdUZ1UVh2ZVh2cEZ2RlVMMDUzSmJjY3RScU1mKzJsWVB4NU5FZWhqR0tORmVhV1BUUDRyTHI1bWhFWUp3UmEvalpScWR4Q3MrQnBOOFFYb1F5MzlFTFo1Si9JdTQyaWRjdVdGNHZrSDNjdEsycTljb3ZqMmJNRWdieXZrdHZjTWhmOGhPWGtMeU8zdUovZFBHUlNabUhFejNkSGR2QjIyWHo0UEJFTGhFR0xQamw1R2ZrbXFZSEMzSUtmR2ZHMk9oRWM5VXF6dXR6aS9Xa2tZRGxuaGh2VFljSDQ4MmlPUWhuRkdvT1l5M29ZNGZPV2NUQjRneitmR1lGOWc4Q1c4eWo1cThEMkdXYWhxOUUvWUJ4MzhyYzJFL3FIQzI5bjdTcTFGbGpRdWVXd2p2S1dJQXJlanhTMzdPLzd4dUtTNDlOWENRSjUrM2FZSVIrVDNiSFo3ajJHT0FJNXQxd0lQaUQwUzc2RkVUL2ZuZjU4ZmRsS2hoaHU0Yk9WRXAyWU1HalJKNmVMam1oN2s4cFlrS2pYd1ZZVzZkSWpDRlNuVlJVK0FiaittZXJxY2t2VFpHSzVRRDFuZU1WMHVLK1VVYXd4YTUvWlovbmpZUEFHZno0ekF2c0dnU0RRWXl2RkJzZGlWNXZ6ZDVZbVpWSkJLRnUwUTlwU01YQmVwNkFqK20xWVN4Q3h4aTBxTUNrMFM0ZFlYTEpFK3l3RXNYWEQ1Qll3ODdiemFIdC95KzBJVHBoMFZCang4OTBwYkxzODZjUG55eHNYQmkzNjVPUlFtMUtwSFBOcmxTdGJkY1hQRXR6eUZUSm5IdVhUZnhxdkdjbmEvdExHVkpZK2U3bGxwY2U2aFpZSzA1Ynd4aDRybzFCajFqNXp1UVg0V2RUd0Roa05CVU5hdEVQYUR3WnZoZUVDSTdCUEVFQjRjaUVMb2FkRWJrRUlkVThwcnBSVGN1U1JjM1pBSzh1eUNJODhTWVdyTkVubnUwMHZxbUd1YjRKemxia0ZBaTFLS2Vnak5lR01IdlZzMnVybU11V1dkWE05YVlDd0FUcnpucGo4NC90TjB6eWg3dlMyYWh3KzJ3eUZBbUc2NUphOG9NVEpyYkVPcTRVUWtwMTZaTjgrcHZoWjBmRUhMazRoU3phMlY1ZGJscHcwd3VNVjFXSEIrUGRHR1lVYWMvYVplUWVaL2h4czN4dThiMjljWmdUMkJRSmVrRWdRaEt3VGhhNW1xMG5tdHRrOVFubGU3cllnUTlnUU82bVhBb2hqcDZuMVVaMDdIRUc4VEh5Yzd0Q0JERlNYaGZoellIMnI3eE1Fc3JFVlpaTlI4TXJQcXFFMUtXWXB0NWpNaGcwbXZYRmtBN1RNQ3B1bVBjNjU3dlM0eUVWOEh6NnZGLzBCV1V5WWJHN3B5Y21seTNtZHIxUDluTXVzQzZ6b3RkVHQvaUVEbVM5U1ZwZGJGdXd1NkJVZDc2VzhhRzRwR0g4T3paRW9vMUJqemo0cHQ0eWJ3ZnYyeG1WR1lGOGdnQm51dWhZRTIvYzJDdEgyaVV3TnVJZE5yTURWWHVCZUlxNmxKMlhucGwwYUpGZXBPVFhOOW1SRTNWcFQ1QjFCdUs3OW04cVdlMW5XbTVpanJleXJCUnZnMUxSYmJmVGRONU8vSmxMSDducWE4bStaalRENmdzdXE0bU1DdHJ4dHNwSzhsZXVlSkVYd0tWTDZNeTRNWlZQN0NzU1d6WDlkT05sRlpYdFpVZDVRbVczSzdQUTVndk9DVXFjOEVEU1ZrdVFmc1ZsY1V5OHI2cFo5bkdic1d1ajY5M3U1SmE3RCtQaHphSTVHR1VVYWMvWTVsZ2JmaCs2NEtTTXdFZ1JxYlp0UDVqQUR0VitMT09xbStIZ2R5WHNFTG5PTm1RZ2YwYysvbnluRUI3UzRLMytsQ2lZanJlakE1aEZjc0k4OU1LVmQxdjNvN1ZCZHBEK2p0T3NKVTlmZkdRTFZWWThKa2JyZ2loQ3VxNVBXS3U3aityaHFocDJyVFZXeWZ5Z2pIMU9iMi9KZXRqdit1TElBUGsxVW5RcUV3WGNhTlh3bE9lMU1LM3FITzdvQWVUWlJkZGhvelJIRVBHRk5OY1pFWFdkNytXNzJSVjFMWDZqVVZFeE5QMmU4MTFCWDdWZHVjbE9GQWgwV2pEK0w1bWlVVWFTeG8rTnQ4UDBvajlzeUFpTkI0QmttdkU2bEQySGFlVXd6UGVFV0syalIyZlJsZVlrSjFyVzJ5U2hOMFptVlRhNjJGSnB5Vmo1aElwaEhjQ29WZjZEb3JiaGtoalJqTjMzUTlyTFBzUDl5cldYeTRhT1hsNFQ0cEtZd2FSY3V6NVNCZXN1dTFHcHRIYUR4SnJISk1pQWkvcWZQTzlzZDl3cmc4M3NsQmNMMHlRa1Q3azhvc2h0bU9LZzZqYW81bllnOWdzbWpZbWRXdGtZV09LbTZ5UmUremQ0bHRWMDM5ZjJmSjAwa3Z2b3lGcWlYZEpZcTBHSEIrTE5vamtZWlJScUR6Wm5WK1RnYWZQOHE1QjZNd0c0allPTDcwbVdLTnp0bmZ5Rkpubi8yZDFBVW4zbmJabkx3N08xVTdMenI3QnV0SUlnVmwyUU9PbUZtMHJRREpxUFdaTnR1M0Z3dmc5b3paY2oyQ0JLVjc5UnA1Qi9ON0hmeTdDTXBjYm5yN0t4aC90bXpmMm9aRGxBd0lmV1FXRWZVRVAvam9ib2tnckR4MjFTNFFxMnpzQTJqSSsrTDVRSnFRc3Z4bXg5UGt0YytqTlFpeEdmZjl0Q3M3RW9mbWU1VUZZR1Bxb01qSXN3QW5EWTBhaSsyTDdmaHNRcmdyYlVwZWZnRTZiS3RGRExWTXV2U201UlNQM3YySTdidFhXZWxHZ05aUzE0MFZQYXZyYXhDOVdMN29UY21YWFFZR1QreHlhQTVJbVhFTk9iWjU3Z2FmRW05Y1ROR1lIUUlUTFhGcDJlVHlZM09KdVVXVEVMbFZwRXNZaUdCc0tBUE02dURaQWRUc2Yzdm4vWHNEVy9tKzJVaFB2K0ZhLzkzeTB4aFpYUzc5SVhucEtkcEpGdUd5Q0pkSmNrdFF2elpkejM3M3dtQjd5L1NRWTk2MUxIcDJwcU5OOVdrMzg4dml3Nnk0VTFZZUZCdXNVK1B3UGs5WDdqMkZYcGR0Q1VXSCszOE5HVDlJUjJKbFJBeVVhNllzbG5Ha0FSaGQ2cUp3RWZWNFpFWEJsdUc2a0JLTHMrcDgvRm52ZkRueERzc2NTVHAvL292YjVGUGJYeUNkQjg2dXZ4L1hmdXl0bmhpV2pWZk1CeS9JYitRcEs3cTZsNy9uN0NWRDA0bkUyKzVSTk1LSEk5MTFXRisvSkpqaU9hb2xCSFIySlpDZzVMMzJCcDgvenJrSG96QUxpTndSVnVJTTZMekJrem02YURjMHJudzROMzNQSGhCdXRxRkJ4K1FaUyszSk5RRmgxd0NhT2xlSTJ1Mmp6dGh2NDFxMUY2L1IxRGRSMXFoNDFkMDZ3UGl3bmx3T1hNQmNWeTJ2ZnZCQytsd3VTVUJpNTFVZkhvNnpDMVVqVU90dTVMNXg1UGFpdWljd1I3Y0xJa3lKZVY0OEV4S0ViOXovc0c3NzBiWnp5MWhkeWw5SGo1WkhYN2toQm1FMDhHV2xQMzNIT25hQnRVc1U0VlBVRGJRT25waVZsN2g5M3hKcVlRcjVSWURkMTNmN1AvMEhWaG1QaWgyam51NXhSQ042REEzZnNWd2I1U1IxNWhubjRmRnVCcDgvenJrSG96QUxpTXc4YnA3Ty9mVnNWRjAvbjIvOFRNLzlxd3kzQ1orOXQ3T2UzOHlhSG5kN2VubmZtUFdyN3J1anZTK29rMlg1OTZlbnI5cjAyOWRlZm01ZDZUbmZ3MVVYLy9BdTM3eDMzeEJ6OTZUQkp3LzkrdjY2dnFUMkZMNjJYYm5nVCt6dDN1SjRYZFhiVXZCVnlCTU4yNTVUclZYQTNXM040bk90Wis0ZCtkWEM0aVFqdTdINXQ0dUhRZHVPOU41YnoxSnJqNy92b2QrNW05bmUzQXBHTDgveHRFcG81VEd3Z0dOZzhHSEV2TVZ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N0llcldNQUFDQUFTVVJCVk1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TUFLTUFDUEFDREFDakFBandBZ3dBb3dBSThBSU1BS01BQ1BBQ0RBQ2pBQWp3QWd3QW93QUk4QUlNQUtNQUNQQUNEQUNqQUFqd0Fnd0Fvd0FJOEFJZEVXZ2RzTkxiNzN0bnE5MWJWUEp6V3UvKzFXL2RFZjdXRmRhSXhPbXF4UjhzemNDdFp1aHpRdXpxbUZ3MGJ0di95MTIzUzRtYm43WnFkdlByUGN2R2ZjWUdJRjlGUkRLQ0RQd1NMOVpPMTRwNkJoQmJtbEtSdDF6eThpRStXYlZkbVhqYmt0dGJpcDZ3VVZsTER4Q3UyNFhDM0k0Nng1TEx1NDJBazJKK1Q0SkNHV0UyVzFBbm5UMGQ5MXREV0psdERjeVlZeFFmQjRNZ1FrWkY0VHFIRndNUnE5SHIxMjNDODR0UFRTd0M3ZjNWVUFvSTh3dVlQRGtKbm5nMU5zUkovcFp0L3p3enNsQklIbjV3eWtZZForbVpJUVprRk94ZEpVVExHYjFKTC96c2xOTkliYjFJSU9MWVFkK29QWEhPUks3YlJmSjg4NjJZSnpyT2NaalV6R0dsajFBUUNpaGpnR0JLQ05NQ2U2NzBpVG1FYnZDYUJlSWJ2V1ZXNjRXWW1jd0lhWjY1aGJROVlRWm5GT0JmSlVUTE9EelRWRTlLY1RqZHFEQmhhMGRxTEFoeEZxazQyN2FCYkdySVZldVIvaU9SOVY0V25hL0FhR0VMZ1lIb3BRd0pTU292a21CUjFUUGFCY29IdW9ydDhESnhVQUxseVJaNnJWdXdlQThZWWJnRkVlcGNvSnhOdDhjdFVnbjM3QWpEUzVzN1NBRmNuR1hzeHlGM2JRTHlXVnVuSFBMbUZwMm53SEJXVU5oYVFnZ3lnaFR5SGNYYnhSNXhDNnlySTcwd2I1eXl3YWNQemF4TENGUG8wUnU4WVFaZ2xOY21Nb0p4dGw4YzlSQ1VSZnRTSU1MV3p0SUFSUFA2THA0TisxQ3lubDBuSFBMbUZwMm53R2hoRDBOQVVRWllVcElVSG1USW8rb25ORnVFRVJpN09ONVN4UE83NEpLWC9Kc2xjZ3RuakJEY0xKaXRlcTJtQ1JWRVBUSVZWazg4bGlWMUVaQjY3QVFxNVpQY0dGckJ5bkl4L2FSamhYYkJYRUliQ01adDl3U1NGK1JaWS9hQ3ZzTUNCR3p5RllOQVVRWlliTHNkdWs2MEVPUlIrd1M3MnJKZW01Ymd2Q0c4SU5LaVE2dVNSbnRlY0lNd2NueWJOZHRNVW1xSU9pUnE3SjQxZGpsbG12OHJkSGdZaWhjYUpabTNoSHdDVlZzRjBRNnNJMEVRMWozR2U3M2NpQjlSWlk5YWl2c015Q1VVTWtRUUpRUnBvUUVWVFFKOUZEa0VWVXcyblVhMkN6dlk5MHlCK2MvUHBoTTh5WFdMWjR3UTNDeThxVjFXMHlTS2doNjVLb3NYak4ydVFWZ2Jsb0VnZ3RiTzBpQlhtais1MGpIaXUyQ09BUzJNWGE1SlpDK0lzc2V0UlgyR1JBaVpwR3RHZ0tJTXNKazJlM1NkYUNISW8vWUpkN1ZrdlhjdGdSaGJIdy9VYUpackVrWjdYbkNETUhKY2hkMVcweVNLZ2g2NUtvc0hoMjczTklRK3VzdEJFTndNUnd1SUxVY29WQ3hYUkNId0RiR0xyY0UwbGRrMmFPMndqNERRc1Fzc2xWREFGRkdtQ3k3WGJvTzlWRGdFYnZFdTFxeW50dVdJWHpUdStwbG1rWGFsTkdlTDh6Z25BenppY0FEaytFSkdzSlZuK2ZHTHJlcytGdFh3Y1Z3MkV3Kzhtc3hBdFhhQlhISTJNYVk3WWxscEsvR3NrZHRoZjBHaEpoaFpPb0dCNktNTUJsbXUzVVo2cUhBSTNhTGVhVjBmYmV0bEhDV1dCbnRWU3ZNd1RDM1pBWGFQOWVOc2NzdGJmOVY0ZUJpVjFDdDFpNUl4SXh0akZsdXlVaGZEZWFqdHNMUkI0UXVPSlVScGt2M0ttK05XZzlWeWg3U3F0NXRRL3IycW96MnFoWG04TGprbHBWeHl5MDEvK3N0d1lWVmQ2V0ZhdTJDUk12WXhwamxsb3owMVdBOWFpc2NmVURvZ2xNWllicDByL0xXcVBWUXBld2hyZXJkTnFSdnI4cG9yMXBocmhtWDNKS09XMjQ1NEwrSkhseFlkVmRhcU5ZdVNMU01iWXhaYnNsSVh3M1dvN2JDMFFlRUxqaVZFYVpMOXlwdmpWb1BWY29lMHFyZWJVUDY5cXFNOXFvVlptdE1jc3VVR0xmY2dqY2pWNjFpZ3d0YlcybWhXcnNnMFRLMk1XYTVKU045SlZpUDNBcEhIeEM2NEZSR21DN2RLN3cxY2oxVUtIdUdWUFZ1bTJGZ0xzdG9yMXBobW1PU1c2NGN1OXh5bGYvMWx1RENhTHZhYzdWMlFiSmxiR1BNY2t0RytrckFIcmtWamo0Z2RNR3BqREJkdWxkNGErUjZxRkQyREtucTNUYkR3RnlXMFY2bHdvQlkzVERmMStmNXNjc3RNLzdYVzRLTDNRRzZVcnNnRWJPMk1WNjVKU3Q5SmFDUDNBcEhIaEM2d1ZSR21HNzlxN3MzY2oxVUozcVdVdVZ1bTJWZ3JzdG9yMUpoTUordUcrYjcrdHdldTl5eTRIKzlKYmpZSGFBcnRRc1NNV3NiNDVWYnN0SlhBdnJJclhEa0FhRWJUR1dFNmRhL3Vuc2oxME4xb21jcFZlNjJXUWJtdW96MktoVm1aVXh5QzM2T2E5eWV0Mno0WDI4SkxveTJxejFYYWhja1d0WTJ4aXUzWktXdkF1elJXK0hJQTBJM21Nb0kwNjEvWmZkR3I0ZktSTThScXR4dGN4eDBSUm50VlNrTWxEUWU2eFpFaW5ITExjRTNXb0tMSXUzcitxbi84TUJIZWpTSjNSN2NMdUlNYzdaUlFXNkpjNHFOWnRpNm5QVERFcVQrbzdmQ1VRZUVyaWlWRWFZcmdhcHVqbDRQVlVudTBmbWVPOUw3LzFUdVBQdS9KM2JkN2VubjNubk1OWnQ2OHhueHdNZVQ1TkYxMU5WdWZ1bXAyODRzMDkzYUMxLzY4N2ZkdTRiK0g3dnd6bW1xa1VlMk95b24zM3p2emwyZzJGVjdXV0VHNG5UZGJlM08rMStwSlRuUUZuNXU4UWpxQnRmZDN2Wkhlc1BmM2ZySVBYK05ld2MrbHA3M0VkRE5Cem9CdmM3OVA1WHRXbnYxbmVKemYyNUEreEhJR2VhV0FQTnNaMXovL1ozcCtmODhHOXdZb0V2UVAwbStyWDBmbEpRa1Q3bDM1eis1VzE5SzN5OXJYUTJWZ20rMEJCZGhPM3YxbkR2VG5iZGl3QWVobEE0STN2REZXeCsrODd5OFBYSHp5MkJUYTdMOHJWLzg4WWZ2L0l6dGhVSVh1MGk2YVN6TDBLY0pGWWUyZ1pzNnQzemwzczc5YndyYlJpdzZhQkRsVkh2MXZaMzNHVUlUTjcvcTFCMW42dWoxQ2xpRHFkVkVmUEp4bjhyWlVFYjZYcGJkbGIwZFN0NEtjU3ZqSXJaeFFTRXI2YlZmZk5YRGQ1Q1dienJ6MlRlNFBnTUZCTlhkUjR0cUFyUDNnSWdqaWZHRXdRMFVlZ3NEYjl0NS8yWXk5WGtsQWo2THRmdkFmMVNOcGo2YWl5RlpweTJ3M293ZWNoNFJ4bzRNQWxiQ3ZTMU0vQ1grS1NNVmYwUlBOYjNjOGc5Q25FL0Z6cUlSN3FtcGVPL0RkNHBQSFJDblVRVVB4TEZNTjJudVJIL2xnbi9zdXlBb0pNc2oyeDJWejArRk9DTjJqbmZMTFhsaEJ1SDBRMUlrOGRza3ljUnIyK3FLUGhITWZOSHBmcEs4QnVOSG9ETTJqeTlwNEVDTXZ5TEZnTVJPWFRhU0g2L1pYblFYZlpVT3BhTFRGZ0E1T0E0MEJSMlhTS3prT1IrVEYvSkQ2eUhFUE9ncUw5NENIVUhDNDk2ZEFicDR2YWw0UUhURXBla2tlYW9RcWZpd3VmazBZR1QvcSt2TDI3TzZIbUQ5azJtQ250NkZyUTBLM3l1SDk4UjByWFY1ODVsNGUxbUJ2U1BiYk1sNzUyUTVwYkwzZTNWZDdhS0x4cElzdzBDYW5HM2dMdXh0UFVsdUVSMkk4RUcvZGNTaS9kdHhUbE5OMFRranhJZFV5d1VhRlMyaFg5K0RmTlNuc2phVWs5NXpGY1V2WTluZDJKdWhSS3dRdDBKQ1N4Y2V2UHZ1ZTg2a1gwc1dxUFRnaFhRWjN0STUvOERkOTF5US94T1hsWlNXUXJEVEpIazZ4dDJwRzE3UFR3Y0pDTEozVmhtaDJYdEFSSkZNc3QxQnM2Y3d0YmVJN2JkaHpucDg0Wklad0ZSUDdXSUtoUmppaG95ZVdhZU5XMjlPRDhBcThJZ2dkb0JzaUlDUmNHL1B0U1d4L1FOSjhpWHhqaUMzZkljUWIweHF0NGdkR2ZjbzRseW0wbFBTdHZ3K1EwUjdMOW4rL2l2dER4eG51OVBnaFhqM2JESzFjbWw2M2piTERqMGl6QUNjdmsrSTkzelh0UzlyaVhlQVBuNjF6aDAwQkkrZ1pQOWxzZjNLcFBZbElSYmxwUTUzanlVVHJVOGZvM210aTNDd1UydFdxbTNaendQcEUvOHFTWjRuWE82bG5wTXRzZjNUMy9Mc241T2hQR2s0TVhXT3oyQ2VZL2FqNHEyenljU1NiN29EZE1tU25iODB2UVVkVDZhUHoySzZzS2h1MTlvZnhoZEI5QVYra1hWWlZTZkJOMXFDQzkwZ1BBSEJYNTMrMWhYeDlVY3ZUMlBBLzFRMnQzUzNDK09kZVkzUnhDZGtHTWlUc3czY2hYbXNKemQyc0tqQXhISFpOWTlZdEx1SlVwVFRSRk04UHB0Y2w0by9sRzFOY085SkhzUndyQ1crVCtWc0tDZDlMOHZ1d3Q0T3BTRTVxdzg5dzBtU2pJc3M2VGJJTGJxMGpOeWlpcFJiY3BLYTNES1p2bnU2YVNld0F3WUVFaldyakl6WmUwREVrTXgxQjhYZXdpd0k3TzBrdGRmdjJDZU12YlZiYXlKcVRyWDhzSkZ6MnJqMU5qU3lkSko2U0tua1lsRVlPM0x4bVVEYSsrTlJzYk5KVXR6WXVjRmJ0OEJ1ZjVscU44d216ZEwyTEYyVEM2M2lkTVdwSm9hNmpGSnk0TlRiVVZ5cnBZdkprcm9wQTNyWUhVczJQUW1lYUgxaXZqQzNSSVRwbnhOQzNPK1RZTFVUblZud1BYdjJiRk9JdTNBNmUzWWExUjVCYW5WWXAwOU16RlVhblRoMU84YnpXUElDaEw4a09TS25zZFF3a1o1MFhCWDcvRnlTdERCdG96bXhQZkRvZTVNdW5pSStnYyt2bkQzN0NKS1hsUE5QcURySllDN3J2STlEUWphck5jVmxXenRBRjl0WEY5cHJ5Wlg0ZWZ2R05vWi94UHpPL1pIdEJQK2FwWmNvQVBpMGJueFZYMTl2bVdpTFQ2SWpKakUwZVY4U1gwMG1UbUhNWWtkU2U5N1pGc3JuWlBsV3FuYWUxTjB1aWpXV1p5aXBtNCtjYmVBRzVaYUpWQ0xiOG9ETk9ZU2hvYzl4VGczeEJGQ2tERnluZHM5N21FWlk3MDArNWxNNUc4cEozOHV5aTltVGNPcklXMkhlUmI1Q0RpTEVmUjlKWG5SSGlrTG5ydVB3czkraHVwMWZBWm1jcE1uTEgwYTduZVQ2cjlOL2xjT1U2QmcwSUtCclRoa1pzL2VBaUNHWjYxNUdtRVBpZDZYWXlKTjZBRWx2N2FvWWNxVndrNVM4MDhhdE42ZUhqRWVFc2FObnJGQ2lqL2dUMHcwZEo1WSs1ZVdXRTNvRHhIakZRVXlpRExTcnNsQmJjWWc5aXR4eUpYYVIydVlIUUxMZDBlT0VTZDZIT28yaTNCSVhwbDlPVFJPVWFxMi9VaktEWVYyVjVLZFBzTll5ZW0rNC8zMi9FYm1sbHNvdWVJWmdwMjlOWWNIeXFKVW8yaDhVZEhhSlhzN2tudEdoQ0NSOUJpaWFJNCs1dWFQT0RkMVdwM3VxSEtCTFNKUG1uOGNRQURvSFpSWkVGcGlWRFRhQTVEWGk2Nm94d3UraUtpVXpQckxCaFc0UW5LNFhsTzNwcS9Ea252TmlsUzZlWVhJTFpnTkErQnpWNFhpYWwxdDYyMFdCeHFJTUZYM3oyZkJIZ0VyS0xTOVF5R0k4eDB5emlFV2JXL0ljNVFTNVQ4cTdkb28yZ2VSU3Y3NE0rYXhQeFcwb0kzMHZ5eTVpSHd3Rm9kZXpRbWdsN3lLMEd2aEQyUW01d2hnRFpIbGlGcFZSU1pGSmRwSm1uVjc1MXYvSk1IaEFRQ3hSMjdPampFNE5OUUdpVEt0elMwL3RidGJTNHdTUy94d3k0clNZMTBmalRWWVB2a2RrWTBjdnh5Y3hSbjVzbUVCTWt5c2JSbEZlVnFLME1MbkVNU00yMVRXTVkxV1ZabXdibW95c05lQkZxZDV3ejNXWFU3ZGxUV0VEakt6UDZqcDFpZ3REQWN6MExjSHBpRzM5b2xUUGZCdVorT0VSL0U0N2ZxeE5wU1ZBRklUVXg0N0luV042YThZWUZhVk9tMklEdVh0ZHpHM3JwL2p3ckhYYnVHVllUNzVkankrMHBnam10aThLRStJOXMrcTZiZWZYQTNUeFNWTDVHbmdPVUY1U2E2RlVTVFpKdWZtb2tYZk82VzlCaUdsTEliaXd0VjZoclpkQkNFM0xRUGtYNVMzOGs2UkZHSlRQNmZad1NMdHU2VzBYaFJwVC95OFdNUFFFUWpGckc1UmIycHV5RFhxdDZjWVJpOVozOUNrNk5DczNiSEpXTlp5SEtiWTJaYms3K2F5bHgyMG9LLzJNUkZhU2oxcDJuTDBTelh5R1ZwZ2tNVUp0Nnl4dHF6MDQwQ0xSaUV1NkpIWU9JaU1BWG1VeERsSDVQN0RIRFBmZ2JBSGM4K2hVY3pQUHRzNHRWcmhDN1pyL0pGNFJIVDJzbU5NV3hadXNIbnlQYUJubjBMR2poK01Ib0k3cUFybDMxZkJxdXR5eVlBMW1YbVhwSlQzWm9GbUo3Z0FyV2RaZFlWVWZvUGl3b3AweDE1MldMVm9qY3I0ZXp5MEZ3cEE5OXNISkpnTklwUU5mSTVOYlBJSnRHejZTSldjK3lDMExpMnB3V3pZczBQRE1Jay9kSy91NVlmZ2pqdG9wb1FzdEMrWVplR2hORWN4OWhuQk9UUXNpMXRXZEFicjRKS204QmFJZ3JRZTZvZmJCYUVzczBhWWd3N0hwdFdFTkJUWEJoV25obmFGZmxUbVFDWFRtcHJ0ZWJqbHFXcUE2TmU1RFcvbXIxSkNPcGpOUzN5NUFKS0t4QW9hS2t2Nk0yTVpmNlBVWnRDVW5WbWdac2VpQVNwUVRERkRuSmd4NFZiWEhDSCt3RlBtc1QyMFlKZnMyRk11TXkxcXdxR1hIMmVzZStoUmFJZTFHbUF6clhBU29uVlRORjRTSm0wbXE1aU54U1lIZ0RPakE2dFZNWW9pQWtGTkd4T3c5Rjg4aW1ldGVKam9kRWhjTlNnMFZ5VXBvbCtiYmRDell5VmpNYWRFZ2FyMVpQWGdla1lzZEVRUWs1NzM4MkhLUms1WUhldnRud29ZdDJyZzVEZ0hiQ2s4UzFYZ0o1dURMZEkwRDV2NGhpbk56UWk1djh0MnBoWEZUV2lMR2MwdGNHUG5WNldWaWc2TTNKMmhFajRLVzMzWFpDNTZnQ3ZMS0p3Z2x6ZXBLck1qMDFoVHArcC9QNjJxZ3NxaUxrRStPejNRb2ZVNU44a2hhd2dJSm9ZNHBDbTBEZDJoTkVjeDlqdkFlblRveGIxclZsQ3gxcTZaZVhmejdWRjQ1Sng4eWFTZ2FhaDlzbnJUYkVKZFU0eFZUb0xpajRvbThFVnlvcHNIbmpGMjFwWDVLTXRFR2JURW1zRmRIMithV0VuWVIxMWdCUThOQm5oc1oyNEFJYjE5VExXQ29PZzFFTERvZ1FyNnpybXE4b2NFZDZycFowenk0T2lyRUxhWElaeXdkZ2NVODd2SnNDRHF4TENRbjU1Unh5NDZ5MXpLYVUyaUZsQTFtelMzcklxQ2pSd0c4anVuYlRmVThMaTdwbHRnNVVhZlZ0cHBXREJFUThzcUllSW9Eb2tUTUtDR00zYTdCK2wwNVdXL3RQdTdGa0pNS281alQ0azQwM21UMFFNNW1WdkpRdXdhOXJXSkhCQUd0bEQwN3dYdU11SEpLb2FNeWdwVzJuRVJsNTVwd1FhdTVxc1JGbzJVdE9LWmxENTVEZWVLanYwbzF1ZTYwcDJZYnkrV05Sa2IzVjZjQ1lTUzlaZDJ5Tnllby9MUnFESjQ2TFRReUh1aEV0L0VTWGFETFZjMEdBVUt2Q2JBVFpLSUd6Wi90YTdpNllia1RCTkgvL1g3Q09pbzhSSWRxakZ2SHNNQ2FZcGo3N0NDWVRQdnlGUjJWdUFmbzRsT1VaZElUUEVCYndvSVNraElPbGd3Nmo2UW01Tkkwd2VBa3Q1WGRSWTR1S3FDRzQ2cCt4Y0tBYXkrM0lDSVFKM25ZWlg4WnUwaWlHaXRnYURqSU05clUvUXJ5ZmxNaHpJZ2pGdTMzS1JoYXkyVlFPMWNHK1hZcDhobExCMHA1RzVKOERUVXBVQy9ManJJUGgwSis0T3N4NmlKSU9IcXVpSm40U1UyZ3JRcHhTZWZGemhscTkvejNIcVBUek9BQklhZU1tTms3SUdpSGUvam9OR05qUTNLbGlvVzl0V3RoaEtzdTA2QnBYOW40QUlLSm5XM0hyVGVqaHdRVFV4MnNjN0VqaG9CaXVIZWZNQXdkUkNERElYdXhZSUl5YW1VbDFHT0ZYRnBWeFZCNzFzQndNOWVkdGt0TW9zWDlKZjlDRWFQUEFtR3l1YVVIcDZZd2F3dlNZMTJTYjVpQ3ZQSUlCckVSUXpVK2xicmtDbTg4cmJzbE45MjFhWXA5blNHSW5nRFBHOU9pQmFIWkY4SnR4VGl3cGhqbVBsY2EzcUtzUUV1VnVnYm80bE9rOGhSQk5tZDlZVXNxdmthTUxGWW9HS1BCekVPL080YXV3UVd1YzBmVHFtSEppRTV0a0JaTTAyaHVLV01YSUdLblEwNWpCUXdOTjNsdVdLRlVOWHBiY1ZLVC9oYzhlZDNvUFRveFRzQkRhMTNHRkJsU0tXMlhJdzlkK3BaT3VTVm5RMTF5aTlXV0ZOSVlXSnk5Tnc0cUJsYm8xQjRRd3RqME5BdWxjNHJBaEY3ZnhDV2R0ejFrNncwL0JpejVGNG9ZZlJZb1BxZU1tTmxYSFozbTNaN1lJWmxiU21qWEFFT29yNnBoSFFVNGk3Sm9uWmF1MHBqMWhucEFLNXRiY3JFamhvRGtzb2NmYzNiUUVBS1pWTWVNbHFkck9WdUY3SXRHek1hcUttVzBwMXhIM3NwMXA1V3dWSWpxZWNJanIycmtaNEV3WGlwUXI2OTI1UVJKamU5Q0E5cmFHNW40WVVWSE9yM29KRml4WGFIcms3b2U0VzdWTlJtczFMWjVaTWF1Z3VhZE9UWE5GQ2F3cGhqbVBuc0lwck1vNHNobGVXZUFMajVGS2graWZiWUZxNkNHM0hlN2duQ0VjQW9yZUpVQkRkNi9aaWtFRjdiV0s3U053SGo2SnBidGpWNjVwWXhka0hlZTFCU2R4Z29ZV3M1VXdBanJmZ1hpZ0YyY3RvM1Z0aXdnM3ZMTjd4WGpCQ3N6T1pobUV1dXlmV255MEtVM0hhTU5FVE1YbVRHMFFMQ1JrYjZYWlVmWit3TkJPYkJDbW5FYWJlT2VkUkhyWmk0QlhLRmRQQzdwdkllRzNCb2JPQ0RrbEJFemV3dEVpWmhSSmpyTm04d09mS1RrSmJSck56eGdrZHBOSWs1TDZLY3g2dzMxZ0ZZMnR3Qkw0M1pOR1R0aUNCRGR2VHhXM0ppODNJTHR4NDZWYW9uOEM5SExUT21UcldWMUw5U2U2MEQ3bSs1S2RxYzlXK3V3OU9RczhCckRLaTRNN3ZiSlNjVloyRzlxZGhFYVJSNDRFeVFPeUhWY0NaUGFLRWd2VFJvOUdrSDdQaS9ZdGM5UkcxUXgyblZONkFXR2IyQk5NY3g5emdqeGVsTU5jMXExV0I2Z2kwK1J5dktwL1lhSnFhU3FXVlNTUGhFZWwzR1MwOG5Uc2lBZlhLM3JZdWJDMW5vRllmVU9oYXphRzcxeUM1QTZhUnU3Q1ZCZ0YrU2RtN3FSMDFnQlEwdU1DaENsN2xjZytuN0RYTGYxWkNOaTBhYUpQc2M0YmRrWnZkd1RXSlZOUzVOSHVIQmVoSzRMRVJ2S1MyOWRaY1pIbU5Tb0xEdkdYZy9CbmdJcnBNMnJWWHZMRWRvd3VnUkY3WEJYNlgzZnVLVHpIaHB5LzMzUWdKQlhSc3pzTFJBeXQzaEk1cnVYaWs2QW9hNWhtSkxPdHVXTkIvbFhZUlRDYTN0QW1IT3FjOFJwNlVZYXM5NVFEMmhsYzh0S05uYkVFRkFNOSs1VHVERjV1UVZURVJPMXBFMnJ3YXZ2ODJIWFpGckpHMnJQZGFDbHJMdUNvYUg1VWM5aEMzTkxYQmowN3BPVE5uRk1NQjQ2cGtSdE9NT1FGWllnYnF5ckp2UTViMHlFZEsxSFdVbHVPZEQ2WTgwRlFKeFdSV0hjSFpldmZaT3FDNjBKUW1ReDExVFU2WWQzVHVwckMvZ0FYUUtTMEJSdHZMVHRUR0JEaHBDakZEMW1ESWlJM1l1Nmw2Mmo2K0JDTndoT3dzUWpDdWlyOWxhdjNJSnVtN1p4bDl5UzExZ0JRMHVNQ2hDbDdsY2dQTmh0UHBOYkloYnRkMEU1eGduWWFWM0wvY0tMc2t0cDhzZ3R6b3ZRTldaRGVlbDdXWGFNZldZb1NXaUZ3R2ZkdFpnM2l0c3kxU2pveUQybmNZdExpcDRXamFFQ1FrUVphZDVUTEJBeXQzaElScm9mTFJHZEFOeGxZMkQvaS9Bb29WMjlheUlEMkRtTlljUnBjUWNETU1UZHpDalVBMXJaM0NKeXNTT0NnR2E0Vnlma2NEc21MN2NRamxZazJNNHgrWWhFL0o0WnZyb1hhczkxb04xRmQ2VzY0OU02YkZGdUtSQUd6UHJodEdEMmwrd0FVR2hrNG9jbDJQU1VKSU9qbGhLcU12MmRyazNOTU9lanhzTXdnYkdtWndtRzFyU0VKaG5NYmN1d1lNUFFBRjFDU3NuaGR3VGY5V3BKN1IrbWIxczNEQ1l6THRZRGJXY1V3VVdHckx4czI0NG56QnFJNm52a2xsSjJRZDVwV0RxTkZUQTBEZVc1a2JFTldPOUYwOERrbG9oRm15YjZIT01Fa2RaTk13eEM3WStWSm8vYzRyeklrSkhubzhhR2NKV1Z2cGRseDlnSHhIRVJXbUV6N2lJZ2RFNTJYUGwvakZhWFRtY3ArWkxPZTJqUXQyY0hEZ2dSWlN5Sm5LZFlJR1J1OFpDTWRDOGpESlltWXZ1VjNnQlRiendGMnJVV0NXRVVXRjUvVEVkY3hnTXhjOHRaYjZnSDNEZTVKUkk3bGlCZXVWaGgrT3oyR1RuY2pzbkxMWFAyc1NFRW1KZW1NNE9XWXVldHh6eUpRdTNaeFlKOEVteWZZZXJ1RzU3REZ1V1dBbUhBY1hCT1d0eEdKbjVZZ2hqVWNUZWtvM2JuTHpWek1iblRzK2FhREZzQ2k5T1NSamhhVFRhMHBobElsOEc4Z0wwMTB3RzZSRWpDZGkvcWFrZ3dxNHROb1RiZWFIZkdkTnJRbTBieU9yZ3dMZnh6MDZwaHlkL202cEZiUXFTSzF5MTY5dXhycklDaEwxTXVPdHVnaVZZbXQ4emxIU0tnUVE5aHpPckhEZzI3K0dMUk5FT21VRHR0cGNtamgrZFRoZzZkclEyaDNMQjhWWXRlbGgxanIzcTZ6OUFLTVlxWWkwQXJha0RpdVdhZWtOWWREVlh5SlowUDZHdzRFMFBURTNaQjYxTW9VUHhjWGhrekVETGpLUllJbVZzOEpDUGR5d2hUSXhiaXZuOXRCQ3lqWGVzbUVPYWM2V2pQMW1sUkU0MDNvUjdReXVTV0VCaEpjSWFrQytPelpiUTNCZVJJOCtBYkFsaTNiZGdZaTFwSVhaZHpHWkplL1BkalZ0SlFlL1p4akxSM2Q2VzZ0NE9IRm5GVEtoQUcvUHJrbEZkam84QURhVXFNd1prRGpxZkRaK3B3Z1ZoNWdxWkhmK2NiWG5wcXhlUVdrTzNrZW9mV2hDdDVlSmpuZXVDcDBuZi8rTVBXVEFmb0VpRUoyMTFWMWVSQnVnR2NTd1VUN0Fac20wNXRmMjRkWEpnVy9ubkJCbHQ0c3pPa0FyQ05KNVd5QzNpbnRXU25zUUtHdmt4Skl6QUIrZjcxbW1uUTFqcENtNnhGbXliNkhPRkV1cWliWmtCUFVZQ05sU09QM09KNEdqTDRUd0xQaGxDYmxkNjRTcEZseDlnNzRxb0V3UjNuSWtJUVQvcktnUjNZeUVYcU9Ha3NSZFBMU0Rydm9TSGZUTEF3Rk9XV0FzVkhsRUZRMCtGNWlnRkNDdWFOaHhCem81dVJRclU5blJRSlEvM28ySGJiMXlXMUN3a2dqSVJJSTVOeFd0UkdyVGZRQTNYMVBDSWJPeUlJV0daN2pmZmRuQUFBSUFCSlJFRlVVNENsMlREaDVaWVRRdXo4RjNPMDFId0RkZkxZcVJ0UlErM3B1RU0zSTkxVEc2MTBnMk9HaWpzWENJTUcvWENDa0o3UmF1cU53SzRkUWRMSXBwTUF4cXpoaU9yYU5SeWtOUEZhSUVuSGFkbjdLRERPa2NsWVV4N3pYSS9uZkZRUk5jdnJBYnJrYU5JanBwT3FsbGJmK2o1a3U2aUs3bW1NalpoMEk3alFuY0lUeHF3R243VDl3UmVBYlR5cGxGM0V2Yk9BWVNCVkkyTWJzZWdMVkhNT0VSRHgxaEoyYUppcWlmdU5GOTFoVmlHbHlkdVZqc2NvWTBPNGs1WGV1RXFSWmNmWWV3eGtNYkRDSWtKUW9iU01LNytPa0NlRDlkVjZYaVpwNUNXZEQxd3RIVHdneEpTQk9ubnNYblNpbWJjNlBpZ0hXRjY3YUE2dGFOK1JmYk5PMjI5dWdWbm5Za2NlQWNscTd6NGdwQWxLRU1LdVc1WU1qT3JjT1lhYkIxSmR1VDJ0NVRWbWpNdlFENVowUzMyaTdpaWUxdDF3QWc1RU1uTVVDSU5XZlhKYXpSQXU5a0RhUk4xMHJkMUVxU0RjdWFaOWx3NjJoUGpNLy8wRkRGSUJnWUtYMWpXNXdLdGptR2ZaNG44MU9yLytZN05PalhrMTlleVNiU0NYcXB1cUZpc1lZOFZXQ2NnaFppS0IxT01lb3dVWGVhS29nWUZkbERjdzFUVWtjRjBBdHNrdHBld2lUcVNBWVNCY28wUnVXWUtkZUlkMGlJQkliR2hrWFA3eFNka2pGdHlYL0diUXFIU08wS2RrMzZ3Tm9iS1JrZDVvcWNpeVkrekRrV1NldHhRUlNpQjBIVDFudmdvWlpCQzV4bE5wUk5MNXdOVXdZdVVIa3ZtSmZnSUNHUHZIaUtKVGt2eW80ZnJmU09ieTJrVmphRVVadmh4dHpta0xYQ0FURGR5NkpSWTdlanUrNUQyNmp6a1hsTURVNXBZVjgrRFJsd1Mvd3FrTzVTUFppUDgxMXpiZkhiR2t0eWtWQ0FPNnhtRlFoTWYxdzBrTDFTandRTnE0bEk2czJpRzM2Rmw2UWJqVDVBWTRmUnVDTlAxZTVWRURSRGhhVFRGclRUbk1RODYxRGZ6V3ppenFQRFVPMENVa2lxc0ZBd01oYjJhak15WTJJSWNZUjRHRHJkbmV3WVd0RFFwdC9TVUI0TDdzYmhTQWJYSkxpSlExVXZUMzdDS2VXekM1VmsvK1FvYU9OVXBaMjRoRjM1WEE2b0x1NWlMUENlL2QrOGFsRzVZbUgxbzY5YzdaRU9xeTBodElpaXc3eGw1TFprK0JGUllSTXQrdmJhd21zSXhwZE40Nlp5bkVKSjMzMFJnbUlFU1ZrVE43QXdSa0NwSE1keThsRE5ibDZDa1BtYzNLYXhjU1FCampNa25NYWVQV0craUJzSTE3Qk4zQmtVTkFWZS9aNTV3WGxIcmxsdVFwVFkzdE1TVnYxZG9yRUFiTUJ1ZWtrVzBVNUphTWdleGVia0ZFM0s2VE1FZjd5aTA1elBWNDlPa0UvbTFORm4wMVp0VlVva3ZZaEY2dk5FdXFHYmM1M1JCNmp4ZlJabFgzZ0dMV2JlZmd3dFlHaGZDSDZNMnRYY3d0Y1lhR3NUeG5iU01XZlZkNjU1WThwNHh4YWFhbHlZY1JFYjN6Tm9US3JQVEdWVExNcldYSDJHdko3Q21JYVVXRXlDbHB6ZG82Ym41eWNHWGRVSWhLT3IrcnVTWG5LUVlJeUJRaW1kZGx5ZHlTMUY0bjFFR3oyd3d1ZXVnRjhFSVltMXVpVGh0MWdVQVB4S0JyYnNraG9FWGFxOU5SUHlpNWRjdFNnU3M5NTdja3RtdEszRUx0UmJxajMyazNTTUNyODVPcmsyRTN0a0dISm4xeVd2V3B5bktqSUxmUXBHelR0WVpsNlBnWjFiVnIyRytKL2pianBPd0V4QlVRS0pnQTdxamxyQW4vZEJ4ZzdwcWlkS1A5UW1xZ3hrRzZCSFF4MnpmZmExdHdtMTcyajdJUXA5Ulk1T1paM1hhZHlZQnNiN2dDbGp3ZndCVk9jbDlCM3lnQTIzZ1NrT3B0Ri9HWkgzR0tNSFFDb1pTMWpWaDRXQ3B3Q0k5UW5oUHRtdVROdkRUNU1DTGk4Vy9MNEE1QWxBMUZwRGV1VW1UWk1mYmVLR1F4c01JaVFoUXQ4UFpWRFVzV0RIMFZIZTFnNDVMT0IyZ0FHenVHUGpmSmk1UVJlb29CQW9LRlNFYTZseEZHSWpQeDZqYmF5bTNpOHRwRlR3aHpVUklvY3Rxb0N3UjZvTzZlUitSakIrNkhDR2lHZTNVcWNOc1R3WGE0TDl5LzJBQzBPdkFVYWkvU0hiMEdOU1d3NzVQVG1pK3hMRGN5WWM4UWhIL0lUV1BkQVhEb3B3dFJYZWZJbHE1NGdRVVVMQlFRanBkSEpXZE5kTS9IM0d1YlRLUTJNUWJSZDdBdUh1V2FsWmIrVldCVjM3RXJtQm5MTnRueXY5NFNYSGprdk9JMVQ5QS9aWDk3MDVpUXVsVUF0dWRKQStlV09FTlBvbks1NVlSREpPanJYZVE1a1hGdGVpMVVNUmJjbytURGlKZ2tFUnNDeFVaZ3dNNVZpaXc3eGo0clkyQ0ZSWVNRVlNqbFgwR3FrUk9RQTNwYVZpVHBmRlc1SllxV0hJUHZLY2JGY1NORU10SWRpdW9ablRSSXRWZWdNYzJ0eW1zWFBTSE1SVVdnd0dtakxoRG9nYnA3SG1HZWdpcXE5dE5Id0ZidVRRRlRVRTlJd0tXZVpTeVlsMW9pVXQwQ2FGVjFvZllpM2R2K3huekJzL3dDWWNDc1QwN25jbUkzdEFjZXlxUkZhQytUVzNRVWkrbzZSN1pzUlMyMVVlYW9NV09NMWpxanBXT3RhUW5XNnc2SHVhdExrdXRkd012bWxpUVpvSXVsalhtb2VVSVB3UmRWUGQ1RjFaVlFyMm02NUp0UGNHRmFoT2NUSjc4WGlPTVp6cXhmWHdDMjhhUlNkbEd3Ym9rejlKa25qWXh0eEtKdnhLSURHcmpJY3dLTS9qZERkSWZTNU1PSW1NUnNDQ1N6MGh0WEtiTHNHUHZzVUFJckxDS1VKRTJhV0Z4RnI0aXQwRk90SzgxYXQwRFMrU0MzdEFjUENOMlU0Y3plQUFIeFFpUWozY3NJWTBFNm1NcEVVVjY3NkFsaGRHNHBjTnFvQ3dSNklQNmVSK1JqaHhiUUlhQXI5dXFFVFVOUFNKdGI1dnh2SjBuWmFwKzJJcTRZanluVVhyNDd6WCs5aUg4aU1ETkR1VUFZM082VGsxYWpvWXR6SXhNL0RFRlluZS8rUisxWG9hTzY5Z2oyVjhRdmNaa3ZrNExGYWRtWjltdHpWQUpyaW1IdTkyamF1SStKbzhxSkEzVHhLZW95dGtGV1ZaSHdtVlpGOTZUZVBZMkJzWHRmZUE0dU5Lbk1LWjFPbm51bk9QOVdUVlBmTFFEYmVGSXB1eWpJTFhHR2dWU05qRzNFb3UrY1UyRFExN3ZJYzZKdC9FV3ZoU3FXSmg5R1JIcW9rYk1oVU14SzM4dXlZK3l6TWdaV1dPZ2l4SG94bVNObjI2THRYYnd3cG80Q1NlY0RwMThaUENEa2xSRXpld01FWkFxUnpIY3ZGWjJ1UDZtSFIwOWFzQmxZWHJ2b0IyRUlKeHhOWnhQR2FhazY2Z0tCSHFpVjV4R1oyQkZEZ0hyczRVSEoxN0czdVFVelJmTjJrTDdyZlM4SzBLN0wya0x0NWJ2VG0wY2FYT3A2SWpBelNRd2ZCY0xnVHArY3ZCZkpORzI0UVoySzJYVUxkR3FmSGVBMnpFNi9SeG5WTlZFWTZKaDNqblJVNXBhcFRUbmFZMWxxZ1RYRk1QYzZ3R1BzdkVDWjZmK0JGOWtHVmsyMlJqcFpyb3QzMnhTaHYzVlZSa0l4eVFNUlExZXFwekd2SStIbFBsbnROMVhqNEVKVlpUNG5MZmZnUnR1dGZoRDZ6cGw3eHBOSzJVWGNPd3NZR2c3eW5MV05XUFNOV0hSQUE5QkdodFlXL3R0d3VrTnA4bUZFVEdJMkJKSlo2YTJycEhITGpySFBEQ1VKckxEUVJaSVptb0lzTGFNM2lNNG1qVFZOcDBCU1ZIdjJQa1JBeUNzalp2WVdpR3h1eVhjdkZaM21MMXFZVnFSVHRNdHFGLzBnak9vZWMxcWlHNDAzb1I3UXl2Y0lEMHZjaVNGQWRQZndxQWxmNFRhM0lLUjRXMlVrMzVTM2M1enFtWGVoOXZMZHlRNjlpQi9QTFFYQ2dIdWZuTXo4emdIYktNb3RHMllaSWR2QzRNK3BUbEZkTzNwOWxwcHVzbkpVTXB4Zm8rM3EvS3cyc0tZWTVoNWpiM3FvMWkyVE8xRTE5ZWppM1RaRktLdXV5Z2dhWmpZS2x6d3VLeUU0RW5DTnJ0USsyVUVFRmh6QmhXeVorN2dpWTFXNmdaZGJBSS9XZ1BPa1VuYVJSRFZXd0RBUUxHc2JzZWdic2VpQUJyYmZJME5iQ3ZaOWRJZlM1RE81cGVuTXhkb1FTR2FsdDY2eUViZnNHUHZNVURLNXBZQ1FmRlBxcTBsN0U3MngwRDJadEJZMW5RSko1LzFRTTB4QXlDc2o1aWtXaUd4dXlYY3ZKY3lXbm5WaWtOZklYWUtsc3RwRkR3aHpVYUlUYzFxNkViWGVJQnBRSzVOYnlDTVdxY0llTVFUc3pUMHF0SHdoYlc2aDlkNjBrK2hGMHdnYzYvWjZTWCtub1ZCNytlNEVyaGZ4VHdSbVpnbkhoY0h0UGpsZHNoU1RTZlZEd28yaTNMTGx4YklrZ2Jrc3E3NVJYVHV5L1pVSWoxbmRaY2JrRmhpSy93RHhKb2wzWUUweHpEM0djeTd1dzlZd1pwbGIxbTBMb3laYklkZGxKbFhZTHQ1dFUxeXcyZ2M4eTdyMnFIbGtoR1VFL09RZ1RVTGhwbXVJTVdyS0hsd1lVdUg1YXJlczhtKzAzRXdHZ3pwbmJobFBJcVFXVGFWN21SRTFubDNFdmJPQW9TVkdoYXh0eEtKdnhLSURHaFJlTXhXNHhHRE1jeXRjVGY2eWJGR2FmSmhiNGphVWw5NUNzdVVoNlZsMmpIMVc4c0FLNlgwTnF4S1BrTnhuK0xwYXJrSFV0Wm94OFNKSjV3T25IeUlnNUpVUjh4UUxSRGEzNUx1WGlrNWJaZ0ZQWms4VGlkTGFSVnNJYzFHaWpFNVJENHpHbTFBUDZPOTd4R2xKVDM0Z2RzUVFjQTMycGdURFdiYWNFUjMwNG1MRlRGTGx2ZFltWkhmMnRhQjM0d3UxUi91WHh5M1ZCTjFwVXV2dHNpMEZabVpiRmdnVHhKRFE0K0tjUERlL1NzMDJGblJ1T2F3VG5CVWRCYy85V3pZSFJIVnRCZTJ6Z01GYmtlQmhzQXFzVzhobkx6cENjdjZYSUc2cjN6cGFXU1RNenRuN0JuTmJFZlFIS0NhMzlOM0ZvMmlLN2pjblYwUm5XdGZPR0d6VTA1akROQ0tndDQ1M3g1Vm1nd3RES2p3Zk52RW5yRzY2M05Md0FwbjFwREoyRWM4dEJRd0Q5bG5iaUViZmxaeEZCelJvRWorYnFaRVRlKzgzRW84b1V5eE5QclQwdUEzSnI3bldpWEZaeTQ2eXowZ2VXQ0VwT2VvaXRDTzZjN1dLdUczeE5mUEhZT1RxRVd1SHpRZE9QMHhBeUNrajVpa1FlMW1QSzBReUhqTjZScWN0dCtsNWdCNHY2Y2N1QnJwdTJ2VnlDMHpaT0wxMVdpSVJqVGVoSHRESzl3aERCdFdJSFRFRWlPNWVIb0hoSUdybzNESW5KNlJhTU5yTG16SjNVRGVubFZhc3ZWeDNnc1ZiQ1cwRVptYkhYeUJNdDl3UzU3Um9TVzRwRmNDdWoxUGRFUlc1eVYrV1pSdVl1RnRQWVVaakppZFJYU2Y0VCtOanNsdC9INWgvV01NOFlYTUxaSENzcDVRN3d0NVVOR3JWNDVoN2pMMHdqQVdueVMxdTU5R29xVWNYNzdZcHRva2FIVmpjYU1Ea05FMVZZblBzSlBZRnFNbFJtYkxubGNqZXhkUWovNjlxbS9tODJycDdjTVBMTFN1eDNGTEdMdUxlV2NBdzRKNjFqV2owbmNzNlJFQUNGekZPc0tjZDEyNWVtV0pwOG1GRWpOdVFqTmg5V1hhVXZSTlNsZ0lycEZ6aDdOUnpFWG85VEx4RTJkdVNlUHlJU2FOZEpQV2RwelY0UU1ncFl4VFJhY3M5TFpxUTgrVHkydlZ5Uzh4cENmTm92QW4xZ0ZZMnQrUmlSd3dCcWNzOS9JRDR6bkJnZHpvMEljdW9XUmFKZGlWeStwU051bVRPaTFKaUc2Q3pxMDdhZncyN1N4OVF2YWhyR3M4dEJjSjB5eTF4VHVla2ZQU3hzaXlMc01hVFZMaEtqOCtKM25SaG43WjR6QXd0cXVzRU1keThhQ25KbHZ4QU56dVRnMHVkQmhwckVqT2JjWkxEYXQ0RWUxVU0yc2ZpbUhzY1Q3Z3BFSVpqY290SmprNU5QYnA0dDNVUkdZWG1aVGp3UGdDRVZjZFJBOVNNU3lnb3ptS2JSSUhtWFd3RXo1RU5CZnBPZ0UxVnJwTDJXU3dRUU9xY3VXVTlxWXhkeEwyemdLSGhJTTlaMjRoRzM0aWRCVVRpUXdNT203WlpjMWtXUzVQSHFOMUVBZlJqTmlSVC9rbWlXOWF5byt5bFlPNGpzRUo2dGNtcXgzY1J1WEp1S1czTmlZNzVZN0JDU2VkRHA4ZmxvbVdaaHZkTWZZSGljOG9ZUlhUYUV1dE9MQmt6UzJ2WHl5MG5JazVMWktQeEpxTUhMN2NBR0tjVGloMHhCSXk0ZTNiMi9CbytibE5DMjRRWENEYVBIVUpNWHFhTmpBc1VVSEM0QUkzWEZHeFBlU3ZiWFc3TjI2Q0JHTzc1bk95Z1BncUU2WnVUVFplVGVySUJqenBOTEk3cTNPRkV4L3ZteDQwRWlESjFYWTdxbXJheDRvSWJDdkV6MXJZYXNtUnFtMTZ1U1JaSUdzQzlhRHJNNnpDUzZpVURvUjNEM0xUSGVjRnQzVzYxU0YwSExnM1N4YU9vaXlRdTJPT1lGM1pMak5ZbzZqN0VQcVlUeXJ5c2E2M3B4dFNBTGlCNFBJbkFXZDZvaUFTZkdJbSt2cUxqZk0vTjBvQ1U4eVN3dC9NV3A4Wmk3NHd4RExobmJTTWVmZk1XSFJDaFYxTHpuTERFV3pYTkpyVUpsQ1lmK2xTQkRkRXJXcWVKUlZuTGpyTTNRdXF6YjRYeWUxVEhUWU01NXlMeTlUQTFaU01IYlVreDBLNUlVaGpMcGlHRE00TEFPWFBaYjBESUtpUG1LWjV0aEVqUzcvdnJ1UlA0VTNBckpjeVduWGRpaExKVGVlMFNQaGZsWUdOT1N6Zmk4U2JVZzVkYjRCRmg3SWdoSUJudTVZZDd0VlFhaFpsWHZzRE5QR3ZwU1JrdWxvMllLMW96eHF4Umo2RlpoNmRtMmU2b2FnbzdwUWJBTm9oVGEzc1VDR01kQ0ExTGNiTEwxNnVRMHVuQVRFY2E4dGFhdW5haXcrNmtvVkI5eTYxS2hJdG1hQ3Y3b3NFS0JEK3RLUFR6aWJoakxPR3FQNURVVHF5alAwWnJKNmJ0WlVWd1EvR2RvcjBVREZYWGdyUHpCdFZRemxoTkRuMFE4MGFzQ2k0UDBzV1FjMmVBcGRSVFM4VW5iRFdrbFdVYURBb3A0VEJIZXo0VGVtenVBc3NkejNzdEJSUmFRcHgvOElHNzczN1hRei9nVmMrWVhKWmMvMzdqaExodFBFc2l0YTdiVStReVJ1cmJCVGIvYmY3eE5CWm42UEhPMjhaUnAyK0lZSWhHTERxZ0VoM2FST29zNm5xOTRpMU5QclQwQWh2cTI3TGo3TU9oNFBmazVMQ2xGY29GZHN4RkpISTZZZEtxcXE2SkZFbTZGZWFXWVFKQ1Zoa3hUNEVSR0ZjTmtSd3dPbTBKSFV0b09iOUtZKzJ0WFRObG9qK3R1Q2pobVhQN1JOWnA2VWJjZWtNOVpEd2lpQjB4QkNURHZmeW90YTJyem1IU2FMWjhJS3Z4NENNVTFuQnQ5bE1uVFJxQm1hNXEwYkhIYW03TG1teDNWRDdUV3QrRVNGM20wZ1RVcVVBWW1qT3Y2b2JsT0gxQXQxNzVLMVdBUERMM3JaeFUxeDdCQmJzbmp0blRzdTVYZzYvb0lqSFhxNTJramVvMVU5L0hlY1dTYU5iYkpBbTkzcEJndER2VGlzcGhzejdZVWc1NG1QUVF3MXcxbDU4VXdWWDNLeCtEN1c0bWVKdzRRQmVQb2k2Q21BSUM2ZVNZdlkzd3NVa1hkSmRrcTZOOGxGTEkxVm9LZDBGTmROQ2hIdDR4VDNmVWNhbHU2ekVTZmJGeWs1ZnFYWUlxWVJjRkdwczM3SVR3R0ZyT1ZNamF4b3lKQTdpSDNscERhQlU0UkVDQ0xxS2NvTTY2YnRsYVZZWFM1RE9XSHJlaG5QUkhuYXRFTFR2T1hzdG9UcjRWb2k1S0NQV1R3dmlPano3TndMVEQrTmFlTkx3ZEFtSTBSRURJS2lObTloNFFHU1FKczZ3dWV3c0RUSTZUMkRqbWxTZlFOa1pkVnNDaFYxV2hBRjRJbzlKenpHblIwOGNQYlUyOEFZTk4zSlhSZ09nSEhoSEVqaGdDMUdOdmoyY1l6S2JTaDVBOVRUQjVpUW4vdGZZSElDQmtOemcrVTYrRDZSdVFNbURqTm9oME52MXhaTHJqVnExbDBzK2psNWVFK0tUZjJwWUxoT21QVTlJVW5WbEo4bW83bktiY2E1b3drY0lqT0pXS1AxRDhWMnhtcFFXN1dXblFNQzlyQVp1b1BxM0wvWnd3ejFLVzhQVEhwYU1lMkpHOUVidjF1bUREd0lFcVlpQTNyMk9ZZTF3blV2VTdqRW10ZVJLeitiVmtZUzJxcGg1ZHZOdTZPQ05FVTA2S05zVC9kSGRycWRwd2JuNkljc3VSRHQwNVRMbGxocDdxQnhjWWhJTlAzZFNmaEtzNU9pZk5MY1NvVlZtKytqTFdUSmVtVlQzTmhUZFZrZXpydUN5R1J1cXBzVUJqY1lhYXFqNWxiR1BKVFMxSmhIWGRLbS9SSVpVb3AwbTdjSG1tQ1FXbHlXZDhxc0NHWU95RWYybkxMbUFmanNXM1F0eUp1Z2oxYU51SHRVM3hoQ1VSbHhUKzc1dlRjQUVobzR5WXAzaTJrVUV5U1RMZElYbnY2TFJsRTFLdHJXZmd2YlZyVEJ6Q0tIeGlUZ3YyQmRhYjBZUHZFYmpseDQ0WUFsWWhlMWN3SVhYcE1zbStjL1lYcENnQSs5SXhLcDJRVGdIWlZ4U2lrMjJKMHZQUC9nNWFpOCs4YlRNNWVQWjJLbmJlZGZhTmRoU1o3bFNQbEMyaFBpVFdBYlg0SHcvVmJXdFhpQWpUUHljRUtMbGJOTm0yNjhickpmTm55aUY0QklueGQrbzQrSThtZTA2ZWZTU2w4ZHgxZGpiUmJUOTc5aytwYVFQVktzYlJWZmtEd1ZQOE5acGZrWjZrbmJEUHE5Qk52Mld2TXRpTDdmb0FFUnd5MXRxRVZBN3pETU41eUZoSDNldlJBK24wRVJBWm9FdUdLQzdoUlRJU0luUE1lbmNiY3VwMTQ4NTBpalhKQ1RueHc3akErcXVxa2J2QVBOSEZaSThDaXFSNWMreEkrNkw3RFpXOWF5dXJ0QiszL2RBYmt3bXRnOS84dU9yZjNTNktOVmJBVUJIVm43NXQzS1RNK3JOblAySkZ1T3VzbEROaTBRR1ZPQ2VFdGQrbVpsZkluMk5PU3BQUCsxU1JEZm5TOTdMc1l2YmhVSHdycERzNUY5SE5sK3dNdTJHbm1YSTVrN1AyMXo3Y0lyVi85bTBQemVxK2d3Y0VFTWdvSTJmMkhoQjVKSFBkU2FLZTBRbDdZaXArSlM4V3k5UURSem50QmpGa1B1KzB4ZGJyNnlIckVXSHN5Q0dnQk56cno2bTIrUFJzTXJuUjJhVGNnbm1qRXVoZ0tyYi8vYk9ldmFFbWJsUGk2MVBwMzhESm50MVU0UkFCU0IyTHBCWjltR1VNS0lUZEpja3ZpdzZTejAyWXZhZ0ljem95OG9nd0EzRVNuLy9DdGYrN1phYkFtTmUxeGFVdlBDZVZMRDJDVW9KYmhQaXo3M3IydnhOQ2ZibE5QbmRTQTlxVVQrOWxXY1pTakZTakV4RzlXOVhUUWVQelAvTm04U2xwMTNhTmg5RjJQdjZzRi82Y2VJZnRERGYrci8veUZza2xoN2x0cEFxMUp1ejBMMzY4MlRrdXJaeG1oUU4weVJERjVaTFlxYVYvbUJ4b0s5V2JCdmpHMkdieWZJaTZJSllQYVBkYUVvdUhsRDNJZnVhaUpVUzZiUHI1NTZlbUVrejlZVE0vRE8rRDA4bkVXeTdSNHdNY2o4a0ZtQ3pxUjByZDdRTExObjFrTlZiQTBKY3BzSTBGUTBqdUwrcUx1bXdlc1dpZlRBRW5HTmQ3dm5EdEsxVHlCSFQ2NkVVKzRsTUZOdFNQWlhkaDd3OUZKaE5qaGZKRzFrVjA2em05M3FUZDBYT09Ra1RTRlROd3V4UkY4d0VEQWpFS2xaRXoreTNEcnJyb3RDVVdIKzM4TkNMSkQ5bkZtdnhGMk43YW5UZkMwR09EaU5NV1d5OGxkYU1IWkE5MU9JL3dZa2NPQVFKcEh4eFh0SVU0SXpwdndPU0tEaE05cVJxSG5IWmhhL1VrL2JIWitWU0lqMGlSdHpvWEhyejduZ2N2SUxJY0ZoZndmSmJLWG01Smd1NXFsQWpmTzZuNDlIU1gzQ0s3aGNJTXd1azFVdlJ0QkYxejRKL3d6THJVSTJqbG9ydS9vdHNlRUJmT1l6eG5Mc0FQWk51N0g3eVF5dHlTdkdaNzBSRHM3L3dQeEVBOFBvMWVCMXVmczNJZGJNbjYzM1BFYWh0VXMwd1ZPY3hkSzFXYWFzcmViNkNyMTNTSXlBQmRGQ24vazM1ejhrYXg0d0RSTjM5VWROcmliK1I2S3RWR2NraDBVcldjUlJ0M2NhajF4ek9yUGtsZHZscDA2TDgzazIrNTl1OCtDdEYzYkpQdlFKWjhVT3djOTNJTDZlREJNNm4ycE81MlVhaXhRb2FXTXhVODIxZ2dzeVo5VS9BM1psQlhyU01Xclc3UVp5RW5HRDBPdFFlUWxDWWY4NmtDRy9LazcyWFozZGk3b2FEa1dhR3FWNk93THFJYkg3R3IrTVBCUENRdjZVcm5QT0Y2SnZWelN6SllRSkRNQTJYa3pONERJb1lrMXBGdHFSWVYzT3dRdTBXbitjZVQyb3Jvbk1FTythd2VQazVsdER0dmJFbytrczQ3YmFIMUJucFE1dWg1UkJBN2NnZzRFZmUyTlBHNmV6djMxUUg0K2ZmOXhzLzgyTE9NTUJNL2UyL252VCtwcnVUdmJEN2x0OFQ1OTMrL3VkM3I3SGZYYlo5N1IzcisxMUIrL1FQditzVi84d1VLdFBtalFKaDhRMWNUNFhUZDdlbm5mbVBXTlVtUzYrNUk3enZtVjNqbDU5NmVucjlyMDZ1b3Z2Z3ZmdW5lbmY4dlArTGFxNEd4MjBvRTM5cFAzTHZ6cTVKL2I4eHJMNzg5dmYrVm5yQURkUEY2cXlLZUt5S1Iva1Q2T1ptei9OdXZibSsvbGE2ZjJ2NXNYZGZmMVBaQTlTOWl1YVhXTmt0RDlMNE8zbjFTVThHTHE3ZWQ2YndYUks4Ky83NkhmdVp2WjIyOUt3eGdGMGtYaG80d1N0MXN3MnNZc1ROenR3c25HTmZuZmoydmVkUFRuYnVRVjQwS2JLaWI5SU5hdHJOQ0xWK1UwTlI1SS8zRStXQ0VCWkthMXZZOFJFRHcwZXB0OXBhaktmamRkVjEzWWE2SHNkWit0dDE1NE0rQ2taYldybUdjNUp6VzNva1VjbnJ3MnZpeFl3QUVQRXBjWkFSR2dnQVczLzgwUEtPNTAza2FSK2haa2oydy9WVUJIMHN1VmhnZHc5RnhpbzJUNnhnQlJvQVIyUGNJNEoyVnRlR0YzRnJQMHpnUkV0NHdMdzdtVzFaVU16cUdvK05VRVRSTWhoRmdCQmlCMFNLQTd4Q3ZEOCt4c1ppamdjMjJZMzZsK3FseXY2Ymk4dWdZam81VHhSQXhPVWFBRVdBRVJvVEFVZk11OWxEOFZqWnozUThJK2FVWVc0L0gzN2E4SzRYUk1Sd2RwMTBCaW9reUFvd0FJN0RyQ09EOXplQnA1V0FNMDN5M1EvWVZSSFVQWDRQSk42cXlablFNUjhlcFNueVlGaVBBQ0RBQ28wTUFYMjhabnRuVWRwN0dZZSs3MjNUM3dHN25sdEV4SEIyblBLeGN3d2d3QW96QU9DQkFYMjhaK3JoYWZSOG9vSE1GL1VLTWQxeFJSUkx6Nk9XS28yTTRPazY1UVhJRkk4QUlNQUpqZ1lEOTNhUmhwSjA3bCsrTmw1dG4vZG9qVlNReG4yQzJQRHFHbytPVUhTTmZNd0tNQUNNd0ZnaFU4L1VXODRQVHdaQmJZdG0vM25ML2J1QlhWMWdlSGNQUmNhb1FIaWJGQ0RBQ2pNRElFTURYV3lKcmpqN1pUMGJmQUpzUHZ0QXlrVmJ4cm5OWHdVYkhjSFNjdWc2WWJ6SUNqQUFqc0U4UnVFci9tdGxRNHRrL1R3K280T0g5b3F0NFNlYTFNWGVuc3RMb0dJNk9VMlhnTUNGR2dCRmdCRWFJd0lrcXZqcTVzaHlWdUNHZXNLODM0NGRSNDQyaVBRZXNIQjNEMFhFYUVBcnV4Z2d3QW96QW5pRXc4Zk8vaGQrSDNYN2JYeHdiU29TREJXOHhUN1RFNDdPS01uNnFNdklxMlZCY0k1MUh4M0IwbkNMRDVDcEdnQkZnQlBZMUF2aTlGM1VzRHlYbXZQNjdzQnlSQXkyeDh3dXpTZkx0cnhQMFh3dTdmNHlPNGVnNDdUNXF6SUVSWUFRWWdVb1J1QnAveFlOL3JrbmwvMWtPVHZsSENwYzlrMytKM05XaC9DVi9yWDl3Rm1WN2pvN2g2RGlWSFR1M1l3UVlBVWJnbXdhQlo3OFpxZXVCUDk4YzJZQkh4M0IwbkVZR0hqTml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hqeUkxQzc0YVczM25iUDEzWi9vTmQrOTZ0KzZZNzJzYTZNUmlaTVZ5bjRwa1NnZGpNVWRtSDJTWVhHeE0wdk8zWDdtZlVuMVpqMjkyQ2VlNmU0Ny9nK0U3Rk1LS3BDNUcvMmNIYWxvR01FdWFVcEdYWFBMU01UcGdyTGViTFRhRXVGYlQ2cGhya2d4N1QrcEJyVHZoN01Qd2h4UHUwczdpOFptOUlLdW9laUtpVCtaZzluSXh0L0dZV09USmdxTE9kSlRtTkNPcUI0Y28yU2M4dG85WG0xRUQrWnZGZzhQbHF1dmJpVkNVVzlhSlM1LzgwZXpnNmNlanVDU0QvcmxoL2VPVmtHMkd5Ymx6K2NnbEgzeVVKR21BRTVaVG03NjhvSk90SlB2dExMVGpXRjJON0xjVld2cnVlZGJjRUkxL2R5VU1QeHJoNlM0ZVRwM3J2V0ZoOUlha0I4dG51N0VkOHRFNG9Da1E2MC9qaTRMbm1SQ1djbGU0Mm8yV2dzYWF1djNJS3B5TTVndzUrQ2tYWFBMYURyQ1RNNHB3TDVLaWRZd09mSlVqMHA5blRHdVN2cXFpRmhybyt0Z25ZRmt0MUQ0NW1pTTUxY0FiZGYzRDBlQTFFdUZZb2M1UTBoMXR4VlB5VXZuUFhUYmZmYmpzaVNEdldWVzRDV0dHamhraVJMSlhLTEo4d1FuT0s2cVp4Z25NMlRwaGE1NVJ0N09KamRVZGZjT09lVzNZRmsxM1M4UWZhREtEWm93Tmcxd1VxRklzdWRNdEdBMjNwZU9MUGs5a1c4UXo0d0FBQWdBRWxFUVZSaFJKWjBzSy9jc2dHZ0IwemlqUks1eFJObUNFNXg5VlZPTU03bVNWTUxYVnpjdzhIc2pycU9qbk51MlIxSWRrdkhtSnVjVGhKWWtUaStXeXdHcFZzbUZGbmFsQjBIM0t2eHdwa2x0eThLSTdJa3BPVStucmMwQWZTQUVXZXJSRzd4aEJtQ2sxVmZxMjZMU1ZJRlFZOWM5K0tSeDdyZkg0TzdoNFZZSFZUTUNvWmZsYm9DRzBqR0xiY0UwbGNGeWFCYTdhOGZubVhYMGFNOWFHRHVqMXRmcmN1RUlrdFFQcE8zVjMwVnZIRFdWNy9kYUx3WGx0VGYrQ25oclE0MjlESUs5WVFaZ3BPVnIxMjN4U1NwZ3FCSHJudnhxdkhQTGRjTXNabFJ3ZkNyVWxkZ0F3a0d0ZDVkYy92cmJpQjlWWkNNWm9nelFyNW0rTFR6dnp3YWZuMXcyU294emJYa2FOMHk0RXN0WGppejVQYXFzQmVXaEtWckgrdVdPUUE5NEJKM3ZvUkNQV0dHNEdUVmw5WnRNVW1xSU9pUjYxNjhadnh6Qy9EYTdEN0k0cnNWREw4cWRRVTJNSGE1SlpDK0traUs5VmJsbllWQkkzS1ZRc1JwbFFsRnRpZTlqdi9QOXFxdmdoZk8rdXEzRzQzM3dwTDZHejkyRUo4WWNPUmxGT29KTXdRbks2Q28yNkxjK1IxVWRJOUt5ZUxSOGM4dERUWHZMRG5nc0ZrRnc2OUMveVJVWUFOamwxc0M2YXVDSk5UVmJsMmRHRGhTN0paRWxtNlpVR1FiSjNDRVpYZlZUOGtMWi8xMDI1VzJlMkZKZlk3L3BuZlZCeHg2R1lYNndnek95UWc0RWVDWkRFL1FFTzU5bmh2LzNMSXl4THl6aXVGWG82Nk1EWXpabmxoRyttb2c2VzI5bGJUWUVKY3JvYk1MUk1xRUlzZDI4cEZmY3hkOWxmeHcxbGZINmh2dmlTV05iUHhsRkZxdE1BZkQzRks5d29vcE5zWS90NlNEdm5rSlZQYlA4RE0yTUdhNUpTTjlzYjN0d3p2TklleG5sNGRUSmhSVklVSzE0V3dvaWZiRWtrWTIvaklLclZhWXczdVhXMWJHUHJkZ20zbndyN2ZzbitGbmJHRE1ja3RHK3FHaXk2ZzdOOFhYUjgyeUxMOHlvYWdzclc3dHFnMW4zVGoxdkxjbmxqU3k4WmRSYUxYQ1hMTjN1U1VkKzl5Q3pmMEJYemFIbmUrZjRXZHNZTXh5UzBiNm5oRmtQelhnM0pKVUc4NkdVdTZlV05MSXhqLzYzTEsxWjdsbFNveDlic0dybDZ1RFd2TStHbjdHQnNZc3QyU2tIMVFmZTlLUGM4dCt5aTE3WWtsUDR0elMzTFBjY3VYNDU1YXJodmg2eXo0YWZzWUd4aXkzWktUZmt4d3hLRlBPTGZzcHQreUpKVDE1Y3d0R1ZoL1VNWWJzTnovK3VXVm1pSyszN0ovaFoyMWd2SEpMVnZvaHJYSzAzVG0zN0tQY3NqZVdCSzU5ZkhkeUNQTWMrWjRZWnQ3MUllUWRwbXQ3L0hQTHdoQmZiOWsvdzgvYXdIamxscXowdzVqa3lQdHlidGxIdVdWdkxPbkptMXRXOWl5MzRLZTR4djU1eThiZ1gyL1pSOFBQMnNCNDVaYXM5Q1BQRDhNdzVOeXlqM0xMM2xqU2t6YTNJTUx0MWJvRm1oejczTkllL09zSmV6SDhxZi93d0VmeWtUQm5BeFhrbGppblBPL2hhM0xTRDA5eWhCUTR0K3lmM0RLRUpVM2MvTEpUdDUxWms0Wnp3eGR2ZmZqTzg3STRjZk9yVHQxeHBvN3lLODUwN24rVHJITWYzM05IZXYrZkp0bnhYM2Q3K3JsM0huT3RwdDU4Ump6dzhTUjVkQjExdFp0ZkNqN0xkTGYyd3BmKy9HMzNndVhreHk2OGM1cHE1Skh0anNySk45KzdjeGNvZHQwVHl3b3pFS2ZyYm10MzN2OUtMY21CZHBCYlBJSzZ3WFczdC8yUjN2QjN0ejV5ejEvajNvR1BwZWQ5QkhSemZRSWVuZnQvS3F3REdxKytVM3p1encwTVB3TE9ZVzRKVU14Mnh2WGYzNW1lLzgrendZMEJ1Z1Q5aytUYjJ2Y0I5aVI1eXIwNy84bmQrbEw2ZmxucmFrenBLM2VLK3d4NjlIK0IrSHJMVTM5SDNQZVQ1bjd4R2VMdnZIOHptZnE4YkpJZlBnRjBiK2Q5b1FYNnBwS3pKbDlkM1RUekhIQitLM0EvQ0cxM2N1UEsyQUNrMDdubEsvZm0vTUVYSnpiU0tLZGdXRjNkelNlZkc2M2tsN09zalBRK0pFckF3U3c0YW0yeEVkdTZuR1QyVHJlQ3pTM1hmdkZWRDk5QkVlbW1NNTk5Zyt2UlRmci92cW5hUmZSa0NBUnh6Z3QvM2R3NEhvb0NKUkw1d0p5LzlZcy8vdkNkbjVGYzR3UEpkVWZiYkRpVDNZT1BnSWU4RTlBSmJPbUIvNmk2VG4wMEY1bXlnU1B1SzcwdHlZK2NZT1pKdDRCZ3B2OVhCVCs5aWFNamhWSFY5U1I1dmVpa1FueFFTYWcrSi80Uy8wcVFpai9LNUpaL0VPSjhLbllXVGRPbnB1SzlEOThwUG5XQS9vdUJQQlBITXQya1RFZ3M4VTkrRndTRlpIbGt1NlB5K2FrUVo4VE84V1MrK0xjcTg4SU13dW1IU0NJaGZwc2ttWGh0VzE3SUQ0bzVIa0c2bnlTdndmZ0JsREgyQTdJbE1zSVZLUVlrZHVxeWtmeDR6ZmFpdlRpVWlrNWJBTGJnT05BVWRGeVN3ZTA1SDVNWDhrTS95UXBSRExyS2k3Y0FkZkE4N3QwWm9JdlhtNG9IUkVkY21rWitFQ0lWSHpZM240WlIyMzg2K3ZMMnJLbFBFZ2h4eHYxSElQQzRtTHdvcUhKTncxTHRMV0w3YlRETzR3dVhjQ015L0NTWmFvb09pSC9JNnhpWVNzNmFQSFYxMFV6eXZSTGxKNlpycmN1Yno4eStNNTJ6QVhBSDNmVWt1U1h2RDRFNG5waW1HT1VVRHF1YnV3WGtjNk1sSmxuTHlrbnZRYUtFS20vQlpoRHFuTEcycFFzUDNuMzNQV2ZTcnlVTFZIcndRcm9NTCtpY2YrRHVleTdJYjg5bUpEdEl0OUJNeFlFdDZuTW1oWjM1aDRwQzJnV3dqSVZ4SjhuVGdYcW5icHFWa2Y3ZlNqM1o2R0s2MGxsWkJhamkySktNemxHeG03RVVoS0pRaVpnR0JlYWNwRVJjL1JCaGRDRFo3aEFpSDg1SU5QL0k4S0JiSVoyWUxXSCtkQUVScSs0UnlxZ3lQdnplbHVSSFRsQVBwRk9TckJIVFdHNjVzWU1aSTJhVHk5UkFIYlVsc2YwRFNmSWw4WTVnVCt3N2hIaGpVcnRGN0J4VHpRNkl5MVI2U3RxV2p1dVp0L0dQbDJ4Ly81VTJhV1M3b3lzaTI3dG5rNm1WUzlQenRwbWk3VDRqd2d6QTZmdUVlTTkzWGZ1eWxuZ0hLT09iZis2Z0lYZ0VKZU12aSsxWEpyVXYyV0JxakhLaTllbGp5WUcyOXp0N0dDbkZUSGtjU0ovNFYwbnlQT0d5S1ZWUHRzVDJUMy9MczM5T2h2S2s0UmpydHlReUtDcFMzdWVQaXJmT0poTkx2dGtNME1VaktJdnpsNmEzb0xYSjlQRlpUQUFXMWUxYSs4TndSWDJCcjk0dnEycDhmbGw4YURvNTBESkRwYSszSEJKL001dTh1T2ZQUWkwSUxIK1QydXQzNUJPYS9QRGhiUGo5ajlua3VsVDhvV1VYbWtyT21qeDFGV3VHSmppL092MnRLK0xyajE2ZUJ1Ny9aS25MUXM0R1VBdTY2MG5FSDBKeFFqcDBGZVdVR1phSkJ6M0o1MFlMQmpuTHlrbnZRU0xsSzIvQnNybjl5RnJia3JaWDVCWmRXa1p1VVVYS0xWbkpyR0JvWnVLNm1LYXlPMks1WlRKOTkzVFR2amRVUnZxbmsySDlvL3lMTVVkYWwzcmtscndiRjRXaWpCSVRvT0NiY3lTM0JBUEpkWWNueEdPclA0UU1EOXpLMEluWVVxMkpXRHpWY3NFb1NiS3F0TGtsR0w1VkdPazBGZ3VEeUFsWkF1bWVkN2FKYm1zay9jU3BqNktvMWkzUGU3aUZjbjBpL1JPNjAvS0R4S05pWjVNcWIremM0TDBuQmlua255MXNtQzJkcGUxWmFrV3V0WXJURmFlYUlMaU1VbkxnMU50UlhLdWxpOG1TdWlrRGV0Z2RxVTVQbVNkYW41Z3Z6QzBSWWZybmhHRDQreVJZN1VSbkZuelBuaVZNN3NMcDdGa3lmSThndFRxczB5ZW04WVEyNFhZN3h2Tlk4Z0pFcVNRNUlxZTM4b2IwdU9PcW1Dekp1NWlCMGV6WEhuanN2VWtYVHhHZndPZFh6cDU5Qk9sSWNwYkFKeGtVcWFsL0hCS3lXYTNwS1dpQUxqNUpLcmZYa2l2eDQrQ05iUXpvaVBtVjhDUGJDZjRmU3dkaFFIYmE5SnBTcTVsRFptQlhDZkdHRmkxd0pucjlxY0loOGJ1S2lQcHh5L3p3azZRaG5pQlV3YSt1bWlZWlM4dFprNmV1WXMxTXRNVW5RUSt6STZLN0pMNnFpZXRUemdaUVQ3a2w0ZzhaY1VJNnVJcHp5Z3lyMk4weTVIT2pCWWVjWmVXazl5QWgrZnF3WUdwdWo1eTFmWVVNWDRqN1BwSzg2STRVaGM1ZHNQYXAzNkc2blY5QnQ2eGtVMmZ2cEh1eVdaSjhiMG9YZDVGNnZXTUMxcCtLRHZuQW55UXZmeGh0ZHBMcnY1NGNzditFVWtaNnJhZW1OODl6TENaT3djbEFsWTdubmFVNGQ0Nkt4Y1pTRklveVNvU01nVGtudHhJZnRXNkpEU1RiSFRKRXdobUo1aDFaSHJpVm9ST3hKUldacmhSdVBwaFRaWHo0dlN3cGpKeFlRV2NRcUFIZE5TMDlJcC9LTFlBYTFmWHJzZE9EWThhTDdaaVduRmF0bHo3bDVaWVRlcnZFQklHRGx1YUt6QzJJM0N0dWJJK0M1WldnM1RhL0RwTHREZzRuVEpvOTFHbDQvQlZ2L1JrWHBsOU9UV09DdGRaZktjSmdXUGNZK1FRQjE3SnBKTmY5ZEhFamNrc3RyVk94NW9IU0ZCWXMrNE52S294U1N4eE8zYy9vS0I5RExGR1l5L3Q1RkdXMS9Xam90anFCVS8wQVhTdzVYYmdDVTVSRG9uTlFKZ3VFMzFsWnZ3RnNyakUvOUlSQXU2aGIyOFZNVXdmb0dTSCtiV2VUN2phVjE1cUd1WE5ET1RoRk95UXVPc0xoeTBud1NYbkR6bGxnRjJwanpsZ2FlV1JvVGI2NkNqUnp2YUJwQk0yZGlmRzhObEdxc1VmR0JtUnVlVUhlSC9MaVdBcXlFT1VFdTgwTXE4amQ4dVN6bzQxYlZrWjZINUorTERnWVM4VGFhQjJsVnBRSS9zWWt3UHVKV2ZTTVNRYnB6UnlFcHAwNzlZQ0R2bWdhMTVjenpKMmtXVTh3WVpIL0Y1YVVrUDRieWZYcVgxTm1oTmlNMFUrZVlYSUwvTFdwY3dzYUZoaExRU2pLS1RGdnprOERFbHFBcVZTRUE4bDFsOVllaTYzK0VQSTg4blF5dHJSWlM0OFRDVVFtRzdBaXFpd2FmcU00RnNMQjlmQjA1TXhKdCtWeXk0VExMY2s4YUxZMjViaGdCR3V5Z0k4TlE0N21rbmFkaXZLeWF0RlNjOEFacTlXcmpPUE8yRGFJWEdLdEFlOUtoWm9JNTdyTG1hcW1LUC8yOFppaW52bU1DME81MFBRdHdlbUliZjJpVkVQVkNQSDBDWDZuSFQvVzFsSm5rQWtCK0xFalduRXJ3a1JNU3AwR3VMbnRuMUt5dzBuV1ZRbWZMVU5zOHUxYTRqQzRSbEMwZlZHWUVPK1pWZGR0dTNBWm9JdFBrc3JYSU40Q3Q2WEw4a2FxSkp1a2JIdlV5RHZuc24wdHZTVGJKZlA2QndZWDhKVG1hN0pxeWRxSGFwSDVyRGxiYjFPSXh4RU8zN00yS0dsV3RvaVlTbGJIdnJvS05hT2lEeXg3R2VyN1JVazYvTWphQU5McGVudFR0dkg4SVNKT1NLYXQxMzBCSjJ1M2RsZ0Y3aFlobngxdDNMS3kwczlZSTAvNnNXQi9MREZySXhQWFR0QzJkZy9IV0tTT01jbHd6KzJDdGMwMDFXZURzcGRic0tiY09ZakpCTkJYL1VwSnIvK0ZGNWlmeTVCV2w5aDRzMDRLVXphTkNvekZLU0VJUlZrbFJzd1o0VnhIRkZvY2h3UEpkb2RrdGlxSXJmNElJanhzcDBKYk1uOFR2aUk2bWxaVWxRVlJyRkVjQzdPUk15L2RVUnNBOFhkSWxqM2lpUGhCSFMyZ0NyTnBnQ3k1YWdiYmRMbGx3ZXBxWHM0RWdhUnBkZEIwZ0hrczYwcFkyQWRJdVN1YWRhNDdMVnQwdUpHemU3blpaeWphYzRFd1pJakx1bEVKVGpZWm9LMjIreXllSHNHMnlSWmtMWFllZ055eXNLaFlicGtvS0lkbnZHZkRhQWhZMm9XSmkxRUxPc2xtZ21zRVJUMHVlWUxSYTFwZ1dsZDNCdWppazZUeUZvaUN0Qlo5UTZWLzJoSkRBTlJLQVVDbTE5WGFOZzZsMm8wd1ZMRXA3emJjczMvVDJqOGZ3ak4vZlRRMDNVeHVnVWJXVkF1NC9hb3NSVXdscTJOZi83RG9pR1pnT0NxZWdLelZvUmJGbkNJMjhCZDVmNGlJWXdqSWM1UlRaRmdGN2hZaG54MXQxTEtTaVBUTFdyQitMTmdmUzh6YWlNOUoxV2pCaFk1VXpVcWlrclhjckNSWnNnSGU1eFBtRmlBd0F4dUFxNmpHWmFSL2psclpKb0JLVFhKQzhyZ3kxRkE4YW14QlZrZU1wU0FVNVpRWU1XZE1ubTF1eVF3azExMHVXMVloaER5YWNkSHpQQ0owc3JaRXMzZzZGaXowVVZVU0twSGhkN0drRmEwVEFwb2laMTQ2Z0F2bHFRTTduYWFJNmx0MFBkS3Y5aXBzSXVqNUk1ck4yUEZqdldNQ0pyWjVqdU5lV3djTEZIVlFvR1h0TWk3cFFJRDlFSFdZVTFFbzM1MWFtSFJHaTdsNGJva0xrL1RIQ2VGTUd5Q3R1K3NrWHM0em5laXc4Vm5aQkI5WGlRNEFsUWYrdS9TOExnS1ZSVjJFZkRyS3dzak1vNHFXaWMrU3pUSFZ0RzBBaERRR1NkeUpvS2hKeTVPZHpORlRubFYxWjRBdVBra3FyNXlUajQzMDRCcEs5L01rVnNOc1ZxeVlBbG5CS25YQ1BFRzdFY2FpLzhoMVFhZ2dJKy9uUCt5S0ZnNnV6U1VjUHRsSFhmZHJLcUlSVThsYVU2Qi8rRXRFTXpOWWd5aTZxWEVQemNhZEdvNjNyQVRZYjE5VHQ1MC94TVJ4SkZDS2Nzb1BTNGE0dkx2RnlHZDhKMjVaVlZtd1A1YVl0VkVZMDZEZ3RqYm1wS21leXFVeG0xK3cwR1ArYUYzYzV4UG1saTJ4YzZKT1MzUTFDU2psZjI5eGV0SlpKcVFmNUJiSWZjN2NqaHBMUVNqS0tURml6a243LzIvdjYyTXJ6YzY3WHR1ek03T3ptL0VRTlMwbGJPMUFrcW9od1FieEI2Z2IyU0FoUHRUV1U0SFVORXE0UmhDcEtSUTdhUlVJSDdKTFNRdEpKRTlCbGJacDRCcEJTN0pOdUc1VG9OMWx1YWFVYmhzMjlaQkMwK3hrdVdZUlNGQ0tUVnRsTStOMVgzN1BPZWQ1em5QT2VZN24rdnFPNHlYMy9lTys1ejBmeitmdlBNODU1Mzd4cEtEajEwU1JZamoxaUxFRnVMSFNZc25Eb0VOT1VWaDZTVVdtZGErcDZVcXlpakZYOG5rUVl5RW1heG81UytrZ1NmQUZnbG5NTGVEZmgxUGQxWEtRd0t5U1JFeHJpVUFib1kxSitEdzYxWVpnZ2VIZGJVOGs3cUJvOS9VME9YVDYwOTlIYmNWd055YzNxY2xkV3hHMlhFWDNpakNPM21ib2VIOU9jTTR0M3huK0RHa2h0MmNVWGFJcmhzQzIyNEVOUWhTbkJKaHpOOVJpMGNyWUJ1a1FjTmNFUVpndjRUZ0ptb1RzblFSWHk0cUJ0THVCbFV2a2Jzbmo1K2tJUXpSRlY2WWxBTHdmZkx2aWhhU0UwOGhuQmdheTJHZzJ2THBReHE4L1NKZGdVSG5MckdEaEtqZ3I0ZUZoTzdmMFl1UmY4VVVES2ptYUV2ODNwbWM2YkRmYU9jL2IwcUhQc202aCtjZ1ZNaDhzY2ZRZ2l2RTNmWVhpVktybERGNU9ONHQ4aG1nRWhCSlo1ZXBvUkFSclhReTB1ZjFFU0JCWUM2K0g3bjFmTUNXREdRK1o2dFltbDlLN1BoTmJhbytlb2RZM2YyeVJia1BOUCtXbkdLMW90Rnh0QkJaaTVXMnVOOEV5MThxYTJCMUZPRG5vUFB1SWgzbHNHbkNPaDk2MDUwOFVLWWJYd3htendiM2tVZExKc1NTTFZUaHcwOU15WFVsdlVSaFJEQWhlOXFQOGEwVFNna3gwbUlnaVp5a2R2TDNEZzlQY0lzWWJjQkFFZ0dJNnZTSVBLeHlVUWNkVllnSXd5V1pqMnhlalVCUU5CSWhvTEliVDBhT3NndWp3U1QwSVhUcTNzWVJKWXN2OU9YVmxiekVMcVpZZCtRNFhBak1SSFlHVGN3aWE0c01nMmhEbXZCV0dOWTkvZEQ4VVFUcHMvWllrMm1DTDk5dXgyZE5OY290bFJTWk5keEo0MVZXZ3AwOWRJd3h4Qk5UTGRUTENndUR3d0xseWloaUo5aWlJNVh0ZUJLenVmQlVXRjJISEF5ZStyT2dXeGFVWVphNll1UVdrZUw5TXV0S2tYbUdOVVdhT21ZOFQvMk8rQ0xxalo3cmkzdzFGTHhXd0kzMThQVWFYODhFU0p5RmpjVExVY3ZGZ09QSzV0cTBZYVVtUWRVSnVFUjg2TWUrTFlLVU1QSkNqelgwckpCNUEzZmE5cDBPNk5pVkQwQWlMTERod1hwRlh4VFMzeVBvTVBZYVQvcGhwRGRxQUs2N2dPNklvRjlQY1lvQmxUMGVmRFg0b25XakFPYzB0V3BGeWVEMmNzYVM0Rnp3TU9qbVdKSFVDd2R1ZWx1bEt5aTJHK3Axc0hrZ3NiTHA1NUN5a295VnFKYmZ3b2h2Ym1lQ2pCUkVQUW1KWkhpSk1qeTJPV3JlMnhRUlk5V29BNXR1K0ZJVnl1WVVpUmJpSzRiUUZWcWhZVStSNURPNFZZWkxZUWpQeFJFN293REJEckE5b3I5b1RNK013U3JBbFF3Y3hWd0tyMjdFTGwvcVNSK1phM3Rjc1JjTjMrUWd3enkyclRJQ3R5TTkwQjZ0dzVvWTU1OE80WmZqN0ROSE5WTDVDUjZjcllyYU9PMHE5VEphQmNGNTdJRnJNd0pvUGdsckkrSndRdWxMS2Viam5wZGo4VVBCMm9qN3RaeVdGd1RtN0dGVkN4WCtTZUZGelVFaWorYkllMnFKbittdzNuS1czbTNwb0xFUHY1ZmprSm13NUh5eHg5Q0RNbk9BaHhjbFE2eFRrTTBRVGg5LzJMT2NFV1Nma2xwRVJiS0VOZkdYNnhKWGU1ZUJNVXpJZ05UUTM3UFRFWVBTUTVSYkJnUHVJaVFDUE5oRThkUWVKbDJWRjA1Y09HWTk2YmluQVVnbEZwUk1OT0dlNVJTbFNEcStITXlWN3djT2drMk9Kd3cwNWNNZlRNZ0lITmFSVzNQWjlPOWs4QU1kTjExSkd6a0s2RTNKTHdDd2RsUVVuYmtVZnF0eUNOYXNzRlpvTndnNFFKT3Y3QXk4S1JZcFFvdHdTQjlCNWVYeHl3K200VFNZeXZhK3Y4NE5UakY1c1lkQndTazRNeGVrQkw2bXE5cHhMRWdma3V1bWxnVmYyZlVsNU1GUzQyNHJzWm1iRkRKQi9OL1I1QzFOS2dxdGxSVTBVSWY1dWVPYXp5aEdHYUlwVWR1L2E3MGtFZ0pMenFDUVBJYjV2NHViZTZiL2xDdTRnM0FQMjYvSHpQblFCdDdkOUNiQVJFSVNhNUFaakxvZUs2K0hzSWxHZkRxQ1pGREpldSszZXFNdWg0bkpMckNTQ3l2ODBYL2FwRGxlY1c2MEFxcE00MVBmenIyaFoxczlZZ2hYendVQ3VIb0t5eGFsVUN4MkhKcC9PSGJjS0NMNllaZmVBWEM2OW1HUXVVUmpPdmVrbEhsaDI4azNoMVVBYld2YllsRkFnVEtSSDVPMDIzc0ZyeWJvOG9IbWtobzRzdHdnRzZOU0ZVTUJYVFhxaDIxT0JoUWU1ZXoyMzdJZCtBcFpLS0Rvb3NBblpsc05naG5PV1c1UWk1ZkI2T0F0RTZWYndNT2prV0JLcGdJRWdnZTFLZTY1MG9scE9FRUVTREpORnprSzZFM0pMK0tLY3lpMXRSS0RLTFZpeWNJeHpXSWNNZzlaL3JRL0Y2emVjVEhyR1kzN0VBYlFaakU4cjdnaG1WazNrYW02eGhRRXpVZC9GblVpN3drbjI2QTg5dStoRjdkVHNpWVpkMzRWZWx3VHBBLzZFbVk1Z3NTUE9EbnIvS2p4Q3RWdSsyTXJFYnBwM2ZMZXZTNE1yeVBydlVFWXJhcUxObno1YUQ4OWl3aEdHSkNSeDBrYmJqcjdrOWowWEMyWUpSbk5zRmt5ODFUQUtybFNyQU44cHRDSFBxWlZhNks5dUZJMENOcHIvNnV0VDljRTZtTW9kdmh5NnBCYmR1UklPWGxNMGdaRHlQd0dSZVVpNE1DTytFc3dWTzZ4c2FJQzB4WHd3a0p1UmFTV1NndDYyYnl6VlF2M1E1SE50TFdTZGtGc2d4cTRYZzE2WFJLaUJaYWZZa1VvRzJ0d2IwTHV1MjRHc0VCZUNuV3pKME04UGFKWnV1NEhsUzFmRkEwZ29HSEJxaGNFMHFpYTlmRVJnaE54U2dHWFdEa1dsRXcwNFo3bEZLVklPSjFEdWsxYnVpbWRDWE9QdUJRK0RUbzRsV2hxNksrWVcyNVgyWE9sazgwQW1Gd3lUUmM1Q3VoTnl5MkVRU3ZZdFdLZkpURlc1aFdoeVYxcHNMcnEzU05vZlpUK0phcHVoRitaSEhFQUN4Q2MvSEs4eWtXdTVwU0lNV0lqNkxyZEUyaGFuRlQ2TkNxSzVXOVdlWFpVT1hLd05VZzdpKzBzeGdtbUtzVHpMa3dXTEIzRzdOS2ZCZFFOZE1pdEt6N1FndVdXRUlTbWw1dW9QdW4wbkw5Sjd6cDlYNlh2V0hkWnlMazRESkJEL3F3Wk1CUWFkOTJVb0tBamlWbjNIVnFTOTk2MjZwa25WSDBnWWNqc1dKQ29ES3JtUFFVLzVuK1lMYzRpZTZZdjhhMnF0ei8zOHZaUE5LYkFXYlhnZmI0cVRrTEU0UWFSZDdnUVErL3c3TlBsMDdqQWR1Z3V5VU02bEY1TjB6NDVnMm8xSmhvZmN0NTBRVzMrRGpicHh5MVdvRnkwWkJvUkpzN1d1dXVoaWxsdDJZOXR3MG91ZlJzZ3R6RXZBY2lEeVVoUHdzdWk2bEU0MDRKemxsbDAzc2pLOEhzN2lxS2JnVVlxQjNpbVdCUC9Bd0cxRnl4ZVZLKzI1MHNubWdTQnBwWWljaFhRa3lRNno3TGR5dWlDZ1FSdlBKYXpUUkZLVld4YmFlSEpPaTRsOUYzYmI5dWdEM2crZXVnamxvb0drUFBlK0NaL1F1N1VJaHUrcGlhd2M2Z21GMTRvd2FCMmRVeUJkdFNmMHZ4bUZtSldUdjBHMG00QXk5a3RLR0hUTFZhVHloejVwY0owRHY4eUtDYTM0SUJBWllVaWtJaVdWRmlEQmZLanZ0dUhvYWtYQmdFUzhHNzRZU3YzMjJuQitTcnZFN1REU3ZGRmF3aStHL0JuVm1LZy9qZFpWYmtSSVJiWmJLSkdXb3drRGxQOHhYd1RSMFROZG1TOGIrcENYZWJsN1IvcjRhbXMrbU9Ja1ZBeE9obG9ZTWpSNUdFTE5IYzFNa0lYS1hIb3hTWHQyQkNlNUJVNzJxNUQyalp5bUI4dGFLaXByeWJBaTkvSlBDYTd5N2xsdVVUTnVPT2tQbWVEcGMwc0psajB6RkJsT05PQ2M1WmFvaURFOERRZVZmVXZPdzZBRDNWTXNTY1FHQm02elplUXVnUU0xNWx5cElpazFEQkhNcFhPUzdEQ3JOTGNVMVppZEhEZ3dRdlFIZXpuaWJPYmNuRVNRY05jL1cyVFNlc1pqZnNRQk5BL2kwNXdiM2xmNXJwWmJLc0tBbjB3a0YzY2k3UXFuMHVDUWFGbmtWZ1JwYmFFYTRNTVFiQWZSTGhDckpNakVmdThmLzV0Ym5GdlFVWkRNN2RuQzNiQ2k5SXlGNlQvMGJiOGdFQmxoU0tRa3BaZ1dDTDJoR3REeFlRVDU0NTUwaFQ2NFBuZURLK0pwR2hSYzUxcnozbkZEMjN2ZkxhMlFQcnFMVkZubUpqQkhDMGJFOXJuUW5LSUpBNVQvTVY4RXNkRXpLNUswTUVFV21VVjZCNnRsWFFObjcvQXpUeE5USE83azdnWW5ReTEwSFpwOG9hM25wNUdGbWx4Nk5zbVpFZHdrYUhNVHpNMkJTMGRBeWlISk1zTjQ4WUkxbVdSd3BQZklaZG43aEk1eXkzTExzalNjVnZxZVlGZEkrSUtKQ2dxdUpWajZ5dTh4RkZsT2hNM3BVbkRPY2t0VXhCZ09kQXB6RlZzendUdU9oZkF3NkdDQWhTVlVBd1BPUVVJeWM2V3BmaFZKVGI4TWRKbDBWVWtzQVZFWGcwck1MV3N3eXcvekJYL2VoUFNvYzlmUk1xdkM4TVl6NWtlSVV0Um9EQjhrUzE1MFdHUXE4VjRSQmgxT3d3bEM3a1Nhb2RUSjRnb1RKRmZ1eDk2QVF6Q0hCY3JZTDVTbTN3SGIwSFhMVmN3bVlBcDl3Q0VHVDh1S0JkVTNmTm9UNVprS1k3a3JHdjYrUTRvTzlMYjN1cStsazd2UUR0a09mVEhtRDNmZ1R2eDQ1NG5Rd2E2ZFM0eFZNaUVBK2V1bnVERlJuNXAvaG1IMUViZmNoWElGMGpJMGdSUzdpNmlhbm9IcHZROHdRZFNFWmluY3ZaTmh3Sm9QcGpnSkZZT1RvUmFHREUwK25UdWVXWVlzVk9iU3MwbGc0RE1nR1ArRGtLR056alFjUGg3K0lnS3BnKzZqWWIzbFJDc2xvL2VzRjZtdCtsWitrK1dXZlVlSlhrNHJmVSt3S3lSOHdVU0ZEWmFCR1lvc0o1Wnd6bkxMdmtoaERLK0hNeG1GUXNiRG9JTk9GcFpRRFF5RStlc29scTQwclZKREVyMC90T01JeFpkTXVxb2tsb0NZS1J6Q1FCQ1UvRm54QnRpbzY1aWdjMmtRYXU3ZENMd1ozbmhNNThlR0dvc2lEY2Z0VmhpRzI1cVpXeXJDb1A4cE9XMUhUcUhVeWVJS0U2UUR4ZjNZT3k0MVRLL0VqcTcwRUpEK3EzL3hSWWp0VlVOQkplclFHYk5INTViU2lobFIrak9aNCsvL2x2bm9tQkdHNURUZGtlYStyOFVPaHFNdlc0SDJ2cHcvL0svRHdDenNMK1NpY0p4T24yTXVLU2MxMzB3RDZmckhvVHBSbjZ5dHIxLzJiK09wS29lMERFMmdKSUtpYkhvR3lEMTBITEhXanBvRUdjS3RrMkhBbWc4YlNoWVV2VGdKR1lPVG9SYUdERTArblR1T1dZNHNWT2JTczBuT2hHRDMxMFVwMnB4TGxzRnc3amZBMHdXSFZ5bUxHcExSRzdLYkdOQWMzS1pYNjZybWx0TkszNnNoMEVTRkRSYjQxUWhGcGhNTE9GZHppekVjNGNDS3JibDlVaDRHSFF5d3NJUnFZTUNqM3RFc0FvZXRmaFZKRktPM0hTWDFra3BYbGNRU2NNSFdmNHVUak9MUzREZEEvWVdRNEM2R054NHdQM3hXY2czbGNFeDV5NkdlRHI5V2hFSHo2SndDN1U0V1Y1Z2duWWt1TW4vM2tiQVFQU3RZalYzeFg0NEkwdlMyeEN5cmxzb2Z1aWJCRlhXRkZUVkpuSER1NGRkejVsR25IRFBDa0pRb25sWmtVa0oxWG9mT2NXSlY3OGFnTDBTZ0swd01tR2dua090eVhVR2VLNmEyL0ZpSnlvbjYrSkNqdGpZTlFuOEZuRUFtUlJNcTJWM1VibnVtSC9aWmtIYVRlaGxYSjhPQU5SOU1jVkphSlNkRExRd1ptbnloYllrc2tNdWxaNU9jQmNFbTJ2aGJ0cDN0WnM1LzBFZmxqQUx6WkJ1c3lOenFvL3BXZnFPQnM2UXhjRnJwZXdKallzZHpFc29BQUIxSlNVUkJWS3d1R3hVV1dDcWh5SFJpQWVjc3Q4VFFZUXhma0NsRWNzcTZYUW50aWlrUGd3NTZXVmhDTlRBZ3VjVUtISmI2ZFNSbGh2RnlwdEpWSmJFRXJPaHZUN0d2N3JiK0NpWmxlRU9LZEg2VXd6TzUxelMrdkJKNHJRaURsdEU1QmVLZExLNHd3Y3lWbUNWRDV4YUE1ZDR5a1o4OVZXNXBjaXNHQ2NNTmx2bW5ycWlCT2NLUWxDcmxDOTVTemNXTlZLY043dzloaW0vSEVUTTk3K2FicmdvMjJRMXQvS1p0N0ZxVXB0N3R4M0xHT0svY2t2N3lmU0VXVlhReURGanpZY3RLZFNtMWtsTUdvdEI5YVBMcDNNSG9FbG1HOUdOQXNEcy9LTkVHeXBRcWVqZnA2MCtFZ2ExZHZMakxsSXprcFFQVStsdjU5ZHlTbWU2Kzh3L0lES0prdHdlVFc1b2N6ZzhndDZROE1vTUVMUzBzb1FtZWt0eGlCZzdUS3ZrOFlDUmxNVHF3eml4UWtjU3FudFVoTE9iV2pjb1VlOE9IWE9UWThYeFpLRHlsODhNWWpuRzNnclM0d1JDTDhZbExGV0hRZkVwTzIweFI3cDBzcmpCQldqZnRTeTlhSDRSb2Ezb2xkc1JYREh2OERnYkU5cXFod0FFODlreUNxNjlPclJpN292UW0rWEpKNHBobWhDRUozU2Erb2JJU3o3amtMK0l3cDlkVi81bnZoRmw0dXpJbnBsT25ZNnB6WHB4K1c1OEdoM08zUkgzYThHZCszN0NRbHFJSkROaGR4TXYyREdUN0NUVGl4cWR4MURlNU9xS0lyN2JtZ3lsT1FvVllaSndNdFRCa2FQSzV0Z2F5UUM2WG5rMHlPb0pyYUVPcXdPZStwdkRkQktpNkRkYmlNMXN5ZEhYZXJyK1ZYODh0cDVVZWt3NENHWmVOQ2hNc0xjOVhSMll0UU5KMkl1WjVBdWRxYmpHR0l4d01jeVlHS1JRUGd3NDZXRmhDTlRCdzZKU291ZEswU2cxSjVwbFlLbDFWRWt2QWl2NHd1RHBqRGVLNzIxZnR3VFhodTNVTWJ6U2s4OE1ZYmp0VVUzWWJnSW96VHNscEo2V0xwNW85TVkvMGg0ZGdqaEFUVGE5b3NtOFJFMkhRTGRjU1I2dU9TWERsZW0xRnJxUDc5RUJTWFFKTU5JMHdSRkhHOUdlSGJzVTlpdXhnNW9SdEdITjlENGJ4aDFVcjhnMG9yS204b29xd1ZaejZKZ3dPeVNwUm42eTluNDVZaTRMRmhoUk5xRmYrTjhNRk1QOGwrZ3Z1citzeU5pTXhLWFVTVjl2VHhCUkhLTGhDeWNsUUN6MnQ2V2FTejdVMWtBVnl1ZlJza3RFUlhFTWJzSUpwNkRLRlc0WmNDc3V0cHJFbGN3ZWIrMUNZRWViTWxMeDBWWlJkMHV1TDAwcmZlMkM1eFhZaWFhSGhYTTB0eHZEWlpBcWpRM240SzBZU0hnWWRkTEt3aEdwZ0lPU1dTdUF3bzFnTlNaUmJ5c2hKSW9wMFZVa3NBYkZnRGNHVWFJaitLeWVjZnJ3VElsRG5aTWFuODhNWTNrL2tYdFA0OHNUd1doSG05Snh1QzBrdXNEMnZaR2tSb1MvTExTRzdtVjVoYXJoUERTUk1Ba00rNUVKK21ZYlNWWUxyeHJyVW9SQ3RxR3NmaTVFMkFhYnJNOElRb1kwVnFEc1NSd1VFWC9YMStBQm9xSVREcEtzdlRHMHdCT0xYVzZEb2N0YXQ4dmdRbUJ5NnRrUjlTS0cvVFVRZHdMbjhja2VLSnZUaVFFb2piTStzcmY4UkVNZGJTZlBVeDd3NlFYekdnRFVmVEhGU2FpVW5ReTBNR1pwOHBxMkZMSkRMcFdlVHdNRGFLL0RSa0FodW1ocmF1clNhY0IvNjJxTERyb2Y1WnhvcWtqWE5rcHNCNm0yWjFHSk5VODB0cDVXK1Z3QTFzTEpSWVlLbGI0WWkyNG1lZW9Sek5iY1l3K3ZoTERjUFBRY2VCaDAwV2xoQ2Rjd3RGVmVhVnVsazg0Q1JoTE9ONnBjdHhBSVZTYXhxTEVWVk9KVGNzaEEvZ2twNjQ1cjZuTC9qZFlzRGhBaVY3MXZLNFRSSVJmdzFNN2RVaEFITFUzTHlZVTBFUnFGbVQ4eHJIZTFtNVFjRlRLOG9pamlLNWcvcFl0QXQxMEpucGFxTEwyTDIrTStKVVc2eHJLaEhkQ1h1WXhIaFk4UUlRelRGVU1iWnc3WXZrc1kzZkJINzd4MWZpdS9HK0dlOFFtNnZZTC9sMzBGWU1kU1QvbFI0RENyNkM2YndLU05SbjA1MFY3bUx2eTh3RzEyZFJkdkUvMmE0UU1hNTBienhSOW83SHdpcWFXcGM3bVJ6eXBvUHBqaE13TjlMVG9aYTZEbzArVXhiQzFrZ2wwdlBVMkprQkZQRUYyOHcycHlLWUxYYUxCeWlmRUNIdlBqQW1MOHFrdkdiK2QzVjBLKzhWWFBMYWFYdjFTQlltYTlXOVpZWmlnd25HbkN1NWhaamVEMmNLUVBsUEF3NjZHMWhDZFhBQUhrSlY4V1ZsdnBWSkZHTUR1UThVV3RDSTJIdWNPc2c1ZzVMUUVxVDNGWHRXMENCUDBzVVd0WDNwMkN6WFZmTDhNWURNS0oyZk9Wd1dwOHF1ZGZNM0ZJUkJ1UlB5VW1KNGdTdHoweGF4YStIUHJndHlMN0I5RXJzU0V1MTIrRngxdVdXNi90MFBDMUgwOUkxQ2E2V0ZhV25zNkprZWovYi93OHNLeDNFOEZKakQxSE5YSVJIZG4wWkNlWGxVSXRZRVNyOXV6SHZYZ3dON2hhT2w2WTROOUtpZ2tEeDZOL1h2Wkx5VW5UeFZ1Q1NxTi8wMi94VFhBWlVjalNCaGZLL25WdG14RzZKUU1sRFo0amNZb3FUVUxFNGxXcGhpRFhkVFBMcDNER1JCWEs1OUdLU3dZZ0lwamtyVm1PME9WWG5hQ0d5c2VsMW1HODZPNjdXYlU4S3pMc21PUGtsdk90eUkvUXJiOVhjY3RyNTE5UGhTdlBweC9NWEdKN0ZOTUd5WW9laTBva0duS3U1eFlCMlBad3B3UXNlcFJqb2JXRUoxY0RBb2FOVmM2VVp4VHJaUEJBa3dUQlo1Q3lrVXo4UFN4OWxGZnhZQWlKeXFIQW8reFlFSUhWVVJ1SmZWd2ZsZzdCT0Y2SHlhRkFPYitZU3VkYzBWMmNkZXFrSWc1WlRjdUlkaFZDdXo4dzkzblM0dnJCdWdLWHBsVWl2NmNZMTM2d2pzYlRqNUY5VmZWd3hDYTZXRmRVQXRURDArNWFaSTlQdzl4bWltcmtJOHkvN01sREE2MUJFdXB1dUVvYkhXZmtVUFYzcS9ac3dac1h2V3pCRCtEVE5aNW1sK3JINlFXeDZWZGgySmVvM0cyclY0OWtZVU1uUmhJN0svMmE0YUM1bmNBMDZKTGRPTnFlcytXQ0trMUN4T0pWcVljalE1TFBjMGpXUUJYSzU5R0tTVVJGTW53S1RpZUp5QzlEbUxxeGhmcVBwNzZPTTdlNTYwMXQxdGNuaVdERHZtb0NmNCtaS3Rob05nOXl0bmx0T0tYMXZpTndDMmNJa2JreXd6Tm1ocUhTaUFlZDZiaW1Id3lwV2JOVjJ3YzR3bnpJbEhReXdzSVJxWU9EUWthdTUwb3hpbld3ZUNKTG1GQ0M4bElWMHhITEh0elhZWXAyWVcyQXIyUmVyZlF2dHpHNEVFcmo5NFJzSWNidnl2QkhJaTFCNU5DaUhrMHdDNU5ybnhDckNnTzhwT2QwVlVac1ovN1BEVlhzZUtDQTJGUHMyL1ZqVEs1RXNhVGdmSHVjNHQ1RDh0MktmeDUwRmsrQnFXVEVPb0cwVHgzMEFFMXE0M0xJclBkandVdUYyV3NVUTFjekZGZkVuRk40TXRiUDhsaEh5eHlHZGdpMDZ6eml4YVpYcVlJL3dzdVA3KzE3TkJycFdyZ1BlRWRIL2N2aEFsYWhQQ25LaUFvbVo3OFduRjJESXdKQ0lBbW5Va014K1ZDai9tK0VDUVpER25YeDFzamxsVFZoVG5JU3N4YWxVQzBPR0pwOXFheVByaE53Q2g5Nk9FbTZJZSsrRDRCT2dBMGQvMFcvUElOcU9mTFM0SmhtWTc4RzBKN3lWMzlSenl5bWw3OVZ5U3kvZ0RjSXNLSU5ZUnFpRUlnekxzR25BdVo1Ynl1SDFjQmJkMVJROEREbzJsa0FFbXZqSmlFRm1GTERVcjY5U1FDNkxuSVYwdENEWkNlSmphcCtjV3c0RWl4aUJWVnZZRkczeGt0YlI2ZTBqdDBRQXI0U3plelhqMC9rUjM1TGg0Uml2VDlrd0F4YURoUHBXRVNhSkxjTndVb0htRWI4dVdBbHg1V3BJY0NJNkNncFJQY2tZcGxlaXJQUTdTUHkwSkxrRjhudGZ1eWEzOHFPRE12OSt5OVlxN2Y1S0t6SVozTlY0cU1tNTVkUkRGRVV1eGpma3Q5cmpHNkYyanJYMTc4WmNoVVlVUC9aOTg1TFhCWnViWFYrQjVld21TdjFiL3RGNFBSQ3NRVzJjMU9OSzFLZC84Vkh2M0Y4ajMyemxTRU5kNXVQRS8zWnV1U3FabnBqYTEwcUdBU3Y0bStJazVDeE9obHFWZUhCL2JXMWt1UTg5TEpNZzQwS3dqVGF2YXRzZVBlcVhDZjMyTi9tUHdXZ0tHNWgzSTJnS3JPejR3ZFpyUGJlY2N2NzFvZ2dwbjI3TUxaMzc1SlpLS0NxZGFNQzVubHZLNFRTZE4wWEtHRnVsaWdvRkQ0Tk9CVXNxdDREVFlTQXJnWU9lelNpMmtzMERpWVhhd1hnVERiT3prRTduRmtncTg5MmNTNGx2RVdOQ2JsbUk2WW1tT2tYRmVCUzNFRXdtUWhYUm9CanUvbCtRWTVwYjV5d0dXK2hiUlpna3RtUnh4K2EwS2xRUHZNMEIvcHRVZHkzOC9vcUlEbnZHL1JRaUs2KzhUYTgwK0U5akw3Zk8yV3VTVzBBMUVydnVKeUxrOWVHMHQyeGJVVVIxYTlQYjRSSEhrNXhiU3NQZlo0aHE1bUtmVnlUWUQ4bFAwTUIydmgzNVl4MEFCa1BveFZtLzQ3MDhGNURvUGlLK1RKN2V4NkQvL1FTOTV0Y0JqNlVrNVk5SUV2VXBkUjNGUVV1SEtCc09IQ0czUEtwbWNXU1FsbklNbVBQQkVpY2hZM0V5MUtyRUE0dDhpbWdiV2U3Tmpwc2t5RmtSSEpYcHhCZ3NhUE90VzIzN1ZvKzZqZmFsYTd3YXFFbEdRbUhkM0YyTnBQTlNQYmVjY3Y3MUdMSWxCd0VXcE9kWlpBZFhFTGtoNC9jWThLVVREVGpYYzBzNW5Ld1MxNjB4dGdwcktoUThERG9WTERtejB4U3lBd2ZWbTFFc253Y1NDOU9ORmtYT1FqcmFmckJ4WisrWFd3RHNHQTR4MjBJZ2d5WDhncDhrZkJoaDRycEVYWUw1S2xYcms0cDBmdEE1YlRyY3pRMC9pa1lPMktIMEVLK0tNS2ZueE9waldienB5QytFTnp3ZkNmcEZlM1pqOGlYRE1SaE1yelNZZy80RG1TaUV1T3l5NWkzb3QrTXlyR1R5NXFvUHJzQ0tIOUpmdEswWTFhZXZsQjZHUndqSXVZWFRYVFQ4ZllhbzVsQkVSdkhiQ05vNVFGaC96YkxxY3k1L0xDR0l3SEU4Ui9kY0VxRVBZZHp3M1ErY3lvK1NodWpHSDB3TnROenRnTGM0WkFvUHEwUjl0NmpZbHhIZFRSUU5xSXlRV3k3SGpDbms4MEtPQVRPM1dPSWtoRXhPZTdMYlExK25WaVVlV09UVHVXTWp5K1hnZFJMa2pBaFd1cXdaYVBQTjhIVHZ0aXN1dE1mOHgyQUVmZ1B6cmh2U3pwY1lKb3FERk91NXBUblYvS1BvSjBTVHdnWmptZDVpbHZCWERhNnJNbmdnb2Fod29nSG5lbTZoYzhGOW9lb3dVQTFuMG8yaTl5NC9oU2xUMHFsZ1NlV1d0WW9yelNpMlVJMkZTOHB5TG5LVzBvV0RjWko1RGFaajJjMjUxQ2lub0N3cG9jL0JDS09YY0phSDlVVUlNYlE5bjNjMFk0Q21hQkNUQ1JyejRlNjh6Y01WcllqaHlnK09sbitwQ0pObHNmdHprblE1RTFiUzBQMFdzWmdOdVNPS2prK0czMlFKWVBYbFVEYTlRcnRjTHpoTUhJelFYTDlISDZ0cFZvZytETGdhQ0RSTElZME53cGFCN0dkWmtmdmp2aEtQVFE5NjVJQkxkMGNab2lpR0lva0w5cmlXV2prU294K3I4ZTBRZXhIQ3d6WklQWi8xZFZNQkFIc3lhVHRPa1RteUxkbGgyZmZUcndlU21uRVdGZzZBdGZydTA2cmJQR0xHVzdDRVNvRW03WDg3WENDRnZaZnAxdTQ1QnV6NVlJaVRFRFE1WWVPM3piMkNXdWI3TGRiRXlMU3RJSXZJRWNMT2ltQ1dFbmNMYmI0WnZNS25KekZQZW80dEdtcVMwUmdNK0pJZmE3NTJBNWlvY1NtZCs2ZWFmL1hjQW1VQzU4dkhNZERhWUZGcmJ4MktDaWRhY081RlBUTkZpdUVVRHVKU2N5T0xrRUhha29kQnA0SWxtaGFIams3TmxXWVVxeU1KaGtralp5a2RWcWtoaEU0OXZ5YzJwMUJ5TzJnRW03UFdlSE5tTjlRU2VQakE1QzJNTG54K2FMRHVvdUltRDk0S2EyQVdFdlVJbWtuRXo0ZWpTemZ1ZkdBS0t6UzUvMi9mRFZ5ME1ES3hodVVrWnpPUEJNUmp2ZWgwUDlqeDVLUG95SW9oQ3RJT1JGYmpyUmlJbUxQZHRpRDRMYUtBQ01OWjVKR2ZkTzFydTZpR01VTkdRUlRaUkFXdUVKeXZINkVNTTIxU0hWMXNSZi9rWGhlaWI1L0dpaEVmcm5oNWxDR0tZaWhDZlcvd3FRSG5EclJBV3RkT3lxQXdnR1pYMmg4S1E2NEVzL1JsTW5XY2RkWUlXbVNIN2RCUjNRNmtMNUpVYU5mcXcyNkRhT0xIdkxFTnFPUm8wdjVIR0dQb2FzLzAydmJPMDA4OStlUVR6LzR4SlZCU3pERXdHLzJxNW9NaFRrS0Z3bHZCeVZDck10ME04cW0yRldUUi9zNmg4SXdJVnJvc0dHanp6UVNYZVZla3ZjcXlyNnhoM3JYdUtlQ0g3dnJtRmtxaDRpRE5MVVBOdjBNbTFvL2hqS3Y4Zlk0WFQ4MWpuK0NJaXhZYkxIWW9LcHhvd1ptWFNxQ2RLVklNcjRjekpYckp3NkNUWVltektIMGcyRnVtNWtwVC9UcVNtcTVzNGhvWE9VdnBNUFZEaXJqNm0zRDZmRkFGNWhjZnRlS0txVDUzYmhhUThUbTRBdkNjWnE1UktzRXpuN3ZPY0JxWmpRRUdtMkp1ZHR6eTRhaDhyYUIwdWgzRXpCV0U4N2VLTUdUYjdkQnhPRTQvRVhwdi9VZGY0UG5MUDlXcUNLN0lLUkRTOW1ZWWgvUXNIa1Rma0txYlBxcDNYSmN0cWV3dTk4a2crTHdEMG5DL1BicmhTVnpsL2NHQm4wdFh5YktXRlgxMzk0cGRROWhlUFB4YndNMStnM2U3UnhpaUtJWWlpSG5Wa0U0V3BSbUJZNThlcUpWa1c2YWpyRldxd1hYZ1N6QUVPL2FBRURIbHF2c1lJUm5aOS9kalpBKzQ1RW5MREhUcU83SVNxM3JiYnFRQmxkekgydjhWenl4Qm9uRGRYWFowaTVjY0EzUG1mRERFU1NrdE1aKzJqWnpnWk9ZYTFHcUdKcDlwYXlPTGNPQldiMmRFc05MRlFwdHZubWw1VG1ocjA0b2lUQVNOZVRjRVJ2SHpRdEZYeFVGY0R6UWRkVkJBWFU0ei8yaC9OSy9veGlLVVdmWlBXNDlIYkdyeFowWDZXaWpLbllqbm00R0R3TG1OTzdCY2tYeTRDd2NjUkhWc2pWSzc2Wkh6S09sVXNFVFR3cy9DaWl0dDlVOUFFbUowRWprTkN5eXhBZloyOTlyMkI0TXVHM0dkUXN1UjNWRDl1OWlDMXdmUElzOXg2SGtyaC8rcFByR0RRT3k4MTRiOU1yMDk0T0NPWmhBNTNnOEUzUzBianJxcEhrZXBYMzhab3Z5eTdpM2xpakNuNDlSMDIrTjVSL0pSVWFmckRuU20rV0JQRWJ3K2FIL1M4OStTek9xMnlxdStsdFI4T1JTN3NNSXRWOGI2MDJlUnIzM0p6WTVMUjY0YXNmdXp2dThlSzRncUd1S09yUzByK3U3dWRYb1FmRHZWWGNlK2JhZkJaMjlHR0tJb2h1SmMyM2JkaG1xdi9TK3hGWnVZWFhycS9rdktMZGVPcWR3TEtlTjZzQVhFQ0RVQU9FaGNkWHFTSFdUM1RNUDhkU0FMa3FrK0wxSzArdWcxSXh1WDEzSVdMcUZTb0VtNTZ3cFlyd1oreWpOVXpkZnhlbWpQYmhrR05xSU9lajZVNHFSa1RFNkdXa09UejdTdElBdWd2Z3RCem9wZ3BZdUZ0dERjRis5MjI3RHpSMHROTWpUaGRPYW1JcDBWa1QxYi8xMEFGd1kwQmhGWmhwaC9EQ2J5MDJaRzNEL084T3J6MFpleExyOTd3OWRXd0ZJSlJia1REVGlUQVB1ZU5vaWtpdVREMGEwU3pqd0I5MnJ3TU9oa1dHSjhyL0ZKWk1XVkZmWHJTQUxJa3NocFNBZGY3cExrdi9NZXZjUFVmdUt2emplUFAvY1BVV28vLzl6UE50UFAvZUlBeGVPUFByZm8xT09RdXZFeVdlN291ZTl4dFREZFhkZSs1bUlBUXR5VzkvQk0zNkh0elo3Z3IzNTR2M25vdVE5aVlIdjh4SFB2ZFVQcEpSdE9WVWl1emloWDJsMFlwZjNYenk1VGJYWVp3cHllRTlEbEl0OU0zd1ZVWXZHWVkvNWFwNElpU0UyL0x3U3IvOFhaYzBZTU5OK0V2cDkvN3Q5UjF3N2t2a2tGTFBEYjlqL2hmbm13VG1kTFgvQ2gyNzFadlVydDN5ajdBMFJ3Y0ozcWsrNkZGYW1ydXBaZ3hXVThmeGRHd00yL0NDSWpERkVFUXhFWWNhSDhhbnR2WHJWMlhONTQwOUdOQVZhRGEyNkp0UkNXQ0J2ZVY1UmtiNGNSRDlOS1lzTmxHcklENTF0RkQxdm9NT3diSlFSbzlha3JwdHMvb1B0bFdTRmxVQ25RcE54Vjl3eXRBT1E2V2lRT3hhVXhVSjhQbVRnRkZadFRwdGJRNUF0dHE4alMwaXVUa0h5blFMQldaNmxFVzJqZTRBMEtFTS9MeHpybU1RZ1JSMVBXNVNrL205cVBmL2g5VGZPT1graVJsejcvNFdmbnBjK3cwdWR4U3dpNFFzY0RjbXByRzdPL3ZmZnNlNXNUd0ZJSlJaa1Rjeml6QUgvM2wyeEZzdUVrbGhIT1VyRnpIdFNhMGFsZ0tZbE1oaXZyNnArQXBDeHlXdEt0dFVkL3RHbStmbkRMNVJhS21TdmtVcnJjS1lzdmhvM0k5WDc3dWZsbVp1OTRuM0lMa3I3WC9xRkJlKyt2dk83MWV6NU5YVysvZUgzd0s1aXpyKy82WlNQQ2xiOVdLV21FSytLd1NZYzdrci9XSGlQNVBJNXM3d1BCTGM4b2VUV0VHWWxUKzRVWFgvMC9lcngrd1hxdjM5NTk4UTB3Q0M1RjBQRitaOXYrM0I5NC9WOXFXM3lYank2czFjTzFIL3U2eUF0TmczV2FyMFdYTDd6ci9lMS85a3N4M3JWQi91TmZldDN2LzA3WkxicVovNDkrenp2ZHVNS0tucUc4VG5VeDNYLysyN3JITngzQ2FGMDB3aEFoSjRXTjltaHE4S25tVXQ4N2srdnhCY2Y5NXMwUWRhWGR2T1N6d2ZUZ0xwQnovVFB0cDN3bjVNM04wSDBhcy9jYi9Lb055OVRqdUo1bGNuU085dXZIZndIRy9sT3k3azNVZHgxaDdSOTc4ZFhmNUVPQnEwbWhVcUJKdWF2dW1hOFpCSmU1bXl3cFJEUXFhQXlzY1BkeVBxVGlKQlRvb2NJcFZXdG84b1cyVFExWlducGxFaWZmOEFqVzZoaG9DODBMY2dROUswc0xORlV3VDRNR3hsTERFNXRtUzlOaHlwWTg3UHRXZWgxU2Vsck8rUXV6bzdnUXUzN3FSalA5dCs3U08xTzRmdXVFYWR3MGxWQ1VPakdITXgwaHVBc0wxNW9pR2JTTmNKWktudk53cmFrWUZTd3RCV0hjYVpEaHl2cGNPUWxKdjRhb0ZpT25KZDEwRjI4NDl0dC80ZGJSa0FHNTVmaUZwNTk4OHVrWEJqU1hYcmp6MUpNLy9zd0xJYmMwbC90dCsweDcvQjZzSmVuaTZFblZ1TndxRTZ1cGRmckx4RHVEdHYxWnAvOEJFZnp4cDE5QXBybmF2b0MzVWFtc2NvdWpLc085UVJHK2p3YnQ1MjZja0ZzTVlVYmg5SGFTdkwyblFJaC96T01kcENJb2NsSHIzL1pQQUNVYkNMbUY3ZVp5Uy9QMmU2dWhVL00vYVVqNzBnMDhQOVI3WGpnOTFIUDFQOHJka0hyMnFHYVRLZ29yeGw2K2RMM3JScitIbnQ1K1RFUkdHT0pKNlZmNm81WTN0VWRSeGRENHplMXh2LzBWdDU4YUJMZGpvd0xrdEQ4V2VtQ2lMaktsbGZhRjlwLzRoNzkrOUI1RWl2eGF3cTlLYmJYSHoyQlRNeTl0U24xZkJ4VGc4cHRpWDVNZ3JVQ1RjbGZWTTQrMngvUVhvTTN2ZVBWLy96U0lIM202K2F2Q3dBcjd0VElmUU1RRFA2ZFI1WlNvTlRUNVFsdndxeUJMU2E5TTR1WHp6SWRCc05hblJGdG92U1luWEZlVDFVaEZNb3phczlNNVdxYjliRUxvb2R4eWZJZkMwRE1EUGxseURJZVRma2FtcFV5MklLNjdmUVBXTzArM1J6ZFZicWxPNDZZQlN5c1VKVTdNNGV3REo0U24zSEtDSWptMGpkZ3FndWM4ZkVNaVJnVkxTNHhnOTM1bzZjcnFYSEgvbUZ1TmhVbmt0S1g3a3o4eWVQN3ZRTkRQUFBYUjkvMjVQeWlxMklYcGQzL3krS2VYY1U1eDUrTS84SzV2ZVIxM212Nk9UeDUvN00vN0ovZHp2Ri85b2ZiT0o3Q3NIZTdTdzhPSU4zNWtjSWVrK3E2bm5uamZuMzJSd25KNVZZUXBPOFlhZzlOclBqaDQvZ2ZtWTVlbWVjMUhCajh0WVZJM29QekdEdzd1ZkhRL3E3emY0MWY5dFU4ZS9WQ3B3OVRiWUxWNE9BZ3FVOS8reWFQdmM5VHViOFdwUC9IQndjOThxMkk5d2hBMTJoZnhuaDVTNDdjUG5uYzVTemUvclgvdkEvVDhOZjNQTDRmNlM1OGVIRDNoQWpWVlRIWC9lYWhIbFBnUEx0djU1eWtqdHp5MmpnSGYwVDkrNnVlMFdhTDZnUktzL2Z6MzZ4Nk40VURoT2t4aHFzOTdUdlIrVFovZktpeUdub1FCMWZrRWNVN2dWS3FsU09yaUNlUjl0d3F5VHBKK0pBUTNCZHFDbU5mdnNMelRkeEpIVlNURGFmRTJqeGpsUHByMEdhZExmKytaNDQ4dDR4dFRkejcrN0x2KzIzeldtajlXUXBGMm9nM25uRkR5cklmN2h2dUVzd3FQa2s3Q3huaW91ZExvZW5JczFKR3pJcDFKYzFMNUZXa0JiT2IvNzdnVm4rYnQ3YmdKajBMdld1dmZDL1Jqc2RjYXU3b3MxZmx4WW82dmpIdi81aXREem9tVUV3dE1MREJHQytDY2EyZU01QnlwNjlVRDluRnpHb0xlV3FyZkhuOGljWWlocCt4eWZweE9LZGlYdDd2Nko0Z3ZyeUFUN2hNTFRDeHdqaGJBVysrNzQyYjNFQTZkTDhxRk03OUZMUXYvd0wrdUcwLzUvRGlOUjk3em9uTDFJcTAwemt2cENaK0pCYjdpTFRETG42NGVveVd1NnM5dGpKSHVLS1F1dGNmSk1MemZuanlQNytIOE9JMVA1dk9nTk9jK21uNGVuQ1k4SmhhWVdPRGlXT0NBdis0L1JwRmVkVGhHWW1ja2RVVSsyK2dKbmZCdGkxY01wek1LZXM3RDE3YlBtZUdFM2NRQ0V3dGNBQXRzMUQ2VWV3YlpEcmJQTUhqTVE2K3FMNDhUYVh5MGY4d2NtTno1Y1dLT3I0ejdZUG1WSWVkRXlva0ZKaFlZcHdYbzZ5M2p2dmFXeDAxeGRIcVg2V3Q1NnJyOEFIS3BKMzkrbkpRNkY3ajR1MS80WHBMdTBvTTZnN3pBcWs5RW0xaGdZb0ZHZnVacmZMYVl2a2pSQkoreG50ZXFYWHNBdWRUVFB6OU9XcCtMVys3NUxIN3RBbjJ3NCtJYWF5TFp4QUwvdjFuZ1FYeTloWC9YK0dMWXF0ZHVha0VPNVBjMWRlMVl5dWZIYVN6aVBtQWk5RE1zeStDeGN2c0JNNXFRbjFoZ1lvRUxhQUgxZTVOamsyN3BRa1dUcGVRTExkT0Q4WC9rbWcxM2ZweVk0MFcrNDBNVCtNMG4vSm9ZdlV5dWlRVW1GdmdLczhBamJicXNINGY2dlp2am9ESXVHbmp6ZmpYU2VtdjJzYkhZY3ZiUytYRTZ1NndQbmdLc1FmdVdLMGNQbnRXRXc4UUNFd3RjT0F1c2pmK3JrMWVOWDBIK2N1cmRhYjkwZy9uakYxYzN1VHorKy9seEdyL3NZNmVJcjVKU1dsbjU3TmdwVHdoT0xEQ3h3QVczd1BSZi9oQVdsL2MrL1BPTDR4UzBzek5PYW1lbk5kMXJYNXIzWlBCVGxmNDNxODlPMWFKd2Zwd3M3aGV0YnUvNDM5Skh2dmN2bWx3VGVTWVdtRmpnUVZzQXYvZmlyODB4Y3BwSlA1YzFSc3Fqa3JxRVR5eDl6M3pUZk4yN1cvb1Rod2Q0blIrbkI2akV1RWhmdzEvWnpXdzl5RncrTGtrbmRDWVdtRmhndkJaNEZIK3Vnei9yR2JqL3N4d1g2VXVmR2hlbHNkR1orUXhTNkRHbFVmZW5BV09qV3hJNlAwNGw3d3RYczlIZWFTdC84M25oWkowSU5MSEF4QUlUQzR4Z2dkZS9IeG4wcVgrL1A4TFFVdzQ1UDA2bkZPejh1MCsvZjBELy9EUzV2Z0lzOFA4QTZVYUJTZUsrcml3QUFBQUFTVVZPUks1Q1lJST0iCn0K"/>
    </extobj>
    <extobj name="334E55B0-647D-440b-865C-3EC943EB4CBC-4">
      <extobjdata type="334E55B0-647D-440b-865C-3EC943EB4CBC" data="ewoJIkltZ1NldHRpbmdKc29uIiA6ICJ7XCJkcGlcIjpcIjYwMFwiLFwiZm9ybWF0XCI6XCJQTkdcIixcInRyYW5zcGFyZW50XCI6dHJ1ZSxcImF1dG9cIjp0cnVlfSIsCgkiTGF0ZXgiIDogIlhGc0tWbDk3WEhSbGVIUjdhR1ZoWkgxOUtIbGZlengwZlNrZ1BTQmNiR1ZtZEZ4N0lIbGZkQ0JjYVc0Z1ZpQTZJRnc3SUFwd1gzdGNkR2hsZEdGOUtIbGZkQ0JjYldsa0lIWXNJSGdzSUhsZmV6eDBmU2tnWER0Y1oyVnhYRHNnQ2x4aVpYUmhJRnh0WVhoZmUzZDlJSEJmZTF4MGFHVjBZWDBvZHlCY2JXbGtJSFlzSUhnc0lIbGZlengwZlNrZ1hISnBaMmgwWEgwc0NseGRDbHhiQ25CZmUxeDBaWGgwZTNaalpIMTlLSGxmZENCY2JXbGtJSFlzSUhZbkxDQjRLU0E5SUFwY1ltVm5hVzU3WTJGelpYTjlDakFzSUNZZ1hIUmxlSFI3YVdZZ2ZTQjVYM1FnWEc1dmRHbHVJRlpmZTF4MFpYaDBlMmhsWVdSOWZTaDVYM3M4ZEgwcExDQmNYQXBjYjNCbGNtRjBiM0p1WVcxbGUzTnZablJ0WVhoOVhDRmNiR1ZtZEZzS1hIUmxlSFI3Ykc5bmFYUjlYM3RjZEdobGRHRjlLSGxmZENCY2JXbGtJSFluTENCNEtTQUtLeUJjWVd4d2FHRWdYR0pwWnloY2RHVjRkSHRzYjJkcGRIMWZlMXgwYUdWMFlYMG9lVjkwSUZ4dGFXUWdkaXdnZUNrZ0xTQmNkR1Y0ZEh0c2IyZHBkSDFmZTF4MGFHVjBZWDBvZVY5MElGeHRhV1FnZGljc0lIZ3BYR0pwWnlrS1hISnBaMmgwWFN3Z0ppQmNkR1Y0ZEh0dmRHaGxjbmRwYzJWOUxncGNaVzVrZTJOaGMyVnpmUXBjWFFvS2QyaGxjbVVnSkZZa0lHbHpJSFJvWlNCdmRYUndkWFFnZG05allXSjFiR0Z5ZVNCdlppQk1Wa3hOY3l3Z0pGeGlaWFJoSUZ4cGJpQmJNQ3d4WFNRZ1kyOXVkSEp2YkhNZ2RHaGxJSFJ5ZFc1allYUnBiMjRnYzNSeVpXNW5kR2dnYjJZZ2RHaGxJRzVsZUhRdGRHOXJaVzRnWkdsemRISnBZblYwYVc5dUxDQmhibVFnSkZ4aGJIQm9ZU1FnWTI5dWRISnZiSE1nZEdobElHRnNhV2R1YldWdWRDQnpkSEpsYm1kMGFDND0iLAoJIkxhdGV4SW1nQmFzZTY0IiA6ICJpVkJPUncwS0dnb0FBQUFOU1VoRVVnQUFEejhBQUFMakNBTUFBQUFCR3RsV0FBQUFSVkJNVkVYLy8vOEFBQUFBQUFBQUFBQUFBQUFBQUFBQUFBQUFBQUFBQUFBQUFBQUFBQUFBQUFBQUFBQUFBQUFBQUFBQUFBQUFBQUFBQUFBQUFBQUFBQUFBQUFBQUFBQUFBQUFlWWFmcEFBQUFGblJTVGxNQUVOM3Z6WFpFbWF1SnV5Sm1WREtsWUpGUTZlWGZFZ3pNZGdBQUFBbHdTRmx6QUFBT3hBQUFEc1FCbFNzT0d3QUFJQUJKUkVGVWVBSHNuZW1Dc2pDc1FCWDlSa2RINys3N1ArcE5VcEMyRkNqSXBoNS96TEIwUGQyU3BpMjdIVDhJK0FTdXY1Zkg0ZTQvNFJvQ0VJQUFCQ0FBZ1RFRWlrZHhZa2dkUXc0L0VJQUFCQ0FBZ1hjZ2NMczg5SGQ3aDdTU1JnaEFBQUlRZ01DbUNWeHRUQzMrTnAxSUVnY0JDRUFBQWhDQXdEZ0NQNFdOOUk4SGsrWGpBT0lMQWhDQUFBUWdVQlBZbDZQcUFRMjZoc0lWQkNBQUFRaEE0RE1JM0kvbE9ILzgrWXdNa1FzSVFBQUNFSURBcWdSK3FwRzFZR1JkdFNDSUhBSVFnQUFFSURBMWdWKzA1Nm1SRWg0RUlBQUJDSHc3Z1IrM0wrcnh1T3kvSFFYNWh3QUVJQUFCQ0h3T2dXdTVkUHZBMXVmUEtWUnlBZ0VJUUFBQzZ4T29WbmNkTUVHdlh4aWtBQUlRZ0FBRUlEQUpnWi9TK1B3N1NXZ0VBZ0VJUUFBQ0VJQkFSZUN2SEdQWkJWMFI0VDhFSUFBQkNFRGdyUW5jM05ETzNQaGJseUtKaHdBRUlBQ0JiUks0bHR1Zy8yMHplYVFLQWhDQUFBUWdBSUVoQk81T2ZTN1lteldFR200aEFBRUlRQUFDbVFUS1hkQ3M4c3JraFRNSVFBQUNFSURBZGduc0Q2WS9vejV2dDRoSUdRUWdBQUVJdkRlQnM1dXBaZ24zZXhjanFZY0FCQ0FBQVFqc2RtNVoyUUhyTTVVQkFoQ0FBQVFnTUJPQmNnbjNmYWJnQ1JZQ0VJQUFCQ0FBZ1dVSWxPZWFjQzdvTXJpSkJRSVFnQUFFdnBGQXVkYnIrSTE1Sjg4UWdBQUVJQUNCRHlMZ1ZtK2ZQaWhIWkFVQ0VJQUFCQ0N3TlFMLzNBcHVETkJiS3hqU0F3RUlRQUFDRUJoQ29EUS9zM3A3Q0RUY1FnQUNFSUFBQkFZU0tFeUJacnA2SURhY1F3QUNFSUFBQkRaRmdQRjhVOFZCWWlBQUFRaEE0RU1KbEFib0Q4MGQyWUlBQkNBQUFRaDhCWUdyVzAvRzd1ZXZLRzB5Q1FFSVFBQUNxeEZnd0YwTlBSRkRBQUlRZ0FBRXBpSndjL3J6Vk1FUkRnUWdBQUVJUUFBQ1NRSnV3UmVmc0VyQzRTRUVJQUFCQ0VEZ0xRaTQ1V1NIdDBncmlZUUFCQ0FBQVFpOEw0R0x6Vmovdm04R1NEa0VJQUFCQ0VEZzZ3bjgybWpPOXpTK3ZpSUFBQUlRZ0FBRVppWnd0aEgzUEhNc0JBOEJDRUFBQWhDQXdId0UwSi9uWTB2SUVJQUFCQ0FBZ1pxQTA1OHY5UU91SUFBQkNFQUFBaEI0TXdMb3oyOVdZQ1FYQWhDQUFBVGVsTURKN00vb3oyOWFmQ1FiQWhDQUFBUWdJQVRRbjZrR0VJQUFCQ0FBZ1NVSU9QMlpIVk5Mc0NZT0NFQUFBaENBd0R3RTBKL240VXFvRUlBQUJDQUFnWkFBSTI3SWd6c0lRQUFDRUlEQSt4RmdOSCsvTWlQRkVJQUFCQ0R3amdRWWNkK3gxRWd6QkNBQUFRaEF3Q2ZBYU83VDRCb0NFSUFBQkNBd0Z3RkczTG5JRWk0RUlBQUJDRUJnS1FLTTVrdVJKaDRJUUFBQ0VQaHVBb3k0MzEzKzVCNENFSUFBQkQ2QkFLUDVKNVFpZVlBQUJDQUFnZTBUWU1UZGZobVJRZ2hBQUFJUWdFQTNBVWJ6Ymo2OGhRQUVJQUFCQ0V4RGdCRjNHbzZFQWdFSVFBQUNFRmlQQUtQNWV1eUpHUUlRZ0FBRXZva0FJKzQzbFRaNWhRQUVJQUNCenlUQWFQNlo1VXF1SUFBQkNFQmdhd1FZY2JkV0lxUUhBaENBQUFRZ01KUUFvL2xRWXJpSEFBUWdBQUVJakNIQWlEdUdHbjRnQUFFSVFBQUNXeUxBYUw2bDBpQXRFSUFBQkNEd3VRUVljVCszYk1rWkJDQUFBUWg4Q3dGRzgyOHBhZklKQVFoQUFBTHJFbURFWFpjL3NVTUFBaENBUUJlQlcvSFQ5WHFaZDlmRDN6SVJqWStGMFh3OHUyMzZYTGJtL3g1TzI4VHdYcWw2ZzU3aXZZQytiMnFYYWIrMDJ5bHF5SmhteTRnN0JYbkNnQUFFSUFDQldRaWNIb2ZyTEFFUEM3UjRYSVo1V053MW8vbml5T2VOY09HYS8zZzg1czNQbDRTKy9aN2lTd3BpN1d3dTFINXB0NU1VOUlobXk0ZzdDWGtDZ1FBRUlBQ0JHUWljSDQvN0RNRU9EbkpmUEk3N3diNlc5TUJvdmlUdCtlTmF1T2J2UlE3ZmRnV2ZIL2trTVd5L3A1Z2ttd1RTUTJDaDlrdTc3U21Iek5jam1pMGpiaVpibkVFQUFoQ0F3TklFTG8vSEJsWnZhNjZ2aDBleGFmMkMwWHpweWpscmZFdlgvS3ZvejF0WTZERXIxRVVDMzN4UHNRaUZiNDlrcWZaTHU1Mm9wZzF2dG95NEU2RW5HQWhBQUFJUW1KakE4ZkhZekw3aisyUGJDalNqK2NTVmI5WGdGcS81eU9HVGxmZldlNG94R2QzZnpzVkJwbGlLODIyTTk2L3pzMWo3cGQxT1ZiY0dOMXRHM0tuUUV3NEVJQUNCOVFuSU1xVEhvU2lPN2xjVXhVR2xubitKaFAyVDU0ZlNxYmxLT1VyNFcvQ1JMSUg3WFRDNm5xaHVqOGV4eDhtYXJ6OXNOUCtvaWp5NFhpeGY4NUhEQnhkU3E0ZU45eFN0Nlc1OXNUL0pZQ0hqaW80bGorMGZwZGlhajhWZUxOZCthYmVURmVyUVp2dGhJKzVrSEFrSUFoQ0F3RHNTK0ZFSnAvRkxuYXdyaW5iNE8yOHR2ekkrYmVyUUxrblA1aGpWWmZaaG8va25WZVM2a0RLdlZxajV5T0daWlpQamJOczlSVTRPQWpkL01sRDh1bU1vZm1SZDhwWjd3U0RkcTkwczJINXB0OU9WOHNCbUs4N2x0K1U1OWVuUUVCSUVJQUNCanlmdzcvZDBsc1ZqOWU5eVB2MUxiZHo5T2ZuT2pwZlQxblkvcWdhVlN2aDZSU2hURHRzejBsYzRQbTAwLzV5S1hKVlE5djgxYWo1eWVIYnhaRGpjZEUrUmtYN2Z5Zjd5T0hnamlGanAwQmw4UHMzckpkc3Y3YmJKZi9TVFljMzIwMGJjMGRqd0NBRUlRT0JqQ094dG9aMElPdDNmVHQ3TE1qUDlGWC9iMGxPdEhEUVBtOW44N0dxR3lpcWJPQTA4VlZFL2NqVC9oSXFjS3F6T1o2dlVmT1R3empJWitITFRQY1d3dkZ6akx3K29BcDFhMERRczJBOTJ2V2o3cGQxT1dKT0dOZHVQSEhFbnBFbFFFSUFBQk42UWdHNXUxbCtmVGRrY2JkT21LdGJ4elMyTkVxekZWbXZEWjQ3bUgxQ1JCMWVZVldvK2N2amdjdXJ5TUYxUDhYTmE5UXNFY2l4eHZHbEZsM0J2ZGhxeHExQVdlcmRvKzZYZFRsbXFnNXJ0WjQ2NFUrSWtMQWhBQUFKdlI2RGFQZHFYY0YzQ3ZhcDQxcHBBM1hQWHAvMjNlcDd0aGRqRU4zU2lXWkROenh6TjM3OGlCNFdVYzdOT3pVY096eW1iZkRlVDlSUVMwR0c5R1U2eHBUWnN6V3FBM3RUQkZQbWxzb1RMWmRzdjdYYlNNaDNTYkQ5enhKMFVKNEZCQUFJUWVEY0NPcXJxcjI5ZHRqalo1dmRJOXBLeWh1QzJmaW1vYkxSUjA4dG5qdVp2WDVFSDE5bVZhajV5K09DUzZ2UXdXVThoUFk1bzBMOTlQWGxuWXNhL3ZDUTBaYTJodlNQTCtDamYzT2ZDN1pkMk8ybDlHZEpzUDNQRW5SUW5nVUVBQWhCNE93SXE0c2l2UjllVDVVcnJtVFk2bWVyTzdKVkV4czUweVFram0xdFY3aEw4b2FPNVZlTTNyc2lkdFNuMWNxV2FqeHllS293WG5rM1ZVOXdsSVAyZDF1Z08veVgzcTJoeXRqbnQra0o1VGVWMTRmWkx1NTJxNEZ3NEE1cnRoNDY0MC9Ja05BaEFBQUp2UmtEV0lmVkxPYkk0YjZQSzRGMFN2MEh6ODI2bmF4ZTNLVHArNkdqKzVoVjVjTGV4VnMxSERoOWNWTjBlcHVzcGZuU1hqZnpPaSs5bmtjcVlpbE1UczlWdExOMkZNdi9icGRzdjdYYmFNaDNRYkQ5MHhKMldKNkZCQUFJUWVETUNwY2pWYlYwK3BjV2pEV1JWajZoWnc5N1NuM1dabno3MHUxckJ4WWVPNW05ZWtRZFhoTFZxUG5MNDRLTHE4VEJoVDNIWFdpRy9TODk2b3A0VURYNWRKSmNuMmZydCtGQ3h3V0YvcUllbDJ5L3RkdUtLbE45c1AzVEVuWmdud1VFQUFoQjRMd0xsbDZrNmJiZ3lWZDZ0WDYrVzVhVW44UWRrVkErRTNpUzFEeDNOMzdzaUQ2aFl6dWxxTlI4NWZIQlo5WGlZdEtlNGx1M2d1T1Jwai8vU3k1TzBxbXh6ZFZCUGlTendldkgyUzd1ZHVGVHptKzJIanJnVDh5UTRDRUFBQXU5RndQWHRpY05mdkd3VXljMXRub1BWTG5VU2YyRlRTMjVlMWZpeVNRUDBoNDdtNzEyUmMydlYwOTFxTlI4NS9Ga0dFMTFNM0ZQc1piV1Evb3JGdG8vSTlwNWtKNnhMWEZtL25hNGxpN2RmMm0yNklFWS96VysySHpyaWppYUhSd2hBQUFLZlFFRFBrWlJmMTllS1phSTFLUjZ0bjMwZHdycFN2bW9LMVJDMG1BZzdJS2ZiSE0xL2ZpOUZ1WVZaNjZQOURrUFdmcjUxUlI1UWZNN3BlalVmT1h4d1lmVjVtTHFuMlArNmxuVDQ2NHQ1bXZlL0xkT3Zwc2h2c1F1Y0p0dXZoTEo4KzZYZHZsSmVLYi9aelhhYkkyNHFTenlEQUFRZ0FJRmNBdjNmelpXQnQzTjFkMjVNTTdqVEpWU2JQWjlHeVc3eDFMWHRqZWI3UDdYR3BINERGcUcrZFVVZTNEYldxL25JNFlNTHE4L0RERDNGdjFLRC9yZkE0UkNpQzZiblY2MUY5MlgrTzk4djMzNXB0MVBYdE94bXU3MFJkMm9VaEFjQkNFRGcrd2pvc0txL2RqbnI4amkwdjF3WG1CemhrVHozZGQxVVZiRXIxdFNwdE5YN2xmNjc1WjNiMGV5ckhadUtLL29OcVhodlhaRUhWNFgxYWo1eStPREM2dldnMVg3cW51S21WVVIrODM4UXVzMzhiQ3RDaGl3aDZlWDBPUTZXYjcrMDI4bHJqemF2bkdhTC9qdzVlZ0tFQUFRZ3NENEJIUVRrbDdZZ1NQSmtFOXRXbCtEcEdTemIwUU1iUmFsRzFRMWF4N2VsUDFlN05SK0g4K24zNytiL2Z1NkQ1bTIwRnN2dkhTdHlvK3IwUFZpeDVpT0g5eFhPOFBmejlCVFY1NnhPT1RMKzhFUS9mUndlNldVaWRpTCt6SEUvRS9GZUZ5dTBYOXJ0NUZVa3Q5bWlQMCtPbmdBaEFBRUlyRStnNTd1NWNqYk1aZjFFcGxPZ211QUdGZFFxc1dwLzJlRHU3RTNweitXdTVjdmY2M0wyRzFma3FzWmsvMSt4NWlPSFo1ZFN0c081ZW9ycWMxYm4xa21sN0NTMk8veHBPU2JSTmxSc2RlZFBlM1lXZWJOQys2WGRUbDZ5dWMxV0YrdHZlcVovY2pJRUNBRUlRT0FMQ1BSOE4xZEcrdGRWbTVrdzZxaVVObjNNRk9Hd1lGVmlhVGVIRGd0clF0ZGIwcDlkV3FZeGtMMXhSUjVjdWl2V2ZPVHd3YVhWNjJHK25xTGFISEdacjU4OHArY3daZUoxazlPSHZZV3hoSU1WMmkvdGR2S0N6VzIyNk0rVG95ZEFDRUFBQXVzVEtMOFgybUlva0lWbW0veUlzWEl6QThmNkFOdFRvSnZjdGtmUG5kVzFoVVVGZTFONVQ0TldhYmZUZnQrSzNKNm5samRyMW56azhKWkNlZVh4akQzRjFjMVJQWTV6N2NKcG1XQzFibWF6VTYrdkZOYnJmdGRvdjdUYjE4c3REaUd6MmFJL3grQzRod0FFSVBBQkJOem1uTFpGMnR2OTlQTnVweW5mOFBibjNVNDF1aTNvcVdFdDFVRi9FMGVxbTRYcU1KbGg3SDByY2xnK0dYZHIxbnprOEl3Q0d1cGsxcDZpK3B4Vk1jdm5yRzdwUFNxbU0weld0b2Z5M0xqN05kb3Y3WGI2U3BIWmJPMDc2QzI3SEtaUEZDRkNBQUlRZ01BaUJNb2RxT21OdWlJRmJWY0dVdXRsMS9ibnY4dEJUcVZhTWYyR2RwRkNIQktKcWMrUERGbDZibjZxeUY4bU1qNExnTzFXNUx0VXhDTFlnMnBvajc5anpYTnIxdnlCY3ZndDNRai9GWWV1cHR0VG42L3lzZkJIY2ZIcThQVlhhbE54SG1sam5idW05MlNuckx1OXJzWTdlSDdPYW53UWJUNVB5YThicXZwOGFOOTFmYjMvL1AzN1BWMk94YUVxc3R0SnZ2OStLSTYvWVlmOWN6cnE0OHR2ZTJDeUVzaytIaSt1L28xdFVXMjVzK2NydGQrdUhKZnBsWlFkTTV5cDZ3MjAyNm1iN1c3dGRwczV3Q3Q2K1UwMzFKV2x6ejhJUUFBQ0VGaVJnSzBsazk0OWxRVHArRGY4L1JFZGt5cnBxNW42dXlnWkIxWFJFamtRY1hJSnU3Q2VzcnE1RGREbFlONHJkYzNPVHhkNEpzcW1XWktaVDJhcHlIL0h4L0hWSmZoaWJUcm9adEJxcm1DdjJveFZ6Y2Q1bkV5bDlXcXRtajlJRHRkSzlFZzBRbHZjTzdidzNhbFlkbHhjVlRScTBEUEdZL1pMekY3VCt5dncvRDNGbjVhQy9DYi9uRlZSemJEZVpFNUQ2N1Zvd0hzMXpCM2JkVmxua05Qa1ZQWFlGSHhYZ28raXJ0cVc2dkx4VTlPT2NmNWFWWEFONnBFd3NwK2thaFRGVVg5Rm9ZRlZmZCsvNXd0N0hpcnVkU3lydEYvTlUzTlBsU1RGYnpXT1l6dm5PZzhEOWVjNTJ1M1V6WGEzZnJ2TmJiWldRVHQ2YkwrY3VJWUFCQ0FBZ2ZjZ1VPcFR5ZG5SRFgvNnVkeitYSWxDRGRhaVRlbXhWRHBEM0JCRFZOb2VJMmczSXVsN29QRjRSckkrNTR1OHQ4ejNMeWFiblo5dXk1eDBFbU9PaXF4NndLdkpGQ2xkSkhNVmRRdlRsdThpVFpubCthWmlWV3NGN3FnTU5sUFE2bkhta2h1aVA3Y2x4VzBJSEhrd29UVHBRbzlydHkrZnVSb2svZFNmc3YwUnZielIyanRBMnF1MlJPckxUK29wNXZtYzFiNnlxK2xNeWFGVWRlV3lzMytOOWVmcjhYRndCbWIzMWVwU1I5eHJjVm85ZDJsUGRoZmFpczd1K1A2ckZWZER6eTQzZ0d1aTNLOXFPbVUxckI2MzZNOGJhcitXNEhwQUVmYjY4elhxOXNxK2RydWR1dG5xOFNlcmovQ0t2eTZQVnZodUdNa3JwOVpBZUFFQkNFQUFBdHNpb0dPQS9DcWh3a3VjaURrWmc0UG5ZZEZMRTViYVlwU1pZV2ZGU0dYTnBvTUh5OWx0VVhVOFQxamVPbHd2ODhveTM3bnVYZE14T3orZHVwOTQ4N29XdGZ3bXJNaVZuUDlLSzVDTW1vR29NcmVMREZ5ZG1HWWFmeUs1ZlJWaDFaby9RQTV2clVTcWE4bXZzaDczNVRkNEw5cFFWUnlxVHFoUWVxNXFrcXdXU0paL0VFQjAwNXBJZGZkWlBjVWNuN082bGV5bFdweXYrLzMrV2hxNk84djIrbnM2bDNWQXUrbnI0ZGtrZGp0N2JwMXo4TGh0eFlLMGhhbzVTWG1weGkwUHdpSytuYzduMHZxdWJ4K1h5bUQ3NHowOUhNL1Y0OUQzbHRxdkpiOG1XM1ZQWVlKYjdsWnV0MU0zMi9sSHFCYU93ZVBNQVY3cWtQN0dMVFlLSXVRR0FoQ0FBQVEyUThBcFZLblZSWWRLTHQxTVd2MkVxS2lVM3JVdGN0U2h5bytPY0pIZHd0U1dweER1QnpuMXRjNDdINllPOUxYd1NwbXJaeWlmbjUrS3lXbUJkWFQrcHEvSUpvMDNLOUNnRkY1S05kR1UzcXRhTk92bHFmcnMwRk1VaWNoV3Jma0Q1UEJEMWNqaVJsanFUcEdlazhocDg5SHY0MUJYR3kzeG15QXRKMktjb1hIWXZ1cjVhM296RDRrbkMvVVUwMy9PNmxSTnhaV3RUMHJFN1Uyb2Eza2l1L3BJak03NnUzbWR0VDUyUmxXeEJVdkpWQk1sL21OMVUvL0VxaGxHWkthK3hNU2NMU25YK0k1K2UzT0d3VWZSc1c5NlErM1hxV0gxaEZ1bFAvczVxdEZFVit1MjI2bWJyVmRwNHM1RjhyM1lDSi9iYkYxVkg5WXpSZVhITFFRZ0FBRUliSXhBS2N3Mk8zY1JSMnRSZFdPSmx1U293QlpweHM5RW5wODJDQldaSWhWVzEzUVBObE05Z3g1eVlRTDlFQSt6dXhXaFZIL053ZzVqbnAyZmluNmVkQnpHUHZKdStvcXNvcG4rMnFacE1oSXFvcHh6WmJYdVZ6VG1XdjUxdXNMd1pYMnIxdng4T2Z6MFhGbXFEUDFHNkZwZ2ErdnR3UHJucTg4N2JWOUZaU0MwSmZMeVlCalAyV3Q2UjJhOFY0djFGRk4venVxNS9Ya25adDdMNVhJKy9idXJjcFBSdkowNmVCT0xjN0J5Mm5SYWFYSEhVRE8yeDM0bFVucFNHWStSN210dE5qVXpVNjdXRG5vZFU3UU93U092VU1vWTNKUEYyNjh5RFBQcmNsQW5jRi8yVDE2UFVyK01yMVp0dDVNM1cxbHpVcFd4WUlvNGxVZEpabUdKTVEyN3oyMjJzdFpjZjFzV3A0WmxITmNRZ0FBRUlHQmZXWksrdlNGMmlualRwMmF0U2s4SHBHb01qUklpU1MvbjVFMUFxbTVLVjg3b0VIbVo1ZFlFbnF4QmMzLy9HZjdMQ2puTW1NdDduejQ0UHo4UkRoTkdvakN0USs5YzNxYXN5R1dJWXhTOUt2SFA0NGxMOGQxWG4zYzdNM0FQTHNaVmEzNjJITjVWaVV6dUhJRlZJdmQxTFdNcWkzOGQ3SEsxd0tCT3F5dVI3Z04wMWZ4SFZhRHovTS92S1Y2Ty8vazVLNS9rMkZDZjI1L0RBS3piN2EzWFdvOGZ0MXUwanQvcEd0ZS9hUFJ4eHRaSUozTDFLTEJBTysvQm96SnR6bkV3WkdnNjNha0VZZnJydTlYYXI3UERCNlpscStCK3R5a3IzUFVYUWFrVDcxK3QyVzRuYjdhNmVuc0xJM3gyczNVamlWOTJmdGx3RFFFSVFBQUNiMGpBRnBZbTFKbmpLMmEzK1RtWWlGYnZCUXNpdkR4bEx5ZE5CUy9kcHNZMnkzWG85TVU3ay9seXhOVFNMR3pTMElBL0xkbHZUM1ZwK09zVHVHYm5wMkJ5dUxUbkpQRm0rb3BjbWcxZVNlcFR1aTFURitiYVJQcEFvay9rSzM2MGJzM1Bsc003SzVHcEFvMHB1emluamZ2anMySGJxN0k2bDRxYVV5YUdGVlpuSXJmWVV6U1FqSGxRZnM0cXJJdGpBaEtiZjFvblVNVWkvY2FMeG5xNnYwTTBtK2NVeDkrV3g1NTN1U3lMUE5BeWJSbEtNbTQzd2VLcjFsS0JndlhjWWVoNnQ2WDJhN3lDM2tMVVNQa0YyVzltd1QxWnM5MU8zbXhsNHJHYUpsdDFoQjg2d0FlRjExWlNQSWNBQkNBQWdiY2dVQXFoNFZLeDNVNGtvQW5rcS9rSTJMaVpYbmtuVWtWbCt6QUZKY3lhcVIrUnpXT21aSnA0azA1akdHT2xxSms0bFA5bjZDU0FFN2ZDZFpGaFF1eHVmbjR5SFI4V1NpSVZneC9OVUpITnZ2QVUxUWFuU0ErSnIvTHBMQkNWMUZjR1plRlhMbktEWDdmbTU4cmhVb2txdVQ3UkNFMUppbUQwNTErV2dRYU9YUEZVcmNDcFI0T1U4dmxyZXBEZTlodHJtVGs5UlhzUUE5NlUyNkFuaU8rNS9UbU9YVFhidnZCTit5MGEzVkhaLy9sNnJvWnVqNlBTTFowR0VibEtVUTBBZnJyS1dVcnZsWHhGdktxa3ZzUDZla3Z0MStwSVJNdG01ZXJrZGx5dDJHNG5iN1pxZnE1S01kRzVMRGZDNXpkYmw2YmVKdEZSZ0x5Q0FBUWdBSUZ0RWFoMHR6QlZJdUQ2c3NydG54NlpXc1JHZ2REUDFIZjd2Myt5cDA1aWpVVXBqY2kwcGJTR2Y2cFhocHFJVmduWUxuMU96ZW96d1U2U0Z4czBzN1NFYzJsSktRWEN2SDlGT3Z1dFNkY3ZKOG12MTJvOVA3K2NWTFJtbysxRlZrVnU4OXp5L0g2Nm5BWlNEa0o2THY5MHBySlEvU3NyOFZNVTlIM2U1TWpnNHBLTWV0MmFueXVIMTd1ZmsyWmNGZndEdGNmUGZOdDFjS0tVT0RMWitUbk5kOVh0b01Nc1BQUFg5TGFzUk0vemU0ckk0NGpiNXpIY0kvekdYdXJ0ejlFYkxacWtFZGh6NTdxanlQeGNHWlhqcHVKcVVSU2tSS0svb0VkemFtYXlicmxYZFlReXAxV3BZVjZ5L012MTJxOWx6QitDZFVaYmZxRytyL05RRFZKK0JwN1hLN2JieVp1dE5Qem5tTDdxQ0QrZzJaYWpVN0plUGd1SkN3aEFBQUlRZUI4Q05nYklNQnhLRXRHbm55YzRTV2s0RWJmbFRaS1cwcDl0NWoydEJkY2UzS0FWZW5lR3dPR3BHZU5EMGg1TVE0d0pZekkvSmM3K0VYeDJmcHFTVUE2Y0lwTlpGWG1LaUFhRThiU3V1VldwZ2FBdndiaTVuTEIrYXVqNlpaM2lJbjhDQWJxTWQ5MmFueXVISDU1NmJhb1JxZ1VwYjk5bW1XbjlkNHRWQldkeHJsMzgzTUpPckg3VGNqVjdUVytKdC9sNHNaNmkrZ3owT2QxM05sUFc5VVJxZGN0cnE5azlVVGo5dVRHLzZNYWF4a1NJUGE1MVg0dlhPWDNXTkh2bVdsckR1NzF6N2ExNkozZkpDU292UzZ1MVg5ZFpCejJEMWZZSWdKNmc4RlFsdlhRM0w5ZHJ0OU0zVzFtTFVKRkpkUzRManZBRG1tMDVlOTJvN3MyaTRna0VJQUFCQ0x3RkFSMEQ1QmVJRWpKOEIzclcrZGhpTEpnemgvZGpLUjlWZzZVZm1kbWVrdUt5aU9hVlEyZWdxdTdjLzhTRWRlaGd3anZsR3BsTUpneDlXRkNPeFNFbzVtUUk4L09UcE1SeVlESWxBeDhxYmZrRk9Zd3I4c0FnWDNRdXNudzVUK0RrNGJpK21pb2NtczgwUm5sc2F5N2tmMEk0WHJmbVo4cmhQWlhJbHVNT2hWdHZlaXg5V25HLzBMNTZFdm1CUGNXdDdGRlBjVTBjV2hiT2ZkdjJaL3VBZk85aUFEZWtCTTFWZzNWSmJQVDV0cTg1c3JXNlZoVzFFYXNWcVlrbkNkdXBWbTVvazlLUDU3TmNydXEvNjdYZmhBNW8rYXAwL3lxTjBrWGthV1RydGR2Sm02MU92bFg1WDNtRTF6TEo3WUJzZll6MDZOUFBIRmN3K0E4QkNFQUFBa3NTY0dKTXFDOG5QdjFzTTcxenFEMmRlVFU1b2lGTGlSZDdrUnlLZnV0Rm5KYTFVSlJTT2FKZmNPcE1VLzVMalNwM2VNMFBkWXpMdTVOS2UwN0xzWkRuNXllaWNGZ29ZM0xVOUpOWmtac2VaM3R5ZStxL0p1ZEYwbjhsenNjQ3NGVHRjbHVtZ0FxbXNTeWg2OWI4VERuOFgyY2psSHdVc1RHNXZ4RGlOVEl2TitYNWEzcC9wa29YaS9RVWY2WDIvSnZzTjdQVFdqdHMzZjdzUHNIYk0xcTQ5dHBJaTB0a1E4RlA2Yys3bTV4eUdUY2ZSZmxzZDNWYTNaVUxYQTNqc2hzNlZrWmp4N0xpb2RMTmwyNi9sb21na3hTbFVYN3hVQ2cyOVBoUkl4ZjJZTDEyTzNtemxmbkZaOG10UE1KcmtlUVA4RzY2TkxrZExWMW9QSVVBQkNBQWdRMFRNTUVrbk1hV2pyNGh2NWpHMmlNUlRaOUxrNUZURWtLN0Z2RnpxZEx1Rm5lRkJnNjNoSzluWldGbVBocWlYK3hQaDlmRmtjV0prUHVyVytuYWEyOHhyK1A0OWJMd2tpVlUraXcvbnV2c3k5eUtuQjNneXc3dnp4M01KcmNIOHJBRzdvcmxLUXk2K0dyMVdUOXAzTkM1TzJhTzVpODUrK1J1b205b2tJcVQwbWpDeCtGVEtLZElVM0xXeDdCNU54TFM5U0JPWkJqVWgvVVUrL0xVN2NPL0lVMjFDNTlPZ29USWF0ZHVGWFY5bjdweStuUGpqVk54RzQrVCtuUERsVHpRVHZlcDk4WU8zSnlMOXNuSERNVm50ZmFicU5xcDdjOTZRR0cxd2lYT2FYU2ZxVC9IVFdLQ2RqdDVzOTNGaVF3cjRaTHRWcXZhZ0FHK25NVytUQ04rUkNYTUxRUWdBQUVJTEV2QU5OSEFJaWhUM1pHb3FpblMyZE1CWThWRW1kQVJxakdJUzlpbWV2UklncGF6U0FGeHVaMGljU0xRUkpwUEkxU1ZFS1A0RzI3bWY3QjNpOXdlNXg1Y2paVGs4OHRnNFlVdVZINHpQbmM5Vk1ySXJjaGVTcGE2ZE9wRXc1YnNWSVd3cldrdXFweXJ0NGFuYVd2K3NKTEwxcDlyc0MwTkxqNVVxUGFRZlpWYXU1bnRPWFNZWDlORGYzbDNHWXpuN2luMnp2YjFLQnJWS1M4TFNWZFNQWlBQOWFIVTNEN1Z6dlRuWnZjNHEvNWNIamx3bGlPb0R0VTBhMnNlNmhjYmFML1c3QnZqYjN5MmRaM2s2Q3BUZjY1OXpkWnVKMnkyYmk0eHFrSXRDYTl6bG4zVjMyNEhOOXV5R1U1eStrQjJQbkFJQVFoQUFBSnpFQ2k3ZEc4WjBqR3A5RzFMZnpaelJBOE9rK0ZDN1NSNUdIQlBNT25YdHA2dVJ5TWRQTHltbzNyeHFjbXBqL01BY2JHTU1KdGZEb3M2RTA0WXRjQzcveHg2OE5aQjJsVnVSWTY4TFhIcjdFbHhDWlFnQXBWR3JTZTFjVjZLem11WExxV1QxdnhoSlNjSkdDeUhXeEUzSjVwU0sxd0dsb1FwV2cwOEF3Tnh6aTJSbjl0VFhNc1p0R05xSm5JVU1QUFV2djNacmQvdVdhaGcvVkpESTNUN255T2RTS0p6cTB1NkVudTkzLzdrTXhGV2x0VzY2NmI3OG4xMFRrTFRYZkJrbGZZYk5wcDBPL3JOWGNheG5YWTdZYk4xc3pRcnR0c1JBM3k1REtTYUlnMnFHVGNRZ0FBRUlQQkdCTng2SjA5bGxnZmhpaWlYbWJmVG41M1FFdzVVS2tiNENrcGVPYVgwT0JOSmU3eWJxTkRqWnZiWHBxVWRRZ3haa2VienkyRlJSNW10UHllcllSMU9mSlZia1dOL0M5d2JvSVpPNFBZWEJMblUrdW1wRktvMHhNbkwwSi9uS2psSnlsQTUzQ1dsMFovVUg5YU5zNWQ5NzZwUkpEeG4rdzRjNXZNS3ZDVnV0dGhUM0ozSytIaHVKa2lrZTlTajl1M1BkcjU2bHYzWnEreGxHcXpUYkxTVmJ2MzUrbmR5K3JYMjd2cHIxNS9MODhtOFNhcU12Sy9mZmwxZjBaai91RFRYcDZTenM1bDJPMkd6MWYwdDhndUh0a1ZIK0RFRC9ONDhOVW95WFd3OGhRQUVJQUNCelJJd0U1UU1RMVVDWllCcmJOVFVkMituUDV2WUdNbG5Uc2NLUjl3cTR5My8xWGlUOEtCVHp4MVNtZ1UyWW5xNkpSR3ZQRFk3ejJQNG9VSDUvSEpZMURuSTFaOFB5V3BZaHhOZjVWYmsyTjhDOXlZeU5iSlRHc3o5eXFVT1BXVlRGMjM2cnpXcEdmcnpYQ1Vuc1ErVnd5MHBUVzNvWDdxUEdWSVVMWnI1a0NBcXQvbThLaC9KLzV2c0tYNXM0YS8wNlhFOVNtWmgwTVAyN2MrNkwxZCszYUZadnhUMXorTEQya3F6eGpqOU9CbmluM3QzT1ArNy9WeTc5eitMZjZkZzlhUXRpbWY5OXV2NmlzYjBUUFl5anMyMDJ3bWJyVnUrSGRXZ1JVZjQ0UU44dFpFaVhvc1VWVGh1SVFBQkNFQmc4d1FxZGFicTBVV1liQXpUbW9sdDZjOFp1MEJOaEl2c1V5WXBENUdkcnVZaldHSXE1dXBjQUFBZ0FFbEVRVlJySldwU1dMM1FObDNLT3J4R3czdmE0YnhQU3ozdGxDelc5cWl6K1dXeDhPS1JnT2VZZnMrdHlGNUtGcnAwS1d0VW9sS3o4UktoSmVXdlNGWVhNYW9wYS83UWtodXVQMXNsQ2xlaWFuNno3V1llbk9qU2JJSkRtbkxrMzd1MVJINWtUeUVIVkxzU3FIcDNMOWV2WGtxdGJnM0N0SmltRWh5NG4wWi9MazkzS1A1Vk9iVDhkczFzT2cydU1ac1ZwQzI4MlVEN3RYSnNBTDFuRHk5RDlXZFhhMElNY3ZkNnU1MncyU2FYYnk4NndnOGU0R1ZMdGY0NFFheFJzM2dBQVFoQTRQMEl1QzY5TW51SjVhQWg2RnVldHFVLzJ6RFpxUkNtRm5jTjNmNThkeXBPSkZvckRoTVErMHc2ZzRmWG1TclAzZ2tWdzc2Y2tjOHZpNFdYTmNHU0lPbzVHSG1aV1pGSGh2NkN0eVRLOG93bGZ4R0R5ZW0rdnF4U2N6eEpNMlhOSDFweWcvWG5scHlMNU52WmRuTlltMDNRbjJ6SThaUjBrMHlrYVhkZGFsZ1kxQ1o3aXNrL1dCWGt1V1A3czdNTTloU09FVzVPTHc2elB6dUZ4Ti9ZYmIxQVo4RzVPWVgwS0Jma3NMcEpWcEJsMjYvbHFxSHplNStKcTlMYThuK2cvdHlTNHduYTdYVE5Ocmw4ZTlrUmZ1QUEvMk9aZnhUZUNxT1c0dUl4QkNBQUFRaHNuNERyMUN1dE9mSHBaNWVGZDlPZlRmV05adXpOM3RiUVNOcUtxRno2bUxUYnFoWVRCZDRNUm9XZUhpR3k2V21XSitXWE00WWN3WjNQTDR1Rmx5MEp1Vk8rOVp3T3VzeXN5SVBDbk1SeGV2dGt1ZDdjaytQVlhhQlFxSHdXVHpYMDY4L3psZHhnL1RtVkZFRmFmMWgzTkY5bkU0emhqQW91bGNnUDZDbWVINndhQmFYZlU4ZjJaN2NJdTZIdWhXRk9vRDlmblNvYzFBTHRkRHY3RjVzMEVqZDlzNTkxYWhkdXY5YkN3OEhGcllmM3VncVh1RXMxNjEybnRlVnFvUDZjYWhJUzh1dnRkc0ptNjc3QkVYSXFWK2ZIYzQ0dFVPUkxXRlpiUm8vdzZqdC9nSGVtOTByUWFrc1R6eUVBQVFoQTRFMEl1REdrbE5ORlMyNlJLN2FsUDl0WVZDM1pTNEoySTJQNHFtMWFQWFRsN3NxbGp5MzdobFg0NjVFUG5ZRmlGazB4bGQ2ZVoyN3dQdVJQZmVmenkyTGhKVTlxVWlUMWVDOWZ1TXlzeUMvRU1OS3JLZmFOaXFBTlNuNTFKVGFkTFJEOTlIMWN5NmFzK1VOTGJyRCtyQmxJZk9idC9Mb1E2WnB5Zm5YdUtMcFVJdCs5cDlqL21ubzY3UWVyUW9ZZDI1K2RsdVN2cEFpOTJwMGxNSmd1c3NmV1dKcjlnOU9VdzJDdUxvOWhKYkRTYkRTMjJxTk1XNTNOWC83eC9tdTAzN0RadTc2aTdpcGNkZ1J6bmEvdXE0SDZjNnBKU0FTdnQ5c0ptNjFidmgzdERWbTIzU3FtanFvV0ZNblZUZThlNDBJTUhIRURBUWhBQUFMdlE2Q2NGclVCVzRiWllETGZ5OFcyOUdjVEtFTEJ5VXVyWERyclhpVEN1YXlHRHROM055ZkdCZHFNNTlKVW5ZWTV3SE9nbHlaRmhuSlE1T0o1ZTgvNEhuTHNaT0JBN0NTTGJNVWxuMThXaTJkTzVVSTl0RXpTK000R1gyZFc1TUhodnVyQmFST05xdVRrS1UrQk1MdVRYNnJtTVJJUTdSeUNUclBUakNVM1ZIOU9Ka1Z3VHJCODJ4WDJ5NnZBSlRISlJHNjJwOGlxakROOXNDcUlXeXBuSzMxbjRnMmNOMjllMXAvM0tmWFphVlh0U28xNHVwUkYzdTRvVE93RzJtL2FIdnlYcmJ3TlBQY3YyU1FFU2tlUmg4aGE3NlpydGh0b3QxWXg4Z2I0M2QxVjFqYnBxaFVZTHlBQUFRaEFZS3NFeWpNdGJCMVMrdFBQbHZKdDZjK21EVWJhY1FEWTVTcVM4TktHaE1DZjNmdzVBMFc3Z213Q29xL3FOTU53dWticmRJVHZvUlFFYmRKL3dKK0dSdWFIMmJ4MmF3QnpGZWg4Zmxrc2d1UklNV1JLSFlHM3Zwdk1pdHdYek9UdjB6WVJKNVY3eDRQWmcyQTFvSW14c2NRMVljMGZYbklENWZCa0pkTERBM0pWbC9heXNLYnNUVDYwdSt4N2swemtSbnVLdnJ6WWUzZm1vVmpHdXVZWHMwTHFjblRyV0VSaXh1SytKdjZ5L3V6V204UzlvSFdnN2ZYcjhpaGtVSEJsSG50dHllNEcycSt4YWdDOWVMMUhTOXFyeHpwbjJUZGVWVzRyUE5IZ09VbTduYTdabG1VWUpYTFJkbXN6eDNIL1hGUDByOHJCTjdQRytUNjVoZ0FFSUFDQmpSSnc0b0ZKUXlKUXQrcWt0ZjU4Tzhzb2RTaE9MZUxaeitsNGtOZVh2MmhvMCt4Zi81M2R5My90QnNpZjMyTWgvczgzOWEvU1VDcEpwbHEwNjdlNjFFeCswVExBRmtOQ1hDNXU0MkNSaXJaeXFxRkhnVmV2NnY4MlpuYWxzWEphRHE2YTRpRy9kaUd4Q2pqODc2d0tTWnloUTczTDU1ZkZJb2hBcTFLaWNnUnVSdHhrVnVRUkliL21KVzNMZENLOHB3SGFnNkM2MkpOWTVKcXc1Zzh2dVlINnMxVWlMNHNseDQ2VnY3bWtYVk9PYlBOL0RRMGpKN2o4bXQ0SWJmR2VvcEdDNW9QeUpMTTVQbGdWUkhZS3Qrcjc3MHl2NkZ3am9hNWYxWjlkZDlib2hhMEhMYnZHbjhZUUpWMlBxWkZPOTI2ODluUHh2RjYvL2JyYUh2UU5ranA1K2t4ajM4VXcvWG0yZGp0aHN4MHdRalhnVE5SdXN3ZDQ2emFsWXNZbDJFZ1lEeUFBQVFoQTRIMElsR3FWak1XMnRxMHQ0WlgrckN1YmorZUxTajlGWWtiYlRMZkZSYlJrTVRKR1N0S1AyaVdPbDdPWko0NXA0Y1dHdHNLNUVkVkJQQ1FWUGh1SXU2WitiU0k2a3FmVGhvUXd3K1VIR3YwVFhUMEhQeWIwYWFLZXY2WjZVTG0zNk5LNXJKeVUvOTJHdkdlUWVSZkRqL0UwZTJQbTJ1bCtmb05ZQkJuV0doZXJoWUdEY1RlWkZYbGM0Qy80TXBTTnlRNTc2a3RVOWlCb1VTYkd4dE00RTlUODhTVTNVSCsyaHQ3SStjK0FNM2Zhc0x1bUhMSVpvazk0NGZiWGRNK3hkN2xLVCtIRm43eTBMbGFhMXltb1NFbW5MejRzMnZWbkhTcjZ5L2hWL1RsdGZ2YlhiemMvN3lUVnh0VVp0K1FuYnd2MHd1MDMwV2pjQkdzODVmdzNZQlhQTVAwNWtRU3BMUk8wMndtYmJmS01PaGQrRENxczZkTzFXNHN0WjRBdkY1aEYwMzFoc3JpREFBUWdBSUUzSStEbWhIVmVYdVQxU09QMXNsTHF6K2RIcVZxYWNTd2VxZXljNTM4V2lFbHl3ZUFpUHM2bGg1dXAxMTdvNWFVOUw0L3NFa1c5TUV0R0tDV1hMbFZFNnhxUFREcUxsTFMwSWNGUFJmazEwZGFWajVacGpicit0ZXZQNW5oMk9kWlBmdCsxQXhDc0VXN3owczl2RUlzd0dsVU1wd2VUV1pIRHBNeC81NUlWVmNWeTk1NVhlVXo3RDYxcEpyZ0hUVWhUcTFYdnRaci9Rc2tOazhPdEVqWFNPbURaYVd2cHVKb2M5bGIvK25XMlZIajlOVDNsYTVNOWhUdTFRYzZ3Q01HazB2L3FNNm5WWVdXdEEzUVZQaDRhNnZmbGxYSDNHa0Q1MkNwOU0yaFQ2WHg3cXcwTnpXN0VSZTdtYkJyNnMvaXAycUdiYk12cENsZHB2K0hVc0ZNTDR4NXp5REtPamJUYkNadXRXNzlRRldkWmVaWWQ0Yk1IZUpzSWJaOXZhalFOSGtBQUFoQ0F3RHNRS0hYQkg1bmxqb1lqUC9WT2Y3N1VUblNzaXNRZkhlZHJvN1NPR3A3MHJ4SkxMVXZyeTRiMG9uRWNhOW52OTJFeVZsSi9WakdyNGQ5THI3eHVySmRLR3hKcVQrV3hPNWN1MFcrdlB4czQ3M1paKzI1YzJXRGVlTHJxQStOWkYyRkhXbkw0RFdBUnhxVFNYTU1zR1RvWmMyZHBsanJYWFpISGhQeUtuN1JOeEVsNlhrMnpCM1g3a0JpZDRGNDNoeklSVTlUOGwwb3VsdVBiNFZpQnhIM0tUOXhydFBzUDN1ejkxYmpXbEtQZXA4aXEyRUdZZXBOVDAyTlBtK3dwM0trTmowTU1QRTc4SlBkYXExc0NhdGJrcE1NWDlXZG5rMjJrd2VuRkxmcHo0VmxzM1NSUzBPQ1N5VXgvWm5nM2Mvc055OUF0SElxUzk5TTZnUkU1MU50aCt2T1U3WGF1WnJ1QmRtdDFJQUU3ZmxSV1ZhK3pqMTF3RHdFSVFBQUNiMGpBWkZIUm5UdFc1RW11VEgvKzV5MDROVWtsMEcxMW5QQ1h4S25Ob0JiL2JiU3Bkd0JwckpFT3BTNkNSMDdHQ2VLbytPcnF2YWFWb25wYlNzV2h6N1FoNGVubDdtYUp6eG5xZ2Jyc2l0eUZxVW1NUlB4blpDdGRPRjJ1SVhRbVVpTnByOVk2Vm0vVC9QSllWR0dVLzdVeTFWVWhlam42TnE4aUR3aitmcnFjWHBaNlhMV0tZbFY1Tmp6cjNoSWZWRmdUdTVyVmJMS2FQNmJraHNuaHBpTEY1WHhNbC96UDZYTDJadHNpWHE3L09WU0Y0V3RKbFV2Ukorck94ajNzQzlOY1dVa0U0TXVaaTFDSHFhS1IvNXZzS2R5ZXpqay9XT1VSMkpuK1dKVkc4TUt0ck5CRHVucCtMK3JQVHFkc05BODNaS1QxNTNQUWFidjEzMkhCcDVLOGRQdTFqaUJzTks3YmpoSjNTYmVqeUZWNU8xdTc3V3RpMnRQUDBteWQvaHdXWDNxRWVoS1p1dDNtRHZCdVhBcVhGRHdUMVhiUkI3Yk5IODhoQUFFSVFHQXBBazZRVURFeUxSQzVkT2hBNkJ1UTNRRXcvdnk5NlFUK2dLWlNicjBGMmFLcGIwMDdDQ0swb1RiTXRNa3VmcERQMXlZbmRRaHBKcDJGOHJnVHJZSW9uOEh0eW1OMzh2WU5hdUIxVHVwQXdpdDE1Zk1KMzY1ejU0YnlWczJnVGxRMnZ6d1dkY0R1U24yRnBSTzdHSEdmVjVIekEzWVZacURjMHdqZVNNYkwxVzA1cXI5K3dvbCtRaVg2TmF2WlpEVi9UTWtOazhNdGw2RXFJT2E4NUp5UzYxN2FXYnYzRlRGbi9Rc2IxN0ZoZnU0TDB4V1ZsVTlZRjkrd3AzRHJtMXVPYldqVXlkY2ZhRWVTN0Vac3IrY2hZeExTdURmcmd2VlFEYlY0NS9MbnBkdVZVV01xMExsTDZzL2l3eS9tY2xOcWIwcVhicitXZ3hDdHE4aGU1dVh5SGt3R2hPK2FkM08xMjc0bU5sK3pkZXUzL1FLdHpnMWZiSVRYbWhIMlFVM3c4cVEwUC9kV3RNQnpIOWpBTVRjUWdBQUVJTEFHQVNlTTlvMEZya1AzTlZZZDZDdUJWdE1kMysvc2lJL25zR0hSZU1PTitBNUdIN01wUmNLMkRUMUovZGxjdDR5VVZXTENrOGRLZVNsSnVEeDJKM1Bmb0UwVWhCSk9JbFRUaUpKcFR6aGU2cEdUT3B0U2F5TitrK0tDMUtmNTViRm9CRy9GRndvL0RUZURIK1JWNU94Z1M3a25FTHF6UFQ4ZEdxRFkybTRHcFVESktGY0dhS01JZmxHRGtHQ25xdm1qU2s0OVBWdjBNNDl0RnpiOUZlckUxME55bHE1aUhkUTRMOWlTWXFVdU9aMG1hSUovRGIyOEw4d3krTnlhN3B4dnRLZXd6cWIxMkFZUDVFU1hFdDl2QTdpR3ZUZjl0Nk5qZmliZ1JmMjViREJSWlpRenJyVDV1R0hwRnF4bUVvTjFzTGlwZVFUQk0ybit4ZUx0Tng0bnE0MGMzbEl1VFYvTE1nNC82ZDcxVE8yMnI0bk4yR3pkakVyUVg2UkhLRWRoaG5hYk84QzdCUXhoM2ZPS0publpCemJwaVljUWdBQUVJTEFvZ1hJbXYyYysyL1Rud0JvV0xWK3lMajhVOTFVVWVJclBJamtIS3l4VjBQRUhGYjJQN1E2bUt3Umo1Sk9NdU81YXdHYkpEUVJzWjUzMFk2ekN1cG5NZGNqVW52VTdtUExyRlJFdDdaRjRWOFc0Mm44YjgzTlVvRngrZVN5YStiWGFNckVDblZlUm0ybHBlZUxrbnJDU3RqanRlT3pXbVFZVFRYclF2ZFQxb0c0WTc1UHRTeTcvT05relVjMjA5b1h0TEloKzFwSWJKb2ViamhQMEdTTDFlbE5vZGJvcjF2NThYUDIyYkhMUDdSRC8zTUVJZmtpU3NMZzI5WVZaaHAvTFM1MXZ0NmY0UFZSbk0vcllacnVXVlFUU2xUUjc1cXVwejNGSkpKT2gxYmpSNFplZnRhcm1TV3FQRnE3L3VGVE5naTVlWm16ZGtaTnVIUG5uMXpVdDVzaXhtMjhMNjJjZFkzbTFlUHUxbmpHWTRiUWFHbzA0emVtaVJzcjlCek8xMjc0bVZzSXJjek5wczdVTlpXR0pManpDNXc3d1Z0RVRiY1V2bi9pNkQyenNubnNJUUFBQ0VGaWVRR1g2YWtwRGZscHNFQStjYUIvdktieW1oUHIyYWJkeXlaT0liNEgzbFBydFM4UWFlWWYrck40N1JCL3o2U3ZMcFJBU2lWQVN4NTliTWRoODRlYyt1STR5SHJ5cmIxUjI4UERVTDFhOWNuSm9VQkRKOU9UeXkyT1JpTUpFcStma1NzTEI4RWQ1RlRrN1hJZnFxYlJsK3dzZFZwS1FweTJuYkhUV2VvSmlzZHlrS3RCRU5YOVV5UTJUdzkwZVJiOVBrT1A3UXp6bFhjVzZ6YmhkTGkxd2pWUVM4YWVwOTVxM0lHM1VwYjR3eTZoemEvcTM5UlRKY3FvZW5rUTFsZU1kL2FMVlYxWm42eE1rSzllcC8rVk1YdU9WbEt2ODRvQmRUUXBxUjltd0FwZDZ0THNWdTJud3gzcEs1Vzd0SytyanJlUzlHZDVHV3ZUQjR1M1haY0RyTGlTWlZ2MzlDaTdQRWpOcnlRell3NW5hYlY4VG03SFpPdG5BNndLY1F0MllKSkhzenpUQ1p3N3daUzN6Q3JTOW1KNXYrc0ErSFhJQkFRaEFBQUtyRVNnN2VIOG9TcVRGOU05Z3pBNEZjSk9ISW5IZm5pWENza2ZxM1p0bU56a2xVQ0RFbFNVdGZ1Z0MxUFJFMFFVeDJXUjBMVnhWdHNrZ0IrTEJIVnBiZE5qemdsRHRScTJIUGJURW5XYW9ROEZ2QnJ2SUU4UHMyMlhhWXMza2w4Y2lGWW1WU0o2c25mS2VlSlpYa1JNZTA0K01RRlpScC8yN3B3cm9jZnoxOUVaVG41OW42cFIrMVZXZ0hqakIzWmVacTFnbXF2bWpTbTZnSEc1bDdHa3RDWlhMNWFwaUhScVVxaHhYT3h2TFJuZVJkcVVKcWJVc1FkcHNhbjFoVnFGbjF2UnY2eWtxUE1uL2hkclRDdjlqQ2VKc2I1MUxzeUNTSWJUTVo1YjlkRnp2eThkKzJMcWVTWDdlU1dYN2kwNmlPQjFlNHF4MzJwZUxkMzIzbXFhcWduUWVHYmw4K3pVRGREMlRMSXRWZmsybjltWXJKTytEUnF5QjUyL3ZjdHR0UlhDTlp1dUtiOFVSUG5PQUwyZDFrNDJnOVdFZjJGYVB2SUFBQkNBQWdjVUlsSmFBbmdsU2szZnEwVXBTcCtOSHJjR2FQVEhXS2xYQUNmeTRURjN2UHpjNTd0djM3bzREaWJYYkR2M1pwSXlPTkp0NFZjbGJJdGtkM0pSdVNQVnUwbEdSMXRCRHAvV2RpZTZlVWxDL0NhNDA2R0ZDVHVCOXBwdXNOWXNhZHhZL3A4YjBzMGhtNXNmZ1Q3anNOSzhpSjlPU2VtZzErdFZDdE1waUFuQWxFZjlvUmJ6RXJVS2VlWTFKazJOMFVoVjhrcG8vc3VRRzZzOU94cTFhdGJUQ3R2bVNpblhiekk3R1c1VDFURUlSUENyaVY4MWJhbExjODRpTHZqQVZzdjZ5YXZyMzlSUU9UdnF2dERTcHdBS3VxTXBXN3F4ck9mYXYzYjZmVHFlTDFXNnI5QmU1MVdwK2JUN1d3RnNleTV0eXV1eFE5ZDV5QXJtcDNhWjdIRTd5VC8yZnptWjYxcWlraGRWNitmNzhUSUpVTFVsRXVoZGJvZjJHSzVPdlI1MTZzMlE4Ni9pdHpLbGtML00zVTd2dGEySnpOdHZWMjYzV240d0IzazBVMVlKU1ZvbjFnYzBLQkVjUWdBQUVJREF2QVJNdDB1SkRIWEdmL216dmkzL2hUME1PVllEOTdmeGNtK1JyREU1T2liV0tEdjNaVnZSVm9sT2R6UHJLSkY0ekxWeC9SZEF6S1RrV3M4MWcwcGZ6T2toM1pXTmJMVGZHcjh0N1MzcWNueGEzQ3o1Mm8vbFRFdXVJT1lkZjVsYndsbGoyVHJLOTNLYkNsRldSV3hLVGVHeTFJNjR5Q1hkZGo1d2c5S1BDM2xIcmpQdUdTa1BzTXRVL0tCV3JQK25GenByTlYydit5SkliS29jN0svby9MZUNyNkRmZXg5MGphTTdnY25pcXhORnJWWmZkNGRJMytjeWUxUmV0eVdlNTJ0L0ViNjBYZVI3N3dxeWM1dFQwNytzcEtqcXAvNlZwVjNjN1gvNmtnOS9mL3d4MjFreGthWkN6eGxyK1VhWGJwb1g4aDY2U2wxcXkvNkpxUFdKdnR0L2g5Ty92VjY0UDdrWFpyVHdPcHNyN0h2MWxRMjdBOGQ2bTI5b2E3ZGVaZnkvYVhld2xmbXMwVmtmZDVJUitLbUxvbURWWHUzVWxzRTZ6M2EzYmJuTUhlRGZpZWl2dFVnMnE4YXdQYk1NRER5QUFBUWhBWUhFQ3F0RDI5dTgyREFTS1RtaC9kc3FHSjQrVWwwSEE3dnlkNHZ6M2N6WGhwNTZWZFdKU25IVjcycUlxYUlTVkFTcjJaL2R1T2FHek8vOXpNL2l4M09GTW9DYXBKSU5JUGpRN1MvS04vMUR0WTJtUnpIZTErSFcrL2x3dXgremtaNStCOVUvMUdaaWY4cU8xc3I3NWRyOEdsV3RnUU01NVZrVWVFUEtmMkg2R1NxcFI4SzVaeU1PclNrUTJkWFF3ZFRKMFp4VTlVQUt0b0NwTklYUThSYzBmV1hLRDVmQnE4MkVoMXBwU3Z3a3pVOTM5TzRxQmVkL2VaTVRtSmlFb1FGV2E5V2NMcWpYY1I1dlJzeTlNRjA2MThMaXpwbjlmVDFIQlNmMC9WUk1XVlFPV1FuZ1V2NzJUaWhhVzZNK0h3NkVvanZJckNybDBSNytKL2h3LzFwNWZXa2I4dUc0VlAwN04wTmhsRHVYWmdVaTdQUnhMVitwZDR5bzBLbTh5VEdweUZhNTdsZTZzVjJtL3JyUFFCRXEyeW5VcmU3ZHlxTkFXWUROeHFYSnBmVFpidSsxclluTTIyNXdSYXI1Mm16dkF1eEUzWGJ0YXkwdlcxL1QwaHgxZWVRVUJDRUFBQXNzUVVCbWhWL1RwMDU5TmtnazBnRWJpYmVYcW8vckVzc1phNjgvT0tCRjc2ZEtmMVY1Uis0OTkydjMxVjljSkZwYy9rYXljSVNITzV0NEpnRzBDZURKVWxXQUNVMkhTbGZLb0JiMmtrelVlRHRDZlJlZnI1WmZIb2lPanZnQXV4THpmb1hOeUpCbGtWa1ZPK3B6dG9VckFwVko0azhwNEtNN0o2U0F6dmdWdmxHeEw5WjZrNW84cnVlRnl1QmdXVHhmUmNvdExrTDBXNE8zNnMreG5QUjhsbUpQWGhQK1U2TVYva2dxMks4ektmWDlOLzdxZW9rS1QrbC9VSjNQOS9GNk94ZkZ5K3ZQS0plVmxwbWY3MjY5VkMrdmpaNGhqcGZhNzIvODc2OVNRUHlleHY1M2swYUU0OVMrUmI0Q1l1ZDEyTmJFNW0yM0dDRFZidTgwZDRFZnF6NjRJdThBMkNwa0hFSUFBQkNDd0xJR2ZSOGI1V1gzNnMwM1VWM3M4aytrM0Y1WHhLTjQrYlpweXc1TFpwVC9iQnRGOFVjTDArNVJDNHM0RmNvdERrK21PSHRwUzIxNnJwTGw2R2tTaUlGYThIYVEvKytsTThzdGo0UWZUdU43TFJIdkxMNzl3eTFDektuSWpCWE0rVUxrMVo3V2xUUi81R29oNWJLdGxLdFRudzVteTVNYkk0UVA0N2pNbXBnWUVaMDRIaDVua3BVRjlWMC9Sd1ZtYS9RYTd0bzRFajM2MWhmWTdPdkdleDNuYjdlQW01cVdzN1hKNG1NdTIyK3dCL2hYOWVUaUVOcHc4aHdBRUlBQ0JsUWowNmMvMnZzdGthTU9iWjVFTjdjOU9VSW56MXFrL2E0eGRFWWFCcVI1VHJUb00zNVJMVERQbUVNeGZROVdKUW5PM3VycXJjelloNld2K2g2Tkg4eVMvUEJaOXVRcjN4RnRFK3NjN2I3WXZoTTIrVDY5NmFDYlg3TS8rU1FHNldqTTEyMk5lSjZqNUkwdHVYamxjRnV0TzMyWUdoMmtWTUwyU3huMEo1enQ2aW1ZbGZUNjVmWTFaYkF2dDk0bjloWXQ1MiszZ0pwYVJrK0ZoTHR0dXN3ZjQwU091UUJvT0lZTXNUaUFBQVFoQVlFa0NOZ3dFVm9kUUFUWkpvMk9Yai9uM0RXcWhkL2VCVDErRDBNeDE2czgyQTV5THdQU0YxbFhxY2lpUjZpdWVkdDhlYnQ3Mlp3M1F0eWUyaDdmc203R2plWnBmSG91c0hPNnZQemYvOTNNUEtsdFdHTnR6WkdzdUdzc3FtdW0waXU1bldPdGphM1djb09hUExMbDU1WEQ1NUpEZlF6UXhqWGt5Tk14MFRhOWkvcDZlb3NweDR2OXorM1BpM1djOTJrRDduUVRvdk8xMmFCUEx5ZExnTUJkdXQ5a0QvTmdSVnlFTmhwQkRGamNRZ0FBRUlMQWtnVDc5MldUNlZvdlp6bDRINnJYYW84MzkzWmFpbXFRU0wwcnQxSi90Yk4vMHBzcjlQZFpkemZyZHNXdlpmU0wwa0NHK2h4dEhMMmtsUitXVklMZExGbFZYWEhtamVTNi9MQlpkeWZuMGQ3WjlzcVBhVmZtUE5XSzFiZ1FuNzFVTzNYOXRMSy9WL0pFbE42OGNMb2VheFQxQW1POHhkOTFoNXRiME91WnY2U25xSERldXZPM1BqWGVmOVdEeDlqc1R2bm5iYlhjVEc1ZWxuakRYYnJmNUEzemVpSnVHMUFNaDdZbW5FSUFBQkNDd0pRSjkrblA0cWRkbnlxK2xtRy9lQTEzenFUOGY3Uk5YTm4wY3E2L2QrblByR0tiR3RmQlRPUlpRdDBGWVB3c2l2L29VMTJjZXdndDE5RXpuYjh1U2NFM0I5S3BBbUpCUmQxbWplVGEvTEJhajB2a1puclNHZXJXbEkxUHFybjV0Nm5ROEJWUy90c1BrazlNemM1ZmN2SEs0SEduZ1pYS2l5ODR3czNuNWlmbU9uc0xQY1hndHRUTjg4TEYzaTdmZnVVak8yMjQ3bTlqSUxIV0h1WHE3MVFUa0RmQlpJMjRMcEc0SUxaNTREQUVJUUFBQ1d5TFFxeitiaXRyWU5saVVKODJZZVRsWW5xMFdNTE0vTy8xNXAvZXhUdEN0UDlzM2VCSmFobHQwRit5a3RFZDlka0QzYmQ3SHlWOUgyeWdDUzFJVnFVaVNRWjRxMTZyLzlNVld1VjMyZjg1b25zMHZpOFd5K2R0V2JHNzdaSTZjcFllbzFmVk9wYlBuSEUwcVMrcWdxb1RlKzlsTGJsNDUvTjdvQUx5OGpienNERE9iVnhUNU4vUVVVWmE5MjIvYi9yeGMrL1VnVDNzNWE3dnRiR0lqODlFZDV1cnRkc0FBbnpQaXRrRHFodERpaWNjUWdBQUVJTEFwQXIzNnN5Mm45blFBUy8xVDFMSkRsbXNGUWI2NUtocUEwNThMcDRPYUFUclNDWFFaYS9zMlVBdWpxYWE2alZDQktHNktYc1o1Vk5keVlFNHF4YTQ0VENXcVNxWnRJNkRDaXJKU2VWbjVmOFpvbnM4dmk4WEtHVjQxZWxlZGNwS2dOZjFaNjdTNnhsTkpZU0JwK1czK2twdFZEcGY1c0dDRlNwamxrWGRkWWViemFrVCsrVDFGSTh2UEIyMjkzdFBCeDF3czNIN240elpydSsxcVltT3oxQm5tK3UxMndBQ2ZNZUsyUWVxRTBPYUo1eENBQUFRZ3NDa0NOZ3o0Q3JBdDJQWTNQTy9WZ2h3ZWlMMC9WTnMwVFJMeHQyeTZZVVd6ZVBCTTFLRTJyS04rbC82OFN3NWpUdWdKN0wrbXZmdXh0Nks5cW1WUHN0R3EvZXI3S3RmeXZhUmtRS3JkaENDU3p0WjRtREdhNS9QTFliRkdKamNUcDIyZjdOYUV5N1JxVlg4cWo5S1FpcUNwTlRQMFlzMGZXM0t6eXVIU1d6UXordUtUempEemEzb2lGZHZxS2Y1cDV6dmdkN2owVkxCRWpxdEhYN2I5ZWJuMld3R2UvditjN2JhemlZM01TbmVZcTdmYklRTjh4b2piQXFrYlFvc25Ia01BQWhDQXdMWUkySmdWYUpXbWxQcUp2S3E2RUt6Z3ZqeTFXSnN5OW5USzY4TVVWUlhpbnJ2cE5FRGYrOVhKaFA0alB6cTlGaGRlb082dHBTczRYOG5NMk1GNjdqZ2M3Mzd2QnJ4TGtOZjZ2WVpWU2xRaWxLU1g5bWtJNDhYVE9xNFpyakpHODN4K09TeG15TVBiQktsU2ExaWwyNU11dSsrckdpcE5yVTk5ZnJYbWp5MjVPZVZ3TVQ5M05mVjJkRjF2T3NQTXIrbkpLTGJVVTFoTkcvU25jMzlBTXIvbFExRWV1bDUvMEx1bDIrOTg2T1pzdDUxTmJHU1d1c05jdmQwT0dlQXpSdHdXU04wUVdqenhHQUlRZ0FBRXRrTmd2Nys2blp5WG43M1RDK1dKS2FWaXFDMmZhR3BONFQwL05jZnJzZEkwNVoyTmVVOEwyLzFRbVAxYWhMaS9wd2E4VnplMUNIMC9QTXpUNGJtdXRVbEV2NXNiNjdCTzY2NlVFZkZqcTdjYmFuWXpzT3JKL3Arekc4WUIyM3NOekZtZEpYM1AvRlJlN2I4S0srazNnYk5WYmpKRzgzeCtHU3hXeWVSV0luV05KbXZkZ3gwSjVscU9UQ3oxcTgrNzEycisySktiVXc2L3p2REY3KzR3ODJ0NlM0M2FUay9oc2lJZFQvWXYyYnUxNURONC9OeVRFeno5eEp1bDIrOThER2RzdDkxTmJGeVdlc0pjdTkwT0d1QXpSdHcwcEI0SWFVODhoUUFFSUFDQkRSRUloRFBUREFNcHpiUFVxcFg2OEdzSzcwMnV2ZVhZdHJyNzRaUnIyVHdvR29KVGEwVmJxUFZqdFVrZm5iNmhSL1Q4TXllaVRoeHJyVHJDSWo2cTFkVFZHMDFENFZsWHpDdytRSDNXY0p3R1hhUlVIeDBQTmNjeWYrQkZVa1d1LzBYcnoxcno1L3RaNmpwak5CL0FyNS9GVXZuYVpEeEtNbnNsZ3RRbmJTNDZpUlNlSGQrU3RkZHEvc2lTbTFFT2wyWXovYVJUZDVnRGFucExJV3lucDdpSG4wLzNQNldldW43aDYrcmZZeFpidXYyMlZyS1hYOHpZYnJ1YjJMaVU5NFM1ZHJzZE5NQm5qTGhwU0QwUTBwNTRDZ0VJUUFBQ0d5SlFQQTZIb2pnZWkwSU1zNlgrWEQ0NXlCTlBmOTZWMzNiUng0OURxSDZXT3VuNUl1L01PdXdzMklYdi9XcGZ0VHFlaitKR1ZsQ1grbk9naUVkY1JMZjNUTTM2OGhacTFEK2FsRmI5T3dxdHZ2MnpTWU1pSWRMcjZLMlpPTFJZY01ScWtYRlVXUjNUb2xjWm8va1FmbjBzRnMzYjFpSlRFN0g4bnVzeGV0S245ZWFzdGE1bFdpYjIvbHJOSDFkeU04cmhKMysyTGM3cnlQdWVNSWZVOVBZVWZHaFAwWnJocjluK3ZIajdiVVgrOG92NTJtMVBFeHVWOHI0d1YyNjN3d2I0akJFM0Nha1BRdElURHlFQUFRaEE0RzBKN1A4dW9tWWZqcWVtZW5uLzFWZkZwZnJHOHYzMzNIQjFOZS9pUnEzUzk4ZWhPRjdPcHpudTRVVUFBQ0FBU1VSQlZOOVFFL2ZacUdUZ2ErRHk3dmp3RHNmUjRhdE4wL1hEYVY3ZlRJTStOTFdadTJnNXhhVXRTWHEyU0RQcnplRFhlWkl6bWcvaDE4MWluVHh1SU5iOXY5UFpOaDlvN2J1Y3VpcHduZHJyU1NhcWp2OXk5ZTBYYS82b2twdFBEditiWWRLcE44d2hOYjB1cDhiVlIvWVVqVnlXRDc1aSsvTks3YmVOK2N2UFoydTN2VTFzUk5MN3cxeTEzUTRjNEhORzNBU2tmZ2dKVHp5Q0FBUWdBQUVJNUJLUWs4bWk3YUs2VlB5ZkxRcS8yK0RWL1VIbmpuaCtUQVZLYU5BZGZuUmJkMVBsN3ZLdzZMdWMwWHd5Zm92bWJGT1I2VWFFOERkRDhtYXMrVzJwblUwT0YxdGZOQXZXbG9UODUvMWhUbGJUUDdDbmFPTjhtMkdkUUZ0Y3F6MWZxZjNPbHQrNTJtMS9FeHVlcFl3d1YyMjNBd2Y0bkJHM0NTa0RRdE1UVHlBQUFRaEFBQUw1QkdRWmVMVGRlSy9pejBFWG04dS8wZHF6cHVCSDE1TlgzK0RLU3BKRUhhMG56L0sybEtPczBYdzZma3RsYTJ2eDZCSS8yL0tnZXg2MEhnN2NmNStYbnpscmZqb0ZjOG5odTl1eFBnVWhIZlh3cHhsaFRsZlRQNjZuYU9OOW0yR2JlbHRjcXoxZnEvM09sZUc1Mm0xR0V4dWNwWnd3VjJ5M1F3ZjRyQkczQVNrSFFzTVREeUFBQVFoQUFBSURDTWdJRmFzbjEzKzZ5MXBXZ2IrOGtsclBNUnRnR1N0UGdScVErbVdkWm83bTAvRmJObnRmRnR1c05UL0ZjaTQ1UEJYWE1zK21xK2tmMWxNc2cvKzdZMG0wMzNtQTBHN2J1UTVydDRNSCtNd1J0ejE5dklFQUJDQUFBUWpNUTBDR3FPRUhoR1VueGZ0QVY2OGZXVklicS9LOWZoWjF3R2krS082NUk1dTM1amRULzNseWVET1A0NTk4VkU4eEhnTStzd2tzMVg1cHQxMUZNcURkRGgvZ0dYRzcwUE1PQWhDQUFBVFdKQ0NUd29tRHNwZFBrWndYdnVYRjJ3S0UwWHo1V2pGbmpBdlhmRDA3Si9kOHN6bXovZlpoYjcrbmVIdkViNUdCaGRvdjdYYWEyakNpMlRMaVRvT2VVQ0FBQVFoQVlBWUNNaTA4WUpIMURBbXdJRVZLMmZEUllaWkVSdk81Q24rbGNCZXUrYUkvcjVUUmo0cjJEWHFLaitLOTNjd3MxSDVwdDFOVWdUSE5saEYzQ3ZLRUFRRUlRQUFDOHhDNG5xWS9mMmh3U3ZmbkRTU2lPOVdNNXQxODN1L3RzalgvZG03N2J0djdrVnN4eFcvUVU2eEk1NnVpWHFiOTBtNm5xRlJqbWkwajdoVGtDUU1DRUlBQUJDQ3dKZ0ZHOHpYcEV6Y0VJQUFCQ0h3UEFVYmM3eWxyY2dvQkNFQUFBcDlLZ05IOFUwdVdmRUVBQWhDQXdMWUlNT0p1cXp4SURRUWdBQUVJUUdBNEFVYno0Y3p3QVFFSVFBQUNFQmhPZ0JGM09ETjhRQUFDRUlBQUJMWkZnTkY4VytWQmFpQUFnVndDUDVmRDR4aC9xdkJXbnh6NVUyejg4NEc1R2NYZHh4Qmd4UDJZb2lRakVJQUFCQ0R3dFFRWXpiKzI2TWs0Qk42YXdQN3llQnlQajhlaFZwaDN1eDg1V2JvNjBrNi9jdnlJMWV1M3pqS0pmM3NDakxodlg0UmtBQUlRZ0FBRXZwNEFvL25YVndFQVFPQWRDZXlMeDBXK1BTNEtkT0VsWDI0ZnAvTCtwUG96MzFmejZIQzVPZ0ZHM05XTGdBUkFBQUlRZ0FBRVhpVEFhUDRpUUx4REFBSnJFTGc0UFZtVjVMOW4vUEpGM3ZyMnJEY1AwYkg1UVdBckJCaHh0MUlTcEFNQ0VJQUFCQ0F3bGdDaitWaHkrSU1BQk5ZajhGZWFuVlZKcmd6T3U5MU5OZVpybWFxNzNqeCsxa3NqTVVNZ0pzQ0lHeFBoSGdJUWdBQUVJUEJ1QkJqTjM2M0VTQzhFSUxEYkZhV2FyQXUyejA4Z3RtVDdlYWVib1IvKzd1am5HeTRnc0E0QlJ0eDF1Qk1yQkNBQUFRaEFZRG9Dak9iVHNTUWtDRUJnSVFKL2o0dkZaQXUyL3owakxVUmhkaS9za1hadnJOOSswdUZpZlFLTXVPdVhBU21BQUFRZ0FBRUl2RWFBMGZ3MWZ2aUdBQVJXSUZDVXAyei9xWW01V3JDOWk3VHAzVTVlcnBBNG9vUkFHd0ZHM0RZeVBJY0FCQ0FBQVFpOEN3Rkc4M2NwS2RJSkFRaFVCUGFQZzd2VTVkdkg2cW5iL3V3djJENTZMNSt1dUlEQWFnUVljVmREVDhRUWdBQUVJQUNCaVFpNDBkei9BTXhFQVJNTUJDQUFnWmtJWEF1M1pqczRiM3UzQzdjL1M5eG43Mnl4bVpKQ3NCQVlRQUQ5ZVFBc25FSUFBaENBQUFRMlNRRDllWlBGUXFJZ0FJRU1BdjkwK1hhOXcxbTNQOWZXYVBGLzhiNXRsUkVjVGlBd013SDA1NWtCRXp3RUlBQUJDRUJnZGdJbWYxWnJJV2VQalFnZ0FBRUlURWRBbDIvWDU0V1pOZnJYRC8xUTc0MzJIM01OZ1pVSTJCS0pjSkpucFpRUUxRUWdBQUVJUUFBQzR3alk5MUxSbjhmQnd4Y0VJTEFtZ2F1YW4vK2VLYkRlelAvZTgzT2I5Tk1KRnhCWWxjQkZxNnczNTdOcVlvZ2NBaENBQUFRZ0FJRVJCTzQybW5zcklFZUVnUmNJUUFBQ0t4Q3c1VE4xdkxZMnRyN2Q3ZjdZL3V6ajRIcDlBcnJGNEVHMVhMOGdTQUVFSUFBQkNFQmdOQUZiOGZnb3Z3VXpPaFE4UWdBQ0VGaWNRTGg4ZXhjZXhpMnB1VHg4YS9UaXlTTkNDRVFFR0hBaklOeENBQUlRZ0FBRTNwQ0FpcHlQeC9rTlUwNlNJUUNCcnlZUUxkL1dyejJIbGoyKy92elY5V09EbWJmdmxmdEgzbTB3alNRSkFoQ0FBQVFnQUlGdUF1VjRmdTEyeFZzSVFBQUNHeU5nKzUzcnJzczJvOXk4Tk42WUdQUm9jTGtCQW03NU52UFZHeWdLa2dBQkNFQUFBaEFZVGFCY1Q4YUFQcG9nSGlFQWdWVUlSUHVkYlM2d1ZxZjE2OC8zVmRKRnBCQklFMkM2T3MyRnB4Q0FBQVFnQUlIM0l1QytwOEUrd2ZjcU5WSUxBUWhvMzFYVUdLTFR4SFo3LzJYdGpDc0lyRVJnZjlBdEJ1RWVnNVdTUXJRUWdBQUVJQUFCQ0l3blVBN3BoLzM0SVBBSkFRaEFZSEVDcWovWFgzL2VxVG42NENYaTEvdTBsZmVZU3dpc1JNQ2ROc0pZdXhKK29vVUFCQ0FBQVFoTVJxRDhoRldCQWowWlVnS0NBQVRtSjZBRzUyTWRqYXJUbnY3TXg1OXJORnh0Z1lENzlqTnJ2YlpRRnFRQkFoQ0FBQVFnOEJvQk80VkhGa0tpUUwvR0VkOFFnTUNTQkxUbnF0ZHZ1NVUwZGZ4bnpNODFESzdXSjFDcXozL3JwNFFVUUFBQ0VJQUFCQ0R3S29GU2dUN3dyZFJYU2VJZkFoQllqb0J1SjMwZUdPWk9jbmgyWW4vKzB1N2xra1JNRUVnU3VMcWp0eCsveWJjOGhBQUVJQUFCQ0VEZ3pRajhpQmlxUDRiMk55czRrZ3VCYnlhZ0M3aXJUd2ZjSG9XZWJsenRoLzU1c00zMG02dkcxdkplbnJ6OStMZTFoSkVlQ0VBQUFoQ0FBQVRHRWFqbXhvdW45V1pjT1BpQ0FBUWdzQmlCc3lyUVpvSCtVMzFaVGRBbjI0Znkremp3N2FyRmlvR0llZ2pjM2NsaGo0UC9lZkllUDd5R0FBUWdBQUVJUUdEakJOemlSem1PaHdGKzR5VkY4aUFBZ1lyQW55N2hQcDR2aDhkUjFXaXo4c210UEh1dTY2NmM4aDhDNnhDNDZ6U1AvczZjTWJKT0NSQXJCQ0FBQVFoQVlCNEMxUXo1bzBDRG5vY3dvVUlBQXBNVCtEc2ZSWWMrVnFjeTNjN0Y0VkdjNmNRbUIwMkE0d2hjeTNQREdGbkg4Y01YQkNBQUFRaEFZTXNFYnVVQkozeGZZOHVsUk5vZ0FBRUlRT0JkQ0RqVDgrTlF6ZkM4UzdwSkp3UWdBQUVJUUFBQ09RUnVicGNXdHBzY1dMaUJBQVFnQUFFSWRCSFltLzVjb0QxM1FlSWRCQ0FBQVFoQTRKMEpYSDlGaGViZ25YY3VRdElPQVFoQUFBSWJJVkE4amlmTzVkeElZWkFN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JUWdBQUVJQUFCQ0VBQUFoQ0FBQVFnQUFFSVFBQUNFSUFBQkNBQUFRaEFBQUlRZ0FBRUlBQUJDRUFBQWhDQUFBUWdBQUVJUUFBQ0VJQUFCQ0FBQVFoQUFBSVFnQUFFSUFBQkNFQUFBaENBQUFRZ0FBRUlRQUFDRUlBQUJDQUFBUWhBQUFLZlRlQmY4WGo4Zm5ZV3lSMEVJQUFCQ0VBQUFoQ0FBQVFnQUFFSVFPQkZBcmZEUTM3SEYwUEJPd1FnQUFFSVFBQUNFSUFBQkNBQUFRaEE0Sk1KWEMrcVBhTS9mM0laa3pjSVFBQUNFSUFBQkNBQUFRaEFBQUlRZUpuQVA2YzlQeDUvTHdkRkFCQ0FBQVFnQUFFSVFBQUNFSUFBQkNBQWdROGxzQytOejQvRHo0Zm1rR3hCQUFJUWdBQUVJQUFCQ0VBQUFoQ0FBQVJlSnZCak81L0ZBbjE2T1NnQ2dBQUVJQUFCQ0VBQUFoQ0FBQVFnQUFFSWZDcUJ2M0x0TnNiblR5MWg4Z1VCQ0VBQUFoQ0FBQVFnQUFFSVFBQUNFeEQ0TGRYbjRqcEJZQVFCQVFoQUFBSVFnQUFFSUFBQkNFQUFBaEQ0VEFLVituejV6T3lSS3doQUFBSVFnQUFFSUFBQkNFQUFBaENBd0JRRVVKK25vRWdZRUlBQUJDQUFBUWhBQUFJUWdBQUVJUERoQktxOXoxaWZQN3lneVI0RUlBQUJDRUFBQWhDQUFBUWdBQUVJdkVMZ1h1NTlQcjRTQ0g0aEFBRUlRQUFDRUlBQUJDQUFBUWhBQUFLZlRXQmZmcmpxc1Avc2ZKSTdDRUFBQWhDQUFBUWdBQUVJUUFBQ0VJREFLd1F1cGZuNTU1VkE4QXNCQ0VBQUFoQ0FBQVFnQUFFSVFBQUNFUGhzQXY5SzlmbjNzN05KN2lBQUFRaEFBQUlRZ0FBRUlBQUJDRUFBQXE4UTJKZnE4K0dWUVBBTEFRaEFBQUlRZ0FBRUlBQUJDRUFBQWhENGNBSW5WbTkvZUFtVFBRaEFBQUlRZ0FBRUlBQUJDRUFBQWhDWWdNQzFWSjg1ZTNzQ21BUUJBUWhBQUFJUWdBQUVJQUFCQ0VBQUFoOUxnTVBEUHJab3lSZ0VJQUFCQ0VBQUFoQ0FBQVFnQUFFSVRFZWdNajhYMHdWSlNCQ0FBQVFnQUFFSVFBQUNFSUFBQkNBQWdZOGo4RnN1My83M2NUa2pReENBQUFRZ0FBRUlRQUFDRUlBQUJDQUFnZWtJSEVyOStUcGRrSVFFQVFoQUFBSVFnQUFFSUFBQkNFQUFBaEQ0TkFJL3Bmck04dTFQSzFueUF3RUlRQUFDRUlBQUJDQUFBUWhBQUFKVEVxZytYdlU3WmFDRUJRRUlRQUFDRUlBQUJDQUFBUWhBQUFJUStEQUNSV2wvdm45WXZzZ09CQ0FBQVFoQUFBSVFnQUFFSUFBQkNFQmdRZ0w3VW4xK1RCZ21RVUVBQWhDQUFBUWdBQUVJUUFBQ0VJQUFCRDZOQU51ZlA2MUV5UThFSUFBQkNFQUFBaENBQUFRZ0FBRUl6RUhncjdRL1grWUluREFoQUFFSVFBQUNFSUFBQkNDUUpyQS9IbjdTYno3OTZhM1lRTWF2aDc5UDUweitJREFEZ2Vycno2Y1p3aVpJQ0VBQUFoQ0FBQVFnQUFFSXRCQVFNZlRZOHVxekg1OGVoeTE4T0xaNFlFRDc3SXBHN21ZaFVCMi8vVytXMEFrVUFoQ0FBQVFnQUFFSVFBQUNTUUtIeCtNckxUam54Mk1UQi9mdWk4ZHhueXdaSGtJQUFxMEVwQUhiRC8yNUZSRXZJQUFCQ0VBQUFoQ0FBQVFtSjZDbjhHeGdHZlBrK2VvTDhMS1piRjhQandJRnVxKzhlQStCa0FENmM4aURPd2hBQUFJUWdBQUVJUERPQks3L0x2SjEwdUs4L2IydHNncnk4TTZrUjZiOStIaHNwbXp1VWxOUW9FY1dKTjYrbFVDbFAyK21IWDlyUVpCdkNFQUFBaENBQUFRZzhES0JIekZ1aWxwYXlOTG93OVpYRjBwQ2Y3TXlMT3VNSlV2RjBmMktvamhJOWg2cDdQM1R6SmRPelZYS1VWYWNzemtTMlRzdjE3T2x3QS80OXExYjBIMElYRU5nRUFIMDUwRzRjQXdCQ0VBQUFoQ0FBQVMyUzhBT3R2a25Gc1c3cUp4YjB0TVN5RVIxZStTZG9sVjlibFU4ZUwvVTFtbk5kZkE3SnlKZTlaR2NtYmFwUTdza1BadGp0R29CRVRrRStnaU0wcC8zZnlkWkdYUTRYdjV0NHZDRHZqenlIZ0lRZ0FBRUlBQUJDSHdLZ2R2eFViUVlNTlZPNjliajdwMFNtYWVlcmtSR0xPVkZadFQvZms5bldmWmMveTduazg0U05INC9KOS9aOFhMYUdnR2RDa2dsdkpHVHhSNUluZG1la1g2eDNCTVJCSVlUR0tFLzMyMWgwTU5OOEJVcy9CNE9IUjhRZ0FBRUlBQUJDRUJnSEFIMzZaU2s0bW5xODhHME0xM0hMTDh0SzBhcTRnOUszMTRYYmV1dis5dkorMUs0TGY2MnBhZGFjV3NlTmlZN1g0VW9CckZ4alJGZjMwbGdzUDVzblpMcmtmWXlBU3FiSm1oeTMxbDF5RFVFSUFBQkNFQUFBb3NUcUpZeXB5elFwbHE3QTYyZGxyM3BCZHlxNGcvVGNNdEpnZDVGM3hMd1FOVjhzV0lVMFhselg3d1dyTW5wbU1XZ0VCRUUzb3ZBVVAxWnpybjNlNlNiM201c0d1MjlDb0RVUWdBQ0VJQUFCQ0FBZ1d3Q3BXS2MwbmprTE9YbjN0by92ZDYyakNhcTVNQ053TlhjUVI4c3RlOXM4N3RZV2l4YlcxRysyNGswbjVxTzZjUE1ld2g4S1lHQit2TmQ5ZVdieHlyU3A3MDNYRUlBQWhDQUFBUWdBQUVJVEV2QTdhSVRjYXdackwycXBEVGJaN2RsczZJdUc2NFMyOHhMOG9sNjBWK2YxVnFjREF3NUdkMzBEM1hKZXVyVXMrbGpHaFNpYXZVc0p4MkVETWRmVFdDWS9td2JUOEt0S2piWHVjMU82cXNMbHN4REFBSVFnQUFFSVBDQkJDcjdjM01Wc0RzeXJNcnkvbndvem4yS1p1VjRqZjl5N25OaURxQTdKZUpGZnoyNm5xeEhEb1hWN2tBWGZLdGk5eGJMUkNaYm12VnBRUzVFQllHM0lqQk1mN2I5emxIK2JDOUtUMGNXZWVFV0FoQ0FBQVFnQUFFSVFHQUVnY29HMjl3OXA1K0RlaU0xU0pZMERqYkY2akpJK1hYYmJjVGFzMUZsVUkxT2cvTThvbzRNOXFKVnB4dnE0Q0R4QUlIUEpUQklmelpWdWJHZlJQdXlqZlpUbjF0dTVBd0NFSUFBQkNBQWdhOGs0SFkySno3WmEySmE0dmsyS2VsZTVvWk0yWmRVTmVUSXI5dTZMQmI2N1cweHRwenBBdnN0bXA5M096RkFIL3JnOHg0Q0VIQUVCdW5QcWlrM2Q5SllkODJrRlRVS0FoQ0FBQVFnQUFFSXpFL2dmcnFjVTNLWHJlemVwSGt6eFVRazBPRWFXeW0yZG1aU2pMemQrblVxTllzODI2ejVlYmRUWVg2ajFCWXBHaUtCd0JBQ1EvUm4zYWlTYUZ5MmtHaDRGemdrbGJpRkFBUWdBQUVJUUFBQ0VPZ2lZTWVIdmMwNXlpSlREaytyaWFJOXgzWVhDVnRQRjdibDNta0JiWFRIbys2ZFI1WmZyaW9RMDNzVEdLSS8yNmFUUkx1M0V4NEhMOEY1YjI2a0hnSVFnQUFFSUFBQkNHeUpnT25QMnpZaS92eGVpbklQc3loczduY1lzT1M4L0NwWGN6RmtYUTVpU1UzSXF2WDc5YTVVUisxSytYb3BrNWhWSVVndGFsZzFVVVFPZ1cwU0dLQS91NC91SmJKaDY0VUdkSDZKSUhnRUFRaEFBQUlRZ0FBRUlQQUNnWTNyei9zL1MyQ3BOZnYvOG0wdy9SK0FsbFdSbmF1N1grRDdxbGRkSXozYzVQNXFySm4rbFN5bkdXWEN3dG0zRXhpZ1A1dlRWTk95RGRDRFAwSHc3ZVRKUHdRZ0FBRUlRQUFDRUppT3dLYjE1MnNsY2ZxS3M3cys1QitwVlIwKzN1N2o4aGdRM0hUc2MwTFM5Wm9iUGRoTWtxOWxzZDNVNWZERkRRU1dJbEQxWnMydklEUlNZSjFjeXN4czMwdDRaSVRRQ0pJSEVJQUFCQ0FBQVFoQUFBSlRFTml3L3J5dnZscDlPSjkrLzI2MzIzK0lWUG1mOHY5Mis3bTNLOE5OS2lhTWRxelFGcGwwcTZ1UTlmU3dsQm1xbWNsVm5tanQyYXgxZkJVaVJBcUJOZ0w1K3JQVGtsTnJZclJEZUR4U21uVmJyRHlIQUFRZ0FBRUlRQUFDRUppU3dIYjE1M0xiOHVYdmFlQVVXK3hsVE43THpkTnRPcko4K25sVXNHT1NNdFNQVGlGc1dFSFZNdHJzN3V5aHJIRVBnVmtKNU92UDdzakRWTVBYOHhBNHRXL1dZaUp3Q0VBQUFoQ0FBQVFnMEVsZ3MvcXpNejZmbnNyemJxZW1sellkdURPUFBSK0FscGk4V0RwRFd2eWxDc3Y1TzcwWFQ1NHRqZC9veVd1THd5QkNDSFFTeU5lZlhZK1ZQTlpSZTRTdGZoQytNL2U4aEFBRUlBQUJDRUFBQXA5QllLUDY4OTRreUZPd1NsdU1NdU8rbGxUS3JhbmxrRktJb3BZbkJkVXRsSzhkZmJhRmhMU2xRYmRuYjVaZVc2SjVEb0UxQ09Ucno2WWpweWNMM2FzTno2bXRRWlk0SVFBQkNFQUFBaENBd0hJRXRxay95NUpxVVpZaklWR2V0YWpBUGJpNlB3QzkzVTgvNzNhYThnMXZmM1pmc05yczR2ZWVhc0ZyQ0N4S0lGdC9Mazg4alBvL2wxYTNHU1cxdEh2UnZCQVpCQ0FBQVFoQUFBSVErR0FDKy92UDdlLzNkSmF2S0RmUG5SbW5QLzlkRG8vRE9TbmZUUUpTelpxWHdQaTgyNmt0ZHR4UzRjNFBRTXNIWWViTHg2c3cxQXJmSlNyUFhRNjk2VGUwdmE1d0FBRUkyT2ZTcFVIM241NWRmbkV2MmR0cDE4Z0JZdFFtQ0VBQUFoQ0FBQVFnTUNlQjh2aXNTT3dxWlRTVHh1by9TWkV0VHR4ZDFMcUR5bkZOZFh6M2I0ckR1RlNwYjRRdDFwdVJSMVZWV1kzem9mZGk2bW5FbEhLM3pqTXRtUFl0MzdPWFEzK203VGpnckVyVEh4WXVJUERSQkxMdHorV0VYL0pVQnFjL3MrYmpvMnNLbVlNQUJDQUFBUWhBWUdVQ1UrdlBvbzdxc1Y0cTVEWFdVOXRTNlZjM3hPclJZVTBCVVI1Mm1XSTdJSGQ5QUhyRG4zNTJKdmQybS92czVkQ0I5UGxLU3FYZm52WjB6UVVFdnBkQXR2NHNhMkwwMTZFL2o1eEovRjcyNUJ3Q0VJQUFCQ0FBQVFnTUlQRHY5MlNydEVVaTgweXQxNVA5VExrK3VHdjVHNjJaVHNVaUprZG5FbFVSTHpZOVduQU5yVG9WVFBzenRXazJOLzJxdXA0VUtOc0RlcjdSbE1vdlRxeThsdyt0L2oyZGJlN0NaaVBhVWpWN09iUkZIRHh2V1lZUXVPRUdBaEJ3aHdWb1A5VGI0N2h2RDZTN08yZC9IbmVRSW9VQUFRaEFBQUlRZ0FBRUlKQkxZTzlzSDU3K1hQbzB6YnBwN0cwUFY0NzJLbGNVcXlRWCtYU1czbDc1c0QxMGZhT2JmcHVhc2lTMHFWUjNCL1I4VzFyZ0V5dWhEK01EZllZKzM0VVdUcHVsYWY1eXlNcVgxaXVFK1N4VU9QcHlBdG4yNTlKaHN4TVVnUFpoZ3NmankxR1NmUWhBQUFJUWdBQUVJREE3Z2Izb09ZSDl1WXh4c1A1OGZpN2ExZ0FqMWNsdDNFdlllUWZrVDB6Q0NRdU5wbiswWGw3S25NM2wzMXYrOUxNZ1U3MC9tcUY0Z3B5OUhKNHhkVjZZcWF6VEJTOGhBQUVsa0swL1c2ZWNta1NVUU5DZnFVd1FnQUFFSUFBQkNFQmdHUUptZzMzZC9peXJoc3MxM3M3V0hDNzRkaExpYXhtU2hDWU16Ym9sTUl4clFDeWw0TnJJdldTbXFWTVBDSGR1cDVMbjUyeEZGTmY4NVJCRjJISnJXeldUaHJJV0R6eUd3SmNTbUZKL0h0MFhmaWw3c2cwQkNFQUFBaENBQUFRR0U3QjljdzBOY2pmVS9ueDVhcHp1Vk9zd0hhYWt0MWxNUTZkdGQycCtUbnhRU3BMZlRIeGJHUEh6OGdQUURiWDgyTG82T2c1aGxYdWJvV2c1akczMmNzak1CSHVWMHdBQUlBQkpSRUZVc1JaWHFyd3l2ZU1NQWw5RFlLaituTlNSUy90ejh0M1hrQ1NqRUlBQUJDQUFBUWhBWUFFQ0puYzFWZENCK3JPWVBTdGpvNjNjRGRkdk81TjBpOGFYbVVjUk1zTkF6Wi9FKzRLV1ZuNFBKZzQzL1BUelRjNVpPeCtMUTl1RzQ4ejBEM08yLy9zbkgrYVdXQk43cysyTDF5MkwxdWN2aDh4OGFNRzBwREV6Qkp4QjREc0laT3ZQWFRweTE3dnZ3RWd1SVFBQkNFQUFBaENBd0RJRXB0R2ZUL1YrM0lTdGVZcnR6NktPSlJSd1VkWmo3WGNBdHZRSG9HVkx0VCtmNEE2MmJUK3dhMEI4K1U3TmZLc3FhRXAvTnB3Slc3d0VQMzg1Wk9iQnBrdzJ2UWcrTXlNNGc4RE1CS2JVbjZ0WnpKbVRUUEFRZ0FBRUlBQUJDRURnZXdsTW96L1hpcDdUU1VPMXp3bUlMekZXaFRLeE5sR1U5UmUraXVYczRyWHAzS1V3K3ZUeitXZ3pBc3N1NmI0ZlM3VTlCT2tTYU12TzA0ZXh6VjRPMllXb3lyOC9EWkh0RVljUStDNENRL1hucEk2TS9mbTdLZzI1aFFBRUlBQUJDRUJnUFFLVDZNK3lXcmZLZ1MzZmZ0NjVwd21UZE9VODk3OEVtMWhBcmNwNldwSE1DMWVWUFBrRnRselIxT01EdlcxT0lCRjlYaVJqWFpsWW5kS2ZEWEZTaUo2L0hMSXpvMXdiRzh1emZlTVFBbDlESUZ0L3pqaC9PekhIK0RVY3lTZ0VJQUFCQ0VBQUFoQlloTUFrK3ZOdmJRVTJYVGswUExadGZ4NGk2MGt5dzBBTmpraWVMNm0xenJJYzZzdXBUeityaFB0U1JHT0swckNsOUdlVHQ1UHd4cFhEbU1RbG8vY0RRbi8yYVhBTmdWWUM2TSt0YUhnQkFRaEFBQUlRZ0FBRXRrZGdFdjM1NTFLWlE5M3k3Y0NndTB0dmY1WlR1Z1lzdlJaMXJMbjlXVC8rM0h3NmdMRmxQdnhZbFN5T3J2SlNCNlFycGhmWG4zZXFnZzdUbjhlVVE1M0wvS3VNc3RQRUw0OHNQd3U0aE1CR0NFeWlQNWY3UFRhU0paSUJBUWhBQUFJUWdBQUVQcGZBSlBwempjZGt3ZWhJTHljZjFtN3N5ZzVvN3JWaVBqMkpOdmI3RS8vK1M1NytkL0J3NEdMdVVuTDFMTnVTck1TcFY5dlNuMjBaWncrNjdISjRFaDV3a1ZOMmF0cVA2c0dBR0hBS2dhOGhVUFpDNFRLWVZPNUxoODM1UFhHTS9wd2l4ak1JUUFBQ0VJQUFCQ0F3UFlHSjlXZlJtaG9hYUhMN3MyM2l6YzZPV3BxemZvY2V2VEtNMFU3aUN2YnBIcE5LMzdiMFp5dXlNQ09OTzRNVnpRUWt5NkhoTTNxUTRwbFRkdWpQRVVodUlaQW1rSzAvVzd0ck9mRUIvVGtObDZjUWdBQUVJQUFCQ0VCZ2FnTFQ2cy91dTB1aEZUaTkvVm4xcTB0MlpyTDE1L0Fzc0w3d0d4K0FsZ2ZoMm5NWHd0dnB6L25sMElub0toSjdXSmptUEtmc1RKN3ZESnlYRUlDQUVNalduMlhiaFA0U0xiS3lQN05qZ2hvRkFRaEFBQUlRZ0FBRTVpWXdyZjVzb21Ba3hDVzNQNXRTbmI5M09WZC9QbmhMc1RQSTJVSmtrVWdycHhKTk1vQzMwNSt6eTZIS2Vlci8xVUtKRHlQZjdiTEtEdnR6Q2luUElOQWdrSzAvbDlOOUhmb3pKOTQzNlBJQUFoQ0FBQVFnQUFFSVRFeGdXdjNaN0NQUnNtRW5Ia2JKTmxFd0tRaEdEc3RiQ2JoeGxKYVlPSlBhYmpxRTFOTktMYTkyRkVwU1UrdVZkOXZTbnpQMlAyZVhRNHFLZTNaM1g4dUpDbFBmWlpXZDZzL1JSRXA3WEx5QndQY1N5TmFmM2VHTXlSVXlPMjF2TC9lSDMxc0c1QndDRUlBQUJDQUFBUWhrRTVoVWYwNHRHM2FTWGJ4VVcyWEdJY2RMaVhnWWEzSnFQRTR0dHM3T3VqaFVtVk4rWlRBaW56YXRyUnJjdHZSbms3ZVRlbjZWOWZ4eXFIekUvMytjOW54S1JaTlZkdWpQTVZMdUlaQWtrSzAvbDh0bEdoT0pHcXJyeU9JK01oa2ZEeUVBQVFoQUFBSVFnQUFFWGlBd3FmNXNTbGVrRnJkdmZ4NWlQSmFRWXhWYzl1WkdVUTNIVUo2NlUyck5xVTgvVzVqdnBqL25sME1hMmMxcXhlTTNwVDN2YkVLa3QreFVubWMxYVJvdlR5SGdFY2pXbjBzbE9Ubkg1L1RucEdydFJjVWxCQ0FBQVFoQUFBSVFnTUNyQkNiVm4wMklpNzdxbkxTRm1sS2RsQU5iOGlNYWJLd3NKMHpTTFo3Ykh6c3JhMm5hbGpoYVZwUnZTMysyWTNpckplZkp2R1dYUTlMM3pXWVZEbTI3MC9QS1RwTVF6M2drWStNaEJMNmJRTDcrN0thMVVnMnozSW5TMlN0OE4yVnlEd0VJUUFBQ0VJQUFCQ1lpTUtYKzdOWVhSallROTlHVktMVzJoWGFJc0tkS1c2amNxbDRlUG9uaXlMbDFpWFBicUNXS3R1V1AyOUtmTlRYVmt2TmtKdlBMSWVIOXozWlNIdG9uTjdMS3p1VDVYaU4xSW5vZVFlRExDT1RyejlieWs3MVV1YlQ3eThpUlhRaEFBQUlRZ0FBRUlMQUNnU24xWi9kOWxXalJyeGt6WTB1a2lveXhQYms3ODQzRHdpU0kxOCtuS3I4SVl3dU4wNTkrdGxUVit2UHRMQWs1RktlV2pkYy9wK05CWGwvK0lnZ2F5dlhmMmIzODE2NzIvL3dlQy9GL3ZxbC9WWk9qeVFoTGpWbjBVeS9zcmZ6Skw0Zkt4L1AvUDlPZWk2N1FzOHJPak5SdDB4SFAyTGlBQUFUeTlXZTNsaWMxTGVYZXNHR0MyZ1FCQ0VBQUFoQ0FBQVJtSnpDbC9teUNZS1FXdTRXRjFaTERIMVBQVkRGOC9qS1ZZRlZoZmFWVXc2MUNIUS9KaVoybXlvdFp0VlZyclBSblhkbDhQRjgwRTBYQ2VtNm0yK0lpV3JLY2hPc25WaEw0bzZDUGw3UHhQcWJWYjFOZUMrZEc4aVlla2treVcxTzdmYmo4b0d4bk9hU0o3WjE5NjVqbU1LanM3S2pncmpTbVU4QlRDSHdkZ1h6OTJYV21LUzNaVFptOTNpRitIWHd5REFFSVFBQUNFSUFBQklZU21GSi9ObE56WkIxeEdtcGxjUzN0dmFvWlZyOU0vVm1WUmw4ODFGWEVrWW82Tk92aXZsejJLQitBM2g4NnR1dVcrdlA1VWFxV2xvMHFUMVcwZDgzK1AwdVRLY3VCaml3K3pxV0htNm5YbGEvNnZ6MHZqK3dTUmIwd0UyNUtsVFVwdXN1MjIxOE9kYXoxMWQ0dFpyOEU2YTVmbDFidHF0anNmM3ZaV2JHM2hlUUZ5dVdYRW5pOTdYNE11SHo5ZVdlOWRUUXpaaHhjMjAzTTZYME1KVElDQVFoQUFBSVFnQUFFTmtKZ1N2M1pqTXUra2l0NWpMYy83L1huOUUrN3pNYWdVcVluSDBxNjQwWGgyVUhWRHAxQlJ3T1c0TnRGZXFjL1gyb0ZYbk1WS1krcU1kWkdhVTJ0cHo2cW5sNmZxNll2RzBZa2plTllKK0gzWVRSVCtyTVpwdXZRNnR4VVZ6bmxVTG10L2w5TDdUbWVGYWplNi84QlpXY2w3QldYSHd6WFgwOWdyODJYNnVIcWdYWUgrc3RZcm1ITkt0VlIyWlJabzAvNStub0dBQWhBQUFJUWdBQUVJREE5Z1NuMTU1UVVhSUpkck9tcXhKaXlvblJsVDgyeGRUaDZsOVF0dTRKSXZMTWtpNm9yNjQwanhkOTNiUHJ6UDAvQU5idDFFTDh1V0Q3VTZxOVppdXBiVTA1citWaWgxSG14bU5SRjhNaUp5a0VjVlpMVWU1ZXNMSzhiMG5peUhLb0FkM2NudzU4elZKcThzck1NUDRQbkFnSUJBVHYzUHBxQUNoeDgwODBBL2RuTjl5VTZoVlNUMy8yY0xtZHZFdStibUpKWENFQUFBaENBQUFRZ01CdUJ5ZlhuVUxoekFsK3NtcmFzWU83T3BDcXhUeFZVYjdxZDU3MDF0VkowWjFrdjNlRkJZL01OeU80YnlMNEp1TEhZV2pYc2VpbTc2UXYxcmUwT0RpeTlHa00wbzJCaWRVaXpUS0tHRmprT0VpK3Y0OW1GZERtVXZ1N3VNMTZuRE8wNTgrdlBPdzB4UVJTSlBpaW9iNzBwdDAwRUxlQmJXWlRIRlVoN2VYWnVIU2hzWHFydVNDcVgxcUhFZG1uWGEzVnQ5S2k4OHg4Q0VJQUFCQ0FBQVFoQUlKdkFsUHF6clJzT0RSN09paG9KeXFac3hqcDFmNG8xK0NwMDBYdWJVbVIvRUEwWFRuT1VnRHUvaGVVazBkcWN2RFB6c204Q1ZveisvVzZubXZsVElUV3gxOU8zTlVMdjF1M0RqdVJuazRtVCtyTkI5Vk1UWlN1M0hKdzMyNnd0Mys3cUNOQUxQN1BzTkFsK0JsMElTUFFleVMrK2RQWGcyWmkvbUlSbWZZRDllV2ZOcnpsemFFRkVQYXJUcWVPSnRDOW5UZlloQUFFSVFBQUNFSURBeXdTNjlPZFFJZXlQeXNJS05ENDVsVXQva1ZmN2duQ2tVMGRPVXJkbXRYSUt0RjVXcW5US2FmWXpVMncxaVUxbHp3dkQ1UDFBWDQvc3F5YXJodnF2aHZ5MC9WeUZRN3k2MjErdHJlUmlpN0psTjZCWnBjamVkUERMTFFjTjcyYU9ENW5hODI2WFYzWm03bTZrL2Vzaytsc3hTU1d0eXIzdi8rK2hzeGIzZVYvdWZibnFZOTRJcngzZk1KODM1b0doRDlHZmQ5WVZoVDJOSEV5Z1BWaTgzS01LZG1ndlBqRDFPSWNBQkNBQUFRaEFBQUpmUnNBVVhGK1ZjL2szcldxbzVHV3lYV0FGY2ViZE9IaVY3R0p0TVFlNzZWK21rWWh5T2lhQVppVE9QdDRYbW1Vc1VBZWpMQml1MElDcmlmVUEzZ0x2S2ZVNzFuM2E5V2M3UUN5V29iMjg1WmFEYU1PbXlSeUNNdk1DU2x4R0dVKzQwRWVXOXFmMXZYTDBiUkw5NlhGb01LaFl6UEZmYXR3Y3dVNGVwak9pMXJOTGswZmdBaXpDQXdWbWl1WDFZS3RtMGRHaXZVaTB4ZnBUY2ZyS1FvaW5hc3BKQ204VmpCY0tseENBQUFRZ0FBRUlRQUFDSXdtSU5CYm9lV1V3cGxZUFZWRk5hL0tWWlZQa21pZHphZUMrcyt5a20vRlRqYm9Td3RPMm0rMDc1YkQ4QUhUUFdXU1dqOERnRzZxUlp2K0phTm16VkpUNlRMMTc5aUtUZndNRlc5eDA2TStxZmdmbThEQ2UzSEt3NzFVL2lqeTV2WXdpcit5MG9DSWU0di9MSkhvcDFhRE9oSVUwL1ozV3VIQU9aL280SmdteG5MU2FPNjM3d2ovUWZwS1V6eEtJdFg0cHU3eDJxRXRab3Nadjg0cU5PVEEzZHltT0cyOW15UVdCUWdBQ0VJQUFCQ0FBZ2U4Z1VJcXlzZTNDRkZWWjFEeFF4RFdScmZaVEdYY2pMU0p6QzIycUFDekU0cXBhN3pTV1BWTTFlN1Y1MDUvcmZFbktWT2F0RlVUREZjOElpSXVVT25POS85emt1RExmdTA0SE5IV3REdjFaMDFQSDNnU1ZWUTUzaTdXSTFmWm1hUDZUekxKVFBFMEYvN3NrZXNsdDNLeDhrdE5mYTlsTTB5cW1UMXNRb3EzV1NOU1B3TkVFTjZKcUZrR3JuU0RNR1lJWXBqKzdlVFYvOXRBNmluajFTcm5UUXFwRTk5YVVHZkpEa0JDQUFBUWdBQUVJUU9BekNWeFBwOVBGVkNpVnNRN244OG1rL1gzdytIRzhuRSsvMlFhTXdEYXlQejhPenVJWUFUUnRNOUtwSXlldHR6K1c0djlKbWN4Yi9YUzlNQ3R4cjlyUnB6L2IrK0pmK0ZPc29UcXp2NTJmSmxoZkFYYnJXV05KdjBOL05vTlRHSGFReWF4eU1MRTl1MmpMOERQTFRrdXBhVTRyWjJXK1E2SVhKYkZKSUNpbHFXL2VSWDh1Mjl6SUhtQUlOV2xDYjZCQUQ5U2ZkemJ4VmV2THRvVEcxNmNyUW02NjZyREFSRVVWSS84aEFBRUlRQUFDRUlEQUp4TXdIVXgxdk9mUGRDbW55ejJmMllXM2piZUhpSWwyOWhYaDY2OFlmMHlQYXl6VnRqTzdlZ0pxZmIxM3hxdkhmOFRxWnF1UDdoZVd3VDR0c2s5L3JpVGdFRnV3UkxzNnFhczQvLzFjOXlyYTFnWmswNVFiVzFjNzlHZmJBTjFsT000cEJ6Y1ZjUm1teHVTVm5TVTlVVUJmSk5GTGxVanBOTjJWOGJXMzc2SS91ejBUOFhLTjEvTGU0bHVpeXUrOFdzS1kvWEhWZTJSUHQ4ak1wSFFmLzJ3Q3pjNy9PNlFYT3Z3N1BvcC8remNnTUR0aUlvQUFCQ0FBQVFoQUFBSVRFQkQ5K1hBNEZNWHhlQ3lLNGlBV3cwcC9yaDY3NS9KaWdBaHFvbDFwZC81WGZtMGwxazdWQnZ1QzlQelBUTkNTcXQvYi9acFEwb2F4MGNSNE81SFRudnYwWjlNTHU5V2xIN004VjU5WU5nSDRHWmRUS0o2MzVVV1gvcXorbSt1anZSQnl5bUh2U0I3VHdyY1htSGVaVjNhNnpENVphYjVHb3BjYTgwSVY5NEFQdUh3WC9kbnBpME5xM1FBSWtWTXBoODUyRWpsZjVkYnhHTFJjNGNmTlJCWFdGZlljLzVkdWlhdmtsRWdoQUFFSVFBQUNFSUFBQkpvRXJyKzZLcnk0L0lscTZ4YnNSaFpPVzc0WjY5VE5jRHFlL0srb1orbmZZYkN3ck1KcmxNQm16SDM2czBuQTlZcktaZ0R1aE56elU5dFhENi9ZbjNYeFFPMC9FZDl1MTFzTzZzdWRJSGJzTW1VSGdXZVduVXIzSGRhMHo1Zm90WHllaFIwUW5QSG1YZlJuWVpNeFp6VVJLSm53ZWFtdm1TZ1pYY0dNMEorbGVmK2RqNGZINFhqNTdabUkyQzgva2RPVldkNUJBQUlRZ0FBRUlBQUJDSFFRTUN0SnJPZVp0YlZYWmUwSVZmV0Uvek1oUFBHblI1cHNCUHVUYy81MG4vNXM3N3RVZHdQaGFaU2gvcXdaYW41NnFNditiQ2VPNVdjMVdRNE9oZnVDVmU0WjNIbGxaMXAydS9yNCtSSzlmdmJjSysxR3Badm53WnZvejI3anlGSjRGTW9ybmMwOFJSV0VhcTFUa2prUGtqdm5od1cwdVlFQUJDQUFBUWhBQUFKYkpxQnFZV01iYU40VzJvNXNxYmE2QzgvaXNvajBUL3hsMUk1Z0JyenEwNS9OenA1Y3NPd2lNZisrR1N6VW4yMDdjM1RXV09mM3EzWTdEYkZMWVE4elozamExcGZmYkdYNUlVdDZ6eXM3WGI3ZFlZMy9mSWxlOXVoMzFJYXdiS2E3ZXhQOTJlcFFQS2sySFlVNEpLbU12ZnN6WWovTDNzK3JQOTgyYjM5ZmxqYXhRUUFDRUlBQUJDQUFnUTBUY1B0NlkrdFB1SVgya3FXM0Jaa1U0MTZwbmUydlB6Zi85M052dDNvR1FReTg2ZE9memVEYXJoTFk2MENoVXBIWjNOL05pR3dyT0dOemNxZjkyWUxNelVXNkhHcmZQM1ltVzg4MlNuT2VWM2JxS2k3MU9yYmR4MHYwT3AzU2NUcTZoMkxTeXpmUm4yM1ByaitaTkNtRVptQVNYOXZVVWRQeEdrL20xWjlQQzM5RmJRMkN4QWtCQ0VBQUFoQ0FBQVRla3NEK0h1dE1KaGcyamxFUzVhSTJpZndPbDIxMS9XY2MwOHpBK3ZUbm5lVzBrYWhydWEvWXZBZnpCRS85K1dpS2xpbTRzVXJScVQvYmh1cjB0dVhjY3ZDWjNaME0vOXMzL1pCVmRxckhCYk1GZmt4eS9la1N2YzV0ZEpqZkl4clQzYjZIL216VmVzbk40VHFiMFdpYTAxRi9QYVR5aXdJejZibUh4c0grcjZlWUVDQUFBUWhBQUFJUWdBQUVYaWVneXpLUGdmN2xKT1ZZZExXbjFVTlJOUVliNmlTaXBSZGs5dXJQbHFtR2xhc28xUVF6THdmNVZBdXQyWitkL3J6VCsxamx0RERUS3JLVVZxdVNtbHNPVVluZkxaR1BVMUNDa1p0ZFh0bHBDbUpqdWgvU3AwdjBTcklUb3c5and1djMwSit0TFMwNnZTQ05LMjViRTFKL1BTZ3p5RXVkQ1hxSTE0TjFJZHkzbmZlcHNrazRFSUFBQkNBQUFRaEE0TzBJbE9xWG4yNTcxREEvMjE3aHl0bHB1UGxaTndzM05OVXF2Sm4rOStyUDduenRTR202VmFLckdaajhsN2I2MnZUbndrbk5xWE81ZEJkeHg1bENxcVZXMHhCZXRyUEx3ZlBqTHErbDF3NHhQcXZzTkhPTlV2ZGkrM1NKWGljWkZ0VVBLN2J2b1Q5YlkraW9ZMVZ1cHZ1dmphdDFIbXE2YUVhSEpNbXozK2dBdWp5ZU9ycVFMbis4Z3dBRUlBQUJDRUFBQWhDWWxZRGJZbHNwakJhVkdTdWI1M21wM2xkdEZaYkRyd2VuU21OYVZQeVdGRGIxNStjQzdETDllN1VnaHdkNnlTSE1wZFJ1aXFrdndWdDR0cTd5NEptb1E2VlR0YUV1L1RtdHB1YVhRd0w4VmN0R3NwRlF5NTNyckxMVHpMV0dJT0Y4dWtTdlZjT2ZMRW1BbnVmUlcralBOblVVTnBSNWFIaWhTdHVzZWh6djZWWXVqWWpVbWVGZFlVWU9wQlBLY0lVVENFQUFBaENBQUFRZ0FJR2xDVGpiWldCM05FT1Ryelc2TktsWnRWeE9LUUovMXpyZmRCNUVQVmw4TmFibEx0QUpMWE4rQXErNkNqT3dpMStlTkV5cDlYU0c2OE1VVlZXeW5wK3QwZ0I5NzFkVnlNTkhmblJ5bmRSVDg4c2hDczNkN3AxbWZ3bnlXcnZNS1R0VkI3eTgxcDdMcTArWDZGY3pQOXVTL3FWbmxockYyL2ZBbGpDMFZLOCt2MlBmYTdXTlR4Y1lHOWIwL3R4RVdmZWFqZEd4amxuZ016b3lQRUlBQWhDQUFBUWdBQUVJWkJNd2ZUSllKbW5ManhQcldGVy9jS2FXKzJIRTJrSlZ6NEtqdUxLVE9OTGhmbjgxbWY5eCtkazdzNkk4c2N5Sm9iWjhva0did250K0doNnZSMC9OTnpyUFZOOFBoUjA0SmlMOTMxUFYzSWNLdExBeFQ0Y09oVWcwN0lhaW1sOE9MVGoyLzJ3NzVqRTVzWkZUZHFxQlB5a2tJdmwwaVY3Tnp3dnJoeVhsdDdBL0s1Nmw1NyswejlpdUFkcjFMdk9zK2IvTzlFRy9STHZtRVFRZ0FBRUlRQUFDRUlEQUVBTE9XdXFweTdaNnU2SGVhWkNWM1ZSMDBCRkdJZFZjdTlTeklZbk9jdXR5SnJIcXozUmdkMW4rOVZRbHRmMGVmazNodmNtMXR4emJWbmMvbkhJdDI0eUx2VHVKNnl4bTZGby9WcHYwMGRucjlUQ3ZmMFpRNWhxT3ZsbmFUN0llUkI2cnVRUEt3UThxdUhZYWRORmNPcEJUZHFyRVBXY0tnbURkemFkTDlLcXJ6YklTTjhFeWV2UVcrclBncWJZMVJNbWY4VlpiWnFvNnp4aGxmdENhT1AzTmtjQmpaMXZNVHlNdUlRQUJDRUFBQWhDQUFBUW1KcUJDWU9HcHc3YWNPYWsrNyt5c3JmUGw4RGpFeWw5T21zVEEyaEpzanU4UmJvckg0VkFVeDJOUmlHRzIxSi9MSndkNTR1blB1L0lyVVByNGNRakY0VkluMVd5N3c2V2NCYnZ3dlYvVk5uYzRuby9pUmxaUWwvcHpvSWlINlJlTk96YXJEU21ITURELzdzL1U4Q0toQjJ2NG5XVW41ZE5wWHZ4MGlWN0x0VzNDdzBjOHcvVTc2TSs2bFdINTZRV2RhZXFzbFRPVVJuYVEybHZvTDl0RHZzT1RQNG1YN3cyWEVJQUFCQ0FBQVFoQUFBS3pFN2lGbXR5UENvV3Rhc1Q5WER5S1M2aGdacVpRZFlSUkhqUERmOUhaL3U4aWF2YmhlR3BPRGR4LzlWVnhxYjZ4ZlA4OU4xeGR6YnU0VWF2MC9YRW9qcGZ6NmJjOXY2TG1laVovVGZ1Z2N1akk3TTAwNklNM0kxSTY3aWs3V1l6YVBETE9pK2ZqSlhybFZxOHA4SEkrLytVNzZNODYvNUtZbHBrYmpzUzZWcW4wWlUxTFRYL2VjcFUrTDdudi83cmJZbTR3dUlNQUJDQUFBUWhBQUFJUW1JSEE4WEdwbDFYckV1MVIxdVhlaEVuSXNjbTExOC9uT2xEWjI3ZGdTMDRuSzRjZnQvKzZxVUYzNGRUVnk4MnBnOXJIeDB2MHVtaGdMVXZuTytqUE1xKzJSdnZWbFIydDAzbDE5VnpqcWp3eGY0WlpCYkc2UjUzREd2a2pUZ2hBQUFJUWdBQUVJQUNCSkFIZDR2dlBERzkzMVo0ZnAxcWJUcm9mK1ZEazc4amlPaktnei9BbXdyZHNwdlovRTViRGoyb2R3Nno5NHFOTDRmNThpVjQzc2ErbHFMMkIvcXpUQzJ2ZzBUTzZsbDgyN3JmTDFtdHJaSks4c0JtM09oL3c0blpjYVNIRWdEVGlGQUlRZ0FBRUlBQUJDSHd2Z2IycURnZmRKQ3ovWnRLZWQ3cVJFWnVLVjhsa3UyMWs3cHl5SFBRY3N5RzRwUXAwem01OHZrU3Z0Yi9MQU84VjNlU1hiNkEvNjlUYTlJcGlQMGxGTTZnbTl3YzVrUXRkc2FHL1pROTFtQ2p4QkFNQkNFQUFBaENBQUFRZzhBcUI2ejg5SFV0Mjc4Nm5RSWcrdDFFejBpdmdYdkVyR2trc2VrOVpEdDRIdXZwVEtjcjhETHM0KytQZGpndWQzNW5qSUtpc0hMNkIvdHpjc0orVnM5Y2Q2YmIwcnBVUnI4Y3dNZ1IzanVCbWQyZVB6QlhlSUFBQkNFQUFBaENBQUFTMlFXQ3JVdkNLZEVTQlhtTkZiQ0xIc3BnOFZ1VVRyajc2a2RwWG8vVUF5K1YzKy9xekdsdlhXVk9zNTVadGNtN0gxdXZRY0packpjUUVBUWhBQUFJUWdBQUV2b21BbXZmV2tiODNURmtzV0N1Y2FOd0VJbnRiT3hkdk4zMjgrT1F1eXgyS3M3KysvRSsvaW5aMG4rQitNZkJ4M3ZYTXRhN1pERXZnZWFiMUdRUDE1NXZDYXFibFgzSG95a0U3bDV6dy9oV1R6TEJjNVN4N1dlamlWZnZycjFpWWkzUHJVZlc2QVhxMWhRSHR6SGFZbnp2ZzhBb0NFSUFBQkNBQUFRaEE0RVVDWXVIY3BCSHB4V3k5NkYybytFcmtpNkdOOVM2MnhXVVh5SXF0MTc2MFhaMzd2dGR2YkI5MG9lN2p2TVllV3dXbmtiZnFjTHU3cU5lV3dJUVNLWWwvdFdvUDBwODFMUStGRmFYRmpyT0tudVZVaWFuRDY0alRmV2JkRExkVmpWTzd2MVdHdGpwb0gxUGZRQ3VKc3JYSC9Cd1I0UllDRUlBQUJDQUFBUWhBWUVvQ3Z4Zk16MDJlMTlNR3FPelB5eWJpbjMwaFRlWU95aFBJNzZLS21PWDVwanJKT3FxU2JYOXVqVnJlYWtHcEtiUmhxRmNGc0UzM2F4WjQrc2tRL2JrdExhVTlkSEJSVGgxZU9vZjJWUGdWZjVKQU95alB6VGxjSG9jL25UTFJFK01iYUYxUXl0ZXpWM2VFditRclhWWXV2ODVQcGkrWkh1S0NBQVFnQUFFSVFBQUNFSUFBQkQ2UmdCZ1VUY2xUZTZtYVMwWHhxdzU5VnoxeUhRWGF0T0EyMnBKaVo1cE9KYy9za0MycVgxdUE4Zk1CK25Ocld1eWozOE0xK2FuRGk3UG0zY3NaNzVVZXJNcStsdjI1Mm5QK3A4bFB6MThrVE8xZW9DdGQybnlMSkhtbUJmMHI1WXBvSVFBQkNFQUFBaENBQUFRZ0FJR05FYmlVMWxwVFdhODcrVmV2bTlabnE1ajBWSmx2T3g5ZWx1cVdLVlJWTGxxcmJTci9VeThjaVhxQS9ueW80b3JUVXVyUFF6WDVxY05ySi9EN09OVEdjWjExdUVuWmwwZTI2UmYwMnZhZnE2WDMwQjdzT205czFxVFZaTDVPbW9nVkFoQ0FBQVFnQUFFSVFBQUNFUGcwQXFJcnVpelp3VkMvb2pGN1prZjdwdTZJUGJ3dlExSjlLTktNbjJHZW55dUxWY21MVkRuTGhaK0ZwN2NCRi9uNjgrbTU2emxPaTB0SWF5WmFVak4xZUMzUnlPTS9YMzNlcWNKY1ZDc1JkcnFXWDM3cGdqZmR1ajNjVmQ0NGZiOTF4bVdWTkJFcEJDQUFBUWhBQUFJUWdBQUVJUEJ4QkU2Vk5sb2RZT3lwejd1ZEhZSlZteWtYeTcycWJ5Mm1XOUh5eWtQTm5LMDVQT0hNN1lOOU1aM1orbk5YV3B4TzF6WUprRTdoMU9HbFk5R25ra1YvcmJNVi9xRkNicVhlWm44MnAzbFZZbi8vR2Y3TEN6cklXVGxYc2NwS2lTQWgzRUFBQWhDQUFBUWdBQUVJUUFBQ0gwM2dhVysyOWR1aFZyVXp1MlNsVlMySXdUVGo2a2pvS043TDg3dFdidE5yK05vVzhnNVRXc01BOUM1YmYrNU1pMm1oYVJ0dU0wcjNaT3J3MnVMWjdZNVBpdWFtMUVCTDNiVmNEZTByMkhWSVpweE92Nm9kMlZWMUpyWk9oZ3o0dFpSN0ZMaDNXMjUrOXBhamV5KzVoQUFFSUFBQkNFQUFBaENBQUFRZ01CR0JuK2NDYUdlNWpiNVk3T3lTRThXVkg0eHBSTlhoVnFHMzV5TGpVcmtQMTIrYjR2M3E4ZHZaK25OdExuWVREV0ZhYlBGN3hEUE1TM3czZFhoeCtQVzlyTjZ1YitUS0xUNm81aDJjL2JsRjlaZEUxZ2VQQllIRU45V2hYZ04wWjNWYXBTSU9ydTNlRWlUK2dvVVRiWTU1RGdFSVFBQUNFSUFBQkNBQUFRaEFZQ3lCNS9MdG5Sa2RRNjNLZlNLcVBKOTdiQXh0L3ZaLy8wN255N0U0MU1lVlBaMmFPVFJ0NHp6VitsWEMxdXpzcUs5cVVybjI1M3Ezc3FNWGFYNXEwVTlQQWp3ekdsNU1IVjRZdW4vM1BLYXNmT2dXbTFmRXIzb1lXc3Z5ZVp0Y0NJM1hmc0RCOWJrMFpFdG8rYitpU2tVUVZQdk4xVVZ5ZUxYUTIyUGdEUVFnQUFFSVFBQUNFSUFBQkNBQUFTVlFWR2RabTdXMFlibDErbWhDdzMyZFhubElsWC9jOXpOUVcwdWVWb2hxOTg2OEdhWnRrdTNQMmZibnczTVBjU290T3pXTXBqUHh6R2g0TVhWNFllamUzUzB5UDd0OTd1VkJjdXJ1NTlhK0RWbFY0UmJidEJmRlVwZWxrWnZGMjBzQkp4NElRQUFDRUlBQUJDQUFBUWg4TFFIUm1zdnp0NXc2RzJ0TmJsUDA0QjJwT1R6dlI3Vnl5aS9VZ00ycm1VUGp0TmdiMFVtcndKM050THB6L3hNbTZkQkIxbDJtL2JrbkxidWRaQzRydnRMUjFPRzF4MTN2c3k3ZFdFR1VINjlxOStiZXFOdE1wMzFCdmY2KzNMaGRoS2ZJdlI0dUlVQUFBaENBQUFRZ0FBRUlRQUFDRUlnSTNKNnJvVTBialpkdjc1S2JvcU13WHJpMTRCUDZzejFQcWtTLzlicGkwNVZEUStnMDI1OXo3Yy8vT3RNaVdJcll6TnVOYXVydzJtT0xsK1FQNHJZbC9kbk5vZFRsMEo1bDNrQUFBaENBQUFRZ0FBRUlRQUFDRUhpTndQMVM3VFkxWTNDb2pVclE3aVNwdHEyd3I4VXR2azF2RzZRLy8xd3FzN1JidUZzbDN5V2xiZnR6VWhWdlQzMm0vVGxPU3lNangySHJuS2NPcnoyRHAraFlNN2Y0SUdUNS8reGQyV0xxSUJCMXExcHQrK2ovZitxZEJSTDJSYlBwUFQ2MENTRXdjeGlHT1VDUzdOM01udy9acTB0ZWtPZTBTWm9JK0NXRlFGMUFBQWdBQVNBQUJJQUFFQUFDUUFBSS9HOEk2T1BQMGR1dWRJdDF3TFlteElhNVdJTDlDRzJ2a0Y1Wm93NFd6SFc1UEpTUFhpN2ROd1BReUorTktZeDNBQUFnQUVsRVFWVEhldEwxMGt2RklrREhlMHBIVTVkWHFvdXZwYmJDWisvaGRmOEE5MnplV1MrWUoraUhHWlZaSzBQaFFBQUlBQUVnQUFTQUFCQUFBa0FBQ0FBQmcwRDY4V2RsMWMreXdBWndNL3o1eE9tVjJ6bEwrQjdvNU9QUC9Cb3YrNVIzcFV4enVacy9jdzBKamg1dWsyNnJuWEpOWFY2dFlwa21hWDJtZVRQOFdWRHFmVjEzRFFwY0J3SkFBQWdBQVNBQUJJQUFFQUFDUUFBSVZCQklQLzVzWG03Y3VMRzNVa1hxTWxPZ3hQcHpBMzlXd3UrLzNscTJnMGZ2RUJmVlVwVm4wM3I1YzJiNzgvaHQ3V3hONlF0VGw1ZXVaVXpWYVpMV1hRWkN0c2ViMXp0aTQ4Rjd0OWZESHpVREFTQUFCSUFBRUFBQ1FBQUlBSUgvRllIMDQ4LzYrdTIranpCMUlmZzhmNVl0enNGanVPbkhuM205TlBneWMwWEdYdjRzc3NSYm1yLzZIbjhlaFpxNnZMSGs5RkdHcjZjenk2ZXVZMlV6bWVkTWx0MEcwWFRKbkRXaWJDQUFCSUFBRUFBQ1FBQUlBQUVnQUFTQXdDN3orTE8rUHF5Mmsvb0YvREw4dWVINVo3NHozTDZkZkd4WUZxWDd2c0RWeTU5Rmx2Z1I2OXV6RzkrbkxxL1dRRjJQUHd0L0RpWXVhaFhNYzkyOFBndzd1T2VCRjZVQ0FTQUFCSUFBRUFBQ1FBQUlBQUVna0VZZ3RSdWFjZ3FSNjF5OFRWZVFTZVVLRXZ1M2hRZ1gzeCtXRkRqNStMTXNTdnY3dkRQQ0RNbWQvRGtwQ3hYVytkVDFVUDNVNVEwRjV3NjZIbi9lRG4rMjd6MTdkcGsvQndmU2dRQVFBQUpBQUFnQUFTQUFCSUFBRUFBQ0JRVFNqei9MbTdjZXo2NmlGcW9iTGozTm4yV0ZPdGhGTEN2TjBYNWU1dUpCeHFINnpFRW5mMDdKUWlXUDM5Yk9WSk5MbnJxOFhEMDJ2ZS94WjVsVWFYM1htSzFpcnY4NjFmQTQySSthelZVUHlnVUNRQUFJQUFFZ0FBU0FBQkFBQWtBQUNGZ0VaQVV5ZWtqWVBQNDhJem5KOEdlaDg4VnErY2J3amRmcGRWdGVsSTYrYTIzMVR2L3Y1TThwV2FqZzY3TVREMU9YbDFaeVRGWGNtbDhTeCtKRnBqS1d0dXpSbno0RWZXeVdmbG54VUJzUUFBSkFBQWdBQVNBQUJJQUFFQUFDSDRlQXJrQkdEd2tMcTM3TSthd3JjN0hFL20waDdpVktwQ3Zqd1ozSngzaGxVYnJ6TTh4OS9Ea3BDNW5Jczl1M3B5NnZhcTJLVzNHN3ZGT0cyRXJqaE1UZnVmOVhuRFp4NURDSGV6WFNaK2NxNGdLUkFnU0FBQkFBQWtBQUNBQUJJQUFFZ0FBUUtDR1FYcmxWVnAzaXQ2V3l1cTVsK0xQSUU3QmpyOXd2dmpIOHFITnlFVjBlZis3a1pIMzhPU25MYnZmejdDTHQxT1Y1d0tWT0JMZm1XUktaa0dqNjF0VmUxNGFscVRyK1JOTTRLWm5ITkV1Z08yOGJDOEFSRUFBQ1FBQUlBQUVnQUFTQUFCQUFBa0NnQTRIa3l1MU9pVnd6c1JycSs3MmVpSklkRDlldjFHdTd6dDkwbFM3KzhvSW4wNm9FVDVZbDJOS2ljZW9MVCtsRjlDY2VmOTcxOFdlUkpVYnA4Q2d0b0E5Z3hRZFRseGZYNEtjb2JzSHJ3Myt5Szh6eVRmQlMyd3lsbTYrSGQxQm55ZHE3Tjl3UzZDYVpCdUZ3QUFTQUFCQUFBa0FBQ0FBQklBQUVnQUFRZUFxQjVNcnRUbExOeHRpL3gvRjRPSjFPaHdNdEtnNWJmVzlFaERueE9IN2lhaS8wajNMTDRtUDBiYUV2VGo3Y3JpZjZSeXVHVEpnUy9Ga29YV21OVTBRTEtKNi9pSDZPRno5ampwc0JxNDgvc3lyeFd2UDU4ZXc3dHFZdUw2UGtrS3k0K2ExQURUQmNEdzRrZTl2VXdEVnVBOGFxL0l0TUpxZy9QclhyM0w0S2NUNmtBQUVnQUFTQUFCQUFBa0FBQ0FBQklBQUVYa1lndlhLcnorRWEwcWtuaHZrNC9ObHlJU3VEUExuOHJldk85eCtpdWQ2cTRDOFRxbSs5L2ZkQXIwM20yMU8waDlPREZWRmJnL3dYWWhiczJQVVgwWFh4bk1zWmZqUHhaNUVsRXZhVzFNdFRJbk15ZFhtWmFvYmsxT1BQWDNuMkw4QjJib2dmNnBybndCcG5HNnVmUndhVUNnU0FBQkFBQWtBQUNBQUJJQUFFZ01EL2dZQy9jbXQxVmw1bHQyRHY3MmY1cnRMamRoN0owMTFaNnZWc0dUVm51ZGtUK29JVC9ZYXozWTdKOVdrOC8zNElWVXp4WjE1ZkxxM2Zjc0UrTmQvcGNybXorWGZQUHhId1R3NnRYdlgvZmV2UElrdkE1WGZuNTErN05uVjVDWDMzWjRkcXlscCtNTGR3aUQ0RE5wUWlaakdjYmVOQURmaHhIRzFyRzNKQkNpQUFCSUFBRUFBQ1FBQUlBQUVnQUFRK0RnSGRjaDJvSld2REQyOFR0VEF0UzZnMU8xRmk1OXRCdlBYWVliQ1NmNlRIekx5Y3F6dnpnUFdZWVpTQWVYanBvODNDTWYwYjA0dm9yRnFwb0xGSzU2aVBQOHNrZ0xmTVRrV2RRbll2eFo4dnQ2dkRYSjBxbmNPTzhweTczTU5hTlR5UGNiVHRxSXUzWHJzUSs4OVRVVzZhZ0cyN2RhOXpyQmJzVzljNmtxQldJQUFFZ0FBUUFBSkFBQWdBQVNBQUJENGJBV0ZzajNGWldiU1Z4M0Q5TldCWjV2TlhXaWxwcExGTWtGM2lSYWZPS3JHd05oOUlvVDNqL2VORldUWXVyQ2FLeEQ0VDFhVnd5d3B0VVp3eGVFN2FYc3IvNytQUEFsVEFuMytURkpNUm9QM3IrWXJsU250NW1ZSnExZWgxMjdTNnpjRGZmMzdLTHovdkdGRS9kMGFNSlpOMThzUXh0aVVyLytpNmFLdUM5d3M3MkVjckQrV0FBQkFBQWtBQUNMdzNBdDRZZmo1akZIL3Y1b1QwRzBKQVY1cURCVlBoeXNlQVUvT0NzcithZTNIVy9LSTNNOHVHYjF1RXJITUdORlB1U1BGbnlWem81TUl4dlJ2TlM2UUNXRVUxbi9FSE9WS25mZnhaSmdGOFVudy9QaExDMi9kUmUzTEg5VGVYRjk4cUtiVnFUSFBiRjRUcDVJbUgwVStTL1d0MXdsUXJHbVFFbXpOWlBsTkcxbW10YmM2Ni9xdXk3YlBsaEszOHVpZWovaXUwb094bklMQy9oRVBmWitnRkxZQUFFUGdvQk83SGh0VU1HL1BaVWR6ZmJ2aFJlRUFaSUxBc0FvWjcyQVZKcVZ6b2FCUkR5QnF2UjU1Y29pamJ0VjNSOTdmSFljak5sTmZuM3J1ZEJPZEREdmRXN3VnQjJYWXZ5eEtxeC9tRXF6dGtYbk9MYWdrcTY1WVZIL2Z4WjVscDhHbkZLYmxDYXpZWkZ4L3NKbUdheTRzRmw1UmFOYWE1elI3c0wzMEkzZlhCcEw2L3RPOVdKRTIyUVpZcXhoYzhIK0RLamVQbkVBQi9mZzQzM1BYR0NOQW44VGIzaU1vYnd3blJnUUFRbUF1Qm8vdE9vVXdsNE04WllKQU1CRjVGd0JJdWh4WHBOM1ZqNHNtMDF1WFpQdzVqRmQ3bjhqQlBMbGtWRGEvbStUUFRZWitUZXFYSmplNGttdTVKanJZZHMyb2hhZmNLU3A3MDhXZjVDSmY3bXJUZDFjTm9xTUpRdk9vaUtZUGNVdDVRc0g5UXEwWTNiQnVvU05VZkJzbkJrdHJlWDAzM2ltZjIzWStvVjhRc0oySjlKRnRzczdOVTk5OFVDdjc4M3pRMUZEVUkwUFloOXpFazRBSUVnQUFRMkNnQ05FSWZDbzg2aXRUZ3p4dHRQSWoxL2dqSUR0N1R0MFA2aEQ0UGI1aHlOQlNhNmxDVWc3TlNLVFE4dTJZc1Y4T2w1angvNW9wS05FMldtMGV2b1E4L3greUpWWE9vb2FOSjZiQ1RQMHZsem1JNHZWZDhsTXlwUjVmSVNTSW5yM041T0d3dGI3akJQNmhWbzFnWlZHNDBTeUhPZFpDWTJyNHdjVUZ6QThXSkRWK1VKYy9NdElFN3U3Tms5WjlhRjNmUlQ5VU5lZ0dCQkFLODk4b1o0eEk1a0FRRWdBQVEyQVlDdERSVkpkQ3VwTFNBMGg4VHV3WGdHQWdBQVl1QXprMTkwL2VmN1BMd21ibkkrQmtxbTVIK3k5T3ZJNzN5dnRKRTl4U1dWb1draDFGSm5qL0xjcld6SU83SUlJZTBSRER5dVAzMWNWVDZGR1FUMVNwc05iaUZUenY1ODA0WXE5V05oRG1rQlRjYnArdXYzMm9zTHlFNUo5V3FZZTBPQmhTU2xlNWdSbTBiOVh3c08xZkdQVHRKa3BGb2tXU3JkbjdyK1NKaWZGb2w0TStmMXFMUXA0d0FUeDZIRTczbE8zQVZDQUFCSUxBV0FoUy85U3diZ0QrdjFWQ285d01SVU9KeDNoRWxQVEVKL0NzdEpNdTFnUjdlSENxbE5IeFl4Z3lBU2wvTjgyZlpGRjJLWXY2RVFMTWs5KzhqTVZiaDUrRzBtcWhtaVcwZ1VlRzBsei9Mb3V6amkzVy9meFVlUjlHVjRlUEFWYk1pQ01yMThqTDMxNnBoZHl2US90SmpmdEpndk5wL3BhUDlMOTFiMkx4dG5salBOWEpHbm9XU1NRZis5WXdrQzBuMnp0V0FQNzl6NjBIMmJnU1lQaGRkWUhlSnVBRUlBQUVnTUI4Q2ZZeTRML2Q4VXFOa0lQQUJDQWhaNHoyYWR5WmVzbzU3Rk82VzBrMFlyMTJuL25PM1dNdVY3RmJQOUZWSlRiTmtsc3F1aWFZRTJkRTZMLzEwM2ZsTDl5QkhHNlBKVXp5eis3U2JQKzkrRkxZRHNmaGpZWFgyNjBRcnYvc0dpdGRZWGhJWVdrK3VWUFBMa3cyQ0hKTm0vdjF3Q2t2L09KWFhiM21wZXFNTVZhY05DbHNnVkZYODdVS0F1MmpYRGNnTUJONFpBWElqRzNWdzc0d3FaQWNDUUdBMkJDajhMQWJMWHNYZ3p4NGNPQUVDcnlEQXJNbUVETDgzZW5QSzRacG10RnFIZkRuS3NLNnJPMUd2TDNES0NaSytXdURQdklHNzlBQTBWWFQvSm5FZmg5c1BpYU9MNk9GU003UGFjRTA2SjZHVDNzK2ZkN3Z6NVViODgzQXJZV2VxYUlyUE9zcHpKSGNQUzlYOFhrOGs3TVhCNjRlYi91YW11R1VOeDB4U0N4TUVRNzRWRHV3YnhMQjROQ1g0NE05VG9ybHdXZHZjS0xJd0NIM1Y4VmFjWVg5VjM2M0lEUVNBd0grR3dEWmNMSS9TemM4cGdqLy9aellLZFdkRVFIZFdOM2MrZVRCWmM5UEQwSTczRUM2Y1hhcEtYNVhVRE9Oa1dsOWVDM1ZCa2NYSGtHL0wwOXJObW8zRlBjT2Z4N3RyUi90bktIMnQwUGo2TE5VSW9rNmp4OVd1bUVJR3c3L1FDbGFVNkFPcTVpNzZBV3IwcVBCN2FQYzdQZVdtODM2M2ZMOHpmV3NsZFU5em5iZTV1ZUM5dE4rbUl1QUdML1B3OXNTSXNVRk5Xa1JhMXRKMzg1bDZpN0xOZVQ3TXBKdjFYaTdqeDlqZEVpNjJ5Ung1MnM5WkRTazJKZmh6RVI1Y0JBSWRDS1JYYnZNRjhKcXVVcFR2NFlWam5GdDVlSTViNmRXdzFCSi9sbWR5d3h1eTV5UlUvTmlhckVpMmVoV242SG41ODU4SG0xUHR0SWV6Vk1QYnQrM3UvV25GbmFBMDJScEJBajdSNGhQVS9xRkYvSC84K2ZLSXZucy9aOXVTd2M1VXZNd3B6djRkNDhNeTA0RXpZUlFVeTYvZS9uOTJieTlzNmZ4T2t3RHZiWjUrbEVsdkVPTFBzYnRGWEd5VE9WSlkzdXJxd1o4MzJDY2cwcHNpTUR6KzNDaS84RzFaTXc0MnV0SG9XT0F1Y2pWY0RDbnhaMW5xYkpScHAzdDNRK0pFanVLcEVYdGUvdnk3ekFMSExOWHc1RW1JY21zYnpaNVBtcHNFL0gvV2oyYUhWRjhZdDBBMTI2bUMvT0dTRnM1dUxqZnArQm9vNGx6blY0YmV0M1dhUjRIWDFIL3FicDZDQ3dlcHB3cDZoNXNXdG5UNWVNZGJXTXBIbWZUMkxQRno3RzRaRjl0a2ppeEs0NU5yNE0vYjZ4T1E2RjBSa01lZmV4NFM1aHYwcTBmK1hVTEVzOXhGcm9iN0lrdjhXVjVxbmQ3YnZmOExJMXlaQi9URm9mYndIMysrTlQrM095OS92blJzUzMvQnFPYW9ob0haN3ZLTWZRQzYvVTBhTDhEN3Y5ektYZlIvMFpYMUpFOFNlcWxaMVovUDEvQUdIdnJOcmcxOStxRHI4Nk96d3ZsYTRUdzN2Tm50TmErcEZ0Kzl0S1YzZnhZeUZubXBsQTh5NmFVZ2E2L25nK3h1SVJmYlpJNGNZTGY1ZXZEbmRtTkZUaUJRUklEanQ3NGxPM0VhMUZPUFFYY1YraEp4Mkx1aHdISTFaTmRGL3B3bGE3ek82Qzk1U0RueHNwR24yWGZyOUp4dVJaOXZGZUs0REIrWm94cEd2czFIRjIxdXBvdHF5dmJwZ3BrcUtSZDcvN3J4UnFwcjgxUk51YmdOWEUzejUvdmYrZmZyKzNJOUhZNmZOVnRCQzVETHR0MTgvSmxuRCtrM3Z3MlJpWHdHZ2ViZDIrRm1BRmo2WkFZMG42bFBKcUl0YUgyVGh0M1p0bmo1LzN4MnQ1U0xiVEZIMXJMdDFTK2Z5NStkVHZQZlRJTyszRDFRd0NzSTZPUFBQYVJJTmxiZmFNdDArTHlGZUpOd2c5YkJCaVI4TlZ5NzVPRDhrVjVqSnAyWXJZVUx6WlFzSzluK01vRWtSZFJkU3JjRmtOVE5sSGcraDB2aS8wVW92Tko4Mlh2bnFJWmJQa0k1SzhIeUY5aWErQmZhNEZLU25HVWJ4RkcrWWhaT0ZTMGx3OVQxY0NlS3lwU1hDQXJVUGQvTmlJclpYZ0k1a3NaTmNGUEpQcHV2NFlMcHQ0UTZORGNhZXZhcDRGbTBIQjV3Z3JnTGxqNWRDOHhtNnRPSk9KUzB0a25EN29hbWVQbGdOcnRienNXMm1DTjdyNmFvNDJQNXM2elI4YUJIdjhDUHYyeEVLQUFJcEJCUU5wcTZrazJUVys2bmlQaUsrUVoyK3pORVZuTFZzbGxUTnIrT0tyL2VrNlpycHBPNEFac1E1V1BFbW1ScXdHcHg2WWdrWjNPNExNd2xyN0NWZFlyL2MxVERPdytDRnB4QzFNbktNTlBCYThuSUE5aUR2NXoreDRJc1FWd21ReTVmMEgvRm44bkFsNTRmbXMzWGlHOWRhQzZKY1B1QWJRZ3lqQVNqeUtmeW1CVXMvWTMyYjVNN1hObWtZWGY1SWFuM3lpZTQyQVp6RkRZZnVLOGtWT0RQU1ZpUUNBVDZFWkRIbjEweVdpOUNPdW9wc1ZsRWlMVy9sSDBjV1RaZjlhTlRLYWhBSjhscHhGeElDYjlYa3J4NE9WN0daajVqZDdTY285WHlncDZ6T1Z5cWsvWUlGbXFlN05JYzFmQjh4cWJEWlBzQ2J0OEVKOE8wWEJDOTVjUHNZMldjNk5lODNhRmM3c3BYay96NS9uMjVXTEFYc1lqZjArTXcvNFFFQjYwdEFjaVVUVEticjlIMldhUjE1RTBUVFVzZlV5STNlVm04ZXlTWS90M0IwcWVEZVRaVG4wNUVweVJ5NXl1YU5Pek9hWW9YRDJlenV5VmRiSU01Y21UY01raCtMSDkyTzAzb3lGKzBvUmx2WHlhMm1WR0IvN2xvOWkxdHZjNUJTYmFwcGtZWGRpamV4MSt1THMvbHEyNy92alBqOEpPY1N2aVFNa1FCb0RxdGtaYnZkckxTa3Vndm5HNW1Ca2pORGxJMW04TWxsWHJXd1FNMGVrN25xSWFuTTVhbUZ6MDY4N3VmNUJkUHBYUVY4MVJtb2MrNkI4S3MvSzBZZlQybFFmcW1KSCtXckh1ZHlZbzZhTHFjbDFKbFpiOW5CdXlwMnZqeDEyVWZmaVl4NS9JMVpoSm5vZTBpck1WQ1ZUM1Z0QzAzeWZKemN0SUxsdDZDWHpYUFhLWmVyZmlwREJzd2FkamRVeTBYM2pTWDNTM3FZaHZNTWJWL0pzU0N6eitXUDR1eWU0MENFM3dnaGNYNmFjdkVOdXZyK1prUzZPUFBuWVJETnhjbHFKVFk3bkZncW5UcXZsaUdQemJ2RU9pLzQwTzRzRWU0ZlpTNW9xRTBjMGxKdDlNOXhHMmtvbmkrb005b1UxVTlnZkZjRHBjMHVEL2lmZWErenBPY3pWRU5vOUtENGlTS2RCVml0aWFzSXFXNFFiVlY5WWlPcFhjcHNiSE0zSWt5SW1uOGtPcDVtUnVlVGJhYkdkM0p0MmZMS3R4SDNxaHZJMDZock9aTGMva2FmY3pGMysvVExGUi9ScG96Q2wrSDBWL0l1bmR3M0pYQkM1WStSZFBNWmVwVHlKWW9Zd01tRGJ0THRFdDMwbHgydDZ5TGJUQkhEcWVkd0RnSDFHZnpaNW1SYnNJaGg4K2k2UXZGTm92cTlCOVZwcFFqUVlXTEdEQ0hUWGRVWHFOODNJU1AzK25ZcGM5VUlqT0xrNUwxUDZyNVM2Z3Y1VHJsSW1PNndlN0F0Z0t4eEFkbmJZOWU3cDlZcFpiY2R2ODN1UjduQmx0US92OWNEcGRxUEMxRDd1YW9aaFY2a1cra3hKVVYrYk5Zc29tK2RVNXFtWVpPb0RCdFVvRS8weHY0czExdlVpSE1oTVRNREkyYkxibjhPS2t1WVdGeitScnRDK0hrWTFqN2RPZGtDemtuUGwwbGM1WWtQVGcza1F4TG53RDZ1VXg5QXRHU1JXekFwR0YzeVpicFM1ekw3aFoyc1hWenBEaTNaWWZnaC9QbkhhT1FvU2Q5aHJORTdtVmlteVUwK1Ivck1MTWZ2Znk1RUdyZTFhc2N4Zk5IclBYT2svekgwL1ZFbDI5LzlDNXE4OHZNKzhzTzdvQ28vL3FNK3N3VjVTSTNsdVY2T3o3R0pmR21ScDdMNGZJRVFsYlRKc2thTTgxUkRiWDVJa3ZualNxbXNxbnByYkpLTHB1R2JQUXRXeVNHNWJqNFJYc3AyYmVhVnVMUG91Y0M2OCs2STR2NmNncWtxZURsdFo3QTFhU3FtenB0TGw5RDJpeTZKTXhEd2x2djRCYm5rV3RkV0hvT21ZNzB1VXk5UTRTdXJCc3dhZGhkVjR1bE04OWxkd3U3MkxvNXluYUZYQ3c4WXZNQi9MazQ2RXU3ckRDVWp3aDNIQlZqbTQ1eWtIVmhCUFpmOVBsV01UVWlScmZMNWR0Ry95MXlYSThSTlI1dTIvOHdQU2FTbkN6dy9uT2o3L3NjYnQrODFQUDNPQjVPdDJ1aGJ2WjlRVmgyZXR4R3ZzOUx6QVYyL0hjOVVGMUpRUVo1NDRPNUhPN3VaeGtLT2tjMTdKdVhXODJLMjZRbFpUMytyQnZ0ckl6NzYvRndIV3owNEQ2cmI3Tzh6ZjhTZnhiM3NRQi90bk8weWQzVlU4SEx4ak8wMlhMTk01T3YwWW5SSlIrM29GQS8yVDdMUWZsU1RkS0RzMEVYTFAwbGNQWG1tVXg5QXNreVJheHYwckM3VE5QMEpNOWtkNHU3MkxvNXl1cFVGWm9QNE0vRlFWK1c3ckt1dkFyUHNobUtzYzJ5b3FDMkhnUnN3MUhZYUg0OWR5K1dseDR5Q1RhQjg1dWF2bVNqNVovc0ZyOU1IdlhPNUhCMzVIR0R1WUJaWUp5bEduTE4rU21UV2RUb0wzUTkvaXlQUW1Yb2cvTUsrbjZWVnI5akMveVoreVAva25Sd0luaFp6elhHM0psOGpYajM4TkdYV1kySnUwRHZSR1VrME05bCtSMzBLb1RzZmN4NjU2VjR6Q2RiK215dnlvdXNhS3FFU1V6NkpXRmdkeS9CcHpkL2lvdXRtNk9FSVZVbi9BSDh1VGpvdnhWL0xucjhDWXdmUmN5RUFPL0hQUjRPcDlQcGNKRGQxZ3NzSkQyakNnVTJBVEhaYzNCNHBGVnMvamM5ZTU3dm5iaS9wMFdpd3ptcUljalhZQmQ5QnJNZWY1Ym9POU9CSnFBVmZUQk1tbnNML0puMmJmQXZqZTlFOFBMVS9lUVRjUTB0TVZOd0o4NXgyUWt2bXRaOGxiQ1RzUzN5ZkV1aVhVajZndmhMOFpoUHR2VDM0OC84L1k5WFRUcGhhaDFKc0xzT3NISlpQOGJGVnMxUk50RlVQZWdIOE9maW9QOVcvTG5vOFhNV2pYUWcwSXdBTFRLSGtmUDlpeDVxNWszZzgrd29uc25oTm11OHZZekVENnR1ZVgycDErUFBQS09UbVdBZ1k2ck9DSzhQWFZhQ1RmRG4zZC9sbG40Y2hJUHlLZUJkYS9sNUpsTEI2aXc5SDhCelNDOHlkbG8vR1Y0YmtMWElXUzRJWU9Fd005YTBHSS81WUV1ZnlkVEhScHIrYUFLVGZrMG8yTjFyK01uZDg0UnpLN2pZdWptS3ZkUVdhZDZmUDVjSC9mZml6d1dQUDRIdG93Z2dRQVM2L2xLRUtXR2F4K0ZPS2VIQ1pWRmNtNDh0RjVhbFVOMTYvRm5lQXBFMlVsbzduWUxnRmRTZTlSS0hDYmtLbG92dWNoTHNlUHAyQ25pNUFiTzdkL08xdjM1bEhsK2pEN2E4TGwxUENiejQ4ZUpxSGUrSjZxbHl1cnd5QVpaOFBrRHFnS1ZQQVBVOHBqNkJZTmtpSmpEcGJObE5GMkIzVFRDVk04MWpkeXU0MkxvNU1zT3VUbUsrUDM4dUQvcHZ4cC9MeG91clFPQlZCTWdyNUVPYlZ3dFAzTTkrYW8yOW5BbFJOcEZFSEdyN203Y0pxWlg1YzNyeGpZU2FndUN0WlFoYjU4L1R3TXM5ZnAyVnozbUN1NloxaUtsTmlydmZhNmErSG4rV21DdnY4N2ZBWTk3ZDB0OXcvVmxHbE5kTStyVk9CcnQ3RFQrNSszTmNiTlhEc3FyaDQ0NFJndS9Qbjh1dUVQdzVhbklrL05jSTBQcm5vb3RENUlUK2E3eDk1WWxjcEttaG4yMzlNeDVlK0xmb1pJdW9MZXZQYVpESW02OFpnYjNhS2x2bno5UEF5L1AyNmUwRHIrSlh1MytXNEk2bkE1YmZNY0l2cEExZVZWSFRQcmkrR24rV3VMTXdnYklGSHZQdWx2Nk8vUGwxa3c0c3ZQTVVkdGNKV0NyNzU3all1am15NDYrdC9idy9meTY3UXJyNkpncytLV3RGR2hDWUhJSDdzdTlsL2MwOGJEbTVYbTlSNFA1YWU2Sm1JMnBza1QvemtBZitQSnVCVEFRdnZ6MXFIU09mSmJnakhycndqS00wTU5mNkVvcXI4V2ZaOTFqWVk3TUJIdlAybHY2Ty9IbjNza20vNXZsZ2Q2L2hKM2Qva0l1dG1xTk01RmZpamJmbnp4VlhDUDQ4UWFkQkVVQUFDUHhmQ0d5UlAvT0FWaG5QTnQxSUcxOS9uZ1plVnZLMWxkT24yM0NXNEk1UldVRWZydmFsVmZ6VitETkxYdXFtRytBeGIyL3BiOG1mWHpicHB4MkQzQWk3ZXcwL3VmdURYR3pWSE9XcDdNcTdhdDZlUDFkY0lmanpCSjBHUlFBQklQQi9JYkJCL3N6TXJCU1liNzZCdHMyZko0S1hJb3JYaU4venpUaExjTGVTMGZHeWQyRVRkQjJrMWZnekExWmFPbCtmeDd5L3BiOGxmMzdacE90R1g4b0J1eXVoMDNqdGcxeHMxUnpsQzlDVmR6QytPMyt1dVVMdzU4YU9nV3hBQUFnQUFZdkFCdmt6Ynd3R2Y3WU5OUG4vaWVEbFJwcm5VM2hWamVjSTdqaUllb25IVnFWT1oyQmRYbnBSeFZyOG1UY0VGbDk1c1Q2UGVYOUxmMHYrL0xKSnAzdEtheXJzcmhXcFFyNFBjckZWYzVRM1g1Um1BZ21uZCtmUE5WY0kvbHpvRExnRUJJQUFFRWdoc0QzK3JCSmgvM2FxdFNaSW13aGVvVThUaVBOTUVYTUVkd3pMOHUvUUkrMDVza20vUmE4Tm1yWDRzenorWEpweFdKM0hmSUNsdnlWL2Z0bWsyd3cvbHd0MmwwT21JLzJUWEd6Vnd3cDVMQWNjYjg2ZnE2NFEvTG1qY3lBckVBQUNRSUFSVU0rNkJuZmdKM0lTek1FSVZCN090dDEyYSt6ZlBuK2ZEcWVHTndaT0JTOC9OTGJDNDhMUzhITUVkeFJBVkxid3pXUnozQ0MzRjhwZWl6K0xJWldlR3B5THgveFBsdjZlL1BsVmszNmhOOUN0c0x2WDhKTzdQOG5GVnMxUkxLYndKa1JDNUwzNXMvanE0cDQrOE9jSk9nMktBQUpBNFA5Q3dMalc1clczOC9mdFFNNld1SnBzM2owZmsrUE8vdWQ2T2p5T3A5dDMvaHRxU2Y3OEt4dU5pRklrK2ZQOTcveno5WDI1blE1SGUvMzNRdUljRDZkdmZ5L3grWExpNUZMOXU1M3FRcm0rWG5vRGNtUXdUL1BuRnRpNHR2dVBOc0wxeDN4Kzk4ZkFkbFM0OTMvbjM1L3Z5NVZ5K1F5bkRHK2tTQ0dCWTQ3U2U2OStib1QvMVcrVVFuRmRsenFEdTkrMEtGK0g0NmdBTjlsNDFpV05sL2xPM2VOeHVEa3IyZmR2YXB0RC91TUUvSGplSzEvK200dy83Nyt1MHBVR28vSVVpMDRrNGlvdG5CZDVEQ3c5QWpTWk1JT3BKK3NwSkM1djBnVmhHaTdCN2hwQXFtV1p3ZTRtY3JFem1DT1I0OXBrOEpiNWM4Mlh0Z3o2SG45dUNwNTJYQzJOOFhHTXQ3OVQ5UEZGMGNmcGFQWW4vVkdRZHJ4OW0yQ2xabnZsNjluWVJtNXJDayt6a3BkcnhsVWdBQVNBZ0lkQUYzL2VmN09mUFYyWm1kRjYzYytPbmhwTnJKMzlTQWp6VUU1M2pOeW1Qam5KWTViNyt5TldlREUwMEUyblk4dkI1VVVmNXByeTV5K1c1eWpPLzNHd2xIcTNFenBwa2dlbTdhbE5KNklMY1d3cDhPQXdIcFB4UWdVZkRpZitIY2o5ajJKOERSY2tQZWFJVC9MbkNteUQvSDh5ODJCd3VOS2d0Q2U4YVRwalQ2cm9rckFDSWpsRy9seUZkNmlnNVlBTEh3RVA3L2dqaVFUWnNmb2hDN1Zad21hR3l3MEhYY0VkaXlLbUdJZ2lJQTVwdkp6Kyt2Q3VMU1BvVzJiSkJhc2wycFJBUVRhV3djS0RheTJuRS9Iblh6VXFuaHVqejJEWDU1UDBvY0hZOWtlUnhRa01BSS9wZEFSTDkrQW9uTXhnNm9YYUVwZldNT21FR0IxSnNMdlhQV3pmdm9jRlhld3M1aWlQb3BUbk1MZkxuOHUrdEhYUUY3ZXZTeUUvZkJ6SFZFRVBQTXQ0Y2RUeDR1Q05iVGFrcEdLRVArODVLeGRvUXJIdklYNGFBNnZmSVkxanF1UERqQnRPcUVXSk10cUlwRlFnL2NMQnBTMDhMVWdlNkloVElBQUVnRUFKQWV2c1l2NFkzOFg4OVdMSjdKNUdhZWFlMFNiZXM2VEt5dWorTE1WNzNwV1dmZG4zUmIrL25hekVSZW1VWUtzTStmUDk5RGpxQXJkT3NScC95djVheFR4TExKVmthNy9raDY4L3doUHU4Z0dMaUdmTHJMUXJqaFZEaDl2aFNzd2hudUxQVmRoc2V3aWsxNy85YnYrbjZKNlBqd3R6UDhGUFNHQnlqS25DYXl0bytTOXRhQUdKYnFDcnZKV2NhNHkySndqWWdVVkVCWlFUZWtoRlRoVFRpSllva3MxR2twYUZTRndsZlE5c1VuczJIYlc2RzgweWNaUHdvSjJwZ0EycHBmY2xLdVFrcXZUMWplZmNHeDVIMllheEYyU3FBbWtudHZDbFpNdnlHRmg2Q3E1MDJneW1ucTRvazdxS1NXZGthVXlHM2JGSGVjM0RkdkhuQlYzc1BPYW9jVVhKbDIxMi8zYk5seEpnNlY4d2RrdkV3QU5VSnFZSyt0NWQyUE0zUTdZWHZuMXd5ck1oSlZYTS9QbnYrRGo5N25keWgrU1NDTUNWaWxMZDBJNHZEZnpaelZmaHowM2hhVkh5UUV1Y0FnRWdBQVJLQ0ZoblZ3MllhY0dXeUxJM3lNaTlJWC9tUk1lYjdvTnprdVYra1orNDdLTWUwNmNEVzFBQUFDQUFTVVJCVk4vOTdxekg0bWdmdCtFQ1g5TGZuYllrUzNSRVZkRGE1OTN3UnJrbzZjSlF2R1FwTEp5bnBCdElsNkZZR2dNa1c4QnZmaS9YSzA4RjJOL042aTVqbGtrOW5oSnJkYy93NXdDbUJHd0dBeGJKYk5PbXNVbkYwSVZnR1pkRVNON2piZ1FjZGEvQ3F4VzAvWlc2Y2xsSktwV0laWEFHVnNrL2pOUzV1K3ZwSGFRaUs0cXhJeE5tOG1xcWJkNTYvWmtjeEpwdEwySU95c2hmN2ZTU3JCS0VVR2c1M0tCaksyWEt6aWRQd0o4bHBoam5qeWlFcWt1azh3KzJaNmJFRTRRVGlzSFNVMmhsMHFZMzlVeEY2ZVIxVERvdFMyc3E3STY2YjI2eXJoWEU2ZTF1Q2hjN2t6bnFLQnJQZ3p0Z1VjM0phWGdueXhxSFZWL2FPdWpiVWRrTG5xUW5CVkdSYUNtc25IZSs2WS9Bc1NNK0oveFNtQ2JsQ1gvZUgyVXVSd0lHSFEzUFl4Ukg5eDJ1UE5YK3g3dTl1UmorSFc4WE01Q2U2ZEVyK3p0b3BKV01iYmhhcXFFZW5wWWw1Mkx3QXdKQUFBZzBJc0FlbUg4MjhzL2ZScTRuZk4wdTMrenpaOTVLSExBQmNWbUp3VWtZWG1KUWt2ejV2Y0VTM2JPN0pzZnNiQ0FlOXBOU3NxUExrT3pyUlhVNDk5STFnY0ZYUmU0UUhzdjRuSWJSd3VZbU9ETFBUZk40N05jM25xV2p1MmJZU0RzYVgwYXFKOHVBUm02dWRsVEJTQjRSbUFxOG82VEZJMjY4MEJyc0RXUERNRFVNV3BnRHN4WnJzNFdsL25jRWQ0TXhoS0pJTzR4aDV0Y2hBaXBWY3ltTnRxV043Y0xOOUV0RHVta1BpVEF5RDFpejZiMndna3p0K2NMZHJKQll4TTJ4YnpFeUwyNDZSZWlvUmlVOFlPbXZXM3JQT21DcnFaZmFMTGkya2trSFVuU2V3dTYyYVhldnU5aTV6RkdEaE9LSy9TYjVjM1BVb0M0K0NIbThiaVUwOWNKTEVrNWNwTGpFczc0eWQrcStMU1FnMEZ3eWJZcWpINFVJTnkyUngxLzZEWldhdU5OWmFSRUd6SG44aHRCNHhYK2tLQlhiVUw0d0lJbkQweGJKQnhGeEFBU0FBQkFvSW1EOG1NczUwL25abVVZc21Meml5Tmpvdmp1N3lURFdscjA1RHFjMTVUL0puODJhNnkrOVo5VVRSeFFoRDNweVJ3QkRqRU9DUVFUc0ZIQmY4ZThlWnpCaTZrS2JqNCtRUUhyOE8vUHI1cy90c0ltWWJzV2l0a0g4NzlzZGVuVDBDeHVqUHBSbWxQS1RlWFFNbVBHUTRUb3NmbENta056cGNCaVB5Y1BkRFFmdC9Qa3lHR01vaWhtV2N6bzBTQkZrK1hIcE0rLzNvMTBZZGxIYjdFNkwya0tLa09BaktLempsQlFKemJ2amJzb3FLd08rYUNLdkUwajkrYjJjeTdmZExWOVhrc2ZBMHZPQXBhNnNhdXBybVhRS2lQWTAyQjM3dXRjOGJNZTh6WEl1ZGo1elpNQ0dRU3RwYVZ2a3orMit0RDdvRy81OFNNZFVQaVF5WVBrRGh2UzVjZmFZODh1d2NxQ2FsV2hMQmU0N1JpU1M4Y01xK2ZCZHhJSmxNSElER3lvOGptMmF3dE0yeVgxdGNRWUVnQUFReUNEUXpKL1pIMFpsVVBEdThXZDJpdUVzb0hHbEh0bmxncDdsenpzZTdCNi92OEU4cFhrZzAvcHJLNnBTbHlDYUVEL3E4Mnk5M2VFTXRnQ2hRc0hveWxIdHdWbXdHL0xxUVRkL2JvWk55THhIbDdpdXhNUUdDeUpEbGovT1Vhb1N4NVNpS256Ylg2NDBOZHRBZDVORUJocVpackFucGx5MXQ3Wktjcm1hU1VWSkZMV0J5Zmd6eWVSYXVEYVVoVWhNUGZlQ2I4bnF4eDQ1eFZQcHIvTG5SRXloSDZWMkd1NDdYanFYaU1ucis2RndTUjREU3c5aEtwK3ZhZXFybVhRWmt0cFYyQjA3NXhwS2xldHIybDFHdEJuTlVVYks0bEJBWHJKNFBTUHpyTW5OdnJSaDBGZisvSldPcVh3dEpLSUtnanlKUXZ6UlFMUHRiVGlvNDc1em04WWg3aXEyZVFyYUMyKzRhcEl0Q2pXaTJLWWxQRzJVM0ZjWFowQUFDQUNCREFMTi9KbTh0ZThncFVBL1VRcExVQUgyOU1lUWI3N0duMy9zdHhHc1hqb2wrWjFKdHJuMHYzamZnZVpwV3A0UUtQdHhHU2RQRzRUcU9EWHdhT0tjZW9lcDZLNFpOdFhSSDB4RUYyZGNHbXRqMUlmMTF5RjVFdjdNNFZVdzFnNFYzQWF5cFhNU3d3VTVFSEZmREVXYWc3dWlLTktzMGZTQ0wyMzcyV25RV3U1UmxPMHoxY2JlWElJOWxpeWpldnJTbUNsL1JEVkZFVWMrZDNSRmJDL3EyTUxweHpuL1lGbUNDeEdWaXVqQjBxbVB2R2pwN2V1QU01ajZhaVlkR1dsWEF1enV6ZTB1MDlvem1xT01sTWt4MU1xeVFmN2NIRFdRRHRWQlg5MTVPbmdheHdGR1E0WitmKzJCVW1Vd2RmZkY2VnRpRDE4MnA5N21Ebk1jUWxoMnpRWHpUOFFJRmp1NDdDallpbUliU29oR3NSMHR0VGlKclpLcktQZ0xCSUFBRUtnZ0lGNllISm5uK3hMM01IVnpmSkhOY1hNVHhVdW5Ja2E1RU40dExqZVJ1ODNYSDZ4anRwTG9zblQ0WERPN1VQb0ZnYjZrQlRvTFpiQ0VaeWlVRCtSeFVMc1ZWNjdRSjM0amorN2Mwc21mMjJGVGFQeW0wZ1pNVEZyUVR2Wlk4NGFoMUZFa2V5ak0ySmZENWlYbHJUQ3l0T21UT3gzRC9CSFozdG44bnd1eGRaUnVJbEZzTXlWRWtja0lmLzY3VkZqNUd1MHQ5REtvTlZuckZsTVBqZERtWjJ1cGRqK2JPZjVQTnVGWEhXY3BwTWd1dXhoTWFhYWgyTDlFRFN4MHZDemcxcFF3UDFpNkMxREw4WXFtdnA1SnR3Q1R6d083bzU3NW9vZHRucmRaenNYT2FZN2lud2QzbHpLdDdmSG5kbDlLK21qZzRDNEJCRXFhR2Q0d1I4TExTL2VLNWhyaXBWMFoxdWhqVkxhaSsrVjA5Wmh4S25DUllUb2Nrdy8rMUxRVUdIYnlsdkMwVlhJck1mNERBU0FBQklvSXRQSm5jWWR4U2NNYmt1aVNybzZHTGxqdUVUOGNYSG1OUDRjemwyYnVNbzcwWldRSXVMdUlFd1Fab21DYXgraWxjY3dneklyMGpmUEhVR2xLNlBpN1lGTWU1dU9vRENnVkw4VlZzUWpWb1RRbnVac3VoYmlUeWVQRnk3am1KdEJiRHFrNXRIWnZIQjF2YlQxcUpSWGpvM2s2c2UyTElrOW9wZWNBV2dVWjh3MHZiekpKRWdnTU83cmxTVFYvMjhCNHEzRFZNR1lZTDllT0NORWhScW5samE3ckRvRUVDTkowMXRDK1k2SXNRaWZpR3FlRzJQdzZIQVFzWFpGYzBkVFhNMm5IaUo0NGhOM1I4UE9paDIzbXo4dTUyRG5OVVlPZ2txMXRqajkzK0ZMU3F6cm9LMzhlUXh5RFJUeUNDMUZPVE05SVNPVmFuUVpOaFNGQ1MvSUhQa2tMaGpOeWdYRzBGWFp5cVMxdVFEYzhiWlk4TGdZcFFBQUlBSUVFQWwzOE9XWnBQODc2c3pLNVJCM3B0dzI5eUo5OXgwdTF5cGFlT05KUDdjM1NyQU85RVpGMVFFcVRIQjErN0RVNlMxTkhxM29mZis2QVRlWDJLOWVWem1DQlhTUUp4eGdWcnpxVVdpMUsvMFZtZDdRY000ODdBRktQbE5jamxiR2s3RkVycVRnTzdaUVNSVjVFbDlZaFczUHV3bS9JWVpYL2pkblB2M0VNWUs5eTZKRnFQM3U5L0ovYU13ZzR5dm5kcThxQ1U3ZUwvTmJnUnh5SG16VTZpdjNCa0lGZjVCZnFCVXQzNEdrN1hNL1VWelRwTm1oeXVXQjMxTzl5NExTbXIyZDNHUWxuTlVlZDdjelVMTW1iNDg4ZHZwUVVxQTc2eXAvVE1aVzMrQ0M5S3pFOTR3MFlESm5oejRVQmxzZUhZQmxFRzhLLzU4c0pNYVV0K0UvWXlhVzJlRGh5dzlObXlZZEtjQUFFZ0FBUUtDSFF5cDh6ODUzbk1mTFhISjZ6SFNwV2t1ZXZjNzNJbjMwV1NUVXB1YlJyWmtQVjRqWURpcUJUa2NGeXBManpESTlSbEZSK2N0V3hveDZxNHdOMjVsNkNjeEk2ZnJOcTN3YWJpQmdNWGpvMHB1NlBxaEl4cWtPcEkyejJVTWE1SkNNazNlMWRxYWdrbnRDMnVUditOd1ozRlZGa2EzOUhyYVdzNDlPbkpwZTBWS3BSRXFWdzNzYXNpYnRmNGM4YVV2amRVcXVROE16MG1uT0NvTE9KVi9wQlpINDlEa0tLaDZXM3JnUE9ZT29ybW5UQ3lqdVNZSGV2UDNhL290MWxXbnBXYzlTUktqbWVHWEVvUnhBdVpPUmNLTG5IbDVKSTFVRmYrWE02cG5KWHBYVWlPZ2luV0djWk1OeFJURWVJUk00QklVWGRJOHNxaHAyMzFaeUgxS2JBc0pQWHc5TjJ5UWNCY1FBRWdBQVFLQ0hReXA5MUIrempZaDhvdFdXZWh3VDEwYjd2czduVW1icnU5WVgzYjZ1VEhlcTFkU2gvamdaQjhiU2hHLzg5UFE3aFpLdUU3TGxCVWd0blgwOVBRNmQxdEhKMDh1Y2UyRGJES3NScW9oWmdCSnk5dnRKTy9vU0VMbmhXcGg5R0lETkhqZno1YTJ5b2hDaFU5aUZCREROVlZwTERMV1pkZW5LcitsMmpVcHQzK1FYK25BMHBkanYzYlFDM3hIeVIzcHBpM29Od1lZaGpncmgwNXdrZEJDeGRjVnpQMUZjMDZjR0VuanFBM1ZVbXRscFFYYy91TXRMTmFvNjZtQnVGRG80b1crUFBQVkVEcWFIWm83V0ZVY0ZTVE9YeVorVzhpU2hKbHlUR0FzMzZjeUxua0VmSEVIYzgwQlIvVkNaTFRBUWFVU2RYQlFyaGFidmtnNEE0QUFKQUFBaVVFR2ptenpyR1VLVC9rM0JuWElOdVdVMkgxRG85NkR2Q0Y5ZWZJNldVNGtiSlNmNGM1YUlFQ2Rsei9sNEpFWThrcHpyWFlUS1Fxb0hUSXNmZkE1dXE2TThTcjdKL084K2Z6emNiaHVoZzZBdXI0N2czNVN4QVpVd3FBMkpqY0JlS0VvVVBwM0h6UkthbTF1UkxNQm1qMFlTdmU3WXNOanczUnNsbVRGNTRnVCtyT1NWbk14d0ZrZ0hNTS93WmxrNE4yR2ZwcmV1QU01ajZpaWFkdFBQbVJIalkxT1BQYjJOM21YYWUxUncxdG9tSHBWR1dyZkhuSGw5S1dqVHk1MUZmY3lRamhEczJHWm9hWmRUWGJic2JoblJHMUdYSDBVMVNtTHUwY1gxOFM0M3V3UG1kWFBpUE9uazFQRzJYUEpJVENVQUFDQUNCRkFMTi9ObFFZQW4ycnorSnNZYXZaRjhrckJjOUJ2TWFmM2JkcnVxbGJDRFNjUnIrYkVhZ0szME4rbWdKWWxTVlRlaml6NHBNZXRyQnZGTjhnRTFIemVGVTZ0T0JJK0J2Y2lVYVl5UzFPcFJhTFVyL1JaQktTQ2FXRlRTVFdsdFlNazBCRk1mWk1IOGpmeDV2UzFkTFd5b3lzSTkzUG5ta2s5Mk5OL1BJSHVBVTM3bi9PNmQvVk5VeGZlVjhMbHVxV2tMaTVTeFV1L0pqc2JSTHFuR1VYL3VXR0FnZG1SOHNuWmYxdXl5OWxUK1AwTTltNnRPYk5BbDl6MWx1T3YydjRuSUVCdGhkUEh2N3huWTNtclozTktrNTZoeDBJcVlacXFUcWNsUHJRNTRsRDNwOEtjbFZIZlFqS3F2S2hQeFpseEVTKzVITWNyTkRmSlUvRndkWWJVUG5IdHBrSUUzaGJsbzdSaDlhWWRHaVRsNExUenNrVjlYeEZ3Z0FBU0JRUVVEanJTenZkZTQyNGJaNmJscUgvdmJIRzdQM0poTlM2K3lmNnhkMXZUb3hLTFg1ZW5kU1ZJVVVYeC96RVBHMDJlVmd2dlgrOS92emZWRWdFdklZQ016MTJydkRPSGNQZis2Q1RWbUx2MkNvZzVEZkZpcHlOTVpJY2hWZXZibjhWNG91WjFIdUgvQjZNWU1RWXhscFd5SmpXMkUzZnhhYmpZbEx1Q2ZRbHYvNmY3SEYxajNaTGZ6WmZFUE5kcjdXLzc2cEJIcnBoRlBja1RqYnVMNU1ZQ2RvK0JQOEdaYXVRV2FQcGZmejU5bE1mWEtUSml0VEMydzFaczduQk51Qk5RK25vZHVEM2IyMTNRM3Q2aDlNYW83S24wdTJ0VEgrM0dYVEJGeDEwSmVCT1I0S0JHVW5wakl4WUNMSWl4NUFWdjZjeURtMm8yWVpnOEpmMm9hbFBOZkxNNTZNUjJFbnR5b092aVFNVHpza0gydkJFUkFBQWtDZ2dFQTdmemJQUkE0ZWlqYWR1dDdST0tqTUlLU1Jrc2NvWGx0L3J2dDZvN1I0Mmh4L3Z2OWM5THJWS3VSMkRuSW0yQ3RTRXMzZXc1LzdZQk14ZlJsRnJCZ05raVFlWTFnOHJkQnRPUlc2NjY4VVhiNURHWmJQNjNWd0RCR1VHWUJ5WWY3Vlh2NnNva1NXbVhvdmxsL1JzMmNhVEFSekI5bkNwQVd6Vi9XQ0NaaXNtYmIrOTAzRnIwTWJJL09CRVExdHVLV3V5UlhUQmlzS3pRK1dUcHRYNk9lM1F1VnNNNlkrdlVtVDVxMW1QT1lMZlVjQ1B0aGR0RDc0eG5hWGFHQk9tdFljMzQ0LzkvblNoa0cva1Q4clVJL0RMZnBKcjNQM2Mra0lFZzI2WG50cVNEVWt5WXMycEtBeFBIRStrRGJrbzRPd2sxT1NrVzMwRlY1NDJpRzVXdytPZ1FBUUFBSlpCRHI0OCs1WHZPem9vR2dSZWx4TU1RK2daQnltZWtxUDVxM1BuMy9VNlIrdlg3KzAxVlgwS2hBT3d6ZXlTSTRYZXZoekgydzZDb3cxMGVLNWlKMUVQVEhHMEowTnpFZkwvNzBlYUtCTWxxekRseXRHZkN5RzVUVzRyZHZuMVByaDdnTHVjZEc5cEVKRWNXYlJUWWxma3ozK0hJcVlJZXhoTm5QZXN2Njh1MFo5eisySG1lTkR1dlcwWGhOUmhLMmhGelg2b1JrQU9rZ3NQN2RZVVdoKzI3WDBYY0hVUll0TXc1bmtHUzI5ZS8xNU5sT2Z3YVRwWllNNkxHU3NOMDQrbmxLMkdMUU83TTU5REZYQVlkL1I1V0czWTNkQjQ5clRhYzFSWFdIYUUycU5HMXQvN3ZPbGR1QWRXYW1GY2Zndm8wc3dXdE5GNlovT3lHbnFqWHVtcGh3ZENGdjRzeFpueGFJNUVlcmVFcCtNeHByNGRpSUxIWFp5VG1zSlQxc2s1N0x3QXdKQUFBaFVFWkNBaTd4SzhVRVZXOHJlNWg3YzBPZ3haWTQ3OWVZU3Vka0VTcllnL3I4eWY5NnJ3SWN2RzVLSlRxUGpka1hWWXgyengrMUdjUTZUMHNPZk8yRVRITjFGR0xrL0xWTnFqR2tZU2xXSk05VjB1TkdmWk5rTnp6OExuTUVTckpwUGdKdk1BTGdxQmRmajAxNytMS0xFMjdkdmJVWWYxMTlOMFVhdFpqTVpPSGFKUTVmV3V5bmVjQUtjMXJzb24zYkp6TDBEZjQ2K0c2TTFhRit3a1UreTF0RDh0bXJwdTZLcHIydnAzVHhtTmxOZjBxU1Q1dFNjQ0xzTHR6ajBlOWp0MkYybTJhYzF4N2ZqejUyK3REN2QyY2lmVGZ6bjBPUk0rK2hEYk5sdzBOd2xoamxFR1BxeFp0MVpZTmRsY252RXdrNHVCWmJDMHc3SnN5cmhBaEFBQWtEQVJjQXk0aWIrVFB1bXZpU2dsREJOLzFoZlduWlFHcXg3QS91Ni9GbUh6SlBEQUVTZEVuL1dTYzhHMHRYRG56dGhrK2RnblRlWXliNWViMXY4MkxqSk1hWStsRW9CTkROOFpHem9md29Ta2RxT2NXT056cEVTTEdzYzVvS00wbUY1TXVFY1pIUUtTaHgyOHVla0tGUnM4c01ZaWVyNms4VGFNNjBTbDdZT2Y5WTRKZG02SktKR050OWtMV2xtcjVnV25VWm9maHUxZERieGdxbXZhK205UEdZK1UxL1NwT011MHBNQ3UzdmR3MjdIN2pJdFA2MDU2anFvblVoUFZVbUVOVVExbFcycHRFNWZXaC8wMStIUEpxSXlnY1JKUXl1SkMrM0lrbjU2S0wzK1RPQS9HNTR1MVc2b0J3Z0FnVTlDd0hqaUJsWTRhSDMvb1oyOXc4L0cxMlpLTkxOalZQeXp2MUMySm4rK1M1RGxQL3RaNWMrNjg3azJwMG93OWZEblh0Z2tRajVZNmlwbnppYjZvWTM0SUF3azlhSnE0Y3diZVBlWUU3SUtVd2NWWXNjeUoyT2RWVWpyQm91YlNzckNwV1l1SzhqbzFKUTY3T1RQS1ZHbzJOL1pJcUsraC9Qa3dZRm1zaDNoOGV6NnM2NHdSNDlLbXZJTmY2Wi82UTc5QkgvZXBxWFQ4OTFGVTEvWDBudDV6R3ltdnFoSlJ6YmVsUkM2UGRoZHY0ZmRqTjFsV241aWMzdzcvdHhyMDlWQnY1RS9LMURSOHdHcFZ0THhwVEl2cnFzWUdtQlFtMHBZb3pHTktUSVhiWVdkM0pFZ0haNTJTTzZVaFVNZ0FBU0FRQjRCaVErSndTUklVdjRtbXVqN05TNzhZVW1vdXNMa3h3YW9JS1hibG10THlTdnk1N3ZTZVo4YTFQZ3pEUWo2RU9yUnN0Y2NRRDM4dVJlMjQwTmE3SnNteS9kbmdURFlJejBLbFI1anFrTXBGVUJWV0lwT28xbUMzRXJqbCticnRjR0RQZE5LdXNJaGxkc2l1VWw4MUNRNDZ1VFAwckNCS0tKa3A4MEhVdVJQVlUvZnV2SzVCYXJuRnplZTVjOHFaSVllUy94TVhUdjdoV3g5bjFrUndORDhObW5wVlZOZjE5SjdlY3hzcHI2b1NSZjZTc01sMk4zckhuWXpkcGRwNzRuTlVjbFZhVmduTi9DOGk4NG84VUp5cnkrdER2cU4vTm5VMnpLME5mRm5uUWRSWkw4c3d1TEV0REYrVThFSDR4WjI4Z0RMYkhqYUlubFFGazZCQUJBQUFta0VudVRQWE5pUHNsQ3pLVnRkZEprL2UwTlFNMy8rdGhUZGFORG82MDF1OGJUZXh2R2QrUmhRNEV2RmJYc1NtaEwwSDkxMDB3K0JXRC92WFhaUGV2aHpKMnhmaE1XZklDZmlFdlBNczlqMEdCTU5wU0c4UXArSEtXWWU0V0thSkFGSGdKK0xnQUVxV09YV0tSY3ZuOWtwSE5jUTVQSk8rL2l6RHVTQktGVGVmTnUzVmM5U09PYXFJekZFM3dTQ2V6dTFaMktDdzgyUlBqYWhVUHFpZWIvdE1iTjcyejdkRm00bDhBb0x6VytMbHM3MHVXenE2MXA2SjQrWno5UVhOV25QakxwUFlIY0JaTEtYcE0vRGJzYnVBbFhzNmNUbW1CeVliRjN5bjNMa1F3TXY1eUlubmI0MDNyOGREdnFOTVpXWmRHMHhwaWIrckMvQjBYWG5nNDBkSlNUVm9TWHo5bzBxZitaRzhNUFREc2tYYVVGVUFnU0F3UHNqME1xZjk4ZkVPcWZlck41VS9XV0Nhd2xHeXZhOFJjRDErTFB5enpENEZ4SHpnK1JObG1TVmRZUzNCbWJBVUFSSncya1kzWFhDZHBTeDV2N0ZiL1k2SHE0L0paSVdWcVV5MVBrejV4ZzFwSkUxM2x3c28xRk1TUWN0emNja0F1bGsxMytJc01pVG53UVlpeHlQK3Zpek5sa2dDcjlITFpSa3JPREZJOUhUMjJ0UktsREMyMFRuS3QzalhDUDhudUxQR2pQbXBOU0ZnWkZiT2hYS29WNHZTaDJhM3dZdFhlTEtzcW12YSttZFBHWStVMS9VcEVOajZ6dUgzUVY0UGVGaE4yTjNnU3IyZEdKejFEakdGcDc2dnpIKzNPbExKK1BQTWxhNTBVRUtLMDFURWNPdEVHRitzVTJKTnFob2MzRjhwd3VOTXBuSUlPemsxZkMwUS9KUVJwd0RBU0FBQkpJSXRQSm5jb2VKKytWdXc0cDFOVG9kVWh2djVhMVlyc2FmMWJOSHBNUGx6MmRQVWxhYzFxSEVsU3Yzamk1NzJIQUZYb0p6RWpyK1hSZHNmejFjS2FwS3hOQVJ5K0crNFZRMHQ1VkRxN2dVUjM0OUZBaExzOUJpR0FIRXlybEd1cUpGY2M0Z1kxUmRrTUFTWnNiVklDZWZpaWlPUWliTEliZDFPVkZFWDVMcTZjMFZFVjNQcmpCTHVGRENzbHo3cy94Wjl5ekdVeU5hbStvUWJQeHdCYUVtZUNTL0REMWtpc3h2YzVZdUxNR3hqSlNwcjJ2cG5UeG1ObE5mMXFRSEUzcnFBSFlYd1BhRWg5MkszUVdhMk5PcHpWRUc5ZUlndERIKzNCYzE4R1F4L3dxRHZ2aG14eFVhcEdXZXdnVkdFcG9ldDlJb3E4YWZ0U1Y1RlBvZVN4VmhlSURQdmIweVhuK20ycXh4T1AvRkg1cUJ1RjF5cHdBY0FnRWdBQVR5Q0lpTElkOWFDK0FweWsrUlJuWjFaaDFQRjdUU2kzcTZlOFoxeEIzZnJ3b0pYcXV2VjZVbG5QS2NhM3I1V1ovWVZmSC9YQUlweFpBQ092cm8zdS95STlBOGRPUVFqNks3THRpK0lzRnk5VkI2VkpYa3JRNmxQTkE0VGMxb1JhT2dESHZwcVJJVlNFYXJnREtxRWRpeXp0S01WUGo0aThmdnRIWjkvRmxnaU16eW5GaFZUOWZXbmFwNk9zRUtsVUNBNWNxUjdBN2d1WHlaOUdmNXM2NVZCazAwMWlHdFVtZ1F1UjZoT3Q2Zk1ML05XYnA4d3N0QlBtWHE2MXA2SjQrWnpkU1hOV25YaXZxUEk3Y0h1eHRjYktGRCswQnYyOFZPYlk1aU1ybXBSQUdHYktqbzdIejA1ai9yc3VrSitiUE91cmFZVVJ0LzF0bHRuZzEzNXJORk9ZNHVUczQrT0IvVHNKUFh3OU4yeWYyYWNBWUVnQUFReUNEUXdaK0RGVFVwa0wyUzhhYXlqcFpaU2xUbjVRZnJRbU1UZzFLVjRMM0luemswb0YrNGdLa3pvU3BQeEovcEhydHVxdU5DY2JEdDRzOWRzTkhJa21uSFJISTR4bWlXR3J6Y1ZLNTIzRXcrRitSeUdNR1VQVmd4cEkwc1pDWlJ4M3liUS9rYmx6UDhXb1psdnIwdnVCTlJJbGx2Q2FXc2FDLytWejM5RGVOZkhxWmVCUUpFYUkxZWp1TEpzL3haN1NEQ3hkWWxqWks5YXI0ZTdkcUp2WEg0SDVuZjFpeWQ5NVI0elpJMGRRYWlnSU91Qk0xbDZWc3g5V1ZOZWpDaHB3NWdkd2EyRnp6c1Z1d3VZd0JUbTZNTUVYNTBFdFJNTlNaQ2xTRFRncWRkdm5SQy9teUNKMzl3czNyL1haMzBSdjZzVXlGZjlNS1VjWFZGYnFWZ2dFS3kzTGdZZG5MQ0krV2tuZkMwWFhLckR2NERBU0FBQklvSWRQRG4wY0dOSmJMN3MxRzArRFI5RjhTWVFZLzBrdThNYy93NW1seStEdHhWQzN1UlArdlFFL0ZROWZjWi9ud1lOeGVaUjN0VDN0cHEzY1dmZFptNEVUWnFMUjlFVzJYcWZ6akdhSjRLdkRLTjRQSmxMaVdnQjFRUXJ5L2Jkay9WVFplalBRMnlKdTFFSVh2K1NaRDNKNGVwY3BKcGZmeFpSQWsxT050Wm4yUUYzWWw3ZDhPLzZCbk1CUndTR0pwYUpCanNybkc0NFZuK3JQRkUxb3dGdGNJT0ErbTlnWktEVEhJUW01OTZBU2ZHR20vUVM0NXR6Mi9wK282MHFxbXZhdW1kUEdaS1UxL1JwRWV6ZU9ZSWRqZWc5clNIWGRIdUJ1SDlnMW5Oc2Vic2RydXQ4ZWV1cUlHLzFjZy94OWM5SFZOcHZKamVyWGh5OTYwMThtZmQ5bmNnZ0oyaFNFYlFQNHEwc2lGRzJNa3BxS3VGcDgyUys0YUhNeUFBQklCQUJnSDFLaEhYaVhJejY3UmJiNTJMSElYYmlWc2xwaUZUNGN6SldEM0huOVh4T2g3NjVEcCtLdTFGL3F3TGI1RzMxZG42TkgrK2VzNVpCQTlrY2lEcCsvN3pidGNER3czakZtMnZ4dVJKT01ab3BncTh6T1k4V3NSb3h6eUtNWWdnZEtTZ3k5NTRUWmQwZ1Q4MEQ3YS9Va0ZPbWNOaEgzOFdjM0hNU1lvNVZSOVlHR3FqZy9QbGRuWDIrYnFYNUppbnVZKzJkeWpBemp3QkYvREk3L2huS0QzRW8rS0xDYy95WisxR3ZwaE9SU1JVcXQySEhNTDZpdzBYbTkrMkxKMWpZaC80cEttdmF1bWRQS2JEMUxkczBvT1JQWFVBdS9OaGU4YkR6bWQzdm16RDJicm1LTTR1SENJRzJmaUFmRVhXVlhvWjY0TkZrUDNKMHg1ZmFqK1g0R2o0ZEV5bG9WeHl2S0tCejFGR2gwRTdLRG9YZ2tNTlFQK09iblRKNHlrRkhZVkJPdXprREVlaUxqYzhiWmY4Y3Jza3lncmt4aWtRQUFML1BRSTkvTm1aSWJTNHNaY2NLSkVReTFSTUxmNHdYR0tWM0lsQlNmMmNROWtPZ1dlVUtESDI0REpwR2RjdW50WjE3R1pibTlYQS90ZDhLayt3ZjV2dWNObVQrZnlWczFobXl6RC9HWlFnYVRnTkhUOWQ2SUNOWlhkbWtZZFNrd2VKcWloZkdWNjVPalFvRjBzMUpqaTdnSmhjU1ZSUnBJMWMwSFptM1Q0Y21EaGorNVNBRnM1QzV0SFhQT05mZ2NFSkhmaktyMCtjeHN6Skl6VmZ4eUtEWEhyZHpwVUxzM1JuMHlsMy9rRXVuUTVLOUt5Z2p1enAwL3haNUl5N2tWUzAxOTVRRUV0bm9Rb1dvQ3NrZnROdXlkSzFJOVJOZlZWTDcrUXg3YWErYVpQTzJuclRoWVRiZzkwMUllZGtXdGpGcm11T09pUVd4OVYyL2x4VHhRSDVwY01PbTY0TitpUkhlMHlsdzVzL3RLc2lOMjhnYitYUE9oRnc4aWJScFVHTzlEYzd2b1NkbkV0SmpGWmVlTm9vdVRqOHhKTEJTNjJGbTRFQUVQaEFCSHI0YzhLZDhjYWdnY29vc1F5b0NtR1dIcDlrQUxDa3cwVldmTGxEckVNMzJ1N3J1VlJsQWs3NXVwZHBsRm92MGZ1a1NCV3pZZWpYbTJ3bXF1QklROWwxYU1oUUQzUGRxZEE3REIwL1hleUFUWkQ4SGdEM1NvNU9FbFZ4bmlLOFlnNXUrYkpxSEk5TUFrSEloUjBKcEc0dklqR3pEazRlUGhTRlBCSVRaRWlkOGsydWpLazhZNXFvNUpQZnV6ZmJQV1pOSCtrSW41KzRVUE1lcGt3RTMzRlNpY3ZNdjBmVUxNdDdTS1dseUtVK3paOVY3R1N4dEJvZ1A1LzllbGtWbElJRnBQanpsaXhkMzF6am1sSGExRmUxOUU3KzNHenEyelpwejlDNlR4SnVEM2JYaStLeUxuWmxjOVRxWFZjUXdkWE1uMnVxUkNVL205QmgwMVJGY2RDMzErT0lKclVtSVdtSnVJMGNwUXVoQmtrcG5oMW9iTVlhYjRTV1Bud0t3aTczdnJDVEMrd3gyL2JDVTNub0xMVWwzSlBjTm1DRDVLNUFPQVlDUU9EL1E2Q0xQOGZ4Tk4zdXVGTDFtYTRYRlVERjJYbitrWlBWUnlZUWwzbkNjU0U1ZWxSVlF2dnh1aTFCL2JBOUcvNkx1M2VYZ3czZENVamI0U0RwV3V5WE81ZkpFOHBCWnAzSmpORXdsVElNUS8zQmdVanBRTWFYTzJBVDBPakx6L1E3OGU5MnZYei9Sb0JybmVHWWFTUXB3U3NVd3BOT1pJdmFUcGVsNDVrU1U0Vjg3aXRBVGFaTG9oRlJsakZMTEd3bzBUbm9DKzVrdnNSdnE1UGJ2azdCNlVQYlJUeGNuS3k2Rkd0WHRMOGVncnM3NVVEeTVrZGpBVGpUZ2s0bDJjT24rYlB1ZTBnSlJqUHczN0tNWWpXK3hpMnR2YWpFKzdkdDZmbzRnVlZRME0yWU9ydWJXUCtoUFFRb1E3dlV6Z0FBSUFCSlJFRlV6ejlNYU9tZC9MbloxTGR0MGdPMlR4M0E3anpZbnZLd2M5bWRKOWw0c3JJNTZvcmpLRTdpcUprLzExUkpsUDFrVWtmVUlQdlAzZWVrdW1LcUlOU2l5V2Y2UlNFQjhYa3ZUWGxvYW5nSjlOVmd5dVBlWnE5YVlhdWR5T0NzYWtodC9pRFAxVkJyT0M2K1NYTGJnRTdoZ2NBNEJRSkFBQWdJQXRaZEZDSkV5YWZ1TU16RlB0eDFrUkxBaGRPWUVtSEd2azFjWU9DYm5hcUdZcSsrWHpiUDBjWUVsYjE2dUZSTjVXbXlTMUNNeXQ1c0piK09XWmkyVk91OENPTlBHS3NYSDF2Q0c4Z2xzc3NmUm1VODg0OUVuQkNoZHRoMDBGU2RuTCszRkpHUjY4N3dZUVFKQmpZUFhva2t2RWFXbEVCOUxvaEpRdHltZzY0aXB6c0VpUkVFbEpweWMxdWtiR0FvS0hYUXg1L1ZBdHpXdnJxRGFxb0NQMDFuWUVoUTE0aWNMQ1lBVUpCSXRoOVd5dEY5ZjhoYUNwWEM4VzAzQWs3dHovTm5XY0Z3NURTRmtzVWZ6OXJMakozK3VOcllxcVg3Smd6RFhyY3ZoaG5PNVdBemxxNGhXb3VwcjJucG5UeW0yZFMzYmRLK3lmU2VVWDhLbm11bkVtQjNmVEF1NjJKWE5rZHg0TEVqZEJGcjVzODFWZHhDWHp4dXQybjdrcFZwWWlvTklNS0k0eFFNcWpKdlU1cDR0TnByU09PSFJQcXVsR3dRWmFJNko3WnBDMDliSkxjTjZBdGtoY1YvSUFBRWdNQ0FRQjkvRG1ZRWlSa0UxRUMrNm52d2lJYlU0RTFOU3VYcVh4OFhsOWdZcVdRQng0NW5OSkw3V1RKTVRDZVJBM0hzVTdjZTFkTnB5TWRoTEhaLzQvdUc4V2g4T3ZhczY3MXVYcFpSVjVpSVFIcUtHdW1WWGc4bi9vR1JNaHg4Mm1FejJrdVE2UDQ1UmdpYnFvWXhjeENrQUs4TUhwNVMwbnFodUZRVXkxR2lmVkxKaUxBUkpuaVNYZmVWMlpZZUJLd2RkQVozVXJmRDlMNExML05LVlcxYk85eUZZUE9xYmtZTGZnaU01UnVObGpwSllhSkJaaEJLMTIwdHVmL1A4MmMxK0tCdDc5VGdJbzVvcmFad0RMcTlpQ0xYM1ZYMlFFRFQ0a0h4dTYxWXVzNld0Wmo2bXBiZXk1OWJUWDNiSmgxWVV0OHA3TTdIaStlNXVqM3NYSGJuaXphY3JXeU9VbjAwZmc3UzhVRXpmNjZwNHBYNjRrbTdMelVoaTdXRHpwZ3E5UEw2ZUk4SEdBMXlUanhGZXBrM2FOQk1iUFVuUVljelB2TU5BbU4rV0RTZGZDeGNtWEV3VHNYaGFZUGt0Z0V0VmxYeGtRRUlBSUgvRllFdS9reVpYYS81UjU0djlISDN3QnNxQS9XaTZQM2xjcm5KOGhYempJZnNRZmJjcHo3YW96V1JEeHlxL1BOdVBON29sQVBnZTV6TU80SXp5WFRGTE9JZXJWUmZadXVSdU03amhmN3gvWmVySWM4c3BFTlA5OWRSOXNlQmhQQmtweHVsZlA3di9RSnhyaVQwU0M5M0RiQ1owc3pRd1VMNXY4T3dEVHFzNm5vWkJ4b3FKUWV2QWNabnhkS2MzdTBxaHd4WUh2M3d0TjNKSklVMWpqMjl3RndLQ21lVWhXbEcrUGtseFdlZC9Ga0hZNHNPeWVMUDc4VGxCeWxtcGlmNWdoTE95dUljakJKVU9LVndHMW5kS2NncERzVnNUTjR5YUZCNzdmUUYvcXdFMm0zY005bitTUk9rYVVTd2ExSUJzVU5uQldDVU16Uy9MVnE2K29BbVUxL1QwbnQ1VEt1cGI5dWtSMVBxT29MZDhZQVFRUGFjaDUzTDdnTGg3T25LNWlqanVRMEdyRXorLzJiK1hGUEZML2JGcy9hb0lUdm85OFZVUmw0bHh6YzdwTXFBTjlMbm40c2JPaDNwRWJOTDhaVXRzaVRneEVKY2ljRG9qa3dXcWJDVG05aEduSFJEZUZxV2ZLajV4VEhaQ292L1FBQUlmRFFDUGZ6NWkxZVBqbC9xTnUrL1REY1QzT2RIaHFQTDc5LysvdnNsck9ucU8wY1owbm1vZDM1K0lLN2p3dTE4djFOaEkvdVFCV0xuSmpwa0Yydm1IdDBMUEJnbXRqcGJua0xyemZJN1hyNSt2dW40cUJmTW5DbHZYNldmVzU0N2hSK0o3OHR1YXVZU3ZGOUNTbzkrVm1HVDB2YmZEbm4zSlJ3LzRCQlg1VGRUQmw3emxKUTMyNndicWZ6MlU3VzQ4bExNSVZPOXNrQi9KNWtQdXVnL3RxVVdJc1BrT0F4N2dPVlB1QVU4N1BKWjlZb1krUmRyY2FlNWtsTktuVklSYWkzSGdSS0hlWWxLbmdTS1h6c0x6eUVCVy8yZU84a3cveFBleCtkaXBiMEN1UVVSaEQ0TmRDL1dqbVVGNDJvNjlBL3JhZGd6M2NodFEwSFJuYlp6cCtSVEkwdFZFSnVmMzFwYnNIVDVlSlgvRkh6VzFBbUh0U3k5bThmb1c5SHFwcjVwazA0WlZVTWE3STRNZFJvUE81dmRaWnB4WFhQa0R1NjdxRWpNWnY1czlxYmxCNHVvNkpjUzJud3BWNUVaOVB0aXFrRldyZmYwZGI1VGxFZmd1SzdVaHBRQ3EvbVRvc0syTUI3T294aUswcExEV3R6SkpiYmg1Sjd3TkMyNVNLVGloLzNJQ292L1FBQUlBQUdMZ0hWMmxscmE5UEEveGZuTUEyajFqajNiUVZtY0xQK0dPV2syVXRjYU9TZjlvazNPNUMrUFIzb0ZGci8vaXQ2RFJjZVIvOXl6UzlhZlhjZWphc2pYT3pmS2ZZWS9oOG1HUDRmSm81SzgwRGI4dmdkKzhFTms0V1J5Y1dVc3BJam94Q1dPK0hvcDh2M01pU0pVeU1PSDRnUWNzQUlibDhpd0hMK0crL2I3L2YzOGM3SHI1UGFSSGFjcWxUQ2M1a2pEdTlNOXJSNHBsdUVxT1pDeElUaHRFK2s3bUFyRC9DVUJXVHpkSXMwYzMxcEo2ZWJQdXgreFNERmJNMWRTcWNLLy9IV2lCZVo5UE1qYlhML2NIV1NGM1U0VlNYd2h2V1FrcERhMzk1K1hjU01EOG5KVVRsN2l6K1pGYncvcWhkeE1SKys3bHpLNVFjQ2w1eHVVYmc2bTZFanBtQjkxSHVtbVFiYjFMYjNIMUZlMDlINGUwMnJxV3pacHg1WjZEbUYzMUlYOW1WSXpKZHFEb3VaZDJzV3VhWTc1TVc3RWpRYXFWa1pWVTJVc2RKS2pCbCtxOWFRSC9iNll5cEhZcTlkWmlwWjNtbkRrTk1aM1pKWWwvc3h2a2gwak0xTUZPVjF2SXQvVzdIUnlON1o1T2p6MUpOZEtLQWc4aGQzSVZvLy9RQUFJQUlFQkFlSEQ1T0FpQnpiazBJTzkzY0c4LzdwU1RIMDhuQzYvQSswTTh2SXkzL1ZFUzlXMHU3bm9PS1A3eG9UOXo0MUtPSmkxc1RGOXNxUDk3emZMZUxqOTVOVjRzcklrZjI0cHF3SWJQODhqeTVwaFdYdmxoK1dWVHUrbUpMem1yUjFVaWY5TDBtU09PcExFZXF6bi9zM2I5QlZoSVdQUjQ4K3NVR3RjNHBSTGR3V01iTHlZT1RwZmJzUVJEOGtYcldWdUNaTkxQUGRYYk1tbG56K2tPejFpVUZ0YzUzbWNXdDhMQmZIT1grVFB0SDNqY3FKbU9KeXU0N3lNcVdEL2ZUb08wMGxlcFh3aXN6YlBpcjZ5cGR1WEVCTDQvaTlsNml0YStoUDhtUnUwMmRTM2FkS1JxVTJYQUx0cnc3S2ZQM2ZaWFVhSWRjeFJua1JKa3JWUnpBNytyRGVWVkJtTG5lU29ZdE5qSGNsQmY3emNlMlRxcFlIanhRanFmTFF6LzZNSTkrTzRJWHhNelI0OUZaNitMbmxXSGx3QUFrRGdQMENnbFQvL0IxQk1wdUxUL0xraUFUT1czR1pnV2NrZFgxcFZLU2w5T2JHWFM5aEZtaVR4aW1YNzdJaXM5NGQ4V3doNy8xVHZNOEZkV3VPZTFQMFRUTDlhdmlEd1V2anhNbit1eXBqSjBCSjJabTZ0SnM5dDZmcmt0MCtkODZhK25xVS94WityNkE0Wk5tclNnM3lMSDhEdURPU3J1TmlWekZHR0ptL1hWV3gzdmZ4NUZsVmlzWkFDQklBQUVBQUNheUVBL2p3OThqUHhaeVlzOFVTdEZWOElkSnJwMml5MS8vSWlqd3R0Q2g5K0hFYU56MVg3OThzenZuNVM0VXdLQ3NtL0VQYmFDbTFjNkNyQkhUMnBYRm1qaUFXdHAzQ2J2bGJzYXZ5WnJYeW1WWmJaTFYxZUgwL3YvbmQrQlZOZno5Sm41czhiTmVsNnQ1a3BCK3pPQXJ1S2kxM0pIT1hSbGNvY1ppOS9ua1VWMnpqNER3U0FBQkFBQXVzakFQNDhmUnZNdzU5bHFiSkFOamtNNk44TDdXb3ZPM0s5aVhnaHVPR3FzYmxGNUhGdkx4M3IwbllvdlhEKzBtM3BhNnNFZDdSazJiOVNucGJmU2VVTjdDRXF6dVdHdzlYNDgwN2l6Z1lKdTdQTWIrbTYrYnpWMU5lejlKbjU4MFpOdXR0Z0pyb0JkamNBdVlxTFhjY2NaZUtzOWdxS1h2NDhpeXBENitBQUNBQUJJQUFFVmtjQS9IbjZKcGlIUHpNRnpWQlpVWUhKYU9sNlhVOHFJSGl3V0t3alhEVzJCZkZGajRMWUM3djlYOGdKWlk5Y3hPNzl4NTl2cmF2bnF3UjM5TzYyOXQzcUF4S1ZBOWFrRnJwVmlpRCtuTitVVUxuM3Rjc3krNUUyZ05jS250L1M5ZVg2M2pQMEpWTmZ6ZEpuNXM4Yk5lblhyT2Y1dTJGM0EzYXJ1TmgxekpFY2FQemF0UUVJYzlETG4rZFFKWlFKNTBBQUNBQUJJTEFpQWhJMjBnRFN5bDFXRlBWdHFwNkhQL011MG9pQk9waElIT0NjOXg5eUlPRXpjRmxpOUdpR1UycVcvREd4OGwvYUxIdDk0NFZXcm5CWTFQM09QdHZ0MUNtSHF3UjN0TndheXZINk9TUDFJaXVudDF1OXlNQ2ZWWVBmcTFWK0JmdVRKYzl2NmNLZjIwMTlOVXVmbVQ5djFLU2ZOSnVYYjRQZERSQ3U0bUxYTVVlWjJxMXMzK1lQWDVURzNnRTNlekNIS3Jacy9BY0NRQUFJQUlFTklBRCtQSDBqek1PZnVhVlNyd2UyOHNzV2FYdnl6SC9adnVoRkNVSjc4K3lNMlYrNDBFd1ZxMGw1VC9WS2tsYzBDeWpGMndLbzloeFJENVZaSmJqN200R21NdUlSS3FHMnRmUFRjWTQxNEZxdGZKMjNEL2drdE9XdWVwN1pMVjFmdiswaFh6YjF0U3g5WHY2OFdaT3VtOGdzT1dCM0E2eHJ1TmlWekpHY1dOMEpkL0xuT1ZRWjJnWUhRQUFJQUFFZ3NBRUVsT3hnL1huS3BwaUhQL1BMYmZKY2xyNjZUZGRmMnNrckZNTGJyTTBMTW9XZENXbjZKenplRjFWS1BrWnovTjZLK2FWNStYbGVVcEV6aEVzQmlOdzl0WFRHMTg0ZjFQSnU4RHBiM0J6eXoyN3BPblBUWWVwcldmcThwZzZUOWpzVjdHN0FZdzMrdkk0NXluQlZuWUhzNU05enFESzBEUTZBQUJBQUFrQmdBd2lBUDAvZkNQUHdaOWt1VzFpaTViZC9lWXUrdllwSkJWNGtVVnRnVFBJL1kxSHU2bDc4WWpLUmpWZjE3UHJsdVlQN3J4SGM3V2ZZa2Nlc3JMU2pvTGNCbDg3UDhyZlBlclJMTjd1bDc3cE5mU1ZMbjVVL3c2UURrNFRkRFlDczRHSlhNa2NlcnV3Z05LZ2ZIZlR4NXpsVWlVUkNBaEFBQWtBQUNLeUpBUGp6OU9qUHc1L2xuY0Y1dWxVTC91cHF5a3k4dXh6S1FkVDRmSEtxQUNMWWtVUkNscjAzaThrNlpZTGFPK3M5VkZYN2M4QXJCSGYwQUp5M1hKa0NvenVOU1ZtMEtOOWR5b28zdE1XZS9RS3lDVVYyTlJUenVxWHI1NSs3VEgwZFM1K1ZQOE9rQjVNeUI3QTdpOGdLTG5ZbGMrUXhydTdhKy9qekhLcllsc0YvSUFBRWdBQVEyQVFDNE0vVE44Tk0vRmwyUWVmZTgzYm5WMzBsT0dxSGRoRXZjZGVIMCtYd0xTSHY1VVZyVHhTUk8wV0grSUx1T1A4Nzl1eU9YaUc0dXovaTdlZHBTTnBUV1kxY2M3YVhzbVpPYWRtdy9TY1FhRzVMMS9WbmR5OUgxZFRYc2ZRNStUTk1PckpVMkoyRlpIa1h1NUk1eWpORTlVbk1MdjQ4aHlxMllmQWZDQUFCSUFBRXRvRUFCNDc4RzE2RHZBMngzbG9LRHNQbVVFQVdpTk1OUlFTMDRTMG9aYUVrZW5SRENiYUxDc0VqOHdrM3YvR016TUdSVXBoOWlqN3ZkblpYTEMxRU96ZVVwYVNyeXdkM3RQWmZBYUlxZEp5QlZydEt6N1BITjJ3dnBieGc5N3k4TTF1NlB2L2NaK3FyV1BxY3BnNlRqdTBUZG1jd1dkN0ZybVNPN01FYXBwMjcrUE1jcXNTMmloUWdBQVNBQUJCWUV3R21NUHhyR0VQV0ZQT3Q2cDZMUCs5a3N2enF4djBHRjlraG5lYW83Y2pKNDZ4T2RpNjAra0l5V20wT1RPZlhaOVJuWnZhNURYTE10YSszNCtQWXRZaTVmSEIzcWIraDFRR3U3WkFhYy9vMTdiYXFKOHNWVGJsTVZmSzhscTd2MzNaa2JUSDFOU3g5UnY0TWszYmFmemlFM1NrVWk3dllsY3l4MVlIMThPYzVWQmtNRkFkQUFBZ0FBU0N3RFFRa1lHQVdzdzF4UGtLSzJmano3czdUNVk5dmQrZnBicmYva1MzVDNwdS9uc0tSeXg1dkZEcnRQaU02WG5LT09OQUtNcDBldDVIaTgveE1nUjMvWFErUHc2MVQ5TVdEdTU4Wm1DN0QyelZyNElDK25VUCtlR3B1Y3VRbEtlZTFkUG4rOHloZms2bXZZZW56OFdlWTlOajg3aEhzVHRCWTJzV3VaWTdzdjRMNVg5Y2FodU1PL2p5SEtvTWNPQUFDUUFBSUFJR05JQ0FUc0RTSVZCY2FOeUx2TzRneEgzL2U3WDZGUVIrK2Y1VkQ3ODlmSEFJOGp0OGpaWDBhSWk1NkxJWkNocFpkMWJUbDhURGV4SFh2aWM1L2lYaC9zcnZoNGw5K1dyemh4cVdETzNyMk5aZ2lHRVI1L29DYXJXZlArdk1Welhvbk40VXo1ekpsWFhOYXVyeUxielRMTmxOZndkSm40ODh3NmF5cHd1NEltb1ZkN0ZybUtOR1BQeHVkdG90Mi9qeUxLbW1oa0FvRWdBQVFBQUlySXNBQk1QL0dhSEpGWVQ2ajZqbjU4MjczZCtFZDBmeXoveC9YYVI3TzVWMnNRekRCU2pROW5rdDNCZm4yekVlT0J4SHZPRGw3WGp5NG96bUxBWlhKREpRZ2FsbjNtS3krdVFyaUhmaHp6UVBNWitueXNmU2hVVnROZlhsTG40M0h3S1FMSFFKMk41dmRaVkJmeXh6WmV6VnRuMm5uejNPb2trRU55VUFBQ0FBQklMQWlBcktlU2NOSTV4N2FGU1hlZk5YejhtZFMvLzc3ZlRzY2laOGVENmZMejJTN2dIblJZV0RpdElnY3JDdm5jS2RGNW5EMy8vMkxIbXFtamRuZms4bm1Wcjd3NG9oYjlWVEhSTVhjRDJSUFZlenk1ZkRXNXhrZjQ1N0owb1VmOUp2NjRwYStOSTk1eFg0K3hxUVpCTmlkTTVYNmlsV3NkbStMT2ZKQTByYnhycDAvcjZZd0tnWUNRQUFJQUlGRkVaQXR0alNPZk1ScTJLTElaU3ViblQ5bmEzN3hBdTBwdG1aQU0vT045RmxlbzkwMGlmK2lkTVB0NzgrZmFTdHdPT1V3YVBkbUIvd0NoVVZiZnhwOG5qTjFjcGJMNnZvK3B2NUJKajJOaGFWTGdkMmxjWms2dGNrY2VmbTViWVlYL0hucUJrSjVRQUFJQUlGM1I0QWpOUDYxemNPK3U3YUx5UCsyL0psdFFmZnhVN3pRVEo5M3ZCdDJXTXhiQUdGZTgzenJ4dzNJUU93OHhRSnd6VndGTVlKeDEvL01kVTFYL0pPbXZyQ2x5NHZDMzhMVVA4cWtwek96cUNUWVhRVEpIQWxONXNqamRPTTBKdmp6SEsyRU1vRUFFQUFDYjQyQXZMejVMV1BncmNMTzQvSldaU3ZMWlRhOTdXbFQvNmtuYktmWi91bmZzSlVYOVczeFZaV0kvOC8xeUhBZXM5bXU3R21uL2h2dVJYL1MxQmUyZEg1UitHd3ROMkhCbjJYU0V3SVRGUVc3aXlDWlBxSE5IQ255YVgzMEJQeDUra1pDaVVBQUNBQ0JOMGVBQm5UNWZjNksyTm9OOHI3OG1iOHdmYVJQU25VVHZQdGxlQnZUQXVqL1h0LzZhZjM5ZFVtd1ptOFBvcFR2T0Ivd3BLa3ZhK203TnpIMUR6UHBPZnNNN0c1T2RMWHNKblBrSjlkYVozM0JuK2R2Tk5RQUJJQUFFSGd6QkhnM3JQemVUTzd0aXZ2Ry9IbDN2eHdleDlOWHorTHpkaHNDa2kyQ0FBV1hiN2lERzZhK2lIR2draEFCdU5nUWtWWE9lWlJ1ZnVvSS9IbVZOa0tsUUFBSUFJRk5JMkRmSU5ZOG1HeGFtdzBJOTg3OGVRUHdRWVIzUTRDMys3K2J6SkFYQ0FDQi94Z0IybVhWK1BBemdRVCsvQjliQ2xRSEFrQUFDR1FRc0F2UWVJTllCcURlWlBEblhzU1EvNzBSb0ZoMDJmZFN2emRja0I0SUFJRjFFU0JHM0RIbkIvNjhibXVoZGlBQUJJREFKaEd3QzlBSWdhZHBIdkRuYVhCRUtlK0NBTDlEN0swZlNYOFhvQ0VuRUFBQ0V5QkFUNkYzMEdlc1AwOEFPWW9BQWtBQUNId2VBdnpDS1A1OTFHdU4xbXNtNXMrLzUvSFgrcEtTOVNSR3pVRGdKUVR1UktCaDVpOUJpSnVCQUJCWUNJRnp3L2NaeHdIOGZLYVA5TDNoTndZV0FoUFZBQUVnQUFUK1d3U1k4UEVQUThRa0ptRGhWRkI3SHJPYXBIb1VBZ1FXUjRBSTlCSFRiNHZEamdxQkFCRG9Sb0Mrd24yb3ZTS1R2OVR0L2hBY2RjT01HNEFBRUFBQ0g0OEFQZDRqdncvNkxPMktiUWIrdkNMNHFIb2RCSWhBNHdVSzYwQ1BXb0VBRU9oQVlIOTRuR3IwZVFmKzNJRW9zZ0lCSUFBRS9sY0U3QTd1OC84S3dKUjZnejlQaVNiS2VnOEU5bGNzUUw5SFMwRktJUEJmSTNBL05yenFCZno1djdZUktBOEVnQUFRYUVPQW4xK1VIL1pndGdHR1hFQUFDQUFCSUFBRWdBQVFBQUpBQUFnQUFTRHdmeUpnMTB5eGh2Ui90aiswQmdKQUFBZ0FBU0FBQklBQUVBQUNRQUFJQUlGR0JPaU5sUElEZ1c0RURObUFBQkFBQWtBQUNBQUJJQUFFZ0FBUUFBSkE0UDlFZ0w2SUNBTDlmelk5dEFZQ1FBQUlBQUVnQUFTQUFCQUFBa0FBQ0FDQkhnVHNDdlRqdCtjdTVBVUNRQUFJQUFFZ0FBU0FBQkFBQWtBQUNBQUJJUENmSVRDOFJLemg3WlQvR1RSUUZ3Z0FBU0FBQklBQUVBQUNRQUFJQUFFZ0FBU0F3SWpBL21UMmNCLyt4a1FjQVFFZ0FBU0FBQkFBQWtBQUNBQUJJQUFFZ0FBUUFBSUJBdCtHUUQrK2dnczRCUUpBQUFnQUFTQUFCSUFBRUFBQ1FBQUlBQUVnQUFSR0JQN3NFdlIxVE1NUkVBQUNRQUFJQUFFZ0FBU0FBQkFBQWtBQUNBQUJJQkFpWU43RGZRclRjUTRFZ0FBUUFBSkFBQWdBQVNBQUJJQUFFQUFDUUFBSU9BanNyN3lKRy96WmdRU0hRQUFJQUFFZ0FBU0FBQkFBQWtBQUNBQUJJQUFFRWdqY0w3Y2JQbUtWQUFaSl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FBQWtBQUNBQUJJQUFFZ0FBUUFBSkFBQWdBQVNBQUJJQUFFQUFDUUFBSUFBRWdBQVNBQUJBQUFrQUFDQUFCSUFBRWdBQVFBQUpBQUFnQUFTQUFCSUFBRUFBQ1FBQUlBQUVnQUFTQUFCQUFBa0FBQ0FBQklBQUVnQUFRQUFKQUFBZ0FBU0FBQklBQUVBQUNRQUFJQUFFZ0FBU0FBQkNZRjRIOWVmek5XMU81OUZHS2N6a2pyZ0lCSUFBRWdBQVFBQUpBQUFnQUFTQUFCSUFBRUZnQmdiL0grTHV2VUwrcDhqNUs4VmhSalBVQVFNMUFBQWdBQVNBQUJJQUFFQUFDUUFBSUFBRWdzRzBFd0orMzNUNlFEZ2dBQVNBQUJJQUFFQUFDUUFBSUFBRWdBQVMyZ1FENDh6YmFBVklBQVNBQUJJQUFFQUFDUUFBSUFBRWdBQVNBd0xZUllQNjgzNDZJdkk4Yis3ZTMweDZRQkFnQUFTQUFCSURBdkFqYy84Ni9YOStYNitsd3ZNeGJFMG8zQ0FCeW1FS013UDcrOS92ejlYMjluUTZQdi9qeWF5bU95VjFmSzJscmQ5Ky9ib2ZINDNEOTJacGdueXZQL3ZkNk9CSmhQRngvVjFNUy9IazE2R3NWTCtscm5Mb1F2ZFFhQnRjL0JvRVY3ZjdWQVhkRjBUK20rWnNWbVRXb2JKYmlnelArT2k5QWVZY1JhRS9COHZGd09PbnZjRGdjT1pMN1NyVFFGNlVmVFZiSmxjcVV1Ry8ycEhlRGZIWkFVQUVqY0hWNjR0VDgrZXlVL1ZIOCtYeGp6WTVNNTQ3cC9uMGVuQUM1akp2eEd6UlpTSGY0YjB6K1lYY3h1aGJLU2M3bGNVd1lwNXRSSE5BM1pXcXV4eTJRZlpmek96YTErNWxjb1B0TGllaFdNdkh4L3NLVkMrVDBiNjFwQy9EbmladDFzdUtXOURVWVNpZHJOaFQwUmdpc1ovZjFBYmNDNDNxaVZ3VDd5TXR6QnBVZkNWaXZVdTltenU3b1BBYVJLZVlmUkptUHgxYUl3N3RCM210U3lQOFVBbk82T3JmWGJLVWJQQVZTY0pOUXVTL2F4L3ZIdloxcGJQUnpWUjhkaGh4Ri9EbTRMcWRSZ2J0ZGxFMzVjNVJzRS94NjNBSUQvdnc0dUJkeng2RmpXNVkvMHpURDQxdDV2c1JTSzVrVCtIUE9QTlpPZHp2YzNNYUJvWFR0MWtiOWF5Q3dtdDAzRExnVlBGWVR2U0xYWjE2ZU02ajhUTVE2dGJwL1h5NG5FK2lsV0dobmNmTm5sNzNtTmpMbC83ZnJoU1BvNkhjZTlPSmNwOXVsK256YTcrbHhTTWJnVWRrdkpid2Q1QzlwaTVzYkVmaWxoeWdzbjJwYWgyd3NsN081SmpkM1ROc2gxb3RaZVMvSzQ4QjlmODlkUFAwRTZ2MXl1Vng1aS9mNE81NXUxeXNsK3c3aFRDbCt2c2ZwZWtuNWc2dDFtRnJrNGNiYm1KdnJjWlVtNTB2NzlVZkpXamJ1L3oyc2xiQlhJejFTSXJxVlRIbTh2OUU2LytodE9SZzZUVmwrYzFsRi9yei80WmFrWnY2YXJpUDlIWSsrdlhpaTR2bm5BWTRsZlkxYjExdEVMd05LYjMrd1VMRDA5ampOb3NCS2R0ODA0RllVWGtuMGlsU2Zlbm5Pb1BKVE1ldlhpNklpL3IzUENMUzNJZVFodjdaRE1Pek45TXZoWnd6NTh1akkzRnJiRWxDK2tOWXJid2Q1cTJMSTl3b0NmMnJZMDRYOWpqQ21OM3dNZjViUi9DZzltNS9Wb0Y5NkI3ZEFjTmZlVFptdUJScEVOSGhnczhXdHliK1drTitDcG1xdHgybVgzWTVwcURaOGd3dStQS3lKYlRROUFBQWdBRWxFUVZRcXl6OTlmRDg4VHA0clpja2JaUGEwbmVTa3dKLy9kRFRURmpwTXRNR2NWMVVMZUlNLys2MjZwSy9CVU9wanY4alpvc0hTSWhxOVhTV0wyMzNYZ0Z1RWMzSFJpOUo4K3NYempFSGxwMlBYcGg4UC95c0ZRbTBDaHJsTXdGeDk1Nm5vVlFpcm5YTHR2ck9GbG5QZURuSUhLaHpPaHNDM1dHeEF5aWFxVFZkcFA0WS9Td2luODJlR1VSYTdycGx5cSsxMkhxYm1pak56dTUzUXM5UUR5NDMxZUcxNmVSeTE0UjllY3ZMa2NUSmI0SXJhSm05OU5mRitqQjZDWWE0Nmo3V1doYzN5WjJGdU9tRzZwelV5V2grZlFEeDk1aHY4dWR3bTd0VWxmUTJHVWhmNVJZNFhEcFlXMGVudEtsbmE3anNIM0JLZVM0dGVrdVh6cjgwWlZINCtlaTBhU3RTK3lrSkNpM1J4SHV1LzR5dCtDZ2RRbFVEWTNtQmk4S1VXb1BVcHlqZUMzT0tFLzNNaW9OeG9ncEEvSmFSUXUwL2h6OHlnSGpkVmt4L0twVjl4cmRFc0xKczdVdkJvbXAyYUs3QWx6c2pWSjNmMHR0YmpTdkJGUllrR1pSWDRscC9IaitIUFJXM2QwcWM2cHFtRnlGK3hMRlZJcHhMQUtTZkhuNG5pdS9zUWZ2bjBWYUQyWHpvblVyQUlicjNpdmdaSDlQL2pjRWxmUStDLzFlei8rMXZBMHNIUyt5TTJod2JMMm4zdmdGdlVlRm5SaTZKOC9zVlpnOHJQaDY5QnczY3paeE50Vmo4QlNub1ZvaDRQR04zMVJ6ZDRxUytkbkVxVnZ4dmtLU1NLQ3FadW1EQnR6Ym9uVkNNb1NpZUdadUxQc21iNktmeForcXZ0M0tKWitlMWJwbjlYMVRmUFVrY3JyVUZEOGZ5WHJkMjcxRnFQZTlNUHZlZGI3NnMrVFh4NjdBMS9UdGJ1bGpyMThTM0JsQVV0YjB2MzFMV215OHZ3WjNuK3dRVW00TlBwd2txcDl4L1RvSm5tMW52Zmh6OHY1VFluOWpWRnNaY2NTb3VDbEF6cERhL2xkUjM2eFBhMXlpdXhmZGwzdTZMMFM5cjlUZ2NvNjFzYkJ0d05pYjVxU3hkeHFFajJ5cjFqMGJNR2xXTTEvL0dSekJaSGl3c2JCa1JjUjNYcklLMGx0VzNlSmszdGxHbzFnbTFINVpDT3NMV0F0NE04b1hkUndVVCtLWlBXckh0S1BmeXlaSkozcmgyeHNqUmFKWkMrUUZzOVU1cHJwZHRmajRkcm1jWTE4MXI3emtwYmR2by8xWi9tNjgzMU9PVXlmemFzdUxLS2VTZGV2eEovL2tvcXpJN1lCbFdPUm5NZnB2bXpiTDczUGI1MHFLY0UvQTNmSjFjbzVYMzQ4MUp1YzJKZlV4Ujd5YUcwS01qY1ZyOXcrWGxkWndpVzV0SXRyOFJjTlU1WmJsSDZKZTNldktQVDZ0WXc0RzVIZEN2ME92K0xPRlJFZXVYZXNlaFpnOHF4bXYvNGFOR2VPQVhPSW5BdGNxTndxcDBOMnlYdFYzZjdPZG9kUzVIbDIwSHVLR1lQaXdyYVREUDlYN1B1bVZTaVltZDFkUlBIdFBPaDBGQ3lrTWoyM20ybXoxdStZbWVmRFNrN0Fxby9uZUZaL213K2kxVjVxdm1iSGtkWmh6K1RaYWE0UGZQbmlzd05yZG1kaGZ0SlBGL0NCaDdhaE96SGYyWkRoK1VJeDIvelVybVA0TTlMdWMySmZVMVI3Q1dIMHFJZzNXYTg3UnZ5dXM0UUxNMEZSVjZKdVdxY3N0eWk5RXZhdlk0Nm9YTXRxYm9kMFV0U3puK3RpRU9sK2xmdUhZdWVOYWdjcS9tUGp4YnRpVlBnTE1OemJYV1pJcUJVeUplcFh4K2luSEo1cnNqdjN3N3lCR3hGQlJQNXAweGFzKzRwOWZETG10WFZUUnpUK3BJdmZDYTBxS2V6dHZOYTZaa3hFZk1WcE9MOEJIdldYbys5Z3g5cXB0ZWFLVitydk4vc1NJdmU2L0RuUTNJcmoyd0Q2R21HVWVtWGpwTDhXV3dpZXQwRk4yZFAzR2ZsdWh3UGg5UGxoNm0zampZZndaK1hjcHNUKzVxaTJFc09wVVZCck9sOHlQK0NydE1IUzNOaFZsQmlyaW9uTExjby9aSjJ2K3NlY0xjaitvVHQ4VVJSUlJ3cTViMXk3MWowckVIbFdNMS9mTFJvVDV3Q1o3UEpzcmpsbk16RzM4dFhxZmp2Y3JzV1lxVEszZkZsbXFRdEZQZDJrUGNxR09lZk1xVU03cFExTFZyV3JLNXU0cGgyVVdEQ3lvUnRGcnQvY0VjN3J6V3Z3aTdPdlJGdnpMREc5bnBHQVlVL2E5T1hYTVp1ZDJhUHRncC8va3B6VUZtSTZtbUdVZW1Yamhpc2FQMlpYV3E4cVY0Q3Y0SWpicERqYy9qelltNXpXbDlURm52Qm9iUXNTSU1wdlZHV29xNVRCMHR6NFZKVVlxNUtKeXUzTFAyQ2RtK21kenM4L1laRW42dzVuaW1vakVPNXhGZnVkVXFlTmFoMDZ2bC9EeGZ0aVZQQWJHTGM0cXRmRDRsZ2FvcTZXOHVnT2RwQzJQWjJrTWRxbHhXTTgwK1pzbWJkVStvUmxEV3JxNXMycGcwa1gvaFVhR3JQeHVGMlhrdWpsdnhLcFJNcGl4WTZGWUgyZWtiRWhEL3JKN0VTNytnYTg5RTdYSWcwcnNHZjZWR1k1QjVva2FVRWxDUDhsSWNwL2l4alFqeGpLczFaV2RhdmlQWTUvSGt4dHptdHJ5bUx2ZUJRV2hha1lrWnZkdmtqZEgxdkpjclNMMmozNXZtbkRrKy9JZEZYN1hkbEhNcWl2WEt2VS9Lc1FhVlR6Lzk3dUdoUG5BSm1zaXoreGFzTlkrRVU0aVpEdmpISHpFZTBSdjdaL0xtczRMem9ybG4zakpyTjZ1cW1qV2xuUktHaGFLR3BNVm5LMzluQmE1VXU4WjdxN0M4L045ZFJ6MUM2OG1kWktFMHNxdzdaNkIwdVBHRzRCbi8renZCNjJRWlE4SEtqN09IUitmdDJrR0ZIUGJuOFBXYlc5TU43OVQwQjRmcXpsSlp3K2ZLdTJNeHNSMXh5S3VWeitQTmlibk5hWDFNV2U4SG9wU3hJeW5iZU4rMGpkSDF2SmNyU0wyajNoajkzRExnYkVuM1ZMbGpHb1N6YUsvYzZKYzhhVkRyMS9MK0hpL2JFS1dDMkwvbkpsMFhMRGgyN1RmTGxQSCtGUUMxRWxtOEhlUXhFV2NFNC81UXBhOVk5cFI1QldiTzZ1bWxqMmtEeWhVL241TTltY2k2M3dreWFValBscHVLZjU4LzZTdkhTTXlkZjRsQlc0TThrV29LWUVoQkNlN3ViZmo5K0ZNcGh6M3pZU25PNW53VDhXWWVFaEN6QzhadVplYUtBRDNyK2VURzNPYTJ2S1l0TlY1Y2E3TXVDcEd6bmZkTStRdGYzVnFJc1BWMWR5dTc3K2ZPR1JGKzFDNVp4S0l2MnlyMU95Yk1HbFU0OS8rL2hvajF4Q3BqdEhzc2dobktLdmoyTytZdE92dGtPT1o3N2FQNWNVWEEyWUxuZ05ldWVVN0ZaWGQyME1lMmNNTlRMbnBNL0d5S2JlOEtaaENOS2xuc3o0ZlA4ZVVmVHpmUXI3S2s1eUpMNEN2dzV0L3dzTXcyOTFQU3Vlb3F5d1o5bWw1M2d6MUpxNmtWaHVxNWZONmw4RHVrNEpXZk93MUhPSVBMRkxuOWxPYmM1cWErcGlMMWM5RklSWlBrR25iSEdqOUQxdlpXb1NMK2MzWk9aZFE2NFd4Sjl4azVTTGJxQ1EvSCtWKzUxQzU0MXFIUXIrbStQRisySms2QnNBcS8wcWdqVlFFRm1nYnhPSWtLbEVIWTRCUkhlRC9KUTM0cUNZZlpKejllc2UxSkZnc0ptZFhXVHhyU0I0RXVmZGc3blp2elB2dlhMRjk4U1BEL1ZPWHRrdGpOVEZoR3NzUjVib3U3Zmxra2hjaHBabi9hbmk5NHI4T2RqWm1GWUxLcVBPTzVsT1pqVVBGNHYzeisvN3UvODF6emptZURQTWlLa3VMemlsZjdhbUcyQjh2K1A0Yy9MdWMxSmZVMUY3T1dHMG9vZ1pTdDZzNnNmb2V0N0sxR1Jmam03SjlObFdVcDdvd0xyM3BMb2dXaUxubFp3S01yeXlyMXV3Yk1HbFc1Ri8rM3hvajF4RXBSRjRqeEJwZmZkRk44dE5va014VUxFYUQrWlA5Y1VMS0x6NHNVMTYzNVI5UEx0czdxNlNXUGFzaDZ6WCswY3p2dDRMVS84OGkvSHVVcVRjeUxZYy94NXAwNHQrOWpKVmRjNGwrZlA1OHl6NElKVFZ0eWtEWmk5OGJlZlB0WWRsc1g5eENmYmlrcEtHTzFUS1dZZGxwbzcveFQrdktEYm5OTFgxTVJlTEhxcENaS3puM2RNL3doZDMxdUptdlNMMlQzYmI5K0F1eW5SVit4K05SeEtvcjF5cjFldUZKU2ZsdmZ5NHVRWkJCYnRpYzhJR04yaklVMTJRcXl3d1RJcWFwNEVlV3ZOSi9Qbm1vTHp3S3FscmxuM25IcnhnN1gweTY1QXZsYjNsREh0YTVLOGZuZmZjRTcxZGZGYUpiTHBUelpwV1ZrTnV1b3hwWmoxNTUzNXFrQ3ViQ1BQOHZ6NW1uN2FteVlwaTl2TkUzcm80dlBsTmZKTTVYSS84Zm16WXBkNktsMjM0NWZlQnBjUTFFdjZGUDY4b051YzB0ZlV4RjRzZXFrSjRobk5tNTk4aEs3dnJVUk4rc1hzbmsyNWI4RGRsT2dyOXNRYURpWFJYcm5YSzNmV29OS3I2WDg5V2JRblRnS3kyV0taV20rZzhzbGlPbDRWT0lsQVFTRXEzd2Z6NTZxQ0FTQlRucTVaOTVSNnhHWE42dXFtakdsajBaZE42UnZPU2JZdVhtdUliT2FaVmlKa0diL1RXNC9CelBKbjgxYUh6TEwzajFrUFg1NC9aeDd1RlVoN3FQQmVMUERpRTkrbjdDYm16OHB4azE2ZnA2UkN1dDFWcTVaZGNPYnY4Znp6a201elFsOVRGWHVwNktVcVNKZFJiVHZ6UitqNjNrcFVwVi9LN3NWU3V3YmNiWW0rWGsrcjRsQVE3WlY3L1dKbkRTcjlxdjdUczBWNzRpUVltd2czczBrNy8zbVpTU3F2RjZMRy84SFBQOWNWcklQMGJJNDE2MzVXNXNiN1puVjFFOGEwamVyTWw2MXJPR2N4dXZpemZUMWhhamx6dHl0K0dhK3JIb09QNWM5R3lOUkxzQ2puNmFIWkYrZlB2K2wzbXNsN3VWcGZtTTJpeTNyMXNlY09WVGp4TitiUFNwS1RIRmN2dlZEdlovRG5SZDNtZEw2bUx2WkMwVXRka0lTaHZtblNSK2o2VmtxY3YwK0hrN3N4cHk3OVFuYXZKdHd6NEc1TTlOWDZZQjJIdkdpdjNCdVVPbXRRR2RUMWY1NTZQZkY4T1IwZng4UHR1N2lOZFA5ejVXeW5LTnYrZnY3OSticGNiNmVqZVpYczMrVndQTjYrVThzTzJWSnE3VkQ4QURSRmRuM1IwdjZQWlA0bW1RK3BUNUNhVDVXU2U1TlN6OGY4NnBPSy9TdGJMeWhzUzRaem1tZEt5R3RnMFhVRytwQnFMcm4zVHZwL3FmN3U2Mzh6eWZSMnRwS0MrL3NmR2NBM0djREI3a1QrTFpoVXBwSk1jcVh1QmlTYXM1UWg4NHVodkRmQzVIaTYvS1RNbkRPckZWRy8raW9zMlhtdTd1ZEtYOGc5bnE2cEd6THdaSkpWMkVKTVd4R3VxMC83eUR4eDFnSjh6M0F1SXZUeFdtVk1tY2QraTdOemZmVW9PZ04vTnRRNGFTQjMrejd3SW4vdTlsVU43WE5KTHJjemZUNFdoNGl3YUhZYXQxejNDRE9YenlQK2JHWThrbTVmWEcxNkMzcTVGbnQxQnY3YzREQWFuRGE1MlF1NTJhTWRaMzVwcE0wTTNSV1gzVEZtVjhZU0JTM25hM3J0c3lpMmFaOUZodEtpSUhYL21ISE0rZVNPcHJWbXl2OGI3S3JpNjZtUW9xNjdjckFrd3BROU9DbjlwSFpTdVBPblpFMUZKZW9ONXRUQzJpUkQzZDJ6bXR4L0tOS2taMSt1TmxyNE1RSFY0RkNMMGh2Wm5yQjdSeXZuc054Y21yRjl3SjFKOUh3ck9KbzRoOCsyamJpM2RITTdwVGNjdHVDUUs2Yjkzb2EyODRMS1hJMWplaDdvcHlFZEM5L2UwZmZqZUR3Y1R2dzdFRStWcHlkL2h6Uk9PdHJJNjJ0TXBrUW4xbkI2NGc4ZmN6SDBPOWh4T2RMNkxOM3B5RTZBc25tNzVzekVpVnpnKy9hY2xRc2NSdm1odEVJcFE1N01nWDNGVCtveXhWS2RiNHRSZFZuazZNNzlOMTg4WFpsY2t3NC8vR2J2ektxM3lITC91UmhmS01XTmY0SlFVNnBVSXY0eTVDa1F2TFFmalFCVnNHTTBrMkVpY3BIVjRjOFdZMDRmSHgrc0t1Z1lnUERuL1pjRHIyOHJKT1MwZFh0YTJ4T2lKMzRQR2EyRDNveGtMbkhYY1dQN0NtUzJiUG4vYTBpVE52WXRhR25KSWxaRW9hMWluTm1ocTg5MTZ2UFBlOWxoWVR0aWVFTVhhbGJXWEV5N3F3cm5OS25ZUjlpbm4wTFlpaFg4cndEdkdxWGl6WDlUa1B2bG1pWWFtOTYvSEp5VlBnRk53NUhuOFB4YisrclJld2Yrck45VFRsTzliNnVrYWZ1RWIrNzFWYjdrMmJPREhTcCsyUVdTRVorK3ozczJpVk9TNk9mS1lXUWE0YzhWTWFSSC9ObVlSZElPdE5POVVQWGsvTG5CWWV4MmxZN2d1Z0MxQmZHejFtTzQ1dEhqc3BQOWU4Q2REaXBpbWF4Slg5TnBuMVd4VFYyekQ2VlZRV3Irc1crVTgzSlhtdFp0R1JwTVh4K0lxcnFhdHh4U1o4NTE1NHFGZEJpdXIxMXdWckNtcWhMVkJodnJLZ1NwVDJyeTU3YlNsWUlPZnE2RjFtYjI1S2g0NzFGVmVpTmN0OTJQU3JsSGxlYnFHbkJuRTczUUNxNHU0L0dUYmJQTFYzUVpZc1dSYUVsOURxM2lLSko1VlNzT283empVYys5bGJiVFFpUCtURzhoR2NKZW9uQmVOSlBYLzNtM05PcTJ3U1A3cko0NE5QNURNWVJyUEp4a1lnZlpjY2ZuOGt2eDUvdnBjZFIxWjUwQlNRY2RkM0VBM3h3OTdZWDhIWnk0SlhCTmY4Zkg2WGV2T3hPZFhIUnJzWlFhMEhhSHBVdDU3RDM5bjM1MkNGNmdNU041c1hJekUrUmdMTFBCVXVxM2tiZGk3UHkxaFJncEIrYzNBZVJXOGN6L3M4Z3NVNTM3c3pTUDEyTjhjNm55NTZxQ2pnRllXeng5L2Q3dlorWFJ3VFNLYTZxdjE1MUVJSko0YkdOL2NCaU5xUXFaVTlHZnhJcW5yNy85L3Y3N3hTZlJJdHN2dGZaVlh6bDhWMTdzaHJkdVdXSXdaQ3JVVlUxSHZBdTdQVGk5bGZKM29XYkxUOGEwVkZaZE9LZEp1WTJpUHYwRXdsYW80SDhWZUwvRmJQOEtPbGRRS0orYW1HVnMra1NlTWFuMENlanl1d243NnRFYVIvNnM3OWNhSjZ0R2lYWjJONDl0KzlpQ3VuMlZVM3Joa0xEUWpzSDJ3N094OWhkNGtVSVJmSWxWSzAwOFZtNzNMMGY4MlZoZ2t0QXJmMzZoYnVrNHBjMUVQQm9scS9hbE5tY05Eb08ycS9RNGJiYUZ3amdTZFUvYmdyYmIxUHIzcUVaVkxKTTE1V3Q2N2JNcXRxbHI5cUcwS2tnVnZ6NS83ZWF1Tk8zWU11U1dCZlFYQjZLcXJqWCtYTFdRSjdWek5lWGpralZWbGFnMm1LMnRHS1ErcDRuVWZhVnY5ZTMvNVBEcmZIeklPeUZFYW5LMVZlbU5jSjEyYjFYeS8xZWJxMnZBblVuMFlpdjQrdGl6NTlxbVZKR096ZFoxMG4vclBYMWFKZnk1RlFjcnJmdS8vZDVxMjJteEtmN3NxT0h5NTVMK052Q1FXenZja3F2YkJvL1BsNnVPNzZMWDRjclBVUHp4N21rTDBmRjJNY3RYNTl1UVNIdEhuQUhmOXNTNzZjbWlwcFNhMnFvc0Rjenpadm9UdXhxanVWL2FCMnlxb1ZpYm5ubmpNRXRKdnNjN3k2WFl3clAvalhiV2hwMTgxSFBDNVRybmF2S1F0OEdaQXYwQW0rVDJGMW5FNDNsNkJBV2VML0xUNG01NkluOEh2UFNHS1NFUFJBaE9XV1JuZ2tOV2pweHp5bjMvdmd6Nk94eVdrNjFwalNGOVZVRXlnR0VKL28vRDV1dlFTT29hdkVoMjJyb0QxZldVZW9oaitHTjNvS3Qvem9YYmFOSjF5TWFLeFB4UEk3M2RNL1YxK2hibEpDdHlYcG9raTdmSkxiRWtqMWpoMzQ0RWNKNjlsU284dyt4Q3pjb3FiZWtWdzFkYWhLdjFhYklKV1pyVVBwUkgyRUhCQ3VYL3J3Ti8xeTRsM2VjNGRLK2djL21GeWxrbnIyVkIrSmNvcVV3RE8rdVI4a2Yrck8yZm9tcS93ekJuSW9QUjR4b1orMzFWUXJsRTBxK1pMK1J0UGZjOVRSS1p6WVo5OUprMUsvbk5STVdGSkM3TmEzTVR3L2o5emhTZy9ObHhiSVdDazVmVUNVYUFqM203K0hPRHc5aXhBNmc3N1dIZ0o5RktRM2VMeTI0YXN4dkVNcUFrZkUyM2ZWYkZOblhOUHBSV0JhbjV4NzRSbG5PM051MW9nekpCOVhoNUlLcnF1c3NHU3lMTHBJYnJhQmNlRnEycHFrUzF3VXgxNVNEMW1YYTZzemNhdG1sNy9wNVVrbW00cXZSR3VENjdEd0hVODRibTZobHc1eEc5M0FwcHhaNXBHNTI1R01OQThkU0QyLys5WEs4NmxIQTdVUlJnQnh1aHNackdqOXR4Y2lzT0tkbWI3NjIzblJhdlJqWUU0VFJCNDZweHVvNnhheG5vcHlCTmFiaTlOSWFTZmg0dGt1NFk3alZVQmtPQmtLZUQ2WWswQmcvV1F0UlhpblJnTjdkSXFPSkU5K3E0blJzcEgwMnBzVGk4N0NNWFRJTTVsYmFVNG1TUERxV0M1QlBHdE9BZDVXNUlFRjQ1TE5YckRZUldHSFl4MGczbEs4NCtLSjRRazBQdWxUNmV5RHR2ZmRJa3NvMmR4dVRWbCtORytpcmJjL1p2bSt3VkJXV1lvTWZRaVU2NElOREtKZVBuaGI1VTRMUjFqOG83UjNZYTFUVmN1U3hPMG50VW9Sa3l2bC80a284djNYOTBOU1NvWEF3ME9FNGJrYnE2OHltWXRSR3dYMFdOWGtCRlAxOVVtZXh1Rks3V3AvVjY0dDNVNnB6eUQ0TU1yZFFCdk1EdVRjUU1wYVFQT25tdE5aZDRKbzdvcXcrWVgxOW5QWEx6eUo5MzZpZ1RpdDBHdnBqaHoyUWpUL29xWDRIbzdHS25jb3pMWlN1U0J4RktNRVNsc1BINWcwNlVwU01oNHMvYWk5TTFLS2JqREdCSFBacDFVdjdjNEREVUgvbzlWVnhBNUxScDBabC92enhQN1RSSGV1aVdJdHhzUGhDMS9tM2NkSXRZL0xJNytubFpuN2JQaXRnN1hSQzk4QXhDRlFMWjJPUE5UYWFpRngrWDRhd2lTQlcvdmxHdXEybEp4Z2E3SWdVY2hPZ2U4Y3pKYUthaWF5cFlZcHlhUFhpdmRseTQreVA1NnQ2dW9rUzF3WGdYV05WWStqVFJkeWlPamxER0dkTUM3TlNjeHFoSTMybjNMbmpEY1hOekdmTktqRXREV2U3QnRLSzN0SUpiKzNqYzF6WXR6VzBNUDRoaExmMEszMVJUeFdFVU5UcXEzZHZlZGhGL05oMmZ6TzNtalNndFFIZENHcW0xMFFTTkVmeG9UOUpDTHlQUlY3aDBZTWpjOEtDYktpbFdFZDZ2NDQwM011cGdPZm9Fdmx2SSs0RW1kSlN2bU5CclpCVVM3MVJMS1lDdGdZTU43WnlNVkxJdmluT3RlS2hCaHlzVHAzZ0d4dmNUcW82VHk1VllzMzQ3NkU4SWVWSVU0Ykd1VHB4TGJNQzNGVXBWeWhDMXQrNlVqNkxQbW9MU0Z4LzBIZ1ovQWtiNzhtRTBCSlY2MnJxMXpPQ3ZvUjFCS3AyeUpia0RRd2RrcVRpUk5uK1F0VHVRRTRDbndMRkt6MHh0N1ZCNDRoa2dRZnRGMUJJeExTMWJkUWhYNjlNRzRiQnRwY3Q0Q01kdElDazl3RXUwNkxaYXBzd2h1WmZYR284VmQzVXFhQ2cwY2RCYkR4Zmg4R2Z0VmdOWEhpcllqd0FhbVAxSVdHWTduL1JWUXlYcGc5RkYwUXo4N1hhN1hyNys5RjNha1F0SkY4Q3BMSFJIOW54QmVvWDdpV2RuSm9KSmVuNHpWTlRLekYvWEFnTEEzZXdkNjg5U2x1TWRxSmpRWWV3Nk9vSTZqRi9xMjE3ako0ZnVtc3V1OWU4T3NXSmY4L3hZV2hON3FhSFU3S3ZObTBFTnY4NFJ0cWRwSngrSWFxREh3UkwzaHc0TDZkUE83V3g4M0daTk5TVnFEZFlXcEhacElpTy82d2lscHhwLzhQZnRCdVkxNmJ2c1BnUlF6anVhUzZkbldnZmNTVVZ2YTRXa2dtWS9YNXQ3YkdRMkd0ajZnNW5FeVBSdXBQQlh4U0c4d1RtdjNOdlJkbXFnWGh5dThYYndwcDQyb0x2TTNkRm4yNGVLdHIrNEpvRldSSHdvTUl3aWR3a1dMMS9ERmtIVlZVRU9RaElwTkNCWkFxa2ZhV3EydlowazFQQm12SzJ4bEFMbUptRHlJeEhLVDdMNEtCVEtDQzRKQ202QjdGK0RQTEpnNTZzYTVlQ0VpdlhieWNNcElVL0t3ZjU2aE4xbWtZSERDN2o0Q21WTlpaYmt5SXhxQ2tvTDA2MWV0NlZLTkQxQ1VDcUpCWDJ1YnF1bS8xK0dyc1RjQ2psRWI3bTRCN0pFbkdvVUg2TjdjVXYreEwvMnJFUWtwczdKbDBlMGtFS2k0YXNMdFRpbXBaSjdoTk5PbSszVEpvYUxXbHdtMCtLbTlSdUh6M3FBbjUwL1N4Y2hmQVAzeDVGYjVENWRWVjdrenhxWEJvNll5djhhK1pFeHNNQjZYdkJWcnZqeE1VazAydko0V1VLR0VKenhjbmhFdmpYcTgyR2VqblB1SjU1VUJ2YWtRRnZpenkwT282c2ppQXY0SFhmM0s0akpvYnZKWlIveS9idW5mMGJUQk0vYlowMXN3eU5tSDBxclkzclZQL2FOc0pxN3JXbDFKZGwzc2k4TlJHMmd1OEVTRzE2UGhYUVlidXdZMnF5cHBrU2x3ZlN5WDNraTFPMXBKeUZmWGl5bEkzNFVpMUd0TmVsNzdONVh3cDcxTkZmWGdEdWw2SzJ0WUpYeS8zZFlXV3RGR2pKNVFRQVBodEhxQmdsU3hjRVgxanVyM052UmRtcGlYaUF1dWdZUlJLditIWkI2Q20zN1JMVHlIYWgyTUE4MzBvRTZnaGQ1c0ZyS0hJYzMxQmhOTlpaenA4Umt2WXBxQ3BEWHlTbHYra1VHOE1PWHpTblIxaGdDNm1tOUZDTkk2cCtKYjZPZzdKU2dpNm43RTJsc2t1N0NZV2FwdVNrU3JGai9ISkFuTk5KaE5SRlVzcW9lYWVTYldmMEVlbUljbnMvbnpEVUZ0ZFA2MDNSOG40b1V6WEZNV3JmVUUvM1JpY040Y29VMGNZY3ZpWEFiSVZNUS9CNG1WdVIyRWNFdjZIUVNYa2EyYTU5L1RsQlE3YUtoOEYyb0pmbHpqM0RsUGsxNGl3ZE8wRXRDUGdGbzJFQTl3UGROaDNOTnZieFdYVlE4R1VlNitPMGRxTkZiRDkvdXJEK2I3aEU0Y29wTXh3Nm9LRnZQYXFzbnMwdllVekxSM3RMMjN6NytIT2JtN3BTb01jeW01eXl6MjhuU3VkcFQyYnQ0bzVpQlBXbG1oajk3K2R1cm9weGFRRGhjT1VXd3NTU3JkdkxJWVpQRDZPb0lWRE90N0xjTTNWV1hYZW5mWFdKRi9QbDUrNnlOTkRORUwyR3o2WGxOa0FwK1ZJZzBWdFMzVllHeGc5dmF1NXZXZDB3dkRVUTFYWVVxZThFU1NkMWxJUjNhV1VERy8yM1dWRk9pM0dETlFXcTdKaHBSZTlSTEd6KzJpWHFFMVdIM0kzRHVVVmR6aVlPTkp2RGQ0cHpqR3ZBZG9qZTNnbE85YzlqZU51MFY2VmpqRGdla2IvUjBIUXRSeGNHUk5Ed3MzOXZUZGduK1RPNDVmTWx0cy83dGtJWXFiZmxjQUEwR2Naa3BDV1B1UThSZERKbHpZMzdWVkpEeWU3dU1pMUZ2ajZjdXBNM280MWtXc3Z2bE5MNUdTZ09TaGxMczNZbi9hbDdSYzdrVTFUMGRwNFZqUG51N1JJUjRTeVdHRXBhdG4zSWI0dUwyUWk3akJjaERFZWhjcEVnNVBia1E2aVoxUjYyaUkrWFFrTGFXbW9MYWFSTjFhejhOVzJuU3VxMk0vbjhkdkNKRmFBbldCYUlITWxYRjExRnJjVjg3SUtvRnUxZVpmS1JDN2l4cStteE9TTjJrbE5ZV1MvSm5LYUZIdUd5ZlpyRFZxSDNZNmV3YUJscFJEa3JvQWI3emNTeXVycHZYaWplZ1dhWkExdUxIbjUrcGgrNXgrYlBFZEJGSFB6dE9POG1mWC9GVmdZYkI2ZkQ0YzVBdWplM05tWVlabkhNYW5VSWduYXY5aDl4UFBENXNtdGRMczhXYWxreGVzM21LLzdXQTBGVTd0N0FqYU9IUFRRNmpyeU5JbHp1RXN5bXBjYVFhelpYSDdENnhKaHhMcGVKSVFRZjlSWVpTcXE4bVNCay9GcmpQWDdjM2JaTmRhZTJOdnI2bWEyb3c2Yk9RZHUyY3BqYUhqZDZ1cGtTNXdjU0VvOEUxRG5WMTFHdnFnaXFRN3pSVGdidW9XWk8rSTRTTUVhU1V2dWFhZ1Q5UFNqaVNLcHFJcEtsdG1wdGJuMTN5SEQ0RkJjblJwZHFFR2FrNXVYaHZWOXVKbVh1aEk5bGNTQXZiT2RrckhiZWc3OHFYTktyeVVaRzBJRzRoVnh1UDlEb0NSYjVDa2oxNm9MWDRTOUtzdUF3TTd2U250bG5jU29KU2N5a0ZURTJjR2V5dkpzY2E3aWtxbEJGY0NzZDgwU0hJUTZmZkh0K0tyMHRLMGZvNXgvU1F4NUlvbDB2R2ZkSmd3Ulh0R0ZFeE1vOGRXRkdsZTFNWmFnQ3hwZGd0d3k1bnRYQkVCdmdrZDQ5VTBBUWRxUUtsdVNXY3BDN0lOR2dQNW1zRVdYZG9NQWtlRklxT1A1Q3lrSnJ1OTJJVlhnVjdCYlZVeUdOanFnN2hNbjFhcE5STklaRmFLWmVqV28xL3U0QmZnajlyRHc2bjQ2aUJQS3hHQmN4Uk4wK24rMXorYkJ5RFAydEpNeENqMDFidjZSb3RGU0dHRXduVDVxdmkyOXlVOGZGbk41V09lWFkyc01jZ3gzaEtXY3V3alZtYmpsaGRMMklSM3gyazJaSksxMnllNG44dHdQRVNZZTVXL3R6aU1EbzdRdk00MHVxeU0vMjdVNndKeDlKTkRLWGM0alZCMUhsbjhCT1Q2UnBoMjBNRU16azQ1VUJVMHpVeG1IUmFTSWZoaHQydDFkdlZsQ2cyV0h1UTJxNko5bi9ma2VpWW1mQ09OZWs3N0NNQ2tCSTZtMHRFOTdoQXFsQ1ROcDNvN2EyUUZxZTViWG9xVXJzWm8xVUtMTWZoMlpXamlvT2JPVGd1M2R2WGRpcXV3ODVJM2loR2E5ZS9HZEpBb1kyZlNwZyt0aWxMcXp2MUhlQW83U3NWOHlna1VkZ3V6TWtMa1RTUzhFdmttcVIzdVRHZmNVMXhUczdkWEFwbnp2eDB5alUwM1A1UFB6dkZKOGY4MkxIOXBCQjBpcEhEa3ZWTGh1a2hEMFV3TDNFTFpoaE1MdUdTdnJXb1B3N1NLUHZVL05tWWhqL2FDeHhUMVIwaklTazY1UktPQWIvZXlwaU9ac2tDSXNoQ042cDM2UmpwT0ZUQkwrQmg2Z0RkRHFNM2E1RlJSK1NMV3U0THFDVkNIdE80WGNKNUU1a3E5ZkJYMWZJOEJsMXI2akE5d0ZzMHdxWWM1RWdjbUdacG4xMVRYY0w1T0hLcEhtK0xhdXF1aDBydytMTUM0ZmZhdmV0eWRLUkw4ZWNuZlZXa2c1dEFNTGluenJHNHVJZ3YrQ0VBQUNBQVNVUkJWTFNEZDNMSklZdGNoaTI4bzNMTy9jUXJVSWNVUDgyV1lhNmxReHlicWZSZkMvRERYaTkvSTM5dWNoaWRIYUY1SEdubWYra203UlJyd3JGMEUwTXBOM2RORUczZWtuL3NHdVVNUDRvR2d6Z3FhN0tyUGw5ZjB6VXhtSFJhU0lmaGVuMk5UMFRodXJlcktWRnNNTzMwY1djUUIrK04zTzJhYUNqZ2orRzZGUzB4THRXa2I3ZVBDRDlPNkd3dVVidDF3SjFPOVBaV1NDclpqbEZYUmFxZk5RSTY4NXQwRUtXS3c1QXpQaWpkMjlkMmF1YURKZE9MdTQreHZPMzZ0NXQ3ck5TR1V4SmtXVFcxemF5eUgrS3BCN3NZR29FcTNkMGxOY3BBb3JWSTB4bmR1Rm5iTEpHVHBHZ3ZwUVMzekJjRWxrdHhXalN4VWlyRHZ5WW01RGd5amFDanNPbmNzc1Jkc242cFZkdG1Tc2g5WmVnc3pXWTBtM3B0SHl3UnlXMXV6U3BXRUxWa1RVRTFnSGlNb3pKMUZIR3R4ZTZ6MFFxZHY4L1Y3UlRnSFdyRlFSeDljeGNNdWlBVFFoMDk3a3VmVWFHZmc2enluV0RvRWV0MWJNM0lXVUJOVyt3RjFCSWhqMzFrdVVlNHlCSmNpSlU5RHE1YUw4WGJwOXhiOUxnTGVMcWxhempuS2xTeWxxNnJBdGtIOVFQNjZMK3EzV1oxL3ZmWEUvQm5NekhvR0JCbmNFNlQvUGtWWCtWSUh4L21IbjgyUWF3L3VNUzNhd3FOVGJGZnlXVnVTZWQra3VMUFFkL1dvalEwOFBPM1ZETGswUUtpZ1dDNHptK3hkeWJNeHZUZ3FNVmg5SGFFMW5HRVJHbHoyZW4rM1N2V2hHTnBUV3dUSTg4NmxFcEQxZ1FweFR4cUNWMGpiTE5lNXAwSllWZDhhU0NxNlJvUEpyMFcwbUc0UVRleWtVM1VJY1BJcktaRXFjRTZndFIyVFdUVUR5WllWRWgvWEc4eXQzYjdpUENqaE43bTZocHdhOEEzaTk3UkNpa2w1MkEyVW85NmNoMlV5WXFTWVM1bHJPS1FGbHBTQy9kMnRwMmF1UTNLNk1YZHgzaVk3QUM2M2R3TDJtM3ZraUxnT2xGTjhaYlhlS1QzNGc3VlF5R0pMZ2pmY0FNZjVlaEJ0TTFGYUV6bmdLSnRsc2hKZWRwTGNRcU1EbFZtTjdEazNwTHdROUdkdVlSd3pEZTkvQkxpY2c0VEVnVVdyRjl6VHc5NUpJWEs0RnJFbUVYYngwZExSSEtiVzdNL3gyRzFncVJqMGRrejN3NG5yWHRVMHo5U0N1cFA2Rk9IY0x4SkYyUTZHanJNeHRUMmMvbTJ6a3BTZnVtZGRuNmw1b0dIdUhzVVVOTkxMNkFXaHp3c1hiZHdzZEJHYmY0WE95SG1XZW1RM0xuTmpqVHR0dG8xbkhOTi9ield1RS9QdzVDZmk2STJUNDhuNm1IbFhZUlVVcTlybnR3MTRDUi9mc1ZYK1FvRVo5bkhuNFUwTnRKaThxenhYRkZRVWRjcGR3YlBDNXZtZGJyeVdKN1NYei8vZUxYaFNBc29OSHdqZjI1eEdGMGVpR1J2SFVjb2EyMU1VZytUN3QrOVlrMDRsdGJFYm9iZzFiaWpKa2dKUDdXeXJsR3VXUy96RU02a0ExRk4xM2d3NmJXUURzT051NmplWEl2TWFrcVVHcXpEV05vMW1ZTS9lMjZRa1lxaTloZytTdWx0cnE0QnR3WjhzMmwzdEVKU3k5a3EwcVVZRHZQb2k5N3BzR1VBdVRCd3BJV1cxQUtHblcyblptNUMwci9qNDVBWUpUdUFiamYzZ25ZYnZDUjZ1WUhZOWZFdHplek96SDZQM3hGMVZGQkluQVE5akhxaTVrdVlpOGFhRG12UU5rdmtwSkxiUzRra2NoSk1WT1FTRXlKbUNkTnc3aWtmUm1PK0lYcVAwMC9rcE1vbFdmZFU2RG5UUXg2SnBERmxQS3h5UnAzQzhtTktFV2tCL3B3aUFKUFdIU0ZoRWxScHQ0dUVUN1AzUUdiVWVNN2laQ1NOUTFYdE5zbFpCeE1sZVNiVmhWb2M4dVJ3S2dxWDd0TzJLRFZycjd1UUc3Slg4Lzk3Z09kU3VvYno0WVkrR3FlNmVGTnlWRzFlQjdtaWl2VFJSWjgveDNiMTU0M1FxZTVqdCtQUkU4bjl2cXFvVWZieForTkNpamZiaTJSUWFadTJHWHIvY3oveGpNekFudXlNWnFUdzhuZFZxQVY0UGMrL3Y0MC94dzNybHlKbnFraW4wNDZOTWhxNnFmQkNSQ1pWbDhic1hyRW1IRXRyWXB0NElzSXlna0Q3YzhKL1JkRkxWSllrMUFRcDRhY2w5dmxybFRlU0pkS3J5YTZpWWt4Q3h0ZlhkSTBIazE0TGFkVXVLWGhiWkZaVG90UmdIY2JTcm9rMFhiRFo5OVg5MnhFK2tYMUVPVGlodDdra2Z4eXdKTXV1ZXByRnV1eHNGYkhIMTAxVkp5OUE4UEdvR2FDZjJ6OHIzTnZaZG1ybVNzN0lWeVJmZFRhTHVmc0tiZjFNcHhBY3NreHNVanFuTy9YdnZTeHAwRWpRODNrRlh3dDdvaHBOS2hUNjE5NjVOcllLd21CNHZXeTk3MlAvLzA4OWtJQnlDWkMwdXROdTd6NnNhaEdTSndFU1Vjc21TdHJtQTJJWVlLaGxFbERZNEZzbzBrRFZ0YW1JMUlXcXdxRnF6ZzlKSnZXVTR6VzVPdEN1STM3VDhYNHVzanp5MlBUMFNWMDhXejZidmdvTG9QbGlHb24wQS9semNJRFVMWG1jVzZydFJNMThrMzBtQzRUekRtRkJ4djJ0RGwzekpodDcxRkE5SFhHM2tYTU5IdUllcDFhSFBBM1pPRk52Q1NmMjZha21qZ2JTTXE0VGlWbk5kQXB0V01EN0UwelQrWFNDTFgrT1Fkb3N2dk5jSWZ3bUJlSS9udHZTWVNsKzAvN004K2N3NXlkRDJTRzc1VS9PbjU4WXE5cUMwWFcyNXRka00xVlc2a3FldnNaLytoSFc5NU9zNVlCOU5sVWlOVWV0RDNaVVg4OUMrYk5xd0xCMkJPVTg0dFVZelVtZE9idTV4T25ybGE3c0xUaVhqc1RtL3JKbzlFSmFWZjlHZ3ZUNGNXV21HVmFyVjdpZjcwSC9KbityeC9xUnJ2VmtzcUxqVnBhSWwvOTltOXQyWkRaU29tTXdTNUNxNzRJOFNtWHhSM2dPT1JudG83WWo2ZFgrRVN2TVBxM21NazI0UzRsdXNVS20zYlNqdEkyOUlWYng2RHFmY0RkMGJIN0lJUllVUGp2bkdtM0hiazZUcXcvUEJGZmplOG5FaTl4OGNwTFpQZWQyZ3FLdmNvZzFuZVBybTd1NWp2MWlsdENWbVhmbUxlVzR6aWJOa3k2dWhLTzNaR0JnWVpJRGMyT0dXdWFUNnEwUTNTYjNPYnJuNHV0aWhpUFZuQjhpRG5aWDkzK2YzNWZicTdyai9YemE4c2hMY2NMOXA2SU40azBBczdlNHM1VWljVHNqQmRrQjVFeVFnV2JaOHFKdGx5U21mVWFTUmd2NTI4Tk15RGdzdDdyYzVmdDJQUjA0a1U4RllSbDcxTGk5eDZuVkljL0VKVzVvaEd2NFU2aUNCNEpVeUUveGpwZllZdmcwZ2Zmbm1LYno2WVIrL253NDV1bFhtRlNUQ2NkTlA2TWNMeVJ5V2NjS1NzYVBzaDAzekdSZXhIbFdjaWovZFY4NWYzNWlySXB5U1ovdHg1L0QzSklqazZxWWJuYVp4dEhtUnZXVDlISjkvT3gxbGorSHE2bWlOSytTUDJzR0RITkhNQXljdWlGYjdOOW1zUmFjUzBkaWErY3Rya2NWdmNodU54S2tFL09FQ2czR2NtZG9TMnY4cXRhb1A5YVBkSzBtRTdPSGFMV3JKZmRIZ2pIalNDSkhaaU1sT2dZTDlRdWRvUXAxMVhhS2p6bm1RUkdQOXNLME1wTGUwRzdOMEd3dTA0UzdsT2dXSzlRNitpTktMM3Vnb1JEQ0ZXOWd5cVVZY3NpTFozdnRjNjIyWXpmM0hzYStKa3lTRnYyVlNETmwzbUtIeDlGSjFMTmZLS1o1YkI0RkR2TENpQklKTHk3ZHQrZnFqNXBKbHpyWlp1bGxpMGt1UXkzVE9jSkdNUGtjWnJvRFludkN1ZktoZXM0UHY3b2JSMm4zdVoxWnlwV0VvMjN2RHdXV1IxN0tFd0ExbUxDekpGY2YxR01OdHpOU2tCMGdueXFpaE54MmRpVkhpVVBYZG15bi91U1drd0hrbkMwb21wQ3hWNlNwWXQxZWR1UnlQWEEvaWY1a3k1L0R1V21WSm1wVnlKUFc5S0VXcnVGUHNUS2VWcEp3UVBQMnNCZ09OZW9XZk5VMG5YdlpGSGx0dFZBZWlNOUR6T2pIbng5c3A4aWZ1ZXZNZ2Y0dHYrT25rVDgvUGxaRjAwbWY3Y2VmK1NXNCtTcXdWSU03bHF5TlI5ZHZmRFljb0tyWEk4cnk1N0MybS9qZGZJNHczTXhmYXJiWUR6b2p2Ny9Ta2d3cWpUcFo1LzZBWVJxQmZEdUdJVUEzWklzbU1JdEZ5UEtMU0dIZW55MnZuRXRIWW1zUlBCMTNqQVRweER6Qkl3ekdNcGhXNDFkQkFQNVFqUFVqWGF2SnhPd2hOaGFaL0g1SDQwMGpKVG9Hc3ppTFFSTXlWVDd0MCtna0RRb2o2YlYrWDZIekI4em1NazI0UzRsdXNZS29wcGJSSXcyRmFVVU9jVm1hSVFkWmFEcmFQdGRxTzNaek56V0dHQ2dMK2xrQ2kvNEdkKytvOTRKZjhZcHNuT1pkME9LbWRHSTlkOWlkbkdJcWtjUWJHdWNwTU52YUpkRkxaMmd5MU5LRHpDM002K2xPMzN5KzdwMHNmaWZNK1I4M1FwT3F1Yy9pTnJFaWQ3RHQvZUdNNVpHWG9nVE9ZandVWDRLZGpkdEtrYmlka1lKc0hubHdDWGxKS3ZDaWJhY1Y1OXM4VHN4M3NMakFONDE3VGNqWUtZVEJLRzh5N2wxWjY5M3g4L1oxNmQ4aUxWTUxvMStzejMrYXFGVWhUMUtUUWJpR1A4WEsrT0xvM0JPLzhyWFZXS3o0TklIMzU1cW04K21FN2hEaEJwQkNxakJSVFdPbTgyblpOTWw1d1VvemdPUTczcFRhbVZOMFg0Wm41bW5VUHVlcFlpdC9mbmlzcWlSTURyUWZmdzd2aWt2S05qZWR4cXEvWFlkYVhya2ZYYkp4T0FRQXlRdzBuOEE0czZGdS9sS3p4VDAzVHF6Q0daYjh1VDlnbUR1Q1lRalFEZGxpL3phTHRlQmNPaEpiT3dvR0hWcWVtRVl2Z29uZG9aRWdQT1dKL0VLRkJtTzVNN1NsV2FPK1h5VWFxY2I2a2E3VlpHTDJFSzEyaWVUWnBpSXlHeW5STVpqRldReWE4RENWNnNFM09VbE9NNUplN1I5cGMzSGJiQzdUaEx1VTZCWXJSTTN5VDZWdEhtbUlMVmZHREZuekxRN3loSmpQVUsxenAxZWRTRDdqV3E5bk8zYnpiL2U3VlhlZXllYjROMHByMFYrSk5GYjlQcDlzMEJpRDhLK3VzcVZpcU5FS1pwVkl3azF5WXBCU1lBbzJLNDdTcnFFVzZmUjRMUHBnekg5Y3RWSE5XTVQ0S2MzNUg1c2c3anp0amlkYTEyN2IrNE5ReXlNdnRlMHR5Y1J1bHZWK3BVamN6a2hCZGdBNTNRZzVSclNjcjNEUnRrc1M4ejQ3elp5dG5QS1hQMWlRaGVGenluTG1Sb1N0RGRlOC9ZdzZrenZWNTY1SnJRcDVvcHcyNFVhOW44ZnZxU3VxM2g0V0grRnIxTTFWWnI1cW1zNjlvdU84dGg0YzR4QVRoMVRORVBOSU84WDZjeGc4NG5CMkthNExOdlBuUjhlcTZBZkNweU1nSE9WRE5BTE1YYWxaem4zaHZMMlRmZmJPYkh6bis4bmtZcjRNRDBmeTNmWHNQdXI4b202U280Nk9CbjRzaUQyN1BqMGNVUTBZbGhHSTZqVU1uTG9oVyt5RFpyRVduRXRIWW12bmpxZmpqcEVnblpnbnVJREJXTzRNWldtVlh3VUJQclJqL1VqWGFqSXhlNGhTdXloNC9UbU96RVpLZEF4bWNSYUxKalFXcFZFUmNZc1RUS2JrU0hxdGYyU1Z4aDJ6dVV3VDdsS2lXNndRTmNzL2xiWjVxQ0dlaUVYYkJTRmFIR0pnUVZIZzlFK2JQMXR0eDI1K2RiOWI5ZTFlRnU3L3FqSGVvcjhTYVc2SHQ5amplVDdFRlh1K25acjhQcjdQNTVqZHJUcnJwRVJpb0x6UTBEU0xXRzhGdnd1WFlkeTZWOVN5THFvN0lzNzU3dTdEenhBVGh3WUY5NnZyYi9XY3FlVHl5S2VxdzBiZldrSk9vaFNKcXg4cHlBNlF6aFN6ZklGbkduRXUydmJjVXJYRlVLWkxkL25idzhJUGFkYkRDMWVUSTdPRUxYelplWjlFNE9STHI1RS9HNFdyeHQ2Q01WY1hEZTltaXRUTVJkbHAxK3lycHVuY054TjhyalBiWGVzZll3cGl4Unh5K09QUEQ3WlQ1czloZWcwTVQ5UDZOK05xNTg4UGpsVmNyZmkvOC9nemR4WmRWdXA2ZDMzTlcyeFFlZENQTGxuK0hKNEptenAyV2crTkxjVkZpUFQ3NGZZUDVzL21qbUFZT0hWRHR0aS96V0l0T0plT3hOYm1FWDBkaGs0UXI5RWtnM2h4VGlmbUNTVU54bkpuS0V1dk1oRU5vWmNHN3RQTnAwNmlvZFN1WUp6dGppS3prUklkZy9YVnlhVFEyb2xPb2dRbWVlTVVqVnZ5SURxUzN0UnVMdkdIS2RLaGMwMFQ3bEtpVzZ4UWFzajdTaTk3ckNHZUZ6cHBSNHZEYy9selg5aTZxN0diODR1M2VidTY2dDJ2TWtlclJKcWY5Qlo3SExxeVBaMkpLTUNnYUN0MjBGYnFwMFFTVnZuRkdiWUExQm1hRExVVWxlYTd3VkdDK3o3MzA4OVVjemtsSk0xZHJzZlFuRTk4OGd0RlNiRjVzOVZ6cGhMTEk1K3FEaHZoTXBVWVVvYkpPYiszVmlrU1Z6OVNrQjBncGxHNWJEenV4S3lFdmx1MDdieTFiSS9qN0ppNGxrdU9KbVNVQXVmcjExbFQwODZGOWMweUNEbzVpakdWRE0rVXl0UkNCamdYVmtkWTRSVFJ2ODNDalhvL3p3MnhpNmplSGhaZmJGRWtpcE9tNUJ5NXI1cW1jMS9ST0g4V2Z0b3ZaR1hoeXB4eitYYndISVY5cEoweWZ3N1JUV0M0SzJhN1h2N3NwVENQVlZGMDRiUHorRFBmS05hNUhwRlU1NkRVdnA1OGI5NzBvMHVXUC9Od0k5dUhPMnJXL1d3TmN2L3QyTjZuTU9QTFJDeEhuSXRsRVV3amtLL0NNSERxaG15eGY1dkZFc2NhVnRucW55T3h0UWllamp0R2duUmlubUJzZzdFTXB0WDRGUWxnR090SHVyYlduMWVLTmdJLzRhUG5UU01sT2dhek9JdkpxalI2VHo4aHhORjVOcEpOT282azEvcjlWR0c2WWU3UXBnbDNLZEV0VmtpMW03ZVZ0bm1vSWRheWxWTjVHVm9jbnN1ZnJiWUxjeVBQd0t4cE9XMWI5RmNpblczd05sdHNGdVkwQmE0MHVuSVB6VjgybktpbFJNTDVlU3ZLVGVyakY2UTJQTXRRUzFabHVSTWlWWTZMbkFPSUUzOTVVbSsvTStmNzB6YTM0TGlheFpSV3o1bmFYeDc1VkhYWUNKd2JZUjlQdWpITm9WT1VJbkgxSXdXNTA4cVpZSDJKekRZWGpOb3VTYVQ3M0hhWXNmSzNoMDB2SmRFaEV3aW1EVTNiRitKYTlCbzZ1YzRwZXRRNGluLzhxa01WOG5nSjdjSU51eGxmeXd5QlZPT0ZDeE9jc0dIMlZkTjA3aHNKbzBVNWNTU0NsTTdndjJMVGhZc2t6Z0JKOGNibUkrMVUrWFBJMnduMVY3bDBPOHFmdldDbXNhcWhpVC9jZWZ5Wko1dEdWeW1xZEtOemNSR2dLR0RkOWYwa2p6cTVONHByQWZ5VlRsSlJFTzU1blFvcytYTTI1RmJObVR1Q1lkQWVEWnM4K0lqOTJ5eldnblBwU0d6dDNCRjBhR1I0bFNYcUF5TkJPdnhDWlFaanVUTzBwZG0vKzM3bEJiQ005U05kcThuRTdDRmE3UUs2M2tkcnRCc3AwVEdZeFZsTW11enVORCtlM09XMnpSZE5GcTBMZXlQcDFmNGhvVE9ieXpUaExpVzZ4UXFTbHVvKzlFaER6bnVPWlByMnIwYTBPR3oyMGw4ZURyYk9OVWFwRGd1N2VZeDh4TW5Nb3IvSjNXV3J2T3BSRHQ0b3NKaGVlMHZkbGZPWWN4bUtSVDJVU0VMa0pnWXBzYXJ3MlJtYURMVVVsZWE3SVpzbHYzQUJUR3NZeWsvcTdRM21mSC9xbFVncDR1aksrMCtGZ01zakwxVmpFZVFsbWZpYm5WbVhWWXJFN1l3VVpBZVE4MmRod2wrMDdaSkV1czhqQmN2bFVvQjgxY2lFakRQeFlWNFFIamtwd2paQ2tORW5JWHZVdUwwc1RESlJxMEllMStJRHdvbnhkVXFZZFdEZHlnWCt0Rnk2YlFMdlR6Uk41OU1KM2ZlSDdZU1hnNFhyc3VRbWJvd1ovZmh6Rk16WVRwVS9oN3lkbWpzV1B2cWh5Wis5eHVxeHloZVcvMXdIeWJQVXBCaWJMRG5RMmZUNTVkQnZPdWRYWDNrZnl5WGpzRUFhYnpqUkx5bFdWWFlPaUNGSFdsNlhQMnNHREhOSE1Bd0JYSGR5R2FDWWs3amppbll5aTdYZ1hEb1NXNXRIUEIxM2pBVHA4QXZPWWpDV08wTmJXdU5YcmpyVFdEL1N0WnBNekI2aTFTN3RaNTF0YWJRYktkRXhtTVZaTEpwOHVqRHdtOE4wam9LSzMweE1OQnhKci9hUHBNNXAwMnd1MDRTN2xPZ1dLMHlxWlJ0SzJ6elFrT3RPNTVDYTFuRmNrR0hJSVpNMTMybWZhN1VkdTNtczNjOVY3bkoyUG50YTlGY2lqZTI5MHllVDlVR0VveFFFbjUrd3FOS0ZTVFVsRWtZdmhKbFRSZE5HWjJneTFESlZKMjJFYXlaMFA5eXpQLzFNOVpkei9tWW41T1M4dWphOGhORDIvcURLOHNoTFJteUMxbFBoUEhwbkNZRlNKRzVucENDM0xzV3o4Y2ZhMTJ1N0pKSHVjelROV2U5bmVmZTFDUmw3UXV4bWFSdlpOaytXSlFqQ1g0KzdIV3I4eXU0OGhUTlpyQXA1bkpnUENDZkcxNW5HSE0vUkFFMi9vWmQ5S2UrWXdQc3FUTlA1ZEVJdnIzVWkxTDA2akZWMDdVdDNpd3NUN1R4dEs3UlQ1ODhoYjNlQ2I2bzduOE5jbCtSQnZ0Z1RZNVhISS84MWIxaHl4Y3ZSVXE0aEhIVXVFYTkvZDh0cHYvVCtra2NBVEV3WXNFT01NK3lubmFZWHlwODFBNGE1SXhpR0FOMlFMZlp2czFpbGR6emhueU94dFhuRTAzSEhTQkNHSlBJTHptVXdsanREVzFyalY2NDYwMWcvMHJYcS9tWVAwV29uOVV1bE40MlU2QmpNNGl3V1RYWTBiRjArejI1RTNHMlAxM3dReTNRZFNhLzJqNnpXc0dNMmwybkNYVXAwaXhVa0xkVjk2SUdHem5kL0YzNjZIRk5MTU9SUW56SWRhWjlydFIyWEx5ck9ZMCtML2haM254cDlqdzFPRG54R2VacmpGZExYcjdNSkw4Z0phbW1SY0dTc2lZUTZRMU40dzdxbWxpNzFFRWY2Vk1qNVdoNU9kazlzZlZuTytVNEhvU2pOVmxudUp4U3FuM3dvcnZXckJ6ODk4a29Nc21xeDdCMExoUTZUcllwU1U5bjZKcFdtYXFwbDFuYjM1aWJZQWNxMGtiNlRFb0JGMjQ1S2lwOGNiWkRpdXlwanNpQUxhdlRpSlNjQWM2andwZm56MTJ5RkRyV3dqSmI1dVlsYUZmSThKdHhBWDZjeXU0WlBaWnpNblFBaE5ZOEZ2RC9QTkoxUEovU3lPRGNUem5hWVJPUFVpZTQrVnZ6NGN4VE0yRTZkUHdkanU0VCtzeHJacE83ajNXeVNlZDdRalZWeitYTHIwSDdWQXc4Z0FyR3lEdHIzMmEzU0U4VHp5NE8rbitUMU1SVnBVdUZ2K284ZGwvWG4rd3ZsejZvQnc5b1JxSHc5YU5QSVVJdzZ1aUZiN3Q5V3NSYWNTMGRpLzhSVVN2NHdFb1FIYjVrZk81UnR2TmFhVnVWWHhvbG9wR3M5bVZnOVJLdGQzaFY1VHpuYWpaVG9HWXhNTlFmUmtoVHhtRUdUYjhOekxDUHAxWDRmNWN3K3JlWXlUYmlMaVc2d1FxYmR0S08xamJraE42UFJ2WXQ4VmFveER3NDVUSExXRzUxempiWmpONTliNEFnNEQ4ME4rbXVSemcyK3p4YWpjWVpOSGx5ais1eDlOTHR2cmh4cmtmQkYvbnEycmdIMWhpWjlMWFc5eVJGdXdzZU5kQ3RGOHMyRG0rV2M3MWJ1cFg3aFllVlhiNFQyT3Q3UHBaZEhYa25CTjdqTG92S2Ntd2RZMUlkcTQxS3FsNWQwVFkwVVpPdmtuVFJJR0c2OHorUmR0TzJzNW5LSEJmTlVuSDNMTHkzSVFvNGpxampYeStOclZZaWdzbW0ra3lTbFF5MDhFenZYN0xaTTFPcVFwN0Vra2Y0NGRTMWNMejVrNFJpTTk1amtLbDRtZDcxakFlL1BOazNuMHdtOXZOYXh6Ry9tSnlIWnpmMUE0UGhYVnFRaStUKzJkeWZ3RXRxcDgrZGdHWmYwYlNzZkRlRnlkaUhGUy9md1dKVXJrTzUxTGhuUUlLNU9TcjFmYStpbGpmZTJmWDE1L3N4T0p3blVYeUxvdFJLL1d5aC9WZzBZMW82Z25VZWNMcm9oVys3ZlZyRVduRXRIWXF2emlHZmpqcEVnUEhqTC9OaVZiT08xMXJRcXZ6S085U05kNjhuRTZpRmE3V0luVEQrVm85MUlpWjdCRE01aTBPUXptZXRUaGFUdGtmUnF2NWNxRDc4WXFROE9UUlB1WXFJYnJDQnFxV1prYmNoTndqd0I4MU1SeGUzUVVaWWhoMWhRK095Y2EreHE3T1p6RStGQmppemFNZWh2Y1BlNXpUZlo0dGpxMDExc25CTWV3dWZTSWpmTVpzZ1NsYlJJd3FwbEhybkVlcjZQeWZIZTBLU3ZKVll0Zm9acHd5bmxyaG9rVFl1Rk5RZUZPVjlhWi9hdVZtZVpSUU1kNytlU3l5TXZKS0Q4MElrNk8wSmFnUHRMdmx4RCtsZWFzYldxV2tZS3NnT0lNVE9wWG1RWWk3YWRLbHB2VXhEakhVWjRZUlFucVpXeVZFbUZqR1J1WEVyNVByQkhCbDh2T3g3N3JpbC9ycHAzUXBtbzFTSFBROEwxNHNNQW04ZDNONzhvM3g3bVRqT0JkK1ZOMDdrWGE1VFhlZ0dFUVNRT01rZnRJUE5JTzBMK0hKTGt5M2Qrdzc3WHBKVS9QenhXK1VyRlA2ZTgzQlZvTW5IQUZMNFFLdllYZHN0T0lMYXBPK2hIbDhKYTFCY2tjZGtibjJtY08zcCt3U0tUMDNja1JRT2FBY1BhRWJUemlKTlhOMlRMTnJXS1Jhb20wNHM3LzFIL0hJbXRqcEhEY0ZmNFRUQmtGcjFreHAxMlJvTDBZaDZ1aEtob1oxaTFYanl3THpzUmpYU3RKeE9yaHhnY2Q3SkEzRkI2MDBpSm5zRU16bUxReEkxRlVZZmg1MGg2dlg5SVRWbk5aWnB3RnhQZFlBVkpTZlg5Mi9HWlF1M1k0T1NLb1MwN2tYVGhkanppeWpMejBRNURvKzFZd3FRdFBqOGJod3lnRGU2ZXRQa21tMjRpOTluZElaMnRLR0g0ZG5jQ3lrWjJtcW1SOFBwMi9aeWdwN05QVjBCNlExUDRlUlpGTFgzb3BLdGJkM0h1RUoyNWY4TGdXMkhPbCtJeEg3ODJTY1ltT01oTlFxNWpJZVB5eUdQVDh5ZkhhK0tZd0YvbE1SOE5rVm12OGxWeFA2NUFqQlJrQjVDZVIrVGVXOFNiaTdZOUU1QzI0bnFVeXc1eS9YMWhDN0tnaU5UR2RQOUhvd3pUYWVYUEVyVWdXUzZ4aVZvcjVLbG05TDV3Y255ZFFZZ1YzTWJYbWFiekxPRGRTYWJwM0RkQ0ozVFduLzMza3pESlJqanY3cnhGdmxpZmxQV2JqN1FqNU04OEpOOVBoenBIYmVYUFZSZDEwcWpHcWtLRGVkZWZQZTlsVzVTVVNobFJWbXJlOGZPeml0OThTbS9MZTFneHJuRzNMZzc2T21qNkd3N1l2ZGJZTjVQQnZDenN0Y3Q3WmxtQzlodURBWDAzM1RCbTdBanFlU1JlZUVuVUtPWWs3cmFOL20wVWk0cm4rZk9qL2ptYWFWYUlYa1RyaFF0WEQvS2pLbWx3ME02d2VyMDBmdFVvRTRkcUwxNTZyOUVRZW1sZzI5VHBXak00THJGTC96bGxOTjQwVXFMcjhPcFExNktKcTFReFRyQ3FJK2t0N2Fid3dyYXhRNVByYWtmdzVVVFhXMEZRMFIxU2U1bXRvVzJ5L01NVGp6Z1hEam5JUXRQUjNyazIyN0dicDAzeFdrd21zbDUvTmRLMHhYZlpaZ3pmdXpUc0lsb25GejdMR2F0VFRZMkVMMU5VTTRDbjQ2eVVRT29PVGVwYWtncUZUVjVJdkg5MjdqSVV6bW9mS3FjRVArVUkwWVNYUG9rTTVQcFkvd1Q0dm5pT2NYbmt0U0E4WjByWEZ0Z0NXUWNLb1g5bFcvYW9hcm9hS2NqZkZ5MlFpSnhoRk4vSWtjV0RiZGNrMGlPOHBMaVZyeWVaa1BFd0p2RjExWENUamFzUFBPYTI4dWVDRGRVazhqUlJxL1BuaDRRVGVrUktsN1laekVYNzlqQi9qZ244OHZtem42MHExL2R5OFRUbXJwakZHN2I4d2M0ZmUzZHpnQkRiY1hhb2F1UlYwNTBnVkpBb2llUGR5UjZmWUpscXJQbzZuSS9TamQ1VisvNkFsMEdvMUgxRDNqajlpcWw0Y25IUVQwTEpjRmg4YTkzMTdSZXBNbmZybkFwVjY0cldUWnM0c0RzTFZVZXhQV1pOWEt3WU1Ld2RRVDJQeExjZEpFWW81aVFlWW1TRFc4VWlUWk5aVXV1ZmtXanl5V0sxeFY0aGVrbGFUelpIZ25UNVVUMjI4VnB2V29WZlBUVFdkNkNYQmphUDRIcnRFaE9FVGFVM1BXVXdEcEhFT2NIVm04cGswTVNOcUVtblNDdXB0MGZTNi8yK3J0c2RXWFBDWFU1MHZSVkVKZldNVEEwZHM4czNQT1ZMMDhPUWd5dzBIZTJkYTdNZDE1UTF4YWxUR2dqbzlUZTRlOWJtVyt3dzJmeDExSVJtNS80WEVjZXNrQjRKaDNVcCtGakxPUnNaMkdhTnVUZzhmREd1SmRZdGY0WlExY1V1clhiazgxcEh5eW5Cc3hSU0dhK2FsRE5sMWJJN0pndUoyMExJNVpGbjdmTU9FYXBTWC9jZFg0QXEvSUVPVnFXZHR1NnZPanhTa0IxQVdQYmhMMHBmWExSdGdVUjZpTFB5cjYwWXoxdVFzU29WR3RmV01YWUdUcFN6NmRhTHdnRlBLMytXSm0wVytobUwxZm56UThKcCtob0hhMDdrUXQ3VUN1VzJCZnppK1RONXMzeDFuVG9xOVlGU1luRS9ERXFOS0VsdXg5bWhxaXQwRThGSG0vbXpZcXppNFRzWmxxcDIwd04rbGhWSE9ucUNhcWZKR09mcVBFZHB4SjlMR0xZOG5kSzNTTGVhTzgrSVJXRWUvN1FjdUxkS0FWSVEyWnRWUTBNeFlBVFhsZ1lWY2REV3p5UGhIc1ZFNldKT1l1bGEvZHZXUHhlY1MwY3pqVDVHZmpMdUdBblM1K2RkeFRUTEdmUlMrSlZ4ckIvcFdrOG1LenB1TlRBb0k3T1JFbjJEYVVOZGc1M29kYzJkY1NSVGRDUzlwZDJzNHJCajY5QlVXcDRoNjhvWEZGMXRoVm9LZjBRL1BCb2FjbjBwbmNtazU0bFptaUVIV1dnNjJqM1haRHQyODZ3cG5oU3pwN2JWK3V1UlprMit5UTVwVi93YU1rMW0rODc5Y3dZa3JidmhuSkhTQ0lKdGxucFp4azlaUzNaT3RjTVdkNkdMRURoV2hSVUhwRG0vaXRKNFJTcFZWYTZaa0NialRSbnZMWTlja0lON2RuSVZPWlRodmxrTzVCeVlGOVY4M3RtamlzTmhaR29yeFhRVGRnQUFJQUJKUkVGVXlBNVFMTHI3U3VSZ2RORzJLMW56QXl5YWM4SDhNTytaa0hGRVc2Y1lyb1VRaG9aa3AvQ1hMNytjR1o4Q3VDVWRNMUJieDJLbGY4ZTFWWnR3elQ2ZDB2VGF1Yjg2bTBrTDVkc204SHlidEhCMUpxOHoyYU1acHlYUmhzWWpXVnJqS1BOSU8rNUNRMkVESnpqM0UySDg0WXNUUmMraUNiRklFbDBsM3YyU3FubmFWSzZrK3hkbW5JVDFiL2Z3TStGcUpWb0o5SFNUWEZ2bFBPbFpqVzFmV2FrdEQyclZDWFRocWVpaU5nN0JGSFdubk5yeVRTZVlwK1BWeG5qQW9MZGh1dXJxMXVSQjJ6Q1BjREE1R3JKYkpyTDF6M0tzMGZsbnhZc092TVJVNmlVWkNNS0RkNHVmcitDQldhNitsa3FkcjdpK012WXI0MFEwMGxYS24yMGVZbkZjenk3OTAzclRjd1lqME1JYzQreWNkWGFESnRTSFQ5blpxVjc1OWtCNlEyNlkxeHYyYk9haWVVMkFJVlk5OUI0RE1xMFZPb0xvK3BDNklUY0JKNE9vYTVjN2Z0M0tjTVNRWlE1SGUrWTMyWTdGeTl2aTVaaE1EYTMrQnR2bGJiN0ZYZ2ozc2k0YXJqMlcrZEtzajV1dmhTVkc3Z1hGU0gwaGZNbEZiSzdGR1RRN3hoRktjeTVSMWpKTEtHMEZ0ZXExVWFtdzRsanBzS1JESFZRNzExT01JMlNIbWQxWEdZZ3VqMXpTa0x0TzVneStHRVUzbWIzOFViNERNZzlMTjdzOWU1UXZrUDBORk9TV3k5OXBqeitZdDI3Ym1aekNEbzBVcmNzdUptU2NMVldaeFB4NERBZTk1U3JlZGt2SDJUMCtrK3Mva1ZwbE1STDVTV3JrMzZuckdvVWI5T2tVZEJpRktqQnBtWExiQko0OE9OV2xySzNjRCtsbzNaMWRRZmU0aS8rcjhGSWR3U1RURlpHeTRtTC9nWFo4djZ2YkRtdjRSZlZ1Tnd4N2VZS2xHNnQ0MWxTTlg2NGg5L2k2RTYyZU5TN2tqTTJ4dlphWWo1Q0k1clBrMnJ4UjhvSEtsYU1rSXNjU0JyVXl0TEZ4NENlb3l6NmNDdVk3VXRWbDB3TFQ5bkRBY0NWTkhjRzFySjI2ZWZtMVBTY04rcmRKckhLczBmbm5oQ25iR013MC9ITUJzMXJ4WEJLaE9QeGMzREVRWk1EUHlXV2JZUzJtSGZxVmNhd2YrVXFWSVhucUpnK3hhQmROR2orMTN2U2N3YlRPWXRHRXA0ZmQxdjN0L2QvNWVEamRHa1BIUUhxTDMwZHcyYWZKWExZSmQwSFJ0VmJJVkp0MkRMYlJOdVNubWVKNkxLa3JyUmFNT0V4eUNodmRjeTIyNDNFcG55NzUvQ1R5L1BqUTZtOUFLbWoxNm9jWVRCNHc4TEF0THJlUk9xM3ZpVlFacDdBMXlxaHFYK1NVSFAyVndjd01UMWZMWEY3YUNwZFVoUWhQS2owK1J1b21NVG5MV09yZ0FTdWlRRDU1S25nc0l1UVZrSXNLRXFQY0cwS2dLV1FTRkZibWxqM2V2M2x3cU1iNGdZTHNoNlZiaEN2d0s3Y3Rra2dPaGd5a2tkMVprUEZLWFBrZ3FIczhaaHF0UXFnKzdYc3h6czVsNXh3a2ZlOGVVZnM4bGhkYitJMTd6MUlqLzg1OHdTYmNxRThuaEtWUktQbGEzclNBbDRKanVkWndsRlBrNHNJeGZiZmh4UnRweVkrK0QxZGJNbkR0cHV6dGJDZzB5YnVkcTU5SGlHa0FtVnZrL2xpTUo3cXhLcWlpVFBiOFN5aFBpU3NIRWRoTTFYZ3dDOWphSXYrcEx4UzBpdmVPZS8vS3VoUVY5dXJOUFkvUEp4Y3ZLZG80Y0tDYXhScUZiUHI4ZVR4Z3VLb05IZUdCZVdTQ1VjNUpvLzV0RUl1UkpWMUc1NThGMXJBN21Ha2VRRkIydG1xYWVraVFFVDlYcVdXR05lazE5aXZiV0I4ZWoyMzZDaHM0Q1phSW1NRkRUTnFWNXRCNjA4QnpSZ2JqMDBmT1l0S0VKMGFhaWROLzU3SVJyL0ZBZWxPN0pVSGFONWhMWEVzVEs2V0RTNHF1czRJc2k0bVJxcUZ2bXEyTC9EbFl0WjdiQmh4a29jUFIvcmtHMjdHYkY5RnVpRk5TUlZUNmg3aWtUaWJabmV0SnVhdmpDMzVKc1VHS3hjbElWeWVGOER1SUh3TEk0cVM0MEZIZUhjMnJOWm12dU5FN3p5RTRKcnp2cHZHM0FxV3BwVG9wUHhDOE5yc0pJUzloMmd0WjFTd3krMU9SbnZ1Skt0TzkxUVl4ajdLNUFDdjNyT1dSTitUNDhoMWxtMFc3TkpOS09oRFFiRTcwSVRUSDYrZGNmdGRhWDBFMmprc0ZJd0tTajNxOXlHL0p0aHNvcHNNOHFtYUtUdCs1RFFzeXBwQS9DbnE0NytiQmlxL3FwZDFqYy9ZQXB2RXZlMG0xcCtDaXp1MTluK0oyWjdpL1p5MFcvRHVkcVUzQ2pmdDBBcEZtbWZMU1UvSzl1S2tIejFQQ1BmeEltRmhaZG5BVGtzNHFjOXpjUWx6cEFNODlQenMzY0N0SHg2eE0zTEczcy9rTU05bHg5aG11elF0V0xKLzVMN2dMdWE5U1E0WllhelJXa1I5NVgxSXBzL1hWRmE3NHNTRmU3Ymtra3BBK2lXUStGa25GRk1kOFAwbDdDSjlDN3B5TFJtTjRwYTJKdzNjc2ZhMWJES0xxOCtmNGxHZzJJR2NEaHE5UzN4RnM4d2hwRWdma2NrNGE5Mis5V05WWTg5UmMyaFU3dk11amN1a2d3aVBSUzdCcS9kRVZaTXd2ck5CbUUwOTdocldaZHVHSmFEUzlCN3Jsa0tuM0VLTjJ1UzNVM3ZTa3dWUkJxazJUVU5vUHd0bmZUcGpldTlJYi9UNEhHUGIwNXJKT3VFdUtycktDcUorUjBiaWhMNHByWEl5V1R3V2tyVFBuTVJ2V3ZVaDlEckxROFdqL1hMWHR3cmlVejR0K3hxSy9OSzRmNis5RXM3bDcxT1Y5UGttLzNMejhHMFRsV09kVitqNGNEdWNRd0xtUTdPeDJ2UXRjNnNOSmRNY0dPYzlIM0dBNk85VDFjRGdHTDNNRzJya2JWQTdpQXgvOVdqUzh3OFdseW1jMTUyWmxDbldQeHdPeG9sSGFoWXZweVBidDB1ZmNFN09ha2gxK1JJSFBkVW4zVk1rS3lKTlc2MDIrMjNJT0lYa0l5SUx2NlNRYUplZUl3OFhLYnE2UHFjZitjTW9NMlZLUWF3djVzeHRBdHJPamNGV3J0ejNwMDlxZ0hLQ2QzVm1RQlR3elgrOGhzOGJ4cHJZNTNYSDVFdmtDalk2N2cvdElTbnRxenZkYzMwZ3VQZDNva3RnVDFFci9kcjA3REJCc3BhRncyajQ5OHlaUG1uZVZXd3J3bTJ4b3V0TU5jRFA4cXAzTHlRMUg1M2s4Y284dXVUdm02TTkvTVExOWZpNUo3SkRXRTRhWllraE5TN2p0aDlvNUhjOWtXdCs0Lzl1SGdZZnI5c1BQTkdxNFE2ZlQ0WGdrcjZIQzd0L1pqVlFuTHFJYnEwSVUxSHAwSWRmSjZlMTBkamxwMG9FdjFJUDMwbFNTbnl6djBaeC9yNjRVeUlWN1IrWDhtVzhnVFptUmY4OERXcXhTdzJIamVEc1B5VnhrNjRrZlR0WElZY21maHdPR0YxTFJFUjZaUjFwRHRyWi9LOFJxakRVNi80ejJLVDViWWorQ3dJK3R2dXZNblQyTFhvcVdpOTJXSUZwKzRkY2daNGVVWjlpSDlCcjZsWEtzanlxM2RDME5uSTFaYXpsdUZDcDhxcjJwcFlUV1lIMW5lY2hPNGNwREhNUG56MlNZRFdxMnBIK28zUUloN3lvNnRISENYVVAwdmhWRXhWYkliTkswNXA1Yzd0Z2NreWhpNjFLb05CeHBtVkFXT2o4Nk9GZGh1OXpOZlhiSE0vZG5Ha1pzajRjNEdQWkJMK2QydVo2dnRlZm44dXdLcHhmUEhST1dNdWJGakxrWDB5b01qVS9KTWJlWmhlOVg4cGo5NTlkbGM3bjVrR3FlRWNLUE8rY255L0ZXcnhZVlUyb2s5VmJWV1hXaFdsMnExQi8rOUdzQnUwOTJzTXZOKzUyMlFmYnY4OWZsNGhTTkYvMVhRVjVybEIxaHpvZmJ0ek9XKzdFdjkzZHNKUU0wdUc5djlQWGx4R0xIL05tZm1IbEJRMEZ1bTJkcng4cWRmaWI3WDNpbExhWnVtWWgrWjdtMnE2ckxBeVJjZVREZE55RDdjQy95ZG4rN2crOE1YNTh1T2tzdjZibEtlZlhZbC9pOG5wd0Q3VGo4NXJISzdhYWR3d25HbnVJeS9MMS9MbXJ6ZmFYcW42SlcrL2YwdEtaT09McmU0TFZNL2xLeFUzUmgyNDBReWFBZ0ZKQVBEY0ZQRjA0VFVhcmhicTViVUQwNU1kOXNkUXFhYk9ZT1BGZWViRDNVVGpMdlJrblN3Y1VaUGhWSktPM1A0bkZkT1ZieGhZU2Q2aEpndURIQzkvTHpsVjJSU0d5elFTQmhvTmdNVG4vbUVVWnhRcU9JNzhBcG0xaU1ycURQZmtkcjlXaytIY3VSSXU3TmlKMUxvZUd5U1RSTStsbjVnaWwvSGc0WUpPU3dJOFQ3RUJMQmZKY1VIREd4VjJQSTF2ZnZvVmhDKy80Q3Q5SS9vMzJLejRiWUR5RndPV3duZWlrYUxuY2JndWo1cVdhNUIvVmFjaUp5aWpkMHJRMmNqbG1SYmlmYWVGQzcxQlI2YjJvb29UZFl6MWtlMEdUamdxcm1YMHhqSmxVYjBqL1E3bFJsdVRIczBNWUpOOWEvck9nOUs4UVc4ODhIR1hVYXlzMDJ6d0VWb0N3Y2FYREloVzNzamM0ZDJxNTJjKzZyNlhxQ1YydWVJVHI2VDNlK0pTREdNMDVEdFJjKzdPQlVGOGdkeURtcVNHUjNYcmJidWJjWitGY1piTGR1ays5aWRPTlRlWGhHVEtkekhoWklKaGR6NlJFZlgyT28wdFhwQ3JWaTdYWXRpWXp0VFo5WkpNOVl0UXNPdmtuVWRZSjdpY25OWEpEbVl5KytZM0czNVlHUDF1Y0g5WVd2NTVzNTB6aHRCZVJEY1RMT3dsMG1jd1h1TjN2OW56T2daMHQrMU15ZlAyUUZ1VEpLVVlralRlczdYNStydDc3RFpZVzI1eXBiVzY2UGlQMWhMcTlINWtLR2REemFWNTN2NDR1aEVvSDdhWXI3M1dtN29yU2pGbTZuNEVWblB1Vlphb2wveDE0ZVduSDZhb1J6dzRlNlR3ZUV6bXVxY0dDbTI5a2FnSGV6VlRJMDhaQ1ZUVmg1MVQ3UzB2N2xaODU3TkJVWDQ5LzhMVzg5MUk0YlVSS3NOUHFtc2VoWGNwSGJ0ZUt1NDRXUjJvL1cvby9HS3M2ZnRXUFZhWC9mbmpiMUJkWlNIN2QvaUt2ZjhRNXp6M0Y3ZXN5cVUvMnhzdjNwOW4yWnVzTDB0WExEank3aXlUUlk3ejdKdlcrK1cyYVhwK2JhM1hXdTdXZVhnOHVmUzk0UitSdzdoUXB0K2ZONHdLQnFCeDNoc1hsRUhySXQvWHNnVm1PczBmcm5iS0ZzU3hiN01RU3U0a3lITEhySldoVjJaRUVzL0JRejdNTjZMVGNSZWRWbFhSTURwOEZTd2lxalcwY2JEMnMzTjJId0psa0ppOEV5ZFRKbnNXdmlZNmt3T2hIaGpidmtmajNFOEtHT1pXWHA3ZTNPNk9xdFRML2FYTVlKZDZwL1lkRXpLVE1yVEMxbUd3OHphallVNXdQMitua09TQUR4VjNrNEluUElaRzN1RE0vTmhLMXRsN2g1MWxlZHc4VzV6Y1VRYWY3Y0d4c2ZSdHJVN3lXLytOclYvZkN5bTIrd1hram95K2R4NzBLNi9mRlRER1NVclR4VmkzT1BCNE4wbFhTYkdMOXVQbzh1L2R0dDl3Zmp1c25tZW5hTXRndmNzRWdDUHdFcm5PcHVMMmxkeTVpUTNOeGRwV1RZa0RJY25PTG53K256K3ZVOVoxMmhkRnRCSCtIR3RmcXZrL2VVbjJ0N1VxVzU4YlVkOXdjRHNvL05OWFNHN0E3M3Vmbk43ZVFMYk0vdFp5am53bUZySFdwVk15NU9la0E0b1pyODBGV1ZvK1huaEQwTGVMR0NwUS82enI5MG5RdlhaeHFydW5uakpOaDJ2dXo1ZFRydi9TQndmVEo1cHJwakJrMERSUFp2MTFrT25zU2lqV2IrUEYwUDRzdWR1L1I2UkY2RjMzdmNSL082clBtejYzT0RBWVBxWDZVanRJZnNYS2YyM2lOaW1meFRhdnA1c2JOYWd3NFBSQzhMQ0dLWllUT3B4enNqdjdLTjlZL3Erb2lIakhXYlM1aTg2VkVsNXVZZWQ1YTVEcjlGTDNtVDd2M2I4RTFtOFlKbGV0YnowcWUxeWRzcm1XdGgwWmV5Z3N3Z09icDBRODl3R0o2N2d1MlcxajlCaTgxWEl1QitGS3BlN0hzbEFmK3dMR24rL0ljeC9GblZ0L1ZOTUcvTHd0MUI4YXZHbVV2eU9FblRLUHo0Yy9Qcko3N1krSWNjNUwvaHhiM1FiQ2QvZGplZWh0ejBmQnBVdDlGdzBDaHF6NTgxdGFJTUNJREFMeUxnaHozcGFSS3ZJdC9sOTh4UzFDOENCVlZBQUFSQTRBOFRRUDc4aDQxUGIwMzcwL3EvdFBKZm80Y1h2UFMzcFJabkpSVHV0ZWY4UUVlZVJwYy9QaVdkU3NlNitYUHpyUEtMYncySDhpUnBIL216UkFYSFFBQUVaZ0wrQlMvMXJhSHhlMHFnZjlWbDJxZ1pQa0VBQkVBQUJBd0VrRDhiWVAyK29zZWxVcFBmaCtiL2EzVFZ2QU54ZXZ4NU5YbmRzMyszOU8vclc3Mzhza3orZk5OdzBLaVAvRmxEQ1dWQTRBOFRvQmNTZGg2QThlL1htWitxL2NPZ29Eb0lnQUFJL0drQ3lKLy9zdmxkckZBOUsvK1hlYnlXN3NmNXllYTJZTW5qeisxQy8rdWJaZkxuZzRhRFJrWGt6eHBLS0FNQ2Y1aUFlLzFTOXpVYTlHNnhQOHdIcW9NQUNJQUFDSGdDeUovL3NoOThybm56NzE4R3U0anV1L3U0R25jRlpGem92NVZZSm4vV2NGQ3BpUHhaaFFtRlFPRHZFamdOMXBmcFIrbi9MaDVvRGdJZ0FBSWdRQVNRUC85bFI5Z2xQeW40bHptOHBPNWZtb3NicXo3Ky9EU1dSZkxuYncwSGxhakluMVdZVUFnRS9pNEIvMnN4dlI4WThPdlRyM3pOOHU5YURwcURBQWlBd0U4U1FQNzhrN1QvZDF1YncyNlgvRERIclh1ajJ2OFc5cSszZjlCYzNGai84ZWRuekxCSS9ueFk3SzNxeUorZk1TYk9CWUUvUU1DL1Bpei9hZUJjNmY3cnhmS3kyQU1CRUFBQkVQaXRCSkEvLzFiTFNuclJEeExON3hiZEwvVmlKcWt0SEh1T3dFVjFjZU9sSDMrbXAwUFVMeHRyNE5vc2R2djJCL0xuQm1NY0JnRVFZQUpmZm4yNTgxWVFQNGNlQUFzRVFBQUVRT0NQRStEOHVmVnJoMzhjem05VG40MDlMV3RpK2ZtVkRYeHMvZ1pwSXZWclAvNjhTUDY4NEFvNzh1ZkVkYkFKQWlBZ0VQQUpjdnNHN2xGNkxWU0lReUFBQWlBQUFyK1BBRTBIdUo3Nit3d3JhVVN2UHJsUGk4NjdhVXNxakdQL2xjQzNhdm41dFI5L1hpSi9kc3Z3ejY1Z1QzWkUvanlod0FZSWdJQklnSzR5dDM3aCtlSi92Z3JMenlJNEhBUUJFQUNCdjBTQVU2cjI1ZGEveE9MWDYwcXZQcm5IOWVmVGZiNlQrOWVyL25ZSzdsVlAvUzY0T0xzR0lSK0tQcG45Nmpqb2hFZityT09FVWlEd2h3blFOUGtwQXZqR3J6K0xYSEFRQkVBQUJQNGNBWG9pdHZ1OHo1OUQ4bnNWZG5mN3VyK1FOYnU3dHp0UGVmMWVDTytoMmJGekMyR2l3V3MvL3J6QSt2UGhmazdVZlhJVCtmT1RBSEU2Q1B3QkFyU29rTHhuYzFMWnZ6dE1OekJQcDJBREJFQUFCRURnbHhHNEhnNkhrRDM3cE9wNE9PQXA2RjltNGtxZHcvMitPL0NDb0x2SS9sVjlqd012UXVBYXIzTDA1WG54eDUrZno1K3ZDOTY5L1lIM2gvVzlDZCtDQUFoNEFoY0tqRTc1OWVYTmRldlQ1eHNRZ1FBSWdBQUkvR2tDL25jT2k3OC96ZU5QS0wrLzcyaisvM2JXUnlEd3NpWjM5ejNuc1Z0RDB0dVNxN09OTnA0NS9PejkyKzd0RE4vUHRGK2NpL1huQWdoMlFRQUVKQUkzeXFDM3B4dVB3NXV2ejdNUGxuYW5KeDlIa2RyQ01SQUFBUkFBZ1hjaTRES28zVzY3M2U3M2UvZC81eC9zZVNmeElldERCRTQrQ1BEWDBiZExKaVlQaVlLVG1nUnVTdXZjVkE5Sk41dFovWXRuOCtmYlhuVVpRYXNIOG1jdEtaUURnVDlPNFB2Z1F5TC9Gei92eDlaYnhmNDRLcWdQQWlBQUFpQUFBcitkd09WMDNybTc5Ykg0L05zTi9RcjZQWnMvTDZ3RDh1ZUZnYUk2RVBqRkJDNjMwNWxXRm5iYi9lR0t4NTErc2FtaEdnaUFBQWlBQUFpQUFBaThCZ0dmUDErLytPOS9TaFJFOE84RlduUkIrMy9xaExaQkFBUkFBQVJBQUFSQUFBUkFBQVJBQUFSK0R3R2ZQOGUvLzVpNCtuWG4rUGNmeGZnOWRvVW1JQUFDSUFBQ0lBQUNJQUFDSUFBQ0lBQUN5eEpBL3J3c1Q5UUdBaUFBQWlBQUFpQUFBaUFBQWlBQUFpRHdPd2tnZi82ZGRvVld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UEJmQ1d3dTM3ZnI1K2w0M20vdjMvOVZrbTdqYnlKbVY0ZGY4eVdNOFZPbXZIeC8zVDVQaCtOK3V6ditVSnRKazRjZmFsTFhUQ0xZVDdIUUNZWlNiMHdnOGFyWGN2YzNaZ3JSUVFBRVFBQUVRT0MzRXpqZjU3OFh6cCtQczVTdm5PYi9kbTloL2Q3RVo5N2ZHRitKMS85UXpuaExtbnlwaE9JL3NIaC9CNElHQXdJdjYrNER1ZkUxQ0lBQUNJQUFDSURBZnlUd0pya1E4dWYvNkNObDAyL2lNNlhZNzdmL0gzTEdsMDBvL2dPTDkzTVlTR3drOExMdWJ0UUR4VUVBQkVBQUJFQUFCSDZRd00zZEhib0xhMDdWK3ZOdGY5K2VmbENZcWFtcTRhNlkwMmxyYmxRaXJkbllhOWY5LzQzeDJud1drKzV5T2h6Mm9YUCswUHB6MnVSTHJUK25nbFVzMERrWDg3bS9WVkhxVlMvbDduL0xETkFXQkVBQUJFQUFCTjZRUUZqYktmUG5BNFh1MjU5WHFOSHdOeWY2cFpnL0lsOURwQjlwK3lVYmFmak1TOHI2MWtKdCtONkxLbWRjVWFrTjMySHdlZ2xGZ3dVNjU0ck84UHVyZmxsMy8vM29vU0VJZ0FBSWdBQUl2REdCRTJYS1JXSWE3NWo4OFJYb1pzT2ltRCtDdlNuU2o3VCtrbzM4UDJPOEpJNzFoTnBRNS96Si9QbmpRazIrWHY3OEliSkE1MXpQK2Y1RXpTL3I3bitDUHBRRUFSQUFBUkFBZ1RjbGNKWHlaMTdWdWQ5L2ZBRzYyVEEvclZhaytUK0N2Q25TajdUK2tvMklQdk9Ta3I2N1VIVGJ4WS9tengrdm1qOS9TQ3pRT2QvZHcvKzMvQy9yN3Y4YkROb0hBUkFBQVJBQUFSQm9FdUFWbkNJeG5WNFQxVHl0OThYK2Z1dDkzZnV1MmJBb1pxOG00M2R0bVpzaUdWdjRSY1hYTnNicm8ycTd5N0t5YjMxNHYzaiszSlgrWlJNS2lRVTZaL1Mzcmsxam9VYy9WNjM4VWFIVTUzV2xmMWwzVjZ1SGdpQUFBaUFBQWlBQUFqOU5RTXlGNHJMTy9pRnB0by9uejgyR3Z5bk9LZEw4aDZTVFQyckwzQlJKcnVndkhCVjk1aThvUHVuWWRwZXB5Q0liOUFxeHhmUG5ydlMwelB1QzkyOS9TQ3pRT2FPYmRXMGFDejM2dVdybGp3cWxQcThyL2N1NnUxbzlGQVFCRUFBQkVBQUJFUGhwQW1KaXlrK0YzZS9YaDZUWlBaNC9OeHNXeFh4SU92bWt0c3hOa2VTSy9zTFJ0WTN4K2d6YjdyS3M3RkxPK0h3TFhlbGZOcUdRV0tCelJtL28yalFXZXZSejFjb2ZGVXA5WGxmNmwzVjN0WG9vQ0FJZ0FBSWdBQUlnOE5NRTVGeUluM0I5Y09Ici9uaisvTkZxV0Jaek9WZ2RtVnNpTGRmNHU5VzB0akZlbjBmSFhSWVZYc29abjIrZ0svM0xKaFFpQzNUTzRBNWRtejdyTXF0Vy9xeHd3L083MHIrc3V3L1ZRZ0VRQUFFUUFBRVFBSUgvUmFDUkMzMGZ6c2NIbjJKMmEwSVBudWtaTkJwdWlMa1V0YTdNRFpHV2F2djk2bG5aR0s4UHBPc3VTNG92NW96UE50Q1gvbVVUQ3BrRk9pZTVROSttVDNyTXFwVS9LZHY0OUw3MEwrdnVZOFZRQWdSQUFBUkFBQVJBNEQ4UldENFhja3RDVCtUUERRekxpNWsxdElyTVdRdS9hV2RsWTd3K3FoOXpGemxuZkJKUVgvcVhUU2hXWWZFa3lwYzV2Vy9USjhWY3RmSW5aUnVmM3BmK1pkMTlyQmhLZ0FBSWdBQUlnQUFJL0NjQ3krZEN4emZNbjFlUitUOVpkUDFtbC9lWjlXVmV0SVVmYzVkVmNzYSs5QytiVUt6Q1lsRzMrSStWOVczNnBHQ3JWdjZrYk9QVCs5Sy9yTHVQRlVNSkVBQUJFQUFCRUFDQi8wUmcrVnpJUlNSdnQvNjhpc3oveWFMck43dTh6Nnd2ODZJdC9KaTdySkl6OXFWMzM5N3Y3L0wrN1VXdCtzNlY5VzM2cEdhclZ2NmtiT1BUKzlLL3JMdVBGVU1KRUFBQkVBQUJFQUNCLzBSZzhWekkvN2pSdStYUDY4ajhueXk2ZnJPTCs4ejZJaS9hd3MrNXl4cjU4MEQ2bDAwbzFtQ3hxRnY4eDhvR05uMU9zbFVyZjA0MHhka0Q2Vi9XM1JXcW9RZ0lnQUFJZ0FBSWdNRC9JYkI0TG5SK3cveDVIWm4vajBGL29OWEZmZVlIWkY2eWlaOXpselZ5eG9IMEw1dFFyTUZpU2EvNG4zVU5iUHFjYUt0Vy9weG9pck1IMHIrc3V5dFVReEVRQUFFUUFBRVFBSUgvUTJEcFhJanFlN1AxNTVWay9qOEcvWUZXbC9hWkh4QjV5U1orMEYxV3lCbEgwcjlzUXJFQ2l5Vzk0bi9XTmJMcFU3S3RXdmxUa21sT0hrbi9zdTZ1VVE1bFFBQUVRQUFFUUFBRS9nc0JpaS91MzR1MXZmV1BUNzVaL3J5U3pJc3hmYldLbHZhWlY5TnZJTThQdXNzS09lTkkrcGROS0ZaZ01URDAyM3c5c3VsVGlxeGErVk9TYVU0ZVNmK3k3cTVSRG1WQUFBUkFBQVJBQUFUK0M0R0ZjeUgzc3RPM3k1L1hrdm0vMlBNbkdsM1laMzVDNUFYYitFbDNXVDVuSEVyL3NnbkY4aXdXZElyL1d0WFFwczlJdDJybHp3aW1PbmNvL2N1NnUwbzlGQUlCRUFBQkVBQUJFUGdmQkpiTmhUaGNlYS8xNTlWay9oL20vSkUybC9XWkh4RjV1VVorMUYwV3p4bkgwcjlzUXJFSWk2L1RmcnMvWEpaemh4ZW9hV3pUSjRSY3RmSW41QkpQcmF3N2x2NWwzVjFVRUFkQkFBUkFBQVJBQUFUK0M0SHYwM20vdTIvUEI3NW51ODZGTnQ5ZnQrdnBjRHh2ZDhkYXdxK1RPMzYvdXlEMHkzLzV0VXQrNnVaR044czExcDgzRjFmdHA2dDJ2OXR5dGQrSDdXNTNQbTFpSTcyR016R3ZSeWZDYm4vOEZPTGdpNVArazZVUHpWRDFqY01mSDEyWlAzb2lCYkUzMStOKzY2UTVuNlNiNEYyN1Z5Zk9lYi9keFp2YWIwN3QrMjRybDQ4c0h2aGt5N2lLSlN5dXZpZEVHZnFNUmR6Tko1bHZlN3hPbHJlY25wVjE4TS9PNlhiN1E2ZXlKUzNVZFpleGk2ZkM5OFhpa3EyY3NkY0wwemFLN2E3MG9XeVdVSHdkM0ZneDlGV3ZpZStRajdyMHlITWJMSWFkODNMbHNXcnl0R3NZb0hiY1ZXMDlvbDE2ZjZLeGNJTDlMTFYyU3dKaGpVMG55YVNObmk5MUt6ZTVlOXRIVE5vbUNveXNPeHJidWFvSDNEMlJBWnNnQUFJZ0FBSWdBQUsvbjhEbFFQSEMzYWZBOSszVktad2xwZ1NBUy9qYnNPOWwvcnc1K1MvM1I1OWN1NnpsK25HNzM4OU03WEk5eE95WlRwMyt4YXd5TEFYNDQ1VFlidnlMVVhldXZpbXg3RFNjaUxrNStTcjhpZTZQVkVqTjVnU2EvcEw4MmYrSVNmemJUZVdITW4vMFJLSnFycFRoM0ZuMTNYd3RJTFNSaXNQNTg2ZXZNa29mVStwSm9zYzN5REl1MVNFdEt5eXUzb2RGMGZpTVh1NmJON3N6SEpFOUNoZEE5RlY5aExxb1F1ZUkwZFB5R3BhejBOQmR4aTQraXpZUUt4UVU4K2RPTDV6cnI3YUcwb2N6eURCOFVleXE4dFV2c3VpT0xicjlyQm9lSFJoNmJxaWdZa0dTc3ZITGdjcWY4czJlRmdxNGF6VWJWNE83NnJkeGZXVHZDOWg2aExvMEplbWhoMDlqbTI4disrdFFVN2Ywb2JWcDFuSzIwL0dsWWVVR2QxOUUyMHp3a1hXSDBvZmF6TzZlU1lFZEVBQUJFQUFCRUFDQjMwNkFVOC85amJLV0x4ZituRGRKWWhxMWI0ZWxQckFMeTlZdUduV1pvTS9XS0JUOStMaHluRnIvajFsTkVXMTk3Kzc3MithRFl0eFFwTjF3a3VaL3V1eVRWM292Rkhodjg2V2ZOUFljNXM5RG1VZjU4eGNCb0tYUGplZDV2eGZwUXlxT1Q1WXYreWc5cit4SWNYKzBnK1h6NXRnZHIyVFhDMTlmcUZMekIwWFIrWXhXVmkvbmZVY0w1QnRueWZ2ZFg4SjU4TytiRXFyOTUvZG1jN2w5K2gzbnp1WGZraFlhdXN2WXhhTjRRN0ZDd1NwbmRNZDd2VERXTDN3T3BRL25VQy8wK2JQT1Z5L1VnMC9lOVRhVWIyOWpoeGRrRUE0cFBEZWNWYkhvalJjZkgyU000L2ZHM1VQQ1BmTnJkejk0QnlFUWZzUFdJNVNsL1dWQkhpTy9TT0J3ZWJIUXZFdE4yVkpVeFhlajhrOXJnNTR2RFIxRzdlNExhWnN5SEZwM0tIMm96ZWp1cVF6WUJnRVFBQUVRQUFFUStQMEVYQURwRnY3bWZOTnpQOTNnQUFBZ0FFbEVRVlFIeUpkNi9kbmZiaHppc1R5OWM0blpQbHN3cENBbTVNOWZCL3JqTTgrOFEvOWpUbk56TjFXSGlOY2x0cHNkcFpxVTY4VVV2Tm13TTAwVTB6VjVtaTExOEhKbVFsNU9oMG42SkgvMmh5bWNkZVhuOWVlaHpCODlrVGhFVDlLRmplZVI3RHM1WGJ2SDJLN0xhQzhoaENjTjZIaHk5L3VzbG5uTFlhVFVnRStrbGYxN1dmTmpvaWg5UmljeHhkSHprcHp6djhKNnVtcTRGTmwrUDN1eno4ZDNtWHU2Y29WRm5yUFEwRjNHTGg0VUhJc1ZDcEtQWkE3KzBlMkY0VFRwWXloOU9Da21GRHBmcFRUbEdQdjRCeG1sdW5RamlST09hVHczRksxWTlEcm54Vi9aQ3JkcHg5RWp2SmFCeGh6dktMWWVvU3VkVWFQQk1MY2U2OUtucG12SjE2UzFLYmRhLysvNjByQnlyYnN2cGUwc3Y4SzZRK2xEYlRaM24wWEFGZ2lBQUFpQUFBaUF3RjhnUU90OStYTEl5ZDJEN2VMTWUvWDdWWlJvRk1tTks1bGtwRVRNNXdFaGZ3NEV1YnBtQkUzcG1LL216TUdzajNMZDM0eGZhdGgveS9telc5TEpNM2hxYmorRjc2RWVmNk9tK3l1bDVid3l5WjlEOFlITUxaR29sVHc2cHBybWxDN1VUM21pLzFFdmQ5RWdJYk1oSWJVclJhRXU4Y00xbTlUcmluaTdGSWJoRTYyaVdIeEdGQzA5U0hUU05XTEh3eVgrYVpGOXpqUDlxdGdXY2hObmtGM21DdXRZYU9BdVF4ZW4rNGp6cXo2OEpsbzV6c2RIbFRQNmtxVmYxNzJ3WUpYdURxVC80RnN1RHY1U1QrSlRMVjhsLzBndWFGa1RhQ2ROMG9xVHMrbTVFZ3RYdnRFNXliT1NxeW4wL0VZWXFmeFFNZzlhdGg3UkxlM3M1OXBON3FoZ2FyVlpOZFM2TFJXRHh0Q21xUU1rMnlwZkdsUStkdmVsdFNYSzJiV3l0blhEYlZHNWp5VUVqTzZlbllrZEVBQUJFQUFCRUFDQlgwK2dYcXQxS3ROQkYwOFdBWmtMVWR6QlBILzJSNnBRME9XL2N5anFFUTZpTGI5NjVoT0FhMWhGRGd2U1NkWlROMHlXNGZ6WjNmTk5lL00vYW0rYm5FOWY4ZVBPWlo3eGNmR05tL05uZ1lWdmhOWkF5blNQYnIxTUltZ1dsSVcvdVd3b0EwaTVRaVVrbjJMNTc5VGFGKzhNbytzU1dXWWFLclNKWXZPWmdjeGsraHdZNFVxQzIrL0t2cTA2NjhUeTQ5dmYzcERXdjVLRm5uVnhnMWgxL3F6cmhTMXE3dmhJK3BnL2J6VytLdmdIR2FhOERhQWxqOFZ6YXhaVXF6eGVrUCtuL1pENlduQ083MVA2bElXdFJ3eEs3L1BMQWRUcWZMOUx3S0NqTm1ncFJUcTBhVnA0M3RiNTBxankwWWkrdUxZZkh3YnJqcVEzdWZ1TURsc2dBQUlnQUFJZ0FBSi9nUUN0QXBUWnAxOEhwcjhxZithNElzMUdmSnhVZ1hMaFNWN25LRjZoakdtN2lXdG9GR0RHSGE2ZFV1cTBZVHJNMFdTeHZ1aS9vZkFzWDFWM1IwbXBPaldsdzFVOE81SzVadUViOWtGYzNRSkZrMW1XN010U3U3ZGI4WFEwWi9uYVhNUFhJLzhSZ2p4dzU2cVR6SFE2MHlLSzFXZW1ScVFOSVk0T2tmQjg5ZU9VM3B3dlZSS1BDWmNleUxQdTk3bXl0U3cwY3BlUmkxc2NwN3BNb091RkVaUHdPWkkrSkJTZkdsOWxUZk5HcUtQbVkwSmVJTjB6ZVc3RmdtdVN4Z3R5M0t5ZjgvaFJkVXhmaGFWSERFckh5NEpSUi9iSlluRFZVdFBMTmJScGxDZi8xUG5TcVBLQnV5K3Y3WWZGdWlQcExlNmUwOE1lQ0lBQUNJQUFDSURBYnlmUXl0VjQrYVplZitaci9Ha2E2OEorSVN3dUQ0N2lGWkpqK3htelBWNFJ6c0phV2x4SUd5YlRoUHk1Q0VYOVZ4US9wN2VRK29NVWU5YlpMWlhONG1wZmVDUnp6Y0tkUkJtY2tQdDY4Zk83aUtNNDEvaTdYYjVOLzhmczA3VXdQbTc5VDFwbG1XTzQyVld3RjVQUmlXTDJtWjdneEtzU2lFTGhtVUN4Nk5tc2p5MldPd1A1VFhvNzhGb1dHcm5Md01WTllsVTVvNjRYTnNFcG5KM3pVWTJ2Y3VjdEw5TFFGYmwwNmJjampNbHpLeFpjc1RCZWNNZktiNytncHVvUndkVkJZNFd1Und4S24yUnErZUNrcHFhWGErU1JEUXZvZkdsVWVkL2RWOURXWk4yUjlPSGFxR3k0ZVdCcUVNUmhFQUFCRUFBQkVBQ0JYMHlBWTQ0cUszVWFVemd2NU05bHRPcHJxTklmdjM2ZEh4ekZLNVFIYjdkVERuczU3STk1SGxRMnpGYmgvTGxhWjNaZlVncFdLa0N4WngwdFU2dzl0UjN0UFpKWnVuT1V6cEhFb1M5eUppSEgzOGFMQnJGZGp0enpNSC82enJCQnloYXZzbVlxUW43UGVZUkdGTHZQZEdTbWRmbDdKUStGMTVOQnZ1dDc2OFVxT1NqUDZiTzB5UXZRVjdQUXlGMzZMbTRUcSt3TXlsNG9VdU9ESStrNW9VaXZRL0I1NUdTNXI1SndWU2VURmh4YjhwZzh0MlFSS2hVT3M0NTVEcy9qWE9XQXJoSjlqL0F0OWtvM3FPWERycHBhcjZYY0VFT2JCbFQ1aDlLWFJwWDMzWDAxYlpYV0hVbHZjUGVjSHZaQUFBUkFBQVJBQUFSK093RytVVEpQVkZsblRtenFiOHF3bE1La0d0UHBrZnc1ZTRkMldXZlpNSC9QK1hPK2tzUGZjT0pVWkt3Y2U1WlY4MEx5bEs3RnI0Y3hWaTBTTjFvdXZWR0ZsQk1VMzVBNDlkM2VkRGhQQTZOTWxzK1FoV1NySmN3ckR6S3BUcjBvZHA5cEM4MUwyUzF4SXExVC9qS3hablg4MEVGMjEwSllScHd6bVBVc05ISVhSdCs0RTkwb1Z1bDV5bDdZSktkZGY5YjRLaVhLeFczZXZtRnl4M3BBa1dReWVXN0pJbFFvSEdiL2lGN0Y1WGljeS9wSXFFRGZJL3dKdmRMMTVSOHFuWTFOZW1xOWx2SkJZK1NSUWRIaVErbExvOHE3N3I2R3RpYnJqcVR2MmpPblhPRERMZ2lBQUFpQUFBaUF3Tzhtd0F0MldSd1hGUmFYYjkyWFpWaEtZVklkZmw0Znk1ODc0WFhaTUF2S1VacVVQNGRIdVBOc2ltTFBhbWxzdWZ5Wm8vSElNUHVraGE2aWFRNkZLK2xwT1Z5MFNsYmphSWVxS1Y3dXhubGF2a3hGOWFoRmVjQm5tb0p5WGRXRkMxZWVndUVvNWk1L1oxV3JPdmFGQW5GOGtqK3VNSzVub1ZGSUhoSUsyY1dOWXBXZFFka0xXK1RjOFpIMElhRlErQ3JKVnQ3NFVacTBJNG43eXVTNUpZdFF0WENZcTgxSEJCN244cVZncmtIZEk2aDRyM1I5K1lja3lUeFZUNjNYVWo1b0RHMGFVT1VmU2w4YVZkNTE5elcwTlZsM0pMM2UzWE40MkFNQkVBQUJFQUFCRVBqdEJQam14U29tOW1wcjgrZkd3dGxYOXNiamNYak8wWmFVU1VVYkNQR3crNHJQcS9QM1NZTThvcVRZTTR0YnFYb0t2YXJHaHpGV0pSTER5SnVNOGpQUWZLbVZRK0U4b0hmbDYrZzZWbUw2NUVXZVlyR0VsdmFFZEVFdHlnTSswNVNhdytpY0NSZW1mREpZNUt0ZXZ4TnJaTWxpMGgyTHVCOWNjbit4alJVdE5IS1hub3RieFNvOVQ5a0xJeFBoY3lSOVNDakd2c3EzRkZTZDZZTmZzUy8zalZJZWsrZVdMRUpsd21GZTFzNHZZTERla2xqcUhrRU45a3BYVDBYd1ZjaVVrWUZhcjZWOGFCdmF0T1JPKzBwZkdsWGVjL2RWdERWWmR5UzkydDFGaERnSUFpQUFBaUFBQWlEd2V3bHd5RkhGeEY1aGJmNGNBbzFEOG41ajR2V1ZIeGpGS3h4dEZibGVCbDZJaDkzM25meVp2MHBmdkJ5ZlVzenE5VHRMNWMrc1pabkJjWE1zVGg2b2N5aWNrNHJpNUtFdzEySDhmOXZmdCtYRkVUSzV3Rmt0eWdNKzB4SzdHVVpIOStORjQ3TndNN0JVSlVzV00rVzV4UFZ3bW5LbUZTMzBqSXRieGFvNkE1dHYxQXRuSnRYV1NQclF6OGUreXJmM0N4N0dTWEhWc0hqQTRya1ZDNjVST013T012a0NsV085ODI3SkZhaDdCQlh2bGE2Zjd5ZmgwdnpaUUszWFVqNW9ERzNLaXBiL2RiNDBxcnczb3EraXJjbTZJK25WN2w3Q3d6NElnQUFJZ0FBSWdNRHZKc0Q1UzU1aFJvM1YrVFBmZWVwZUluYXRZdXRZbC9zY3hTc2NiY21aSjFjanhNUHVDejVQWEgvbUJ5N3p0UjhLRGZNZzA5ZStWUDdNaitEVkdaeHZnNWQxY3RnY3FmcHZzNytGMXArek91TU9SWmxDZHFNVjVSR2ZpVzJYbjZTbm5CeHpza1ZYZHR4TjNqM1BtaXJsVStwY1pTcmdOMWEwMERNdWJoV3I2Z3k2WHBpaHlIZEcwb2VFSWovSjdWVytHckt2cXVBSGUwNmV2ZGFsMmtkYW5sdXg0Q3FFdyt4ditlVkNIdWVFR3pMVUNuTnp2ZjVULzc0ZkNaZm16d1pxdlpieW9XMW9VeG0yenBkR2xmZEc5RlcwTlZsM0pMM1IrakpJSEFVQkVBQUJFQUFCRVBoOUJIZ1pvSTd1dkticS9EbmtoVDY2M1I2dnJmQjRGSzl3dENWbm5neGVpSWZkRjczOG1hTzBMRFNtUTNtUTZXdW4wQ3NOWjZuSmtjelZzK0FoWTI5b1FmRy9rTTVYN2RZNUNZbXp6TDlXRmtKa0ZLSTg0ak1OeVptdm5QQnlza1d2ZWpyVWo0K0tGZllrbTA1Z0k2eGlvWkc3OUZ6Y0tsYlZHWFM5Y01KUWI0eWs1NFJpN0NEOFNMdDBVWVQxejdQWFdvNzJrWmJuVml5NEN1RXdYNldRM2g5VzNxWGhxOUQyQ0c2dVY3b2VZVW00QkthRldxK2xmR2diMnBSRkwvL3JmR2xVZWNmZDE5SFdaTjJSOUVicmx3aXhEd0lnQUFJZ0FBSWc4RnNKOEJYN1BPYUt1cXJ6NTdDMHpCbUErNytmYjVhTmRiblBVYnpDMFZZZTJpYW51MDBoSG5aSCtUeDUvVmxRajJMUFd1R0Y4dWV3TnR2UWd0ck9Id3MzaVpQak1POWR2bS9YMDRHZkVXNnRQeXZJQ0ZBblVWbytNeFhJTjNwVk1VcWY1N3BnTzc3N0t6KzkzT1Bxa3FTa0xPRDIxN1RRRXk1dUZxdnVETno2b0JjS1JPS2hrZlNjVUl3ZEpNZ2g5QUZPeTRRdm9naXR6NEhuMWl5b0l1RXczNkdRRHhaODFVVzY3R2ZybkxiU0pGeVNWbHVvNlZzYTJyUkJQRWdUbldueEVYMGRiVTNXSGFMUlUyNUF4R0VRQUFFUUFBRVFBSUZmU1lCaWhPSkYyVkhSVmk0a2hLVmNORVpiN25OYkI4bWplR1c4T0NVMDdHVHQ1YzhjcENaUjZ0clBQNGU0c0xIRXh2bGQ5cVRsRHdWcGwrc2hzQWhHZWlKL2ZzUm5vay9sbjJFVlNscjZTKzE2VkM0L2g4WC9Pc05MVzEzVFFrKzR1Rmtzb1ROb2VtR0tvdGdlU2EvTm40TVkyM1AxeHk3WVdQb3ZwSW03R3M4VldQalRwY1BrL3JuelU2OFVuY2JXT1cybG1VWFVNdDd0YzFkUjA3YzB0T2tzUUw2bDhhVlI1WjBSM2VJamVtMTVBRkJhZHlTOTF0MXpidGdEQVJBQUFSQUFBUkQ0OVFRNG04b2pqcWcweHpqMXVvd1VsdDRveUFtNUdYM3N5eWRXUi9GS0o5b0tFa2tOcDNsV0ZIeis1QnY2ZmpCL0RnOE9kdlBuTEZRM0JJZXpXdGF0S3dmcnUrUG43ZXNpQlpsVW9WYVVSM3hHbGpoRTBiV0wrZUxzRHk2M2RodTY1ZWVRUDJmWEo2cUcxN1RRRXk1dUZrdnFESXBlV1BHWUQ0eWsxeVlVOGVIWmREUkl0bmV5dVdjNTBpMmQ1MG9zWEMzU1lYYTV0QW0raUNQMldHMlA0T3BzcGJsTHpvSllxT2xiR3RwMEZxRFlVdmpTcVBMT2lMNk90dUdSbzFTVHRuVkgwbXZkUFcwTjJ5QUFBaUFBQWlBQUFyK2ZRRmdBZkQ1Ly90andiY0dkT0hrVXIzQzAxUXV1cFhnNDVsbjVMWm5SY2lGL1R0TXZmZXpwS2huSlhJWG80UW5jaGhhOC92eDRPaC9WTW4xdVdLYnRaNlJBTmhKTXJpVHprTS9JRW5mdnQ1N3k1L05kWHFDdTZ1eEtGa3V2YWFHUnUzUmMzQ3lXMkJuR3ZUQmlFRDVIMG1zVGlqQVNOUHFBMEhEcmtOcHpSUlp5L3N4dkZraEhDeUtmdlNKaGtrZlpJMEo1VytreWY3WlEwN2MwdE9ta2E3VXg5cVZSNVIxM1gwZmI4Qm9MblhWSDBtdmR2UUtIQXlBQUFpQUFBaUFBQXIrYVFEZmpzS3cvTzBxYno1Q3RUamwwSGtHUDRwVk90QlZzSUlmSmZGNGFNODBtKy9IOHVSOFgvby84bWEyNFQrNm5mNW44T2J5bFNFamx2UVhaTjAvdUdrYTJZRDhidDlycWVuTXN2YWFGbm5CeHMxaHlaeGoyd29oQitCeEpyMDBvK3FvSURUY082VDIzd1VJOHZQSEo1eTVlU3dyUHd6ZHVXZERucVY0Rlcya1NMcm1VWnFHbWIybG8wd1o3T3J6aWlMNk90bTRTMGx0M2lFWlB1UWNSMzRFQUNJQUFDSUFBQ1B3MkFwenJ5aG1NTVgvMmFDN1hZOGdSZmNWNTNqT0tWMWJNbjFPcm1hS2lrY3l0OVdmeGJ0QVFZZCt6OTF1WnhFbjEwRzFmT0V6UEZuREo1b0xKdGFJODRqT2l0R3h4NlVYTnZuakluOTFIZzJaZEowdldTSVpDOGJEUTI2aVRHRHhzb1pHN2RGemNMSmFZSExLT3ZWNVlRNXVPaktUWEpvamgzdHo4NnRuVWluYkQ0cmtORnZKaGVzblVOajVkUW52VnN5WkJTRzJQNE9LMjB0d3haeG9XYXZxV2hqYWRCWkMzZXI0MHFyemo3dXRvNjFUUVczY2t2ZGJkWlc0NENnSWdBQUlnQUFJZzhHc0pQSklMeVdIcGhHaHpDN25BUGIvdmRoU3ZkS0t0VUxmY01KOG5yejl6a0pxczhoaFhpVVl5Vi9relgzUElmNkpxSWlPOTMwb2ZDcy9WNkxjdVZIMlJnTDVNL3N5dnl5MmttNVFMK2ZNK2YxLzU5TFcwd2Q2Y1g3WXB5NjFwb1pHN2RGemNMSmJjR1NadFc3MXdLbEJ2aktUWEpoUkJsY1lWaXJwZDhZakpjeHNzNU1PN095MStudHdTOU9hTGJsREpyaTZsMHRnNnA2MDBEMDF6YXhacStwYUdOcDBGYUcrMWZHbFUrZGpkVlQ2aTE5YXBvTGZ1U0hxdHU3ZTU0UnNRQUFFUUFBRVFBSUZmU1lCWGkrV01neU82ZWhsSkRrc3pQRmVLZWU1WjRsckZLNmM4dis1RVc2RnV1ZUZlL2l5b1o0ckdSakpYK1RPZjBNK2ZzNlZma3pnWlk4VU8zYzFZcmQ4K216OExVQ2RaV2o0ekZVZzNRc3FRSGtxMitlN3VYWEVYUTFLZzNtVEpzdlg5cXRDYUZocTVTOGZGeldMSm5TRlRWK3FGV1lGOFp5UzlOcUVJbDBWc3I5bk9SZUg3Y05XZTIyQWhIdjUwbzg1MytxVEpjYjZYdXhCQ3EzQTR6ZGFWU2Joa2dMUlEwN2MwdEdtcGNtdGY4cVZSNVIxM1gwZGIveFp6dFhWSDBodXQzd0tINHlBQUFpQUFBaUFBQXIrTkFEK0hKbWNjclZ5b0RFczNPMkVCaHl0T1kraFJ2TktKdGdMMXNtRSszTXVmZVVIeWtGcE5IM3U2czBZeVYva3pDM05QOVU0YWYxYWNwQ3JWSnFjSjVkTDhzL256SXo0amlzdjNLY2dYYjl6aUlOTzYxeGR3eE1yOFFaWXNTVXFFa210YWFPUXVIUmMzaTFWMkJtVXZGSWpFUXlQcHRRbEZlQXk5ZEx2WWpPclQ1cmtsaTlDRWVIaDM5N2R1WHo3UDdtTExibnU4eGh1NUpiRk1ZNFVXVHlwYzRxb1dhbnE1aGphVjFIWlhMOVllMGRmUjFpOC9xNjA3UktPbkxFTEVRUkFBQVJBQUFSQUFnVjlLSUt3RGlOcHA4MmNYK2d2blV5NlRacTZqZUtXVFhJVHF4WGk0OS92UElRVkwzcDBWM3RCYTUyd1VMRlhYRVVZeVYva3pCOUg1d3ZvRUp3U04yVTJMYXdacFRMUlNLczJmdnhKaHRLSTg0ak1UZzNTREg0SnNQYTRjakNkRThta2QyWGFRcko5eGs1cnJXR2prTGowWHQ0cFZkZ1psTDh4NDVUc2o2ZFVKSXQ4R0lML1NPbSt5dFdmMDNKSkZxRlk2L0owLzNONFNnSTlyZThRanBVbTRkT0EwVU5QTE5iU3BDRURwUzZQS2UrNitpclp1THFoR08xRkJmM0FrdmRyZG15M2dDeEFBQVJBQUFSQUFnVjlKSUNRcFlzYWh6WisvcXZzc0NaVVA4dEpibFVmeFNpL2FZdlpTUE56OS9Tb25tZi9MTEVlQlc1MC9VOEVxK0JySlhPZlB2S2FhNmoyM3p1bGQzb2crRko3cjBXN0ppM2pwN3o5L3AzZEhhMFY1eEdkRWtkbkJtbmtXbWFTMmxGZ1ZId3lTOVZjK1Y3VFF5RjE2TG00VnErd015bDdZb1RlU1hwMVE4SFVSaytVS3NZeWVXN0lJdFVtSFAxT1BMMXF0ZHJVOWdrKzBsU2JoMHFISlFFM2YwdENtbGM3K2dOS1hScFgzM0gwVmJkM3QyM3F2RzBtdmRuY1JJUTZDQUFpQUFBaUFBQWo4WGdJY3hva1poeUYvVHRlWkl5c2ZJYVhSekNoZTZVVmJYS2NVRDNmelp3N1M4Z1NOS2tubG9ycDVhVGhQYmQwWEk1bnIvSmxUOXFvaWFrUVNSeDhLTXdQRC83RGNYVDdleVVrbVovZ1A1YytzdFB6YTdKYlBpR0l6WGNsM3FEamx6ODF2eFJyWm0rV3JGOThIdmxWM1JRdU4zS1huNGxheHlzN2d6cGRZbGIxUXhNWUhSOUtyRTRyZ2VQS2QwZDlIK1hncW1OVnpTeGFoTHVtd3UweVJ0dFRmdG5WT1cybDIxYVI5QXpWOVMwT2JKZ0xNbTBwZkdsWGVjL2RWdFAyd1dIY2t2ZHJkWjI3WUFnRVFBQUVRQUFFUStCTUVPR3pQVTh5Z09LZDc5ZEowR1phNktxUjgwYSsycHZmbTh1cHJjaS8xTVUvQmV0RVdTMVEyekVmNVBQRTJYNDVSOHdTU2xyYXEvSm1EcVVxTmtjeDEvaHlTU3pGSGtNVFJoOEptZDJUVFZ1a0M4M29tZjM3QVowVGhPWWFXc2o0cVR2bXphRmV4Tm4rd29US1YzOFlYZmJNWjFyRFF5RjI2TG00VWk0b24vVmJaQzV2b3drLy9wSysrS3pxb1BxR29YMzR3Tjd1UFpwZ1BWVnNOTXpZOXQyUVJLcFFPTzlIeThhQnFQRGxnNjV5MjBtenVwTEh3OUw3ODZvU2NtcjZsa1VlbTdjL2JTbDhhVmQ1MWQ3MlA2TFgxQ05YV0hVbXZkL2NaSExaQUFBUkFBQVJBQUFUK0JBR080NlJzZ3U4b1ZlWFAwa3VlZkhhVXhQZmhPZVVrUE55bnNYcGNSNjZibTYwZ3hjUHhQQ2tMNC9pdCtFYk9uem1hcS9KbnJxRXRzNUEvYyt3dkxlaUw2YUloT0hRZ3ZnN25ZL0xFOG94RzJtcGNFK0FsNG1meTU4NDFncGJQU1BLRjN4S1RWNHZkQ1Eva3owRXlpYjZ6U3hCaVBRdU4zS1diVUJqRktqdURQMTNvUEdVdmxBMUJSMGZTNnhNSzl2VHFJcFZ2eFRYU0VTRjhaZlhja2tXb1JqcnNIRFFkbFBxeTJEcW5yVFFKbDdIUVU5TzNOTFNwQ0VEcFM2UEsrWHZCS1gyamEyanIxNS9WMWgxSnIzZDNZdmg5T0I4YXFvcU1jUkFFUUFBRVFBQUVRT0I5Q1hBWUlXVWNGS1VKTVhrWmx2cG9xMGhTUFE1ZmNWb3RCMHpKZXVJMnI3c2JiUkhmc21HR3p1ZEp3VG9ueGNXbEFWcFZyeEpseXRYcVpmU1J6RUwrL0VFSmV0V0FrNVhYOHd0eDlLR3dxNEd6MHdRaEUyajg1MFE1QzlGOVNRN2NuOHFmN1Q0amkwajZTSlp6eFRjc3ArQlljbDE4bENXVDZCL255SG8xQzQzY3BlL2lOckhLenFEc2hSMTRJK2tOQ1FVN3FuU2w1enlib1MySzFYTkxGcUZtNmJDdk9ya0hwaTJELzhiVU9ZMmwyYjJ6OXRYVTlISU5iWm9KRUhlVXZqU3F2Ty91SzJqcm5uL1dXM2NrdmMyZTdMTGFvVG1DeGljSWdBQUlnQUFJZ01CN0VwQVR5cGp1Q1hkYmxtR3BqN2JvWjBOeS9mMzljZG5OZEJUMUphdU54VWtjYlVreGQ2eTNiSmlQODNuQ1QwWnhnRlFHeTN6Ylhxd3lmSDdlU2JncTErUVlxaTJ6bEQvemp5NG5hOWFoRFZrY2ZTZzgzWjJzamY5WjA5d0d2aExDeUhmVzM5STN2QmxFTWZ0TXdUdERJbjczelFiUlpGdlorWHlSSXIxdXcxODdMNWxXaDlhekVBbmRkcGUraTl2RUtqdUR0aGRtdFBLZGdmU1doSUxlMHBjK3ZSRmFjZ1N5TVNFWElPNVpQYmRrRWVxUkRsTXZQQ2xrOEhVWWVvUzVOQWxYRERoYWFnYTVSallOcVBJUHJTOE5LdSs3KzhjSzJ0cXQyKzZzSnVzVE1UZmg5YWF2bkRIMlFBQUVRQUFFUUFBRTNwa0FyWHRWNjN3aGhoV1N0VEpxb3RpaHZtM09yZjdtQVRRdE9NeExnMS9aMjhWaWR0Z0xRTXFHR1RwSGFmZGRGUk5UZkZhdENQRHJzL0pWNE0xdXo2c2hsUmtITWxmNXRhK0FCYXJFb1lDNUVzZGZlNmpYdmJuZW1SWEx4ZXZwSmRaSzVuaUFFL2JzSGdEMzFYWkx4N251ei9UR0FZc29WcCtKTWhXZlZJMWtjcmVjYzZKVU9MclFzYjRnVWRRVmRxbktPVmVPaGJacEpyNmFoUWJ1d2xHMnBDK0phUktMT2tPazQwN1g5c0lJUlBnY1NNODMxSmRPR2JMTTR2Q0Z4S3U4M1YwaXFJNEpnbGc5dDJRUnFoVEhDODViZDF2M3QvZC81K1BoZEtzNks5ZGc2UkhoZVlPQ2c2dUhwQ2dTWlhlWVJxZmlzSmFhUWE2UlRRT3EvRVByUzRQS0IrNitncmJoNWhxZGRRZlNXOXc5L3ZKOGVqa3lSNG85RUFBQkVBQUJFQUNCWDBWZ1E2RmNzVTdyUWxnTy9PcDRsNkszTW5LdjFuOTlNcEJuQ2tVNGRTeENhWDdvc1pjbWxRMnpGU2pyK0R3VzJmZ0hoelIxV3MvSGMyMlA5MjhLcHVxMXNZSE1IR01sTEVna3V2UlEzcFpNMldBbFR2akZwY3FmU05WeVVaOURidmRWSTl3dmF3bjVkbmF0NE93dWlGQTlaSnYwdFVRbVVhdytVNG9XOW1uSk5Wa0NDb2UvOS9mZDF3Y0pGREJlMVpFcFM3Yk5sUGJPc0V1UHJHV2hnYnVNWE53Z0ZudGU0bVRjZE5sOTZsN1lzSVEvUEpEZTVDQmNWOTdOL0xNRFpWK1J4YkY1YnNVaVZDcU9GM3lSZ3Z0WDh2OWNpdXJxTUNsc0xNMHlsejFaUjgwaTE4Q21NbjQrYWV4TGc4cEg3cjY4dHVIYVpXSlgzcFNzdTZpN3g2RTU2WkF5V2h3RkFSQUFBUkFBQVJENEhRVDRVZE1zWFByYTNROThLK3h1dXUwMUtNdFBlaVc1TVlkQnhVSzFUMlBLMUp1V0JtTzI1QkwwTktPSno3dTZ2S24xVnpYTUJYMUE3TUtXN1gyZjFyZWh4a29KL0JrVVFHZGgvTUd0d25MK2ZFNnJvT3E3TXRQemRxNzVVbVpIejhtVVpibVVFZFRpTU9OeWpUaldXOXdVd0V1cnJ1cjY5bVJHVWZ6bkJaNTdra3M2S2s2R0tVMjdwUmNkVEtJRWMybDlwaEJzM2lWUml0VGw0bGpSaFFiU2x5bnVDdmVhYTZpMzZMVDhkb1REdlhEamxTekVENzgvN3VKNnNVSm5tTkdwZTJFTmJEclNkM2FiZy9BTitKbkh1ekVoOGNXcFZXSEQ1cmtWQzY2eE1WNEVOVnczeXY5Mm1heStDcHZDL2RKbDVVRzQ4b0thaWxxL0pXblFhSG1rZ040ZlV2dFMxMkhDR3d3Nkkvcnkya2FiNWFaMWU3VjFQL3FkTmRaVWpyWEJjQkpsMTB3RTNRQ0x3eUFBQWlBQUFpQUFBcitIUUpuZHVRanRFSk80Ky9iZzduRDB1bDRPaDhPWlY2VjlSSEk4SGloeHBHakwxWkNHaU44dWZTNWp3dzkrd0pPTHVWaDZLbjg5SEk1OFc2VVBlM2J1anNwRC9vUmlvMkhtSDViWVhMU1dSR28zV2hDWXM0dlVWTFFzTXNjL202TmZGT1A4MmQwYmZUaGxiYmRrN29yMGNhSG01OURyaTlUTHhQbk9ZWjdkcms4Vmkzcjk0ZWtDQnEvbk9FU3o4S2xlOVhaWWE5dkZoai9EN2JPY1lSN2NCOVg5Z0NpdUxaM1AxRUxsUnlpQlRxOC9mRG1wOW55QWJ1T2xGUDFvQ2t6WmxqTjk3NHdUeE5EOE9oWjYzTVgxWWhVZTRqb0wvYkMxdWhmbS9MTzlsck0vNUNDY1BwMW44Qzd6VUtiUDhSbUkrOGh6R3l6S3cyR2dDcnFHRE1pUE5mbmZkcExWcHJDdGRDRmMxc1BqYS9OYTFHd3RrYjR0bTJhR0wzYlV2dFNxZkRpaWh3YjdQdktBdGgvVHJKV2IxdTNOMW8zYXRxUi9vTjA0TkdjWEZHTTcrQVFCRUFBQkVBQUJFUGlWQkw1OHdyZmp6TkhmeSt4VDBUVE9wT3ZxWVZraWlVd29SL0dIUHovYzB0bnVrd1BReTgwbmFIUCtNaEhqcE9YOGRibGNkMGxHUkpsWVVxdmZURk9xdUI2U0ZFa3FkMGtpWC9WMzFlejlrNHliN3l1bHI1UldURzBuRzZUWTlrWnJ6WmNUU3hMelo5OUdURGZwbEliTURSWlRLMDVCOTNlNGZXOHV0MDhTNTVpdmJWUGk2TXZNZjE3bnV0NUVuUERzWm4xbFltcTIyT0JWZUdmT3crZjE1SXl5NC9ndXJBekZDdzZQaU9KRjFmaE1JVkM5UzB1dXgrQTRWKzg0SVh0MlJYMVU2bEt1aTdzMGtzT3JxOG1Pa0dSTzZhL0w1dkwxNmFqVjl4VzR5dGV3VUxoeVluZnhTZjZoV0lLSCtBc3YrbDQ0TlZWdk5KejlRUWRoVmZhZjNndzMzOEcwMTMyY1lEclA3YkNZdTVYZm1zZUxqZXZ3emIrWVFOc1V0cFVPRjdWU0diS3NxMGZOMWhMYnQySFQydmp6RWIwdk5Tb2ZqdWhUV3d0cnE3THUxSGhEK2tjb3M4WllmcDdZWWdNRVFBQUVRQUFFL2dJQlR2THVXeDlkN2s0K1haSHk1OTNPdlp2RnZYWEh2WDFuNTBwU1dPb0NRcitVN05aeC9hbFVnUXVWK2I3Ymd0eG1UbE9UMVdsM29xK1czdWNUS3E3eVo2bGhydHcxSDlyaVJXY09USGRIVVFBKzVlTFROQytyendDM0ZMM09naFg1ODRjc3N3c3gyeUpSS3dFb3RlUVc0MHR4WEpBV0szQTAzU1pmTTBqcWpZZVRkUDYwdjI5UEcrVkRwQ1NGWDg2ZC9zaXNkUGpxVXRKOUROc2ZFc1ZYby9BWmFxMy9qMjlIZFF5OG5MdDV1ZDJkUmNzNnpralpyZm45MnZoYnA5LzhOeWxhbkxtR2hScnVNblR4UkxTQldJS0hlTjh5OU1La3JYSlRkdlpuSFlSTmtTeXFsczFLK3hyUGJiQklEcWNEbFcvRjkvUGQ1OVFaTnh0M2hlVjZpTjRTSDErMUtXd3I3UXhWZG9hbDhXMEFBQVF2U1VSQlZQellFUU9HekFFeWFyYVdRbld5VGNPWDRvZkJsK1RLSDNiM0o3WFZXWGZXV1piK0ljcHV4Tm5QVjJubUpyQUZBaUFBQWlBQUFpRHdtd2xjUHM5N3Q0aThQWWFFN1hPM2RXK25QWDFlYjI0QnFhUDRKajVidHZrOHVsekhuWFhndFYzcG5NM1ZON0lOQzQ1U2lXZU9mWjFJZ3pQZldONnI2WFk4dTRSdHQ0L0tIcnl5QjZmczEvY1VYTWZ6SDVYNThublVpaE9iMG55YThtZDNYZU4yOG1Kc3o5ZWVFVFVOQzJVZTlabThxcS9EM2puT2RuK2NFNXRRWU9NTU9pZjYrVm45dmMyVjRPK1AyZTM0eFRtcldPaFJkNWxsZTBRc1V5K2NtNnEybnBjK3F6S280a3hyOTc3bFBaZGVMbGZjQ0VMaWJ2aVdsZm1aa2t5Skg5OTVocG9nck5XbUpsK3lWbDdMdDVTMmoxajNlZWxyZlhBRUJFQUFCRUFBQkVBQUJFRGdwUWhja2x2Zlgwb3dDQU1DcjAzQXJ6TlByMTBvUk9VN1VPeFpmbEVOZHY4YkFWajN2NkZId3lBQUFpQUFBaUFBQWlEd3lnUytMTStSdnJJaWtBMEVmcFNBZnlJbDNxSmROMHdKZEhFcmRWMEtSMTZWQUt6N3FwYUJYQ0FBQWlBQUFpQUFBaUR3ZndsY2s3Y2gvVjlKMERvSXZCRUIrdDNrK0lvd1FXNy9BRDdlQUNXQWVZdERzTzVibUFsQ2dnQUlnQUFJZ0FBSWdNRFBFemptTDFmN2VRSFFJZ2k4SXdIM1hxajdyaU00dlgycTh6MitlbVVDc080cld3ZXlnUUFJZ0FBSWdBQUlnTUIvSkxDNy84ZkcwVFFJdkNzQi82TDMzdm95dmUzOVhaWDc4M0xEdW4vZUJRQUFCRUFBQkVBQUJFQUFCRVFDWDVhZnJ4SnJ3RUVRK0lzRS9BL3NKVCtiVnlId0s1aTRObFZoZVpNRHNPNmJHQXBpZ2dBSWdBQUlnQUFJZ01BUEV6amNreCtFL3VHMjBSd0l2QzhCLzRLcGZVZjgvZ3VvT2lmaXF4Y2dBT3UrZ0JFZ0FnaUFBQWlBQUFpQUFBaThIb0ZMOXhITzE1TVhFb0hBaXhENDh1dkwxYSs3ejhMNTN6ODZ6THZZZWlzQ3NPNWJtUXZDZ2dBSWdBQUlnQUFJZ01CUEVUZzJmOEQycHlSQU95RHduZ1I4Z3R5K2dYdVVnTDJuem45SGFsajM3OWdhbW9JQUNJQUFDSUFBQ0lDQW1zQTNscC9WckZBUUJESUMzMzRCdXZVTHp4Zi84MVZZZnM2QXZkVU9yUHRXNW9Ld0lBQUNJQUFDSUFBQ0lQQXpCUGJOK1A5bjJrY3JJUEMrQk9nTllaK2kvTi80OVdlUnl4c2RoSFhmeUZnUUZRUkFBQVJBQUFSQUFBUitoc0N4Yy8vcHowaUFWa0RnZlFuUVQxUWRON1VDL3UxVDZGczFsN2M2QXV1K2xia2dMQWlBQUFpQUFBaUFBQWlzVCtCNjM2N2ZDRm9BZ1Y5TDRPS2ZrcjJmOHJlSWJhNWJmeFR2dFg5M3M4TzY3MjVCeUE4Q0lBQUNJQUFDSUFBQ2l4SndUL2psZ2YraXRhTXlFUGdEQkc2VVFXOVBOKzVLbTYvUHMwK2VkeWRoVmZvUDRQaGxLc0s2djh5Z1VBY0VRQUFFUUFBRVFBQUVuaUZ3MjM0L2N6ck9CUUVRK1BqNFB2aG5uZjFmL0x3ZlcyOFZBNjkzSXdEcnZwdkZJQzhJZ0FBSWdBQUlnQUFJZ0FBSWdNQkxFN2pjVHVmdHpxWFB1KzMrY1AxNmFWa2huSlVBckdzbGh2SWdBQUlnQUFJZ0FBSUtBdjhBOGQ3NVE0ejJxVG9BQUFBQVNVVk9SSzVDWUlJPSIKfQo="/>
    </extobj>
    <extobj name="334E55B0-647D-440b-865C-3EC943EB4CBC-5">
      <extobjdata type="334E55B0-647D-440b-865C-3EC943EB4CBC" data="ewoJIkltZ1NldHRpbmdKc29uIiA6ICJ7XCJkcGlcIjpcIjYwMFwiLFwiZm9ybWF0XCI6XCJQTkdcIixcInRyYW5zcGFyZW50XCI6dHJ1ZSxcImF1dG9cIjp0cnVlfSIsCgkiTGF0ZXgiIDogIlhHNXZhVzVrWlc1MElGUnZJRzlpZEdGcGJpQmthWE4wYjNKMFpXUWdkbWx6ZFdGc0lHbHVjSFYwSUNSMkp5UXNJSGRsSUdSbFptbHVaU0IwYUdVZ1ptOXlkMkZ5WkNCd2NtOWpaWE56SUdGeklHWnZiR3h2ZDNNNkNseGJDbkVvZGw5MElGeHRhV1FnZGw5N2RDMHhmU2tnUFNCY2JXRjBhR05oYkh0T2ZWd2hYR3hsWm5Rb2RsOTBPMXdzSUZ4emNYSjBlekV0WEdkaGJXMWhmVndzZGw5N2RDMHhmU3hjTENCY1oyRnRiV0VnU1NCY2NtbG5hSFFwTEFwY1hRcGNXd3B4S0haZlZDQmNiV2xrSUhaZk1Da2dQU0JjY0hKdlpGOTdkRDB4ZlY1VUlIRW9kbDkwSUZ4dGFXUWdkbDk3ZEMweGZTa2dMZ3BjWFFvS0NraGxjbVVzSUNSY1oyRnRiV0VrSUdseklHRWdkbUZ5YVdGdVkyVXRZMjl1ZEhKdmJHeHBibWNnY0dGeVlXMWxkR1Z5TENBS0pFa2tJR2x6SUhSb1pTQnBaR1Z1ZEdsMGVTQnRZWFJ5YVhnc0lBcGhibVFnSkhRa0lHUmxibTkwWlhNZ2RHaGxJR1JwWm1aMWMybHZiaUIwYVcxbGMzUmxjQzRLVkdobGJpd2dkMlVnWkdWbWFXNWxJSFJvWlNCaGJHbG5ibTFsYm5RZ1pHbHlaV04wYVc5dUlIWmxZM1J2Y2lCaGN6b0tYRnNLWEhSbGVIUjdZV3hwWjI1dFpXNTBJR1JwY21WamRHbHZiaUIyWldOMGIzSjlJRnc3UFZ3N0NseDBaWGgwZTJ4dloybDBmVjk3WEhSb1pYUmhmU2g1SUZ4dGFXUWdkaXdnZUNrZ0xTQmNkR1Y0ZEh0c2IyZHBkSDFmZTF4MGFHVjBZWDBvZVNCY2JXbGtJSFluTENCNEtTNEtYRjBLIiwKCSJMYXRleEltZ0Jhc2U2NCIgOiAiaVZCT1J3MEtHZ29BQUFBTlNVaEVVZ0FBRHpNQUFBUmhCQU1BQUFEdWZsUXdBQUFBTUZCTVZFWC8vLzhBQUFBQUFBQUFBQUFBQUFBQUFBQUFBQUFBQUFBQUFBQUFBQUFBQUFBQUFBQUFBQUFBQUFBQUFBQUFBQUF2M2FCN0FBQUFEM1JTVGxNQU1uWVFpVVNaWnJzaXplL2RxMVREY21oZUFBQUFDWEJJV1hNQUFBN0VBQUFPeEFHVkt3NGJBQUFnQUVsRVFWUjRBZXk5RFpna3lWbmZtZDAxUFRNOUg5MzlIRWFBWmFpMnBRTjh3dTQyeXlHa2xkd042UGFCNDN6ZHhoZ2poS25oRU1NaXNmVFlZQjZEakt0OStHVFF4M1VMQlBZaGptNkRMWXZkRlRXMmhBRE55TmtnaklWbTF6VjhMYkxRVVdXd0FXUHVlblpaclhhbmV6ZnVqZStJeklqS3JJL09xZXI2NTlOUFoyUmt4QnR2L0NJeTN2aktyQ1RCQVFMVkVWaXRMaW1rQkFJZ0FBSWdBQUlnVUVqZ2xld0hDOE1nQUFpQUFBaUFBQWlBUUdVRWR0aHhaV2toSVJBQUFSQUFBUkFBZ1NJQ000eXhwYUpBdUE4Q0lBQUNJQUFDSUZBVmdUTmttamVyU2d6cGdBQUlnQUFJR0FLditKeS8rOWZlMHE1K2NIU3YwalVadDQ1N3BNcjhwLy9lQXgrL2RkdnFNVzZ1UzJTYXE5R3BaQWw4eHNmVG84ZS9jOVFxdmVNYlgvclFveDhZVk9yODU3ZVBmM3ZReUVQRXE3M2pEMS82c1VlZkhFTEMrRWZ0d1ZZVTJvZEVGc2IrT1JwLzBOQndCQVQrdTc4UU9WNHlvUEFPdGIvM1l0NXk1eDZsRzhCMGoxUnBDQUpqYkpyM0dIczZnT3NFdkVxVndNd2JHVHU2eGRnM2oxYUJCVkVNend3b2RHNkg2L1J2Qm93OVJMVHpRdTFUYlpwN3NKMFR1WDllOEdzSTl4Zy9SME9VTXFKT0RvRU5VUThEL3o0NVlCNDZRbGIxbytaU3JmR0FlZW96MmoxU3BTSElqM0dUc3NMWW4vYUpjc0RnWlVwZ3JzV2UvWjRrbWRzNjJod3dsWEMwNFV6ekZudHFkYWJOMXNPeVQ5QjNDa3h6RDdZd3pTZFl0U0I2SUFKYm9qMFAvUHZVUU9LUzVEOC9sSkswZ1Uzekh4K3ZENWF3bis1QzY1Y0hFek9LV0w0cVpTUU9uR3RYK0R1dnRvaDgyRFNQSkFFM3NVSGNwRjVZdTBHRTlZeFRvZ1JxTyt6NVZTNmsxaG0wRnhwV1lmNkJOMUF4RERocWZoVTdYazNXR0hzdUxQc0VmUmNlK0IxUyt6U1BtbnV4bFlVbVI4MjlucU1UTEFDSUJnR1B3QTQ5ajIvK2U1LzF3Njk0eDllUmkzM3BaOTMzaW5kOE5XOWJudktDOVhNeGt3NXVtcyt5d2QrdjRUMWYzU1hZWXV5Z0g1MUhITlpWcFlUb1lYTHRpcTkxSXNadlZBbTRpZlh0cmpubDAzZmtmaU1VbHNDZlkwZXlzc3kvNlVpWTZINVQ2QkgrU3dZMXpiVTJlMStTckF6ejlQVlFxK2hXNDFTYjVpSzJyMlpNbW1iZVc0czhSMFVFY1I4RVJrYWd4WTcwcWpLMW5IZVYzQjhkYWxWd3c1cklmdldrMW1Id3lUeWJMbStZSzFyV0RPZlFxaEsrNy9zT2xXdFgxRnFrU1JsWkFtNWkvYnBwcHZmWmZ1TU1IcjZnQk9ZWit3VXB2TW5ZOHVESkJHT1M4TUZHemRTRjJreVNyWHRVZVdrSC9Ta2VOUmV4cFo2ak5zMUo3RGtLbGpZOFFlQWtDS1RzVjdYWTFLbWJyN1BWVk44dWZ6NGMzRFJUcXpUNGNKY2FXVFZxcHNkdzhORjMrWXpHUTFwVjRtSHNuYUZ5YmNVa3ljV0lhUjVaQW01aS9ib3ZNemJhcWVPZUNoU1V3UDJNN1lyNGZDeC8wRlBTQURjSE5jMTEwWGtoMVFkZFRocEFWeHZsM0trMnpZVnNVOXZteFo0anl3b3VFRGhoQXN6TzVyV2NCbVZtbUFGT3c1aklqUEt0YnNZamQ3bEREZVdkbkc5SkQ1dXUyTk1TajNYaGhmaTkrSjFpN1cxY3E0cjFpN3VHeXJVcmxsNVB1dTFlYS9mSUV0QUNrNlIvaG9zbllBT3RQbGxYUVFsMDlJb04yYVBCYTV4Sk5FUERlWkpNa0RLT0hjWnJKcFhpUVpuUW93NURjMDJuZU5SY3lMWnRUWFBzT1JvMWNjZ0RnU2dCcDMvZWNodVVMVDIzSFkwWnYxR1BtZVoyTng1SjN0bWlobksvS0ZEc3ZtMk4rYWk1UndZdURXU2FpN1czaWxsVnJGL2NOVlN1WGJFWElxWjVaQW5ZeFBwblNFeXUyZmduN2VwZEFqVGxySHFBb3pITkdScnBZQlBhTklMbld0Vis1L0hWazhZVGtuK3FUWE14MjVZMXpiSG5LRVFOZmlCd0VnVG1uZjY1WjVyWGpnWlByaDR6eldtM1NPZ2VHNkw5dHVsU3krdjBPWEtKWGh6SU5CZHJieE95cWxpL3VHdVAxQjJKMVlvMUtTTkx3T2FoZjRaYmJJZzZaUk11NmVwZEF0UjN1eUlGOGErSDdwZVVHUStXb1RHZ2FhYlYrT0ZWaVN0WmRJZFFuTjVSY3pGYm1PYWlDb0w3RlJLWWNUWmRlYWI1d2hEZmJZcTJpcXhibERVYXc1aTlHRVZoYy9lZGRKdVI0YU9Nc3ppUWFTN1czbXJrcUdJOW82NmhjdTFLalpubWtTVmdFK3VmWWFybmtLMlFFM1QxTGdHYXNkeFVpZTlZNStEcVpHZ01hSnBuZTliYXdiVXJHZk5VbStaaXRqRE5KZXNKZ2xWQllFNXZuS0xFUE5NOHl3YWZVNHUxaXZNbGpOdUwzdDRkT045T3VqTVAvbTRQTVh1RG1PWXkycHMwSFZXTVh3L0hNTGwyeGNaTWN6S3FCR3hpZlRPa2hyK2lENDRJSlh1WHdLTGVCWllrWjlKL2FYTTFxQ3REWTBEVGJNZnlnK294Vkx4VGJacUwyY0kwRDFWN0VIbTBCTTQ1ZzJQUE5NK29EYXlESkJkckZjK1ZNTTJEcEtmanhOTFY5ODI1T1locDdrdjcwcW9ZblViaWlKcm1rVWozaFBUTmtGN051ZUpKT05tTDNpV3d4NGJvZWdZVXo5QVkwRFRUN3NYMWdQQ3F2RTYxYVM1bUM5TmNWVVZET2lVSXpEby9vT3VaNXBvem5DNGh4d3NTYXhVdmo0dHA3Z3hpbXZ2U1BvYkE0elQ2aXdwTmM5OE1TYmZkMGVjNEtyRjNDZERkYU14QmJtUm9ERzZhbHdkSmZVUnhUcnRwTG1BTDB6eWllZ1F4b3lCd3hsblo5VXh6a25ZSGxoOXJGUytPaTJsT0J6SE5mV2tmUXpBdzAzSVJLelROZlROY0cySVhRYm5jZTZGNmw4Q29UWE9HQmt5elZ4YmpjRUdqNXVYZWVzQTA5K2FEdTVVU3VPeDhNOHMzelR1RGJ4bU90WXFOTVRITmMyd1EwOXlYOWpFRUoxeTQxWm5tL2hrMnE5MysyN3NFUm15YXN6Umdtays0b3ZjdkhxYTVmMmFJY1E4Sm5IYytPK1NiNXM3eXdHckZXc1dkTVRITjV3Y3l6WDFwSDBNd01OTnlFYXN6emYwejNLbjJ4YURlSlRCaTA1eWxBZE5jcnI1V0dBcW11VUxZU0dwNEFoZWNUeWY2cG5uanlzRFNJNjBpTFdWMUI1WlpKbUlrM1Z6VStpQ211VC90eTZxUzAyMDRqK3BNYy84TVQ3cjBNK1I2bHdEZHpZUWY2akpMQTZaNUtKd25FUm1tK1NTb1F1YUpFYmpvZkdQQU44M04yd01uR21rVjZWM1M3c0F5eTBTTXBKdUwyaDdFTlBlbmZWbFZjcm9ONTFHZGFlNmI0VUxGSHpYdlhRSjBkempTZnV3c0RaaG1uODhZWE1FMGowRWhRSVh5QkJhZFYwMTkwM3k0WDE1S0ptU2tWZXlNaVdtbW4xa1lZSzI1UCswakNES2dSbjVabVdudW4rSGxYcDluR3ptSUpPbGRBblIzaEdubWFNQTBqNUR1YUVUQk5JK0dJNlRjQXdLK2FSNUNnWENyU08zWGVJeWFPNE9ZNWo2MUR5TVlnbW01cUpXWjV2NFpYbVRYeStWaFJLRjZsd0RkSFZFNlhFeU9Ca3p6Q09tT1JoUk04Mmc0UXNvOUlCQTB6Uy8vZVB1RC8zaXBsemExNzN2MDZEMWY2b2FRcmVLNVQ2UWYvUFZkNDcvUVpqblRQUGNWdDQ0KzhoZE5rS1QyNlgvNHdNZHV5Wm4wZC95dGx6NzQ2TCtsZXd2Zm50N3NyY0hNVnp4eS9HYlNVYVpMVWY3S04zN1hRMi83a0pIN05XOUxqOSs5bWN4OVFQajhDZW1SR3pYNzJhejl5QjkrN3NjZU9VaVNtVysvOFk5WGVheVE5c25MUDU1bTJlUlVFVW4yL3VmbW1rSVNGUGJSYjBtUzExMmhpL2xQL3owaWNrQ3VKSG5ITjc3MG9iZmRGRTd4TDB1UFBNT20yVTBnakxYMmpqOTg2Y2NlNVlzYmYvREkwVWRzWVRwSnVwb2tRWVpXczJUaHJVZS9wUysvNFAzQ1ZSL04xelFDekhWQzhod3VnZHIzUGVKVlVxb3FJbmlOOHhVWjU2ei83Z052dWRVbC96K2dhbWtoaUlDOTBzM1RrS1o1N2cyNW1wdlZROGcyLzdMbW82aFdtb2d4QjlYOG0vKzdmUWJ6OVZwRy9ETnZTVC95VFZUYmc5L1FqdFNOaUt4OGE4Q1RlUG5IMmtmdi9rNVh5eXhQcjliemdQNUQ2MFlWN2tEbDd4MmxOMXN1TS83eWxGOE9PVjJ5SGdXcVo0UGpHZ1FLQ0lSTTgvZlM3eDR6ZHZUbDhham5LQnBaM2ZjTEN5YURDUlA1Ull6ZG9NalhwTmY4ZDNQTHJJNGxKZTFNeW83SSs5OGI0ZlF6cVhUYzV0ZjBOWG82eUlUT3BrSk8xd1RLT1g0MFpld1dUNm11ZjFhRFBPeTN1R3RmeGU0K1FVM0R0Y05uS2VvLy9YWitUeDUyblQyVFRUNUU1ai9NVjl1aHRLbDdFTlErK1RyR2JxYnNlTmxSS0srS2N6TTVkM1R6b3c4Ly9OZ05tY1BHamNjZWZ2aFd1c3AvWkprT2tXc0svVVVwZSs5RGIyTS90OEMyNmVwUTNEc2dWMEsvQzBTSC9ZV0lIRDBLRXpiTlRnSVJyRExEVHlhMWw0bEVmb21uUjRjTUxiOUsweEIzcm5Qdk1FTitSeDB6TGFvU0trUFVKQXJYUm9uUGIyMXdKSS9lU3A5TURybnJzUnNwUlozbDFCNjlJZmNyQnBqclJPVTVYQUp6Tyt6b0ZtTXFYeTJSRmVlZnJBaVNkVGRKWHNhT1VzYitneXU0UjdvaEdzSTBuOHZYWEY4UE40RWthVmlGbHVTZGdscDVSbGVucFFXQjZOWU4vcEdDRlZtdE5ybUlyNklhYXAvQkpNbldhNW5NL0JzcFRFcVBZZGcwUitwR1dGYWdOYUJFL2tobTdSL0o5UGovTEUrLzF0T1BiM2tQclkyblhZSEszeXRLSVZzdU4ycWF2WElvcEo3WDQzdnZMbXU5Y1FhQkFRaFFpL1ZNSnRvM3NMdmZtZFQrTm1QTG1Sdm1jcTdOL3RWcThqK2FuNy9sTitwa0ltZlorNWVTK2E5aXg2S05TTTdaZGtmYnoyUWhmZjU3a3VTZGpCcy9lVndVb2FnNTFsYmhoV1MrUlhKb3pNcGJuZkR4Ull6OXpHNHkxM2wybGFjcndxUmNqbzV4eUdoQVFFYm5XUHhNWkpQZlVvY3h6ZGxzNm1ibnhYZC9ueXpMVWxENzVKOHg5cFZKN1Uzc1dLYkpFdzZvSXZSUi93d0VrY09HMUNKam1oZllNMXplRjZadDhhNVIzRFRuNlZHMDBxWTVnMVUzdjRmc0ovL3JqN3pNbEVqRU5EY1ZQMzR5RE4yTU5wN1pQYWZyMGdwanovRjc3V3pkY2lNbzk0WVNUS1padVlnVS9TNEJQNFJwRGpEM3hZUkxZSDZIUGIyYnZEeGx2eWhDdDZSRSs5ODN6VDkyOUtVSm54Y1FwU1RGOTBxM2FlVVlHdHcwWnhCelFSazlwR3o5djJIbDhCcVFKRVcxa3I1OEtvOGxXVTZ5eWhOdmZteVNnUC9HZm5zM21kOWdSMTB1am81c3ZSYWV0UTEyOTc4bXlkOW0zOS9iTkdmcVJsQldxRFZJa2ovTDJFOSsyaXQrcjhXK1h5UkkvN0k4TTdXZWQwbmRoMVpITStkUTVlOFZwU0dZaUg5aHRseHl6RFQ3NVZCSVBhY0hrZUtEQWh3Z01DZ0JhckV5emVkbFpYZGU3ZG9mWDN4SE5uYzFkUlkzNjJUT092SmJKbHZLUXM1ZHZYcDFoN0UzMCtucTFWVXBZdU1aNGZnUysyM2wyUWNvakd3UzV4LzRPRGxmU040bEFwSEp1ZUtuYTY3bVV2YnYrTVY4NnhkNHVzTC9wUTlTWEdXYXo3Q2ZsbUU3d2pSLzdkV3JkUE5ab2NjM3l4dlVZa256YXJLNThNRHZrSUNEV3JxY2JQRGY2UXRwVDNiMk4zajhMVHM3SGxKRkpTRk9jdys5bGNTeW96ZGY0NWVmbWZLTHQ2OG1UcTZUWk9QdXJnaEx6L00rT2Q3SnFja2Y3cHgvNEEza05LUG1QRDBLSGpiTlRnSVJyQXNQOE1tRUo4K3lYK09KTjVrWXNSUFRCemhJT1dwKzU5VVd1YS96K3lHRzNGOGZNM3hQZ1M0TGl2VVUzYWhKQTYyRGhNOWZ5OHVjc2NlL0xmbnN0NlRrRUtUbUJMVGovMGhSQXN4OVFaRVNhTExuVnlrZy9jSkJsNGYvM0t0WE80dzlJZXJBMWJkUk90STB2L01obnNQdWZDcnFSY3Q1R0hxbUc2TEJUWE9nNW1iMDRMclk0MGV2WG4wall4L2dXbkZsUzlSS29TODdmbUozNW1PUGtPYnM1NytWb24xZHlwMlBVeTA2dzBSR2Fqc21KOWw2TFJKL25lbysvOWpST3pRSjRhLy9SZXBHVUZhb05lRFl4UStJMUZhT1NDdCs1SGhtYWoycDdqMjBNcGJ6UDFENWUwWXBaTXRsUjB4enBuV1lLNlNlVmYyUXl1T2FvenljSU5BbkFXcVlmTk5jYSttUlExTU9XdklDWDZrdElEMXRtL3AybmJHdlZ4YUd2SDlLZXpmOXRXYnpjeEhTWnNwUVpPSjFtc21Qa1dtdXBWMStnMzRIUFRnOG8xc3J1a3Q2NW9nU1dPS2g2WGkxTWMxTmFWbDRVM2RYM2lPZFhwQXUrVCtZemRlUlFUeFB3ZHJ5MSsyRnZlcTZzVmFZN0h6bzlwN3VoVlZ4STRsWnkzWGxRekdQdThKdGMzMU9tbUh5N1FqVFRGbW5ZamtRb1pLRWVqSGFOQWZwUlV3ekNTbkcrdU0wTU4yUlhHWlNkbmRWSmZsS2JacEp5STR5elhRcnkxQ0ZscWVML0RzMmJXWGVkYTM2Z3R0ZW1NZ0ZINHZKb1MwZm5TekxVRlN1eis5eVo0QzVES0gvaDB0Z2xyRjFFY0oybytxMnFqUnMzWm9uWmJ2M1N3aHJOa1JodWprYVpKcm44elUzb0lkV1hKN1A2ejRSWFphcWxSMHFIVm5sTjJRUGlDS1NNb3ozWTVLbXpBZ2ZLKy96YTNIazZqVXB0UzF2YmZ5Y0pTRjk5UDlJM2NqSkNyWUd5WTV1STJxdDkwbUoyWExNMWZyOFE2dFZFZWRRNVMrSWtoU3lqWmptUURuMHBwNXJiK2l4MFlpOVhPQUNCRW9TMEkyb0NmN2orcG5paTQ3WGpMZmptRGRMaWpRRlpUNHNWbWNzM1ZlaG11eDQxVGpsb0VWZDd0MzlpOUoxaVRsRDRqVnJtbWwrN1FYOVNaUU8welZleGRZbnNtKzNsWHVMSGdIWlRsSERwazF6elhZcTJoSFRITXdtV1lhRDVucVNwUHFuREp0K3g4S20yOUxqUWV0RlEybXJpdFpVblBuVW8vRm9tU2QyVGVkaXpYUndMdW4ydEdGTjg3dzF6V0Y2NFZFekpXZ1NFSnQ5UWxpcGlUNDZVdmpxakgxWWFVa3IzSWI4WGtuVHZNVkxSSWR0OWplZDF6WTFyVzBTSm1qTFhCMEwyRERuM3Zhd0Fid1MwRk0zdk9leUswTlREblZWb1VpbTIwZmUzZGFtQ0VJRzdVQkp0bUlqNllaTTh5WDFNUituNWdiMFVDbW9rMnMrU3RWS2VuVFVVMGN1cmU2aC9GM3NlZmFUS3JOdHA4dWRxOWRHS1k3WGt2QVVpOVNOckt4d2EyRHI1R2VuY2lZcnh6TmI2d01QcmFkUG9QSVhSZkZNYzVCdHhEUUh3dmFpSHRDRHFyUXBHeThidUFDQmNnUmEyVkZ6Mjlhb0RXdmhYR0dYVFBOSmMxREdxbEFEZDdTcWd0Rmp1SzJjVGQrNGtmbnFpanZVK3F2K1BWMWUxRWFLM09SL3VDeUM4TkdtYW1ma3RmbS9vc2ZDQ1gvNFRIdExKbFUyQTJmWUhSMjJHVEhOd1d5U09mZ3d0MGtkL1ZobHREODBPYTlyRFdLcTZQVEZtWjVUazVFVlE4bmtlc01ZN25QYU5DOXFEU2krTmMxaGVyWVo5Qkl0ZzVWM0dyU0pJcmRpeFpNMHBwazB1YTdrNW95Ums5NE0zL0JGdlFqNXlqeFZnR2VkbTBWT3dyd3V3eHl5SXgwNGxiTTVBZVk2aER5SFM0QnljeUR2VTJkdlg3cnF0cXJRYlozdmhITDQvL0hwZHpxb1ZqNG5YZFRyMUFoTVdhczc2cFNqUWFQbWxXVjVzMkVLUEtTSEw4YzF6YVZxSlNXc1BvSlB3blhaWEdSWHVGZ0NyeDRyVXFITGZmaEI0Yng2VFZaM1g5eWdmenNPQ2UwbnpoVEpNQ0szcmh0WldlSFd3UFJOdUJTcUdYd2hPY016VytzREQ2Mm5UNkR5RjBYeFRIT1FiY1EwQjhMMm9oN1FvMFA1M3ZiMHh3VUk5RVdnbFRITk5HN1kxUUl1V1dPcnZmaTVZNW92UG9PcHBxdVN1bjJRK2JCVE5SNUowMmtoS0c2cUcyOTZKdlREbmlUVUk3MnRVNkFod1UzbFhsTURKMzFMbjUwR2xJK1VyV2x1SzlOc0JwOUpzcWhTeVRTazRXeVM0Ri9pTGR1ZTduRTBQZTNKOHVqdUJMV24xN2c2VVZXMHJ1SzhZa3dQelRpcWdaV1RhejJ5cDdDNnlWdzBsb1V6MCtZcURkS0xtdVppckdTMjdNeEl4MnJwbUdicVFGeFhtY2t3OUxKNG5oYzQwYmdqZlhkVVNYaGhvaGMydDVUYWtncTJJNng4Z0xrdkpsSUNlN2JrZHZRZ3MyNkZVeXpYTkwvcFFBcWwycVNNZEdHNitlbDk2aGptYTI1SUR6OERqbWt1V1N0dDZhUW1GK2VsQVNSKzBzRW5DL1oxUXBSYnIxNDNuSWQ4elNHaHc0dHpwRzVrWlFWYkE2b3BDaS9WUWRGRnlQUE0xdnJBUSt2cGsrWXJmMUVVMXpTSDJZWk5jekJzRCtvQlBRaXhHYlY0MmNBRkNKUWprRFhOVFdhSE8vU0E3ZWVsa08rMjhXMGFBMXQzdmNrV3FSYTJhWnRJSG9rcXJKcU1veUM3V294clhGSjJyTzBmdGRoWGRCRDN2T1pZY3VvbzZLVHNubzQxcS9mNXV6Sm14cXlFczBtdDBXUFhLZno4RzM1Tnh2SzFKelVQcEQ4Zmh3aG5WQlVWVHA0b0ZCY3JqcTE5NVRCcnhEWERrTVl3Nmk1bC9VQ0hheHZUekFycDZUamlYSXlWTW15TGUwL3RpS2E0dGhuaTNTYXRlNGFobDFhZEcxSWFzNm13YTZadjVvV0tYRkJUcUFhckpHRmRCV29MUjRDNUx5UlNBaTB6U0xQanRicXRLcTVwSm5QVzdpcWhwcU5hbUc3SU5KdWVtNjI1SVQzOEREaW11V1N0N0poSFo4dGd2aVQ3d3BTdzZtdlJ5Rmd4RmNzWmJyMDJDejljRVdKdk9pbWVZcEc2a1hsR3dxM0JubWtNMWtpaFpaS2I0NW1yOVlHSDF0T0hCR1dianFJb3Jta09zdzJiNW1EWVRweDZRQS9DcjBjblhpNXdBUUlsQ2JSTVl5UWkwRk9yRFNOZGV4ZGFJRDFzWGUzbWs0SHFvbTRiMVNTaE1Qc3lUTk1FRU5mTURFc28vRFVaeE45am5GcWpSRzNtdGc3aW5yZHNFMHU3bTUyTGxocXIxZlhnalhhc0JrMXpKSnZVN0JqTElCSnNldG9meWxaRzNGRU5XbFFWVjEvZS9CbXFhVmZmMHBhVFV0VmV5Y2ErZEZMV0Q3U25aNXJWb0M1R1Q4Y1JaNTBBdndoanBhU1ZRQXBDWmxIQm90QjY5ckdzYVJaTHpiYkF6dWhtVkNoUzlJODZPcW9kSTVjeTd2T3k1eFpnN2tzTGx3REpNUmxiMURXRW9DMnB5SlJ4WTVCSWE1UGJsS211U21HNlFkTjhvTVFiRUVFOS9BeFkwMXkyVnBKdTYxS0duZi9mazNhWThpb3NvVERIWmg5SXBsNVRRWnZNOHpVcGUrRnFGcWtiR1ZscjdoTkNxWGVGaUIwelpPUUtjYjlEclJlNVJZb2tSd1RsLzBTdER6eTBKZ0Iza0tCczVTK0s0cGptQ051Z2FRNkhwUnlzUzRWeTFFTjZ2T2pObXpJMC9vUEFRQVJhdm1tbUIvV09sZE94YlpiMTNIQ2VLVzUwRHVTdHVxbTVkRTNOalpxM2JlcW5WWVpxbXh0cnpBNkpNelprWFlibFZtRmZPZDBUelkxcEUwTGVLN2E5TmM5WlhUL0V0SFUxYUpvajJlVE5qbTY4UllxKzlzVEszSlV2cDhSVmNSWG1FNzJxeFU4VzlPUzA3WkJRcXNzNmVITmZ1c0ttdVppZWxpUE94VmdwYVdQQkVwNTcxWnowYjVwVEhyTmhDbnNtMHQ1Nyt0a0xZeHl0MVppVkJaZG5ibU54VjZRRUtPdkc0RkJsdkNJaTFXMzVVVjdOZldKdEJqaHRYYldLMGczc1YwL3RFMkJxYmxBUG9ZejVaMDF6MlZxNWFCNjZMWk9qbFgwaGtNOGZ5eklrKzJKZXZlQWxhMnF1V0srUm9Ya1VHdDRaRWtLRS9oZXBHeGxaRzZIV2dNTG96ZzdsVHZTeGNqd3B6TEpPU3RUNndFT3I3NHR6Tzk5MEZFVnhUSE9FcldreUtBbnp1SVRETHNhcEYrcmhaUVFYSUZDR0FEMHk1Z21tOEd1ZU5WeHhSclphR0QzeXl0cHhIM3F3VmQrODdqeHEzRnNGYXByV1dnZzROQU5ocXVtM3RVenpVSkJIcXRzV3NSaDdvSU00WitvT21LWTBiSm9wRjEwVlllNTU2ZkFuWXluQXZncEFKNU5OYWk2czVlVDNQZTNKd05xN0d5S0RjVldzZE81cW04a3dzU1lyYitwY3U1MzBobUlTTnMzRjlMeGtkUUxjTTR5Vk1teE5NOWR5WHdybzJ6VFBpQ0hRbG0ybjNSNmVsTm5yUDBXVXBvUHlyYXJqSlZHdkFzeDlPWkVTYUpqUk4zL1ZWMldycmxQeFAwOUphWnIxLzdheUtZWHBoazN6cGxLT0xPU0JjQWIxOEhOZ1RmT2FWbFFFV05FUFg2NVcydjVMcW5zZFNmdWFpRVNqZE4wSjFLOHJrSDlHUXNmMkljcWFabHMzZkZuaDFvQUtSVGNxODZsb0lQSThjN1dlY3Q4VmVhQTlDK3FoVlpmeWRKaHZPb3FpT0thWmd1NWJjWVp0MERTSHcvYWdYcWlIVFJrdUVDaEpvR1dmSWg2amFaNTFmbFgzNmpQM0VTMlNmdXpvaWg3VXU4S2JoMTJXTHVtdGRxT1F3Szd4cHIyaXJWOVdWNHZtU1hQNnEzUXYxZnRZb3FhWllwcW1OR3lhZVFPL3F0TDVHL0xzbTJiUzZvcTZUeWRTZlY5Y1VXNTB3eWJ2ZXRyVHMybnZIZ29yRkZkRnh0Zi9WMHhqdUNjbkh2a05ZemtweStJN0VlUTNwOVNtSEJ6d01QeXdFOXJGOUdRTTlkOGtRTmVVaGlaaTdJWW9Qc2MwYjVpTk5uMmI1bGxSSi9RT2VhNzBkVStWZ291R0xnOXlxTzdQbnRnRkZtRHVpNHFVd0paVHU4aGMzUkdSNmxIVExOTGlZYlJwTGt3M2JKcHppSU42K0Rtd3BybXBLV2h0OTRValZ5dkp6c2xIa0J4cS9uOWVsKzRmSDYrTFNId0MyTlRXakFTS3Rha0NsVGJOcG03NHN1aXhDclFHVkNobU12M2M2NWNvclFEUE5GUHJBdyt0VVpJN0FwVy9LSXBqbWlOc2c2WTVITFlIOVVJOXZJemdBZ1RLRUdoNXp4Wi9sZUthamJabTJtcnJSeTJKZWV6RXE4U3FVYWk3cHBrdkRIVkZIS3JtMG1FbFNCYzl2dHZhTDJORHRMZGpRN1FYUHpjOHJWWnNlMnVlTXhvbjhZK051b2R2bWlQWnBHYkhhV2dvdXFjOWZ3Q05TRktDbXB5NEtpYWdjS3pwSnRRc0pwTzN5ZlVHWS96RHArNUJhUjNvYTJ1YXRROXRQSS9Rc3lISVpSSWdkMm9IdEE1V3lyQmptZy9Oa25qZnBubnVCeWtOYXJ4ZTBBcTBibXRYbVRObDk3b0kxL2xmdE5uWTJPWWVBZVlpblBrWEtRSEs3aFVkaHRTU1U3WjFXMVVvNDJZYWw5SzRvOE5xMDF5WWJ0ZzBhekVHY1ZBUEhVcWVyV2t1V3l1cE1HWC81ZkxUYmRWTFBXUE1zQkh1bTJaYmMza3hhVU5PZ1djZEVpWXVkMFRxaHYrTWhGc0Rxa2kyQnlxRUJuaHVrQnB1clE4OHRKNCs5bUpSVi83Q0tJVnNUWk5CMHMzakVpbUhPUFZDUGF6dWNJRkFTUUl0MTk2SXZSYlhiRXg2Qmt4YnEzM0p6ekhOMWdaVHU3ZXN3d2hMSU52bVp2K20yY3dhbXdiT3l1V3VMYWNwRFkrYWFiS01qc2YvamhQUE44MTBONVJOYW5iY3ZHVk04NTVyeCtyQ2hNUlZjWkltSjgzd0taQnAxOXd4VGNFYXFjT09mM3ZKM0JFbTZVQmZqc2cwaDdENnplK2VtUVB0MnpRTFhTbVhkN1RTcWNOWCs4WFBOS2lTRXlIc2gvUTZod1JGS3RtK1ExMmJiVWRRdUFSb0JkcldSc3FrRkU3eE5XUHljMDN6ZFMxUm0rYkNkSU9tT1ljNHJJZE9USjZ0K1NDbEhXcjBvTWs2azZ1Vi9Bblk1SkVYbjF0aGN1NzNvcXBlam1qZk5EdjFtbURiSFZobFRUTUJrU241MnBDU2ptVGRHdmlGd25VSzhGd2pOZHhhSDNob25keTRUa3AwVzF3WFJpbGtHelROcEZlb0hPTFVDL1Z3dFljYkJFb1JhSG1tbVhlb3V6WWU5WFZ6cXo0TjNXTElZS2x1U3V0T1l5Z1dWdzlFZ0tZblVJdCt4eDgrME5IUEYva1pJMFh1c0ZYUUVmbTU3WXdvdzZhWmozYjVjWmQrc2tBZG5tbU9aWk9hSGIrSmE3cmEwNFc5dXlidXhGWFI2Y296SlNpSE5jNHVNSnRyMGswYy8yTEp4Q0x5Qi9vaVo1cDcwTk54eExrWUsyWFlXajQrRkZlN2Q4S0Y0REgwVXBJWEZQK0s5clp2eG1tZlhtZlNRMVMwaFdNeVpuZDRTTGw0elFzeXk5eVhFeTRCVHJTckExTERLV1hVbzZiNVFJZlZyQXZURFpwbVJVOHN4VnpuSXNONjZNVGsyWmlQMHJVeW9ZemM1cEVQRC9hVWxhMExhRWJ3L09kODEwTzZ5cEduWDYrcHgyc1VMVDFxTm5YRGw5WFFiR1hTcVZTTUNrVmszK2dUS2tmT2hoK20xamZGcGZ2UTJ2alc1Vlgrb2lpRmJFT21PVllPOVRqMUlqMnMrbkNCUUVrQ0xjODA4OGRsMDhha2gxaXRKRnMvcW9YT1NxL2RIa0lWZDltR0lyR3lzYURnWGVzdFhQUGZUWGY1c2ExdkZOc1FIWktmVTcwMExEeFhiSHRybnpPYXBaT0grWkUveXBsdDQyUFpwR2JIelZ0bTFFd3BIZitBUGlnTDEzcXA0aXBNN3JiYUIzYmVtVmkwdVNiSjRqanU2bWh4MDl5Ym5vNHZ6amFCV0krSE11eVlaaXB1Tlp3YXpEUWYyc296WndhUW5rYlJDK0xENzUxL2lzcFFsTk5aMlNja01sbm12b3cwV0JsNCtYOUVGOVZiOU1pdWJxc0taZHdkTlI5b29kbzBGNlpiempTSDlkQ0p5Yk14SDZWckpYOTFRVHhkTzh0VXhGMHVScnk3SnVYUjczZStnYkpQaCt3TmtxOWZyNmx1T1U4MXFXaElhQUhpSEtrYnZxeW0vOFJRTWU1VFpFcjdRTWd3LzBJOHlVOGN1dGJuSDFvVFhUdXlsYjhvU2lGYjIyVFlBVUtzSEhwUUw5SkQ2NDh6Q0pRbTBQSk1NMTgwOFUyejA3K1dNamR5RCtPQnVGSDNURlVLVFRnQUFDQUFTVVJCVlBOTzNEU2ZveVEvOUpkZnV6aXdhU1lkdDZVdS9QK0tiVytkNSt5L2lZZWUvdW5mMmZCTWN5eWJmck5Ed3B0dXgySkR5NVRub3lYUkJtMXpKZVRocXFMOTdLMTE3dHh6MXVDczVWeElsZWk3cXlwODFEUVgwRlBSNWNrbVVNNDBVL2loVEhPSEdZTThtNXR0OFRUTFhSRGJMbm11UFVmSWhVVzVLUHRJQWVaK1hGSjUyL3JvRXVBRjdCNy9XZ1NwMjZwQ0pXME1Vb2gxWWJybFRITllENnN2ZHhuendRT0hIcjVjclV3b0pPKy8xQmo5REtmTWZ1cEUvRjdhU3Zmci8yVTNhcG9YblR1bFI4Mm1idmphRUNlM005dVdOcGt5c3MrelpvOFF6MXl0enoyME5yNTA1U3QvUVpSQ3RrNlRZV2F4WXVYUWkzcUJIdG1NNEJvRUNnbTBQTlBNbDZISTR1aUQrb25PcXBUMDNYSWFOZktoaC9HT3VGSFBtbVpwaEpxdWNlTUJ2NWpHUWZ3bkxoYWROclhZaG9nazVEKytmcmR0cjFjY2pmVW5SNmpWNmxBb2ZuQUR5Zy9QTk1leTZUYllJbGJUMWI3ajU1d0M5RkJGUkxmLzF0UVVuLzZrQ0wvajVKcCtNMHNlMG9iRTE1cUw2TmtVL1FTUzhEaVlNdXlNbXFraFUvUFE0ZEFlUXk4bGVlRlVwZlB1Q21RZ2FOWnJUMDRXTnZlVE5ibEhxWEZkQk9ua21Qc3hJeVZBcTk1dVBWWng2dGJUTGVtUWFTNUtseVRtYUFTZ2hmWHdzMkRNUitsYXllc2Q3L3JRTy9zMFdjOTNsenVURkRWNlFIOXBsL3djQSt6bVZxejdtdkYwYWROczZvWXZpeEl6WFJ4S3N5MWFnMHloa0g4UzVKbXQ5Ym1IbHNkMGprRGxMNGhTeURaa21tUGwwSk02WlZBY3VyMXgxSVlUQkFZaDBITGFVN0ZkeVczU1FxYVo2bUQrWWFTVTYrVk04eXpOcG5XNW9vdU9nWFdNVk1TRzhCanF5RHo0SzdhOWRaK3oydWZMUjBVcjZ6V2ttUmJUWk5OdmRpaTk1cWhNTTZVb1JoZHBWMmZETTgzSkYrNG9kVlZQSW1RdUtHWWhQU3VkWE1WWUtjT2pNODMwa3BLcEdZdm1kU1JQbytnRnFjcGp0Szd4UWVRMWNuV3VpTEFkUjZid3lQeUxWSVpNQWF0SWRWdFYzSklPc1M1S2x5UjZOWXFuTUt4cHppZ2RyNVg4aTdSOGovVUY2di9JRDRSZnR1c2s5RHo4ak1odkphWTV3Nm5kbDJuTzFmcnNReXZ5WWY0RkszL3ZLTVkweDlpNlRZWitYSHFFalZKUGV1dGg4Z0FIQ0pRbFFBKzVmYXo1NjRmdW5CbzFXbWFLVWd2YzhxZXdVcjNqbzU0MXpYZEVqS1pyM0dpY1NlbXRpeHVMZzVwbXZwSzFMVVNJZnl1MnZYV2ZNMHJxKzlvVVV1OTQ4UnJTV0RiZEJsc0k5N1RmeUp1SnVDcFdRZUZTKzhDYzBZMXZPV21COEJOY1c3MUdGeklYWmVoNXllcTJobnNHN0FiNStxYVp3Zzh6b1UzdDRIV2QvdUcyZHBVN1U3TkxkcVpHVFI4WitIMktvM3FJQWVhK1FGSjUyL3JveXNEbkpKZXN0M0xWcmFkYjBpSFdoZW1XTTgxaFBYekZqUGtvWFN2RktzNDFtdjZuM3N5aFdEZGVOSDBpK3IxejlUMmVxR2xlZE82VUhqV2J1dUdTRTI5THVCUGFxYXdDUkgvZnoyU01wMS9yc3crdEp5UGNkUFNNWWhjTFltemRKa00vTHRHd1ZMc2kxTG1pZm52anFZNExFT2lmUU1zenpkUkNpalUvSlljZTR0eGFNOVZQdTUvSzJmRkI3ZDZ5VFo3RTNoRlhUVTlnOGk1ajJFbjJ0ZzZ2SHdwK0hiWWhPaVEvazQ3YjlwcjBNWTJ3bmRBVzkydC9RRUZWVDhBenpiRnMrczBPeWZDMHA1VGNab2duRVZkRktPRDhhNHR4anJzTHpCdlU4cEIvZFl2RXFYWTFaQzZTRXZTY0ZIM2JIOGJxbTJZelRvc1Vnc2ZRUzBsY0xEb2J0RHZVaHZWejBNUXNUYkxPOG9sV01YN1dPOWtEekgyeDRSTGdCYnpwQjZTcnVxMHFia21IV0JlbVc4NDBoL1h3RlRPbXVYU3RKS01zSG9HVmJUSDV0RW9HK3JxU09aK2FqRHNHMk0ydGlNSTVxNE5TTlhaZCs0bHpwRzc0c29oVG9EVWcrZ2VlTEw0akpQdnNxQUJ1cmVkZTdrUHJ5UWczSFQyaldOTWNZeHN5emRHd1VlcEt6NmpxWGo1d0FRS2xDTFE4MDB5TmI4WTBPdyt4bE5mTVBZemI0a2JkTTgxdC9YQlM4QzYvZjBiWW5GcHFXbzVGeDhEMlo1cU5iSkh1aW0xdjNlZE0zRXZPVVhwM2hOT1lsWTExMGFvR3MrazNPeFRQMC81UTcvU1Zzdm4vdUNvMmpIU1Jtc3ZVcERxN3dIS21PVW5leFBTd05XUXVraEwwdkdTTHNWS0duUW50UmRNVEN4dHlqNkdYa3Jpb08zWEgrYVpGUG1ESVo0ZDNYUzd4WnI3RFZkTGZNejNNTS9kanQzVkZFOTRycWpMUTBGdE1pL3RoU2NFbDVlT1dkSWgxWWJxT2FlWTFpaDhCYUdFOVpIRDkzNWptMk1QbjZxb2lVUndhTWZQZnk2TFoxMldhMWw1WE4rNjNKakJxbXFrSDVuUzRTNXJtUlIzSjE2WVpiQTJvVUhSZlFlblZpNmV0OVRLd2ZXaFZaSEdxcGNHbW8xY1VaNHRkakszYlpPakhKUm8yU3Qzb0dWYmQzSVlEQk1vVGFIbW1tWjQ3dDBtajU5R1o3WlpDcVgxenQvaFFoQ3ZpQnZrdnl4RDh2L0Z1ZXFhWktyYzJCU1I3VzRmWER3Vy9EalJ3T3BnNmQ3d0hmOFcydCtZNXUzOWRSNkdXUzJycm1aVllOdjFtaDJSNDJ1OVo1Ylg0dUNvNmhENnZDYVhWanhCSVQ1M3IydnQxb0lUa1hSTVhJWFBCeHdCRjlJd2s3dEFKY0hjWUsyVllTNlF3bEVGVjNPSFFIa011MUQrb0pGYVZ6N2xjajg0UG1yOXE4dXF6ZDRkdU5QZ1VyZTdEa0VxT2d2bG9uSmhqQlhSbDRFdlF5N25RZFZ0VjNKSU9zUzVNdDV4cER1dmhLMGFsdWkxOFNLZmd3K2ZxcXFKU1NUeEZtOEhvYW83UEhkTldiWFZqeCtZN2FwcnBtVGhTd2VsVTBqUVRFRmszZkcwSWFhQTE2T2dPc1VtR29tZktNVmZyQXcrdGlVNk9VT1V2aU9LWTVoaGIwMlJRQ3ZweGlZYU5VaS9VdzgwSTNDQlFpa0JMUDNJeWRLb25nTVVsUFZDNWFTaHF5TlNrS3cvQzI1NU5FYlp1R3dXK2FLaEhVRTNQTkZNZzNaQXVpaFpwVGtUV0R3VVhGTFlLSWduMTc5Qjc4RmRzZTJ1ZXMvb2RFNzZqV2hUZnJLVGhiUHJORHNud3RLZlJCdDhYNng1eFZkeFEzRTN0SWFGTXJ6bitPdGZxNnhvcTFCVVJndEk2RUE3NmwrcVd0QVE5SFVlY2RRTDhJb3lWTXV5MG1KU2JGNlFBL1ZFc3VxTHkxa1htTTVRaG5mOGRPeGk3bEtzMlRyaWdjNDJibUkzYmRJOFMzRTJhQnpKVWdMa2ZQVklDYmZWNUNDOHc4VnRTSG01SmgweHpZYnJsVERPZlZ1RjU2blVZMDB4bHBGWmZSUEE5L2ZDNXVpcEI5SHpkVGM2STJwaXk1NUp6ZWhSTVFZM1ZsYWI1Yi9JWXZnUStsRmR5NkRSYmJrTGIxQTFmVnJnMW9NQ1pTZkk4ejF5dER6eTBWa3V4R3FIcjRhSnVPZ3FpT0tZNXh0WTBHWlNVZVZ3aTVjQmJ0U0QxcEZBUE55TndnMEFwQWkzZk5HK0pXcTlqMGlPbUh3ZnRsZEFtQ1dkSVJJKzVhZ3Zxcm1tbXZyeDYrcHVlYWQ2eGdSWkZTdlVETHRnOEZPUU8yeEFlU2g5cjNvTy9ZdHRiODV3MXJHVzRxTFQxemNwV09KdCtzMFBwZWRxZllkYjJLRjNpcW1obDlabEVQMHRESEgzSnp6clhjODZ5YUtwR1VLNXBOb2hMMEhQbG13UzRaeGdyYWVXWVpxSnlSd3B3VFBPaXJRTStReThwZnRHeUZhT3huN3RiNEVGZGwrZVM5aWFGb2dxMm5yU1daZmdBYzE5UXBBUTJuSzZOaVZDM1ZjVXQ2WkJwTGt5M3BHa082bUVVRWc1cm1vbi90cjEzcU1HN3V1cmJIZXEveVA3UEZ2V1VMK2hDZElhV05IRkZ6K21NTU5xK0JONXZYdEtDeXBwbTBrM1dEVjlXdURXZ1F0RWFxWFR5UEhPMVB2RFFHaVhKc1JOb09ncWl1S1k1d3RZMEdaU0NmaDc1ZDFDM2JkS0h1aHo0V2t1UWVsS29oNVVHRndpVUpORHlUWFBEMWtNU3NCSG84NVBWVmNhWXAwQ1BuQnBKMXUyajQzbzNtVnpWRld2TmZJeTlxeFJiRS9WL0VOTk1qNUR6NEs4NDdZemVCdGF3MC9CbmxEbjF6VW9qbkUyLzJTRkZjOXF2S3UzcDlObmtqcXRpd3lsWG02Wjd2VjFncGltWVUwc0NQT0NHR2l5VDRBTVZrYUJKNEdYb3FUanlaTm9hdWl4am1sTlQzQzNiQ2RtenFIeUdYbEw4SXRYVDRkU09kbk4zQ3p5b2ovZlVqTWduRmNLQm1hSGxlYzR3OXdWRlNvQzBkbDdmbXZrTkVhbHVxNHBiMGlIVFhKaHVTZE1jMU1QUGdUWE5EWXVhZ3BpSHo5VlZSejJrcDYxK25WL1ZxYWpXbmxQK2xKeDJrZ0dPbUdZeVI4NXMvNnpYMGRYeTZVekpPbzlacXV1R3IwMjROYUJDY2Jydk0vU3phbm1ldVZvZmVHZ2RiWUtWdjNjVWlsM0lObWlhSStYQXQ4TUhxU2VGZWpnWmdSTUV5aEdneDlUYU1XRnJuQ2FOYnU3bXhKQ25iU3pwSVZSdFFkMmRqYlBlVkp1N1hNUmwvcGpid2JTWW9OcW0vd2ZrYll3VWQ0ZHRDTCtqRDVLaXVnUGNaOE8ydCtZNWE5ak93d0xOUWZHRG1uNDVXZHRacGl2U0w1Uk52OW1oY0o3MlNjZGJDMnh0aWd4RlZLSEkvckZDajdWcFFzVXRVdUkyZDh3NVV4T0hOSzNMRDJwVERvUkRtQUNablRMMFZCeDUwZ253cXpCV3lyQmRuZUR5VlhIdldOUGN0UGJDWitnbHhTOXNVejZuSjFoelllSWVqQjJmbFRXeHpaNmNsWVZHb2ZQTWZSR1J5bUQyR0lqUUYrUXNTdDFXRmJla1E2YTVNTjFzamFKMFFvaURldmc1c09hamJLMmsrSXRVUDdhdWNFRTB2N0prdGpBMDlOaFdXTmFZYWFaUW91THg2THh6blpsOEZ0NUNRS2h1dU9Rb1pDdlVHcmcxbFRUazlIUGxtS3YxZ1lkV2FjSlBya2dxeDIzUmRQU09RckVLMlpvbWd3S2J4eVZTRGxIcVNhRWVKQjBIQ1BSSGdCNHQxelRURTJDN3l0UlRkZThwd2ZSZ0w1czA5cGdlOHRIemNzVjQyd3R5WGVQZUY3aGhwR0dYTVpwa3FyWUhNODErYzdCbDIxdnpuRFhzaE4yOE11UFVvc2o5S3EwdUtSTEpacWJaSWZWYzdaTTlheTk1eTBWeTRxcndtOTZ4UnBGTkV5cnU2S1pnem1rYjkxU2o2WmhtYXQwbHRETDB2Q1IxQXR3elpEZEU4MnRMbU5MVUY0NXA3bGpUN0RQMGtwSko2QjFCL0ZzWWdXUHV3ZDhLK0NvdlN1ZkYwa1pzc0tldGdBQnpYNFpuRzB4bG9LcnJkQS9VV21EZFZoVzNwSU9tdVRCZFBxcDBhaFFwRlVJYzFNUFBnRFVmWldzbHhhZEs4V1M2eEFXUmFWMm5MN1hJbzJrTGF6WSthdlpNRDAxSlIwMnpyZzdDeHFrTGx4d2wyZ2kyQmxRb3kwb2xDbktIbkRtZXVWb2ZlR2lOaUVqVDBUc0t4UzVrYTVvTUNtd2VsMGc1UktrVEJGRVVYRjNkM2lRdmVyUHg0LzQ0UUtCUEF2UVEyUWVRNHU1WTQ4bWZlbWRzcVFWVGRiK3UzWHpNdWlvdjZxN2Q2aGh2ZWlUWGVZQkwvUG1uNXNLc3RsTEMyd09hWmtwcW1hVEpJN1h0clhuT0dyYVhNS082R3RSR3lqRkFXend4NFd4bW1oM1JvS3p6WklUMmZCWFVMbUtmRjhQbHFDcFNPZWMvTmFhZmJGOXpQRXhUTU9lVVFGM2xqTkJyeUl2YU5KZWg1OG8zQ1hEUGtOMFFwdG1NVDNrL1JCZjNocTBGekdxU1llaWxSUmN0czFuMzhDQjdUMXh2cWJvUXZObGdyQ1d6dk1lTzlyUWlJZVorOUVnSlVGcWJKdURPYmVHa29Fdkt6eTNwb0drT2xMVVJKeDA1R2tIRUlUMThRZFo4UkI0K1YxY2RsYXpIWGRsaEl6VitRVCtEL1BYaE95b0lHWnJZcUprRTJ2NDM1VDVxbWtOMUk2Tk51RFVnMHRlMXFrbUgwOC94ek5YNndFTnJSRVNhanQ1UktIWWhXOU5rVUdCam1pUGxJSHIwSWVwa21xOW9WWFY3UXcrcm5YUFFOM0VHZ2ZJRVdoblRUQzlHWHRPeDk5Umt0TDZXNTFwcW1tQytoTVJIdy95Z3A5R01sUnh2ZXZLMytXM3g1VWFhRWRWVHBuTjMrWmJjUkg0MXlqNFVNUnZDUlpqRHNWdTgrMkRiWUxQV2JHd01UV1NyQ2ZkVUxYL0paaXljVFdwMnJPM2x5WG5hODllWW5jWkt5STJxWXBUVkRwSjliUG9sd2xQbm1wclpWUjNxVVBFaFVuZVUzMHFxK2pObDZHazVYZ0w4SW1nMytNaFByamZ3SUZRVnV2eE14NkhwUXMwZVdVMUlDTFgyZEZoOXhhWDYxOUdOMGJ3Y3o3bjN1SnZ5YVdwTDlwNUFMVHR4dklsc2Jac0FlZWJtbG5CRVNvRG1lZmQxd0JrRnRXNnJDdWxpREZMUU5BZktXb3ZUNXl5TklPS1FIbHFBUEpQNTJGYytKV3NsRDAyVlFqWDlMWFpYbGdyNVVybXA2cDQweUo5bTNjV3RiTDEyZWw2OGMrM1hlYVZMckc1a1pOV0NyUUVWaWpIK003SS9sQzNIWEsxdkJCNWFyWXRZUHNnM0hiMmpVT1JDdG1IVEhDNEhraGVtbmdUMGFEQmIyV3d1NEFLQjBnU29zam1ycFdJY3BSOXVxcmJCamwvZDJGZmVpcTZycE1qM2FGZTVxVDNTM3RSYnZzNTlHd2YwajB5Mkh1OWUrbFZ4WStVS2VSc0x5TjE2akNpOVJWenU3UjA3ZHB4SmpaRXhLTVowTkd5ZUx1dDJiMHNPQk5VeUtEVXdnV3hTYytFM1U1NzI0bXRjNjBxUldpcGRNVlU4ZmNWRk85TUpNcm1tVkcvcjRCMXFUdmxCbTNqVXdMSDJ3UzFsSjN2UTJ4ZVJzdjkweDRMN2g3RVNCdlkrRlczV05QWkpzbVo2Qy9lLzJ6SE5Qc05zY29lYStnVnZIc1lFbzNrRGJpMGlCNkZXYlM4cFlvdVVmd0Z0WFVYUnpIMEo0UktZVDIzbHZWOVY0NGFWYTViTlNkYWlNOFJMelhSQllicTBrVmVNVzgzQ2VoQnhTQTlmZjNxRzlwVlB5VnJKUTFPbFVCVjR4ZW53N0ZtVCtOZ2VWMjlXRkVXMlhwUEZ1cUtTNVAwOTNidFdYdW9VcVJ0WldYVmRiR0xZdWE0aTc5Z0ppa3ZQQzc4c3oxeXREejIwU2hxZGdwVy9keFNLVmNpV21neFRKZWx4MlpjSmhzdUI3b1dwSndFOU9zUjFXMHJEZnhBWWdBQ1pBT1lzeXBHRVEzTk5YVjlqTWx6UjlEUWZxT3NOM1JyelVmTlRIZTNkc2Q3NlNlNnM4eWhVWVpYRjJlbTJ1Um5rZTZsRTQ3alB6M1J3aGFSTGVKdUpUZTBuenE4eWJldzhTMjNUVGZaSFBtY05PL1N2NnpFMStmRzBMcXRtT3BoTldzMDFJMytSa0s4OUgvZnBadXlDZXFKanFuajZpZ3RxUXMxQVRYZ3NxcWFBcE9wVVowelhvS05UdXZ3a3RRZTdJa0luU3U5QTNNLyswd21RZndRcnRVRjNkZE4wNkJRM1dkR3VsTlo1a2JFQjFML3lHV2JTbytSV2hWZG5QM05IWGxLSFRlY2tjSjlVVVJYUjFWV010YlBNL2RpUkVpQmR1eXBnYTE4Nm1xWmptSkQ1MTh4NVArU09Da2sxU004SUJNcGFCMUpuU3NHdFVhN2FoRUxYWEFyVlZSRzBIcjRjc2dqWHRVKzVXc2xEMTgxRHVPYW96M3Mvc2d6T3YwQzROeE81QVM1YnIydHRYYnVTdlNPblI2YlZFT2RJM2NqS0NyY0dWQ2dmVnRJNnN1K1g1Wm1yOVFUcW1vcFMxdyt0bzFESElMVk5SMEVVMGVmdnpaWUszRFIvVkdnSEtzRmdPZEM5dWdteTVsRG56MFZXOVRZelFaMU13QWtDWlFsOFBkVWc5aC9kMEhNcCsxVjUzYkhqRGpkQWtyeU9IZThLSDJvSjF2V3RPanU0ZEhkVlhIMko0MDNyTnMrUzU3eHNNYWpyZkN6Q2ZNblRvZyt3SUorTEZUdGFwZjZBSGxqemxiUHcrS3RtbGpWZjk4d0dZLzlhNmNDSFc1dmMzVEFtdE5iV0EzKzE3TFNubXN4Z05sOUpBeDhoUUFua1MrK085a255WXAyeldsdTFQQkZWakFEcldET2RjdVduYzAyTmxHNjlYMlY0MWxVdkk5bTZzc1hZOTRzb2NYcmFlTm5VdUVzblFNNElWbXArbitwczg3QjhDN3RHSmVaTzlvWHYyV2RvTlB1c0xGYXpkS2NaaWhEMkgrRmY1bGRuam5SNGU0KzdxQVJzMmZxMytGWGJ6SUh1TURuUWttSHl6UDI0a1JLWU1jUG1WOGtxbDFCQVl5L0lkQ2hmc2NkZno3N3lHblJGaVM5S1Z5OWthaG94eERrOWZQV1RKdFZ5RGF4a3JTUUpaSGlYcFNEQ2VsdUxwREc2ekdKdFoxM1lUTG5xbjZ2WDVIRk54SmxMWDA5MWZrbkhkOCtSdXBHVEZXd04rSEx0cnBCMlZrdlA4TXpWK2tiZ29YWDBDVlgrZ2loSk1WdGU0RjJWQ2owdStqa0tsZ01GQzFNUHRUYzdKSGhiQ2NZSkJQb2k4TklISHZvQmFxejQ4Y0czUC9INi8xVkgvbkgxMEgrOXJiVDZsanJQcTFaMHJtWHFNdTlRYnRaYVA4dERMTmcrT1YzZEw2elpxMlN6VDQ4Nys3ZmtPWnV1ODVidEF6czBqdnpScTIvbE9uem9pYzFrNXVxREtUbVAzbngxVjN2Ly9OVnY0akl6aCs0VG5HRlg2SUZpdi9MNmJqS3Y0djQvMzhKTjgvUEt4djA1MDJ6VlJCTlphNjhyVWJsc25ydjZjUkxGanQ1KzlTdHRhcDcyTlBpa3oycUlkbXpGTk93QlZXeDAxMFVCWlhNb1BKMWNVeVBWVVhqYXhpYWRVemJpMVhmNUxCcDc5MnVvb2V0RjcrbzN1Mm1SMjBrZ2pwVTN2K2VQUlk0b2xhNFYwWlNkb2xwbm4wODAzMzI5UkpKbGFNTUwxNDZZRnFoMVZOY3VjemVoTEZuRGw3M0pMYVFlYURiTjNBRVBGV0R1UjQ2VUFObVFmOFFEemtwajlkMFBpY3IrM3F2WEVsWFNkNS80MWlSNWtheDlQMy8xMjB3TmV2TlZBYVF3WFpkR0hIR1MwY1BYL1l0bDhuZmYvdnBsY2FOY3JhU2cxQkZZbGFJSTY2WjAwZjg2VmVBdW5WOUdGWXFzNDRPMHpodXMxeDNWRDl0NGhodW40NnZtNlRlU2VHM0wxWTJRckdCcndMZDlpZjdPVEZ0UEZXVjQ1bXA5NktHMTJnUXJmKzhvaFd4MWsvSEUxVlh6dUtqbktGY09VcE1JOVlBZVRjSjZ6VkVmVGhBb1RhQk5sY2M1N1BqMFRZeDl4NmY5eEJjdzloc3hXZWRTOXN4L2VzWHZ0ZG56cW5tZ2dIVWFYbDVtUDdOYis0eTJIUVdRUHoyNXo3NzJuNmJiVWhZTnFOa0hQdThyMk0rSkpsZU1VUnRhaVdVK2NsUEhKcGxYZGVpZXJCU2cvbjhET3lKcjhTTDJzM3hvU01jMm4yeVdCN1VJRGJiOHVxTS9UMm4va1JtSkpRazliZi9ILy9VbTBsSWQyV3hTQzY4T1o3M1oxNTdlNFVqWjNmLytoMzlpeTR5dGtpU3ZpazdCUDFOVDUzZzBkR0xMcFBsVGMrbS9XVXFTbjlqUkl5RUt1TUtPZno5SjNrbmd5R2pTMFNXL1h2U2VjNFJ6WjBQRW9uKzlzUExtTjlsNmRqT1pmeGxqcm5HbkJ2cy9yQ2J6WC9Vc2IyUHBVSVdRWmVpblNRUmZRcExVM0lsL2oxK1JiVXh2NTcyVnp4N2JWNjVGTzhQTGZRTE1WVUIxaXBRQUZmQlB2dllWZjZCbVhqb2lIL1J2V3c3ZitTVlZoa1B0L1VrcUIzMTBoZURDZEIwYXZXcXVyNGV2K3A1T1VtZStWSzBrR2ZONlZvVzJFUnhabWJVZHNzMy8yM2Z0SEpGWm9ENEJQUi84UFN0MU9QVjZyczNldjV2TWJCMXRjdE1zU0ZnaDBoV3FHMEZaeENuWEd2REhnbjNndGEvNDZwYVpjc21VWTY3V0J4OWFSNmxnNVE4ODV5Yktuc2daLzdjdi9iSnNiWUh2SmcwZFdEMUgyYkJTUW9SNlFIVWlaWnNhb3hJY0lGQ0NRUHZvNWtjZlZzZGp0MUpybWhPeXl2enc1cmw5Z2JOdEVlTDVYZXRkNTNYNlQ0VDNoeHp2SlBsaTdtZEdnMThuUWp5OVNvSFB0VDVJRFFpOXIzL2pzWWNmZmV5R3NDRTNTS2RIYjkyZ2NZRHdmdml4RzZteUNqWWw0U0lkajFQMi9sWEhOUE80bEJFeXpmV25rMXFISGQyaXFVS3JTbTJMSjMzYnlzbGs4eks3OFJnbFRvbzRUVmhHZXhxRHlaeUw4WmdTbFZQRkp1RzVXZzVpTjljek5NSi9OV00zVThhK3pVYVlwMGIyWnB2OWU3SDNoQlR2OGxzUmVoeFR6alNYd1NxYVgycW1iMUtEN2hmM1B5T2Z4OWp4TmQ4MDV4aGFmYm5ySC9CY2NLc1FQczYwZm5sdFAzeUxmQytZVWNabHArUERnd2VZKzFJaUpTQUxXRTV6Skoyam03S2FjZFBNUzVxcUNqZk5IQlBueDAyenJuMWRLYjRvWFlmR2dva2JxTG1lSHI3bWV6SjVxdkg3Nm9ZTWJCNitjSzJrc0MyelZ0NXg2OVVjVlJzNnZweEwrOTZqZjBYL3d4SjQzbTZ4b3kvbnErNTBCTXhJcUc3RVpaRU10elhncVF2QmQ1M2E0UEhNMWZyZ1E4dXpvWTk4NWU4ZHBaQ3RMWEF5emJvZTZPY29VdzVLaVREMWtCN2ZlM2RaSzQ0ekNJeUt3QTk5UEwzNTVzMWUwdWIvMGlOSEg2R3A0K3p4TlFIdmw3OGxmWHpKQlB5cmYrMlI0Myt5YWk0SGR2elFXOUtidjB1eFgvYlJ0My9aUDN5dEwvRCtkUnFVLzZYMjBVZS93L1d2L2YxSGpuL05UYTg0bXhUYTE1NkdLNVR6OTc3RUZaUDBVc1VKK0EwZmRpNGNwL2dObmkvOEJMdjU3dDkzZkpQay8zMWIra0dld3pkKzlNMWY5dmMrUzk0YUZUMlZrR2grazduL09WRGNDeCs3ZGZUZUxyMlFldk05ci8rOHY3NnJJdVFZS245MSt0cTNwUitoT1BHamgybWV1Nm1qemQ5MGk0MThBOHgxV0htT2xBQVY4QWQvUFNQTGo5ajdxaWpkQWhwR2VGOTZsS3FWdE9IalFJdC9sMWV2YXYvNTQrbEh2bFBmaTUvblAvK1JvOGU3MU8rNStaN2YvTHovOHNQNWdEM3FSalp3dURWNE9kSC9UVjF4UkJTWFo2N1doeDlhTjZsYzVTK080a1luZDBtMklsWXdiSmg2MzNwazFNSWxDSUFBQ0xnRVpQUHIrcHl3ZTIvN2hCT0ErRkVScUx4dWpFcHh5QUVCRUFDQnlTWlFlZlBidURMWndLWkkrOHJyeGhTeFJWWkJBQVJBb0FlQnlwdmY1bklQYlhCcm5BaFVYamZHS2ZQUUJRUkFBQVR1SFlIS205L081cjNMTEZMdWkwRGxkYU12N1JBWUJFQUFCRTR0Z2NxYjMvVFVvangxR2F1OGJwdzZnc2dRQ0lBQUNBeEVvT3JtZCs3dVFHb2kwajBnVUhYZHVBZFpSSklnQUFJZ01JNEVxbTUrejRaZlVoOUhORk92VTlWMVkrcUJBd0FJZ0FBSVNBSlZONzk3MTBGK1VnaFVYVGNtaFF2MEJBRVFBSUVUSmtETnIvMU5peE5PaTR2dnJGZVFDSklZQ1lHcTY4WklsSVlRRUFBQkVKaDhBdlFWWWZjcmp5ZWRvUm5uYTg4bm5SYmtEMG1nNHJveHBMYUlEZ0lnQUFLbmhnRDlhdEh6RldibWd2bnVjNFdKSXFuQkNGUmNOd1pURXJGQUFBUkE0UFFSdUVBL1FlQjk1ZmhrczlpNWZiTHlJWDJFQkNxdUd5UFVIS0pBQUFSQVlISUpuTHY2QnY3alFNZFB2TDZpUEp3N3JpZ2hKRE1zZ2NycnhyQUtJejRJZ0FBSW5BNEM5c2QzSzhxUCtOM1FpdEpDTWtNUnFMeHVES1V0SW9NQUNJREFxU0VnZjN5WGZyYVlWWlNsUDFtcUtDRWtNeXlCeXV2R3NBb2pQZ2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Vk0WEdnUUFBSUFCSlJFRlV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QUFBaUFBQWlBQUFpTVBZSGF6aWZIWHNlSlYvRENVWGZpODRBTWdBQUlnQUFJVkVYZ1hleTVxcEthM25UT3NrOU5iK2FSY3hBQUFSQUFnZjRJektSc3M3OFlDRDBBZ1IyMlBFQXNSQUVCRUFBQkVKaEdBbldNNTZvbzlndnNxU3FTUVJvZ0FBSWdBQUtUVDJBK3hYQ3VrbEpzZzNNbG5KRUlDSUFBQ0V3K2dYZXhaeVkvRTVPUWcvc3hPekVKeFFRZFFRQUVRT0RlRTZpbGJQdmVhekVOR3N3dzFwMkdmQ0tQSUFBQ0lBQUNReEs0d080T0tRSFJTeEpvc0NkTGhrUXdFQUFCRUFDQmFTYlF3WnRUVlJYL0dYYTBXbFZhU0FjRVFBQUVRR0JpQ2N4aWxyVzZzbXV4L2VvU1Ewb2dBQUlnQUFJVFNxREJucDlRelNkUTdmdXg0MjRDU3cwcWd3QUlnRURGQkdnVDJFSEZTVTV4Y2d1WW9wamkwa2ZXUVFBRVFLQWtnZk9NTFpVTWltRERFOWpDd3Y3d0VDRUJCRUFBQkU0NWdTWStVVlZsQ2QrUDdmQlY0a1phSUFBQ0lEQ0pCT1laNXJPckxMZHpERjhFcTVJMzBnSUJFQUNCQ1NSd2dlR1hMU290dGhabXRDdmxqY1JBQUFSQVlQSUlOTEUvdTlwQzI4T01kclhBa1JvSWdBQUlUQm9CMnArTlgycXV0TkRPTUhhdDBnU1JHQWlBQUFpQXdHUVJPTXZZZXFVYXM1TTk3bFNhbVlFU1M5bjdCb3FIU0NBQUFpQUFBdE5Cb002T0tzM29pMC9XTXJNSk1NMU45blNseUpFWUNJQUFDSURBWkJIWXFmaG5DbHN3elJjWjI1MnNTZ0p0UVFBRVFBQUVLaVF3Vi9HclU1VGV5UjRUTUdxbTE2ZHVWMWpFU0FvRVFBQUVRR0N5Q05DclU5ZXExUGdDWHFKT0V1eThxN0xLSVMwUUFBRVFtRFFDallxWG1odXNPMm1JUnE4djNsY2JQVk5JQkFFUUFJSFRRNkJkOFphazF2SHBZVGR3VG1peGVYWGd5SWdJQWlBQUFpQnd1Z25RMHUrZlZwbkRtWW8zblZXWnQvSnAwWnZONitWREl5UUlnQUFJZ01CVUVhQmZuYXAwUjlKNWRuMnErSVl6UzU4dHI3UkRGTllDdmlBQUFpQUFBbU5KWUsvaUg0U3NWN3ZwYkN5WmsxSTcrTEd2Y1MwYTZBVUNJQUFDOTV6QVZzWGZjKzVVKzMyVGU4NDNvc0JoeFp2dkltckFHd1JBQUFSQVlQd0kxQmg3b1VxdDVqRmFGTGhwSDFpbHI2eFZXY1pJQ3dSQUFBUkFZQ2dDczZ6YUQxdGV4bEt6S0MvYUIzWXdWTUVoTWdpQUFBaUF3T2toOEdjK2tkNjF1YUVQam16YnE1TjM3YkhsazA5a0FsS1lZZmk1cndrb0pxZ0lBaUFBQWxVUW1Ia2ovMHFtVFlsMmdWVTZzYnFGOTNrbC9MVGkxOGx0a2NNRkFpQUFBbU5HWU9IZkRhVFFtUThNRksyUFNPK3F4a0RPNzNETDdPekUycWoyMnhjMUdDUlZLYllZUHIzU3gvT0JvQ0FBQXFlWndOWXZESlM3UldlY09aQ0F3a2lYbmkwTU1vb0FUVzZaMmZOV1ZNcXFTVmlsZUJhdjh5b1NqWXBmV3JORkRoY0lnQUFJakJlQnkyeHBJSVhXVG53YXR0YitxWUUwNnk4U2JmcmloOTJUVGQ4QysxUi9Jb1lMdmNhdURDZmcxTVJleFBmQVRrMVpJaU1nQUFMREVkajU1R0R4OTA3KzUzWGZkYnc2bUc3UldMWDhuVDFobVoyOXdXY3IvaXJWeG9uM2NmS1pIaytmeXd4NzFjZXpaS0FWQ0lCQXhRUXVETHJscVFMVFBNTStQRm9hLzNmZ0Y1N0VTak5qbXlZbGVyMTIzMXljdktQR25qbjVSQ1lqaFFYR25wd01UYUVsQ0lBQUNKd29nYzdUQTRxdndEUW5oODRyVFFPcTZVWTdGM2dyaXFhdkdUdCt6Ky9hY0RTTVhyWlhKKzQ2TTNWdkRNMmw3TVpqSDMzNDRVY2Z1OEdPM0hrUit0WUx1aWtuWHVHUUFBaUF3UGdUT0RQd0s3eFZtT1l6by8yWmlVWmdxcHAreXVJRGY4TXJwNVZxTnlOZEhHMGV2YXlNNXdXdEdOakROYzFKRzF1MHg3UElvQlVJZ0VDMUJCb0RMM1JXWVpxVDlsT2p4TkZ4ZDNzcHdYdnNuMmVTb0JudWpNK0pYcTVrMXV4bmJ1eWVhSHIzWHZqTUF3KzlSZGptNDdjLzhaYzlkYmFxZlczTlN4c1hJQUFDSURBdUJHcnB3SnVSS3pITmV3TnVIdy96Ylh2dlNNa3dHem5qejZyOWNZdlVlVzJMcTlRSXJJZUhzelBKdnZlVGJYN2FHekh6M0RUWlZHUitrZ3NPdW9NQUNGUkE0TUxnTzU0cU1jMnp6czdwNFhId29WcFdTcnFmOGFIRjV5b1hQTTlsZGo1OThYUllKOXFNSFpqSTMyTjRrU3hUSFhFSkFpQXdoUVNhbWRuVVBoQlVZcHFUZE5CZGFvR2MwQzZqbk4yYnkyMzVvaDlac084NEI2U00yT3VpdjlqL2hXbE94UkVuT0I3aTZEdmx6cVo0clJOdGpqL1FicHhCQUFSQVlFb0pEUFBpVGpXbXVUbkNHVzM2K1lUY1VPMXNicTM5VXJVL3N1QmxjUDd2Y3hXN1UxQWJGeW1mK1d6U1dQcFA4Nzd3QVFFUUFJR3BJbkI1aUphd0d0TjhhZkFaOTF4SjBtdXp1VzlhWE15OW5rVkc0MDR1NnNsNXRKL1ZzaGV1dm8wck9CMm11Y0dZeWJnR2tDVDBaYllxWnl4c3duQ0JBQWlBd1BnUXFBK3h0RmVOYVY0WVlWdE5VOVdNWmI1OVZzL3RBcXNIWG40K3VSSmJzQXJ4ZDRxT3ZySTFIYVo1ZzdFYytTU3BlSjMvNUlvVmtrRUFCRUJnY0FJN3VlbmM4cktxTWMxSjIvbEpxUExLQlVQeXJVZlpMVjRidVFuVVpxVWZjblptQmM3ZS9PaTNMaVZUWXBvcG00RVBmODNUMTErQ1JRZFBFQUFCRUpnYUFqTlpROVZQemlzeXpTdTVmVnI5S09tRnZjQm9ySmF4OUxrTjJzbFdwY1BXdyt4bXFDa3h6ZFJKQ2kwYmtMZFhaTGdBQVJBQWdha2pjRDQwY2lsTG9TTFR2RGE2WHp5NHlOYW82Vjl5TXpqRDF0MUw3aWJibUh2Zk5odG1kTmV0N0NoeE9rd3ovenpxZG9BaTVkNHJuMEFRZUlFQUNJREE2U2F3TnN5cktoV1o1c3VqVzJ4ZXU4dW50TmZkTXAzTld3SUs0b1k0V2ZkY0xuZlRZWnI1c3Y5eUFPMVdwVk1XQVFYZ0JRSWdBQUwzbXNDS2I2ZjZVNmNpMHp3M3VtOXpOWjdoZTdRUDNHeGV5TXh2SjBtMXk1MFhmSFZJdGVrd3pmeTE1dER3ZUNYVGRYTExDbTRRQUFFUW1Bb0M3Y0UvT0pJa0Zabm1oQTJqcEZlTUs1OGlZZjRjL2xybUs1bEpRdFk3OEZhUEoyZUVGL1hjVDNKT2gybGVwSUlJWVd5RTU3bERRZUVIQWlBQUFxZVN3TXhRQTlLcVRQUE9NRU43cjl3NlR5WWQrbkt6NjNlWWU0MldwbG9yL0U3blRtN1VQaDJtbVV4d3NBTzBsNW5WY01zS2JoQUFBUkNZQmdKbmZUUFZaNWFyTXMzTjNKeHZuNHFhNE8wN3lXRm1pL1pXN3QwcFdvNzJqTGVKZlJLT0daYjdkWkhwTU0wYndkZWFrMlF4dkhIN0pOaERKZ2lBQUFpTUpZRkYrN21MQWZTcnlqVHYrVlBRQTJpcW81Q05wNmJmZTFzcC8rNFVyWUxtektVV01QTHorZnoyOCtrd3paVEx3R3ZOd2pRSC9VZE9IZ0pCQUFSQVlFd0pOSUt2bHBaVnRpclRmQ24wMmFpeVNycmhadWpUWjN5TDloWHJHWGgzaW41aElmUEJNQnQ4NUs2OS9EYmw2VEROVkF4M1FqVHBBK2E1SllaUU9QaUJBQWlBd0drbHNESFU5Nm1yTXMyWHc2dVMvUmZLT2RibG03eGNteEI0ZDRyRzFjLzFMM3ZBR0ozY1V2TjA3TkNPdmRhY25JOU1kQS9JRjlGQUFBUkFZT3dKTEh3aWZaeS9zVEwzTDZXcXJjd0dxejlLUDdTcE1qRjdhMTI1b3FlSWFWNTQ2OUZ2NlRoZjhIN3RHdUo4THJ5WHQzK0psL2xXYnpMTnpyQXMvKzVVc3ViWmJwM0t5SE1sQk04SEpnUkdNbXArMFNOSHY2S0xVbWZCblBzclpoT3RiMGNQSldLdk5TZjBIZkhxVnZyN3poRWlnQUFJZ01ESUNYeFJ5bTR3L3JKUVV4bW56T2NkL2l3N0ZyZDV3anZHRlZVamJKcG5XcXpOYnN0SU5BUlNycWlRRWpmb3B4eVhTZ1FyRG5LUkQxRzNtSnV6eGR5N1Uwazk5K05VRkt0RXJzNjFmckpZaFV5SXM0RWYvaHFGYWY1ajZvQ3d1N3NtdFZ2R1JZNCtpOW1OMnBlN2x4S3gxNXI1VDAvbGk2U3ZaQkVZQkVBQUJDYUpBTFY2WDVrc3RIK0tKblhsdG1TYVZYUnQzaHo3dHFTcEZtSXBiT0hieEdIVDNIaG05NXgrKzJobE5IUERMUGZ1NzJEWTkzaWozNkNjMmVpTi9JNnZReGFZNWkrUnE4NEFiK1N1c1hXcmkzS053RFMva3ZKSWg1a2RtSFd0WGIvRm5GT3dwRWRQSlJaSnZhQWNtaUlKdmxRVkRBeFBFQUFCRUpoMEFyVWQ5dE9VaHd2UGszVTZFSm1oV1VVM1UzVnF5aGZWdmxrK3FsbDJid2JjUWRNOFErdTVOR2tzVFQ1Wm1jQVAvd1ZFOWZZeW8vRGV3UXJ2SG5KbGFKZVhZK2szOHN2S3pZQ0pMWkVydm9pZHQvTUZPbTBGdnRZOXZHbWVTMGtYZm5SVjhoZmRYUFpiekFWWmlOM3VyVVFqWm9FSlkvYWo0ckVVNEE4Q0lBQUNrMC9nZFdvNGtuNWFxb2JHNS8xV01MMldKSmRVSUc2YXJ4VGtPV2lhTDNMejFHYmJJaTVabVZGOHZhT1RmOE9vUUxYdzdTMytXZzcvVWVSdGM3OTEzVGkxWXlNd0MxOGlWelI1My9kNHJ4YkNNN3hwUGlSVnhLRmZROXE0clROSDUzNkwyWW5hajdPM0VnUTUzR21qbVp6OHpyaCswa1ZZRUFBQkVKZ2dBdFRtSFFoMUQ5K2poMU1YUFZ0eWxzOTZMcXFHa2VZVkhRTVd6bWJRTkc5eEs2QlhhNXY5VzZ0UVVsdnVudXBRZ0pKKzlNVVJXaldtbkpuUGpOUUMvWTlPb0ZOU0lsZjAxby9mMHltaDFCbXJpUTA5dEdtbWtsYUhHbi9XM0xXSnZvdlphdGFQcTdjU2ZCdTY3amY0VW5ueCtENjRBZ0VRQUlIVFM2RE9qbFpGN3ZpTXJuUXRlb08yT2pkWWUvcmUxbUNtZVlhTHBoK0lrTWFQUnFpaldEaGNDYjNOOUZmK1p1eDRiYVFRYTdLejBYWUdiQXRtenRmRzJjbWI1aks1NGk5TTk1dlp0VURQWVBpWHArcTBrK3A3VnVmL0lOVXo5MmRjdmZvdVprdW1IMWR2SmZnK2VkNVB5aDlVZHdLVC9QbHc4QUVCRUFDQlUwQ0FSaU5xbUVJcnpHbzB0ZWROS3U2c1V6WWJlc3hTWW5OMWFOUjhuci81UWlNbTFlNlcyT2RkZ3UxaDRCc2d0WlRhOE1peEhKYTVJTmVZTjJqdnNnNXdObUFHV2l5M042dE1ydmd3c2Q5UGxXeTR3MW10RTZYZjFlNkJ6bTMyY3lJZXpYd2NDTWVhcTFmZnhUeVFEclNtMFVzSkRtczdLTGhHZDVhQ2QrQUpBaUFBQXFlT0FNMjMzcGFab21aUkxRQTMzSDFMWW1SSXJ4YXBsVDVxSXRjTElJUk1zeGlUMFdENXVveTdOcEtYVk91dW5rb3AzcmpIanUydzRtZWxJZHlqYUxzcXhDWFZTWEVqQkV4enFWeXRGQk56aytGdTV1NmMxamVITmMxbmRmRW1yMUo3dEZjT3RHdytuNzlLRi8wVXM0M2JoNnUzRWdsMUQyTzdET25PVWg4SklTZ0lnQUFJVERDQkxXT1BhUHlzM3FwcHVzTThzUWFacEdaU2RzUFp4eHpPZDhnMGkwVlptakxmbGxIT0JJeHFXRmd2MzcyUWdmOGRhc1BEeC9GbVdKaXl3M3hSZUYyRjJBdnNVbXZuclVhcFhNMDgrQzNoZEtPK3M2R0orcUVudEJ1bTRHb3RPVDJRZHEwSy9SZXpqZHVIcTdjU1NmUzFadkZKbUVqNTlaRThnb0lBQ0lEQUpCQ3dRMlgrVVFlMURXcER6M0h6SEZ6a3M1NFVUSm50cEY0NGVBbVo1cFEzcXcwekpUdmpwc0JUR2VoWURJNHUreGFsN0RCL1pmdTZpdHgwcDNxVkg1bm1heG5abzhqVlRFWW1YVjdVRXhuZXJXRkh6UzM3Q3RmOVlucmduSm9JRWFuMFg4eWVjbVV2ZWlzaGZtUWtJb3BLQjZZNXdnYmVJQUFDcDR3QURXVDF0bVJhUlQ2UXVkdHlSMjMxTytSSlU5SDh4SS9Gd28yeUFkTThJeUxSQ0YzS29ER1FGcWM5aXM2dkRCakxSYnM0WEJTOTEzMWxoL2xxcGs2a0UxQXZ6Wm5tNFhORmFuVldjN3F0QkhzL1E1cm1PV2RyMlRreGEzekpmVTJwLzJMT3FGMXJiV1o4QXBjRlN2RE9tN3MxelpWQStMdnVOZHdnQUFJZ2NHb0pySmc1Wmo1aXVTTHoyVEhtbXE1WHVDZFo4TnZ5WG5MSkhXc3BQLzhVTU0yellvSTR0YVBjOW5VL1R0SFZYTnUxSXlyMGlFeXp0c01kK3kzSWREK3ZFTXZaaHFGelJZbjh1SmxFdHltbVFmTTBwR2srN3k2ZnQzbitHbmRza2dNVXN4T1pPNzhodGtqc2hpdFFJdGx3ZHNtNzhjZ04wNXdCZ2tzUUFJSFRTOEJwOE9wbVZPaVo1cS9icGR3M3JGbWlyNGFwbzZZZG1YUEFOTS85SUlWeFpzV1RscmIweVdvbWR2QnlZY2ZiTks3Q0xPb3Q1Y0U0cFQzMTl6Y3BrMnBqOW56QVh2TDNlcnErekdGelJkTG9JMWZYZmFGSmNpNDgyeitrYVY2ejg5bEpjc2luU2xyclRzcjlGN01UbVp4L2xGK0o5d09JcXdJbDRxODFDOU44TFNBUlhpQUFBaUJ3Nmdqd0w0am9USzB3dlVGNXh4MDFpOXNkRzB4OEFJdDd6dXBCdGhhZ3p3SFRMRzdSRzc1M2RKaFVON01yZ1ExWE9wQTYxMzdrdTlQZ2FPcWkzamFlaWREZjVad2U3dkVYdTVkRjNOblFzaWJkM1F4SUhqUlhVaFFORTEvSUNyMmtOOHY1TjZLbStVZkNMM0wvOVZVdmZ2TzZjM21SNWlEbVZUL0U4ZTZybUoxNHIvaGJielRzSE8rOHMwZ0prbkluSDB2NHRFM1BNUklBM2lBQUFpQndTZ2pRcm1RemVicGpERjByMXo2YTk2cG9yZms1bGZkNnpvQ3JHekhUdkdobXpHbXRlVmNHcG0zaHZnVUpnQ1dEY2R3SmpacEhZNXJWdTFPSmVIUG5RS1IvM3ZSWEhIWEliR3c2bDlvNWFLNUVmUDVURCtabGFpM3hNSmhPZEljMjMxa2VQUFRDdVpUYlhOYnk2WHlXU2wzdXlYWTgrUzVvMDFFcUxtWWJrMzlWNVhIZHJiSGVBVmVCRWpTdkV1NldrQ2d5emNzQmlmQUNBUkFBZ1ZOSG9PNk1SdTFLYTg0MDA3U3JhZWNiMXhXRjZHY3lZNmI1ME5xMk9iMWdUZnZMQ3FIK3pzMWZYNnFIVERNWnBjTEl4UUV1NmtWWS9zRXBtYzFGMDEreDBXUGZ2QmcwVjF6eVhFb2ZSODN0K1dybmpMWFFvcFdiVUpmS0xaS0k0QkZZblpjeEtHSGl2NWo3SW1aL3hheGxKY25sRzQvL2VlcGpMVnVmVXE2OEVqMWVhNFpwTHNVVWdVQUFCRTREZ1JYNzY0elV0dXJWeUp4cHBtR1JOc2pKeW0yVjhUUTJ3SW1aNW80WmxpZm0xd2o5ejNYSGtRWk44MmhHelEzK29USnhrUEdUQytsMTQ2VnYwWm5NMzVKenFaM0Q1R3JsYWFKdU50Z3BpUXUyRzZUVEVPZVlhVDdURGhwbWRzUi9UeXgyMEZ4RmN6dDdzNzlpOW1NUFlKcVRuQkk5WG11R2FmWjU0d29FUU9BVUU2RG1YdHRjZXExWFQxWG4xcG9YbmFub25XdVNCNDB4bDhOa1lxYlptUzQ5cjNzQmU2SFJjRUJzeERUckFXOGdSbW12TFozdHBFazJicFhIV3pGekJJNFV1cm5wWEdybkVMbjZrcU5OUGsydDMxNVRFaS9wZDloMEN1cE1JYnNacjhFdlc5MkUvakpIZjhYc1J4N0VOT2VVSUFXaTh5QXAxcHA5NHJnQ0FSQTRyUVQ0Sk8xdGxUbDZyZm02Y25vN3RMbmZvVE5nMUd2RHRJTnNTWVhQbkNLbW1hWkx6UlRxb2paSFRldVhrZUpmbnFCcFRnOTBVdHd5clBPTG5UdmF5em5UelUzblVqbUh5ZFhXVHdtMG1TRjZJMktCVzZNMHpWdnJNM3BOd2VhcHYySzI4YmhyRU5PY1U2THViSDN3eFdPSGRwWUhya0VBQkU0dEFiN3Q1cHJLSGRtbDI4cVpNODEyaDFpeW9KZGhMOXZwNlF5ZmlHbDJiSDl5dUcyU3VwNkpIYjRNbXVhUnZOYzhZMStVNGt1ZFFoMzlPcFduUzlnMEQ1T3JjeVNmdG9WbmJHUXJNaFV3VXRQY3ZIMDIweU1nWGZvclpnL09RS1k1cDhRS2kwK2lFUDZ1bnlTdVFBQUVRT0JVRXVEdlRpMnBuTld0bGZhK0JzWnZPNU8ybC9WVTlFWDcvWkFNbTRocEp0dC9SWWZzWEZPdTFQUUg5SzN3T1dLYWRUOGhIS21VcjltZ0xYNjBrcjFBa1J4cjdZZ0kyNGFoY2tYUytlZEJOUXlSMkp4WjhuZlM1czZSbXViR3Z0bUNiWlBwcjVodFBPNGFaTlNjVTJMSG1Wanh4WXVsL3Myc0g2NUJBQVJBNEJRUzRIWkJaMnVGNlJlYTZKdE0vbG9yTmJ2Y1lvbkRURVh2eFV4SUVqSE5aUHU3U2dqZkFDUU9XckQyN0pLK256c0hUZk5hcUhjd0UzN0xsM3hmbTVQS1Bjd0diWEtUYWVCRDF1QnJ6WkhQVVEyVkswcUxyeWtjME5rYzU4MjZndkdTanBHYTV2cEJmaGRZbjhYc3F6ZUlhYzRwUVN6dStHTHRGZDJEYWJZNDRBSUJFRGk5Qk9qVkpmT2lqak9iZVdndHNjZzdXWEM5Tm16MzlUYk5yckVzbjRocEp0dXZESEp5VG85MmFkaSttNDBldkE2YTV0QXZUOVZTYXNNangzSkl0THNidTBFUnUwbHkzaWpxUmtpZHJvWDFIeXBYWE15V2ZtTkx5YXpIT2l1ak5jMTMybDJWb0RuMVdjd21ubkFNWkpvelNwQU10dTJMTlZleGQ5ZE1BRGhBQUFSQTRKUVFvTGRsekRjbTlJdERsTFhzN3lCVHNBT2Q0N1lldW5SaW83dllxTGtqUnFSQ3ppVTlLbzh2V092MDFEbG9taHVCZ1R0ZlBvOGQyeG1oNG5Mak9ldkx2OTV4UUFOcDAxK3h0OFEzTDY2NTE5STlWSzY0aUQwSFBML2V5U3c5Y3o5eGpOUTA3MzB5bjB5ZnhhejFrdWRCVEhOV0NUNkpzK3lMTlZjd3pRWUZIQ0FBQXFlY0FJMmE5WGNwcUduVnE4akpXdVoza09sMTAyMUZZazVZcmRkcDR4ZmNzUlFaTmJlWUhpc25qWDBTTjVkcUtRZEtlSTlUMERRZlppYmVSZngrZjY4NWRWTG5hKzgwZFY4My9SVlhJektOeSs2MWRBK1ZLeTZDOXBHNU13Y3pwa1N5YVkzVU5LODltOThGMW1jeCsvb05ZcHF6U25BVVM3NVljOFcvQjFOdWdzVkVnUU1FUUFBRUpwSUFiVW5XOXBoR0xHYjR1R2pIMGlKYnRJdjRpc3JmZWJIb3ZFTHRwRGo2TWMycGxiclRKWEY4akNTUEF5Vzh4eWxvbWxlc3lqMmk5cjRsZng5UmgwbkZEUCtLeUtUMjArY2Q5V2FWdnBibm9YTEZSZkJoL3JxVXhmOWZqazVHak5RMEx3YlE5Vm5NVm1mdUdzUTBaNVZZSkJTK1ZIc0YwMnhad0FVQ0lIQzZDWkIxMUZQTDdrdEFsK3dLdE1nL05abkxDa1RqUURqdXUrOExHZnUwKys1VHZ2NHBNbXEySS9RNWFkRnI5OTIzd3A2ODc3NVZQM3J3S21pYW81OEtEWW9JZTE3dzFwV2JaQnk2U2Nlc3JMdHhPcmFENG5nUGxTc2hwMjFmS0tmclBZUGFTVVE0UjJ5YUQ3THkrYStDTGl2UE1zWHN4eC9NTkI5NFF1bzlYbXNtK1ZHejdRbkJCUWlBQUFoTU9BRnE3L1JYUU5ic2E4MDB4K292Uk5Kd1NxK3l0clNqeHlweHhEU25ab1IrUVEvVmsvaUNkWVpzMERUdnNJTk1zUDR2NjJhV25jZWxuTktvTlQwSXlkbHdDTm43eGJtYWUvQ2JiUENBYThWT1hkRGRqdGRWY0lPUDJEUXZ1N0tGdTg5aTl1TlRWZklsZnUzYk4vMFErYXZGVEJRaW9kZFhjb0ZKdmw4cFpZaTVCMzhyRnhRZUlBQUNJRERaQk95b2VjZWFYejdWN0kxa2FSRlNXZVFGTTRNZGY2MDV0ZzJzWlV6ejRZR21WdmExWnRxWkZtaTBVelBQcnVYMWYrNjg0TWJoaTgzUHpJZkZrdUhZZHNOS2QzR3V0b0k3dTYya1JmbkdsdlNZenl6ejIyQ2pmYTk1elM5aGtVeWZ4ZXlvUnM2c2FhYTFrdnhxdGgrRjlqUjQxWXkvdTZaN2lwbVFZdDdmMUQzbjVvYTNHdURjZ0JNRVFBQUVKcFpBUjV0TGJwTjJkVGFvbVYzU2JuNm1yYnZyOHZwZHB1bmNDOWxLR1NneWF1N290bm8rMWRMajMrR1drdXova0dtbVRidGRHNkp2MXd5UFVjc012TnZFNFRQQ1lwdU03ZWNUS2N3Vlgwc09UcEJyV2JRWHo3NnhlellldG1VNlNEcm1FT2U5d0NiMFBvdlpUejFybWh1VXE2NGZKSGVWVllLaTNNa0ZVaDVVUWIzNURlbk40WHA5cTFoMCtJTUFDSURBNUJDb3MrZWxzb2ZlZkdIR0NOQjNvbS9MWUswck9tODlQbjRkTWMySE9xMExaZ00wdGJmYVNtdTVrWFBJTkpNMTJJMEVMK085OG9zVTZyeWVEMUF4aUFON2IyWXdaMjlkejhzdHpCVVp2SGd2aHN2akc1eTJ0ZUMxOElpZDM2WmV3N0lPTnZTNWJ0WVVyS2craTlsRzVLNnNhZTVRcnZiOUlMbXJqQkxjemthajBDamNWQnNyaU1NTmRESnNBTGhBQUFSQVlQSUlYRkFMZUx4VmRBWWxPOW9VcXh6cGNkOWwyd3oyV0NXT21PWkZQVTNlMmRlZ2VpeFk2eURxSERMTjU0S3JqNW1JMFV1eWlMK1dKQnVaQlV5YTFIWG5sOTNZOWVDWXJqQlgvRjFwQjYwclVibDNuTTN4VytGdUFROUpjcTZvR01PZkdxR0JmSC9GN0N1Uk5jM1VrUWhzQXZmalpKVGdkdmFLSDhKZTBjM0FCRG1ITzFUL3pDWUFGd2lBQUFpTUN3R3lUMTJ1eStFejN0QnVJL01HejRvYTkyMjh6eWllMnBHZThWT09pR21tRmV4bEh1TE0wYW9LU0x1dWVoc3RIWTUvQlNXLzFueFpEOE50c0Q1Y2ZCNzU3aWV5WXZrUU5qUThJOEZraEFQMnJEQlgvR1hkalAzUGFObXdLZFlpYVZPTXp5UTVuekxrTWlMNnZ0d0lUQUFrL1JXem4yYldORk4vSTh2V2owQlh2aEsxRllxeW5RdWtQS2pQRkJqb2M3Z2puRXVJSlE1L0VBQUJFS2lVd0NIajF2YUwyVC8wZHVBME1nTWVhZ0dYS05pcmozZTFjbVRDbHJVN2U0NlladHJsdzFlcWE1MWZOUkgybk5iN1QzZ3I2eDgyWU5BMFh3dzExa1oya1lOdnhxWWphNkkyeU8rRllGeUtZRmJhblFDOWM1VWtOR2xmOE5vUEgvb3BnV2N5NEtWMzdUVlhQL1pXTG9ZZHYvMkoxMTl6RWgvWTJib2RpTnE3bUJmYVFnWDNuNjBQdVFudEpvVUx6RUI3cVRwS2ZQVURIMnNKeWU5NTRzdE1KWE1ERXlUOW5wL2pMZUJlY1R6Z0JBRVFBSUZUUUdDQkhXOG03MHgva2NhUWQyeDJGclBXcWNPZVdrMStLS1hmRjFZSHRZbEwycDA5eDB3enpVbStKSmwvMmQxVkU4RmRzTzZJbHRuNzV3eVVRNlBtZW1nVWEyUVhPZW95cVd1WmNOeGlCd2JIRklyR2JTR2IzVHRYRkkrYkhKdmxUSEw4a3RzWHBjWmFaaVZCaHVZZnFiVEh0dlFjN24rNFk5V3ptUGw4Yy9aWU5scGtSODFrNW8vVVBnWVRKdXV3U25nNXZKME54NjhYWXgwamxnYkRoMlRBRHdSQUFBUW1oTUNQTWRhbVZUd2FsR3hialhOVHhlZmE3T2dXK3prYmdreTV2Y2k0WXFZNStRZU0zVXlQbEJYaWtkeHZobnptWTduak42emdrR2xlaVc4YXNoR2pya05oWnV6aXVRcEllNkgwZHZSTVZESk5UbC9CM3V5Wkt3cDJwdlhMTzdzMmVNQkZTUjVJNzVYZ3dtbU4zWGpzWVhrOGVpdmREa2pvMTJ2TzdnbDNvL1lzNXBtMzVRcm84VlVUTzJ1YWsvL2grQ1U1dUNhMGNEaEsxRkoyNHlibDhiRmJOOWhSMXc4bXI5YkNQYWJaMWkrdDdZZkN3dzhFUUFBRUpwbkFpMjRkLzVNa29aWnYyZVppTHJjNk92ZmdyZVAvMHdZZ1V4NWZKWTZhNXVScjM1WitwT3RJYWJ2OUFjYy83d3laNWgwOTFzd0hMK0ZUSjRQSTJDL2tRdExJTWVjblBNSjdoT2xXY2E1MnJBa0x5ZDR3azdWcDBVQXpGSDBBUCtkSHFyM1kvUlN6RnpFM29jM3ZGcGptbUJLK1lIVkZ4WFU5ZUNOWjNBLzd3eGNFUUFBRUpwMEFqU0dYbkR5azRWR1ZEYkVXTTJBVUpHNmFiWHpob21uTTVZeFg3REpnbWlsMmI0c1hreVg5eWRMU3Naa0w5TXAvRVpGSzg4N3g3b2dqSnBDcmxuTTc0TnpUa21lRHE5bUJHTU42WFlyUGVYaWlleFd6RnpCa21tc0Z1TW9xSVJLaUNycnRwNml2MWlMKytqN09JQUFDSURDcEJMYjhDZXFONEpxbms3bkRIa2FrdEdtbXlXTzNQK0NJenprRHBubTJjSnRSVG9ybjhRMWttWC9XOCtsOVFWTzJ4NzFEeUx1QlhLVzk0L0Y5eHJzOHlNV1krZWtkdi8rN2F3VURXaTJ4VnpIck1QS2NtOUNtVjUwTHRvR1ZWVUlrc0JKYlowanFWM3hOY0FVQ0lBQUNwNFZBMng4UnJybWJ3a0o1ZEZlSnMvZExtK1k1ZlVzUUFBQWdBRWxFUVZSZUM5WVpvUUhUZktsSDd5QVRPM3o1b2tkK0pUSkFEb2NuQXhxKzRmc0djbFZnMHZsYjVWZTRrR2Jwcm9xZlpOOVh6WklUNTcySzJVODBZSm9YSWlzRE9tSlpKVVQ0RGNhNk9xSi9QbHoycjNFRkFpQUFBcWVFQUUzQ2V1M281ZUJtWkNlemFwV1lWcW56UjJuVHJCYXN6MS9MeThqNkJFenpIdHZQaGpyWjYzYTVRWDQrVjBYRFIvNmhMN0VyUEMyWUFoNVovanFCZDRSRHduc1ZzeDgrWUpyUEJ0NTJjaU9WVlVMRTJWRVRDNjRBNmQ3YXpQdkJCd1JBQUFST0FRR2FoUFhlMlowdit2eWhYQ1UrRS9oQVV4OXJ6WXV5UDdDeFhrd3dZSnEzQWd2RnhZS0dDTEVWSGJoNVF2TzVPbGRrQ0p1eVozUXU5T3F1SjN0VUYrbHo1U1QxS21aZlFzQTBYN3pqQjhsZWxWVkN4RXVqVXhZRnF3WFpWSEVOQWlBQUFwTkNnQ1poL1haMHEvZlVLalhFUzVTM3RXQUxYM3JVWEJmOWdWcndoYUVNdWJ4cHJ2bFQ4Sm53SjNGSkJuUzloTng4cnM0SE1UbWk2R1hxSTdxOFZOVTh3RXhzdDdPakUzZjJMR1kvYk1BMDEvZjlJSm1yc2txSWFQU0ptOGp5K0V6RVA1TWFMa0VBQkVCZzRnajRyeldUK211OU55VFJibVdleDYxMS9qOTdsRGJOVGRFZk9Cc2NlbWVFNWszekdYK2Nud2wvRXBmMTZDWmhMN1Y4cnRiMnZRRDVDNzVidkV1ZlM2MXFIbUMyZCtrYUJYc1dzd2tsSEFIVHZIWE5ENUs1S3F1RWlFYlRPcEhsOGJORlV4S1paSEVKQWlBQUFwTkNZQzM3R2xPQjRUc3JSbmx6NGUxTnBVM3psaGk4TlE1S1VHcjRhK0VVSS96aHJCS2lCZzZ5R0gyMTFoT1p6OVZHYnh2RmY1cVNzWDM2YmFrd1QwLzZTQzR1bEh4cHJXY3grNXJRVnJabDM2ZFdNTk5jVmdraGxUb3YzbVlJbTlUOS9uU1B2UUVYQ0lBQUNFdzRnV1p1aDFNN01raVJHWjBWMDR0NzRYMCtwVTJ6K0p6WGZLbWg0a3B1MExReDFGdk5nNVFYZmFrei9BbFBYMWcrVittcUh5Si8xZUUvMDdUQVhzamZPUkdmeGQ3TEZTYk5uc1ZzUWdrSC9jekhiZCtuYURha3JCSkNLckgzTmtQWXBNSXpOL1krWENBQUFpQXdxUVRJTkdSVWIvUzBtRFA4RmQrWk5Ed2FMRzJhNit3Z1NWNWNPQ0ZadSs4ZFgwUER5dC85clBzY0V6Yy8xRzliWkRKYjdwSVc1TXZZemx5dXdwdmx2RFRyL0xjZ0xuQWNsUnoxYkdsSFV1MVp6RTZjKzE3eDZSczA0L3lmZnZnK3gzUHZmYzVGd0ZsV0NSRTFPbU14ZitSVWlrQXE4QUlCRUFDQmlTV1EvNXJHMmQ0N2hUWm8zTFVTbVdJc2JacjVyUGxzZGg0MHo3QkJkbGtlVG9JWCtBeHd0UWZOMlpaWkZzL2xxc2hHVVM1b1VNaFdHME45ZUxRZkZpdGxYOUxxVmN3MlFmNWV0anFXclc4cjNIRXpBVW9yd1dQczVRYmxTczZGd3A2ZFNSQU9FQUFCRUpnb0F2VExEYmw5cnUyZTMzS2lIOEI0NjlGbU9KT2xUWFBTWVI5TGl6L0kxUkEvZmNCLytjQXh6YzE3TUZvS1VBb1J5T2FxMVEyRjh2ejRqMDh0dC9ndTdVcU9qZ095WjRLOWl0bEdwRSt1MzNqc280OCtkaU4xK2xsbmk4eC9hU1Y0UW9mbXg3bHNzc0sxdFozeHdDVUlnQUFJbkFZQzV4NzRPQi95UEg3MWYvSnlzOWQ3UGZLejI5NFBWYmhSeTV2bW1VOTR2NW5oQ2lsdzF5cDdCZGhSWkNjMzdlL2N0TTVNcnM3MlhMVlgwVkw2YUdoMVUvUnAwZHRjSmpNOWl0bUVDVHVhQmZQWlNYa2xLSUd0eUFmVHo5MkRIbG80di9BRkFSQUFnVkVTV09HR21SLyt3SG1CZlhqQVZNcWI1Z0VUb0dqbm5mSFo0Rkw2akVta0loTUZ2UVExaW13VWo3eEJiemIzWGtMb2xVUy85eXBZMUo3cjNiTWpqZnRTb2hYNWZua2pzam1zWHlJSUR3SWdBQUxqUmVDUS94b3d6VWE2MDhWY3d4WGZWSmRYdWdyVHZOVnp1cjI4cm4yRjNLTlo1NzRpaU1CL1hHYWYwaHJ2R3cwZ3ZIOTFLTVpNQlNrdC9IU0JhbjBwUVcrWGhRdjhqM2NMa3NGdEVBQUJFRGhWQk01azM0WXBtN3NLVEhOZm42c29xM2RoT1Bvd3kzNWhvTUVDMEdxL2VGVjhzTmg5eHBvcDgvMjFQbVgySGJ3dkpXZ3RQdnlpWHQvSklnSUlnQUFJVERhQmpUTDdrUU5ack1BMEg1Wlp2dzJvTnB3WHZUMzFwOE5KaU1hbWoybGxaeTJpWVllLzhSM0RpeGhlUWo5SzBNOW0zaGsrUlVnQUFSQUFnY2tuTUR2Z3l6eHJKLzR4a0JuNUc0cFZJNmFYaEY0NHFUUmJKMmYyVDBybEN1VXV4dDZkcWxBSEpBVUNJQUFDWTBIZ2NMQTlOb3NsUDJneGVCN1h5cjc4TTNnU3daaHA3cHRrd1dDRGVCNlcrKzJNUVVTZmdqaEVaNEFOZUtjZzQ4Z0NDSUFBQ0dRSnpIOWIxcWZVOWNMdmxnbzJSS0JYMzZQTlB4dmwzcDRhSkdmMDQxT3JnOFNiamppZDZoYmlwd01vY2drQ0lBQUNwNGJBM3NrTjNtWkxmV25zMUpEc015TnBaSU4ybjJJUUhBUkFBQVJBNE5RUm9POXBYam1oVE5WSy9rN2pDU1UvM21KcGtYK3d0Wlh4emhhMEF3RVFBQUVRR0o0QXZjTnpmWGdwa05BdkFkb2FmOUJ2SElRSEFSQUFBUkNZRGdJbnVFVjdPZ0FPbGt0YWlMODJXRXpFQWdFUUFBRVFPTzBFT3Btdm1aNzIvSTVKL3BvbnQvMXVUSElJTlVBQUJFQUFCQVlsUVB2QTd0SG04RUUxUGhYeDJ0Z2pkeXJLRVprQUFSQUFnWk1nUU4vVFhEOEp1WkRaaXdCOUt1Mmt2c0xXSzFuY0F3RVFBQUVRbUFRQ1pDU3dENnp5Z3FJTzBlM0tFMFdDSUFBQ0lBQUNFMEpnNStRKzFUa2hCTzZCbW11czhCY203NEZXU0JJRVFBQUVRR0E4Q05RanZ4czhIdHFkVWkwMjJMT25OR2ZJRmdpQUFBaUF3UEFFNktNajNlR2xRRUpmQkZKOGNLUXZYZ2dNQWlBQUF0TkZnTDVMZFRCZE9iNzN1YVVQdldDcCtkNFhBelFBQVJBQWdiRWwwTUppYzlWbFF4OGN3UnRyVlVOSGVpQUFBaUF3UVFUMnNOaGNkV2x0NExjdHFrYU85RUFBQkVCZ29naWN3V0p6eGVVMXo5ajdLazRTeVlFQUNJQUFDRXdVZ1JSdk5sZGJYdlJXODdWcVUwUnFJQUFDSUFBQ2swWGdFQitOckxiQTZ2aHVlYlhBa1JvSWdBQUlUQnlCOC9qK1JiVmwxc0tyVTlVQ1Iyb2dBQUlnTUhFRWFPbHpmK0tVbm1DRkYvRFo4Z2t1UGFnT0FpQUFBdFVRV0dHZnFpWWhwTUlKM0k4dDhhZ0lJQUFDSUFBQ0JRVE9zNlBWZ2lDNFBUb0NPK3k1MFFtREpCQUFBUkFBZ1ZOSm9KYXk3Vk9ac2JITTFDejJaNDlsdVVBcEVBQUJFQmd2QW5YMjFIZ3BkSnExcWVPbkxVNXo4U0p2SUFBQ0lEQWlBdlJONTZVUmlZS1lJZ0p0ZkxPOENCSHVnd0FJZ0FBSUpNa1d6RVZWMWVBc084TDNzNnVDalhSQUFBUkFZSUlKWE1Ba2ExV2xkOGcrV1ZWU1NBY0VRQUFFUUdDQ0NkVGFiSDJDMVo4ZzFlazNPUEdSemdrcUw2Z0tBaUFBQXZlT3dQMTR0YmthK0h2WWNWY05hS1FDQWlBQUFoTlBZRDVsbXhPZmlRbklBTDJudGo0QmFrSkZFQUFCRUFDQk1TRHdZaXlCVmxFS3I4SXZOVmVCR1dtQUFBaUF3S2tnUU1ObXZEOTE4aVhad3FENTVDRWpCUkFBQVJBNExRUmVoYzlIbm54UlhzWks4OGxEUmdvZ0FBSWdjR29JMUZwNHFlZkVDL1BTVWZmRTAw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FBQ0lBQUNJQUFDSURBMkJENzNhdlo0Zlhkc2xJTWlJQUFDSUFBQ0lEQjFCR1paL2ppWU9ncklNQWlBQUFpQUFBaU1EWUZMakIzOXdCT3YrUXNQa0lYK3pkZTg1alVQcG94dGo0MTJVQVFFUUFBRVFBQUVwbzVBblQyekt6TE4yRFBpUE5OaTYxTkhBUmtHQVJBQUFSQUFnYkVoc0hXMEpIU1pZZXlUVXFsTDdOcllhQWRGUUFBRVFBQUVRR0RxQ0tUUHlTelRtdk1kN2RxY09ncklNQWlBQUFpQUFBaU1DNEU1UFVRK2I1YVlGOWp1dUdnSFBVQUFCRUFBQkVCZzZnaGN2cXV5dk1qWXNuVE9zYW1qZ0F5REFBaUFBQWlBd05nUVdIeEJxVkpuYkVrNkY0N0hSanNvQWdJZ0FBSWdBQUpUUitEd1FHVjVoZW5COHJsbnA0NENNZ3dDSUFBQ0lBQUNZME5nWjFtcHNzTzBSVDRqWDZJYUd4V2hDQWlBQUFpQUFBaE1FWUVhVzFXNVpld3A1VHI3cVNrQ2dLeUNBQWlBQUFpQXdIZ1JXSGhlNlVPdk5UK3BuT2ZWKzgzanBTbTBBUUVRQUFFUUFJR3BJREQzejFVMjdXdk55ZXorVkdRZG1RUUJFQUFCRUFDQnNTWmdYMnNlYXpXaEhBaUFBQWlBQUFoTUN3SDdXdk8wNUJqNUJBRVFBQUVRQUlHeEptQmZheDVyTmFFY0NJQUFDSUFBQ0V3TEFmdGE4N1RrR1BrRUFSQUFBUkFBZ2JFbVlGOXJIbXMxb1J3SWdBQUlnQUFJVEFzQisxcnp0T1FZK1FRQkVBQUJFQUNCY1NiZ3ZOWTh6bXBDTnhBQUFSQUFBUkNZRmdMT2E4M1RrbVhrRXdSQUFBUkFBQVRHbVFCZWF4N24wb0Z1SUFBQ0lBQUNVMGdBcnpWUFlhRWp5eUFBQWlBQUF1Tk1BSzgxajNQcFFEY1FBQUVRQUlFcEpJRFhtcWV3MEpGbEVBQUJFQUNCY1NhQTE1ckh1WFNnR3dpQUFBaUF3QlFTU00ydk5VOWg1cEZsRUFBQkVBQUJFQmc3QW5pdGVleUtCQXFCQUFpQUFBaE1Od0c4MWp6ZDVZL2Nnd0FJZ0FBSWpCMEJlcTE1Zit5VWdrSWdBQUlnQUFJZ01MMEVMaksyUHIyNVI4NUJBQVJBQUFSQVlPd0k3REcyT1haS1FTRVFBQUVRQUFFUW1GNENUY2FtTi9QSU9RaUFBQWlBQUFpTUg0RU91enQrU2tFakVBQUJFQUFCRUpoZUFpbDdlbm96ajV5REFBaUFBQWlBd05nUldHRHNoYkZUQ2dxQkFBaUFBQWlBd0pRU3FMM2ljN1lZZS9idi9QRHFsQUpBdGtFQUJFQUFCRUJnckFqY3o4enhwMk9sR0pRQkFSQUFBUkFBZ2VrazhDNTI4N0dISDM3NDBjZHVzSVBwSklCY2d3QUlnQUFJZ0FBSWdBQUlnQUFJZ0FBSWdBQUlnQUFJZ0FBSWdBQUlnQUFJZ0FBSWdBQUlnQUFJZ0FBSWdBQUlnQUFJZ0FBSWdBQUlnQUFJZ0FBSWdBQUlnQUFJZ0FBSWdBQUlnQUFJZ0FBSWdBQUlnTUQvejk3YlFFZVdYSFdlVDhwU1ZhbStWR2ZBUG56TVRJcWhGeGc4cklRYnNFM2JTR0NtRCtBWnBOMEZnMm5HS2NBVXRxRkh0Y0J5ZHUzeHBIYUdhWGFORzFWamcyY3h4Nm9ETE1OME42aThObUJjWlZKOERHdTZ5cWlBSGJ0cGUwZ053MkMrZGxWdXQ5dmxrc3F4TitMRjk3dng4bVhteTFLcTYvL09rVjY4ZUJIMzN2akZqYmp2TzBF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FBQkVBQUJFQUFCRUNnSW9GZDBkL3k4WXB5VVF3RVFBQUVRQUFFUUdBZ0Fnak5BMkZESlJBQUFSQUFBUkFZRlFHRTVsR1JoVndRQUFFUUFBRVFHSWdBUXZOQTJGQUpCRUFBQkVBQUJFWkY0RzNuM3VKdU5qLzlEN2hseVJYNDRMbVhqOG9ReUFVQkVBQUJFQUFCRU5BRUp2NkppYjJYV0NZelp2ZHZYMkQzSXhNRVFBQUVRQUFFUUtCbUFtL1V3YmM4TlA5bXpWb2hEZ1JBQUFSQUFBUkFJRUdnMGNsamMybG8zcDlQMUVZMkNJQUFDSUFBQ0lCQTNRUTJLb1RtZDlldEZQSkFBQVJBQUFSQUFBUlNCSTVXQ00yenFjcklCd0VRQUFFUUFBRVFxSnZBUklYUWpPdlpkVk9IUEJBQUFSQUFBUkJJRStnZG12ZlRsYkVIQkVBQUJFQUFCRUNnYmdMYktqYVhQUVoyczI2VmtBY0NJQUFDSUFBQ0lKQW1zTmt6Tk45T1Y4WWVFQUFCRUFBQkVBQ0J1Z2tnTk5kTkZQSkFBQVJBQUFSQVlDZ0NDTTFENFVObEVBQUJFQUFCRUtpYkFFSnozVVFoRHdSQUFBUkE0TTRUT1BNZmh0YjVpcFdCUmJ6ai9NQlZ1WXFqQ00wREFqcnlhNXlCTmVaTi8zcU53aUFLQkVBQUJFQmdqQWlzL3NiUXhvZ2JBNHM0VmU4VDA2TUl6UU1DbWhFRFE2bFljWHV0WWtFVUF3RVFBQUVRT0ZRRVRvdXp3OXJiRUo4WVdFUmorK2NIcnN0VUhFRm9IaFRRZ3BobkRLd3o2NlczUnEyaFRtc2hDd1JBQUFSQW9DcUI5VTlXTFprc055MCtuZHpYYzhjN2F2MjVpUkdFNWtFQmJZZ0xQUnMvWElIcHp1OE1Kd0MxUVFBRVFBQUV4cEhBQ1hGK2FMT0dDczBUb3M3NFVuOW9IaGpRNkVOejFxejFzR1pvUDRBQUVBQUJFQUNCV2doMG54bGV6RkNoT2R1OU5id0ZWa0w5b1hsZ1FIY2dOSjhSRjIzTGtRQUJFQUFCRUhpT0VEZ2kxb1p2eVhDaCtZaTRQcndKUmtMdG9YbHdRSGNnTkdkTCtMYVo2WG1zUVFBRVFPQTVRNkJWeDdOS3c0WG1iUHZwK25EV0hwb0hCM1FuUXZNcE1Wc2ZPMGdDQVJBQUFSQVlCd0tOenFkcU1HUEkwTHd4L0RQaXRoRjFoK1loQU4ySjBEd3RQbTZiamdRSWdBQUlnTUJ6Z3NDSldtNVdEaG1hSjhWV2JURHJEczFEQUxvVG9UbWJ3MjljMXVZN0VBUUNJQUFDNDBHZ1hjc0xQa09HNXF4VHc2Tm9tbWZkb1hrSVFIY2tOSjhVaStQaFNiQUNCRUFBQkVDZ0hnSU44V3dkZ29ZTnplMzZybWpYSEpxSEFYUkhRdk14WE5HdXc0TWhBd1JBQUFUR2g4RHBJVDdqNWJWaTJOQjhxcGJMNnNxZ21rUHpNSUR1U0dqT3R1dDg5Y3pyVXlSQkFBUkFBQVFPaGtCVHJOU2hlTmpRZkVaOHBnNHpwSXlhUS9Nd2dPNU1hTjRWTzNXeGd4d1FBQUVRQUlFeElMQmV4NnRUV1Rac2FNNjI5K3FDVVhOb0hnYlFuUW5OcDhTbHV0aEJEZ2lBQUFpQXdNRVRtS2puVnZQd29YbXV0dGR6NnczTlF3RzZNNkY1VXRUNFZ2akJ1eVFzQUFFUUFJRzduY0R4bXA0aEd2cXNlYUcyVTc5NlEvTlFnTzVNYUc2STJxNDQzTzNEQWUwSEFSQUFnWEVnc0ZEVEM4VkRoK2JUdGQxc3JqYzBEd1hvem9UbXJJdWJ6ZU13bG1BRENJQUFDTlJFWUs2bWwyS0hEczFUb3E3bmpPc056VU1CdWtPaHVWWGY0KzAxdVJYRWdBQUlnQUFJREU1Z3U1WVBqdFR3R0ZnbWFyS2s1aWUwaHdKMGgwTHp6REEvbGoyNDc2QW1DSUFBQ0lEQUtBaE0xSFd1T3ZSWmM3WmUwL2w3dmFGNU9FQjNLRFFmRi9WOVMyMFVYZ2FaSUFBQ0lBQUNmUkE0V3Rla1BueG9idGQwMTd2ZTBEd2NvRHNVbW84SmZFYTdENmRIVVJBQUFSQVlid0l6NHBQMUdEaDhhTjZvNlZueGVrUHpjSUR1VUdpZUZ2Vjk1clFlZDRBVUVBQUJFQUNCZ1FtMHhJMkI2d1lWaHcvTnArcDZPN2ZXeDhDR0EzU0hRbk8yWGR0TDRVR25ZZ01FUUFBRVFPQUFDQ3pWOVd6djhLSDV0TGhaRDRCYVEvTndnTzVVYU82S3RYcllRUW9JZ0FBSWdNQWRKM0RtbzUwUG5pV3RVLzlucm5vemV2YnFMenZ2WDlaR1RWNWQxS2txcTFSb3JpN3dtQkJWRlBVdU0xUm9yaGRRSWpTZitmRzkvMmphOFkvZVkxSkRyTnQxWGZ3WXdnWlVCUUVRQUFFUUdJakFWM1RFWlhHYnFyYjFqMG1JOEdNVm55ZjIxVzRwZk4ybXFxaEtoT1krQkU3VWRjTjBtTkJjTXlBK05FOXNpbTF4UGFkNlhKaFVGY3FwTXMyNjd0T25GQ0FmQkVBQUJFQmdSQVFtaGZqRzdNejJ6MmRuOUM5QlRvWGhjRXE4TG12clg2S2lzdjI4YU15SDVyNEVDbkcrbG5ZUEVacnJCc1NINXRhekY0NlpUNWZQaVRyZVNaNFJuNm9GSFlTQUFBaUFBQWpjWVFLTmRmSHZTZVdKMjFsTHY2aDBKTHlJM0tSejZSbDlBbmFDUXZOc2RRUDUwTnlYUUhzbVdWMHJXM0x3MEZ3N0lEWTBUOGdyRmVhWWlJeXQ0YmNwVHZWMWhZT2xoa3dRQUFFUUFJR0RJUENBZnRDcTgxa2RmV3A4UEh3aHRrT25yYWQwSVJtYVY2cGJ5WWZtdmdSMmEvcUJpOEZEYysyQTJOQjhVcDdoYnVzSHQ4allaNnRUVHBVOGpSKzRTS0ZCUGdpQUFBaU1OUUc2ZXIybEROejlKWE9MK2FTT3c3bmRSK1ZkNkJrOXk5TlRXZjA4OXN1RzV2NEVydGIwTE5QQW9ibCtRR3hvWHBXM21ZVStEbW1Mb0F2eWp1ajcvOUh3NmtmZjlWRUJCRUFBQkVEZ1lBZzB4ZDY4MG55U29tNmVtZ2xPMlpxZm9OMGJadC9xOEtHNVA0RnozRjNYTC8vVzFQS3FGTVdCUTNQOWdMalFQQ0haMDBkQ0pPd3NvNkJhd3p0amRJLzhRZ29IOGtFQUJFQUFCTWFXQUQwQi9mSGNPTHJEckQvc3VCSGM2RnhmcFAwdGN3TFczN1BEN0ZsemZ3SjNtUytUTlRwMEdKRlladlBXRlA0UEdwcEhBSWdMemNmbDk2N3BCUDFHYm5oL0Q4SVhHcHRubkJGaU9iRUwyU0FBQWlBQUF1Tkw0SlI5VFlmaWdyNi8yZktmN0ZXbmM5bXF1VzNaRU5FN3o2Vk40MEp6bndLYnZqRmFHWm1hWE5ZU0JnMGFta2NBaUF2TjZsSUNuU3hmeXMxZnFPTXI1blJVY1Q1QkE5a2dBQUlnQUFMalM0QXVVRi9JcmFPSlhML1czUFpQVk5XZDRheGpMN0F1cWVsKzhseGgrV2Fta1Z4bzVnVXlsZk9zRFM1SWZTUVptZmRUNTRtRGh1WUJBU1hiUXp1NDBLeHVOZE05aGJXODRoSG1nS1JNSkx1UHJvOHZzanVRQ1FJZ0FBSWdNTVlFM0tseVJuY204eHVkMlpLNXhpME5QeWwvNllLSzZiQ2ROZFZ2SnN3Vlk2TytHaDQwbGd2TnZNQXNhN3pwNnY1RHhjQTZVOU1iUUFPRzVrRUJCUmlpRFM0MGQyVExXOEo4NjJYQzc0S29Pci81MWN3dmt0Z3JJbndWNUlJQUNJQUFDSXdqQVRwUDAvRTRvN3ZJVzdtSnEvNlRWODBibEVsWFd1VktMalBxdzVuYlFyejM0ZGQ4M1QxMFRubjc2Ny8rNisvL2NmNjVKUzQwOHdLenhxcDQzMU5pYjFZcDhmN04xUFRiMFFPRzVrRUJlUzBvSkpuUVBLR29FazFUMlBJMkdUM1dVOXZNaTlDaXJtK2g5MUNPM1NBQUFpQUFBalVTbUxPWFVDbm1tamVXdXpaY2s2YTVGZnBIQWVxNjFucHFqeEowOGZ0MWF0dFcranp1dWpNOWN2eHBYYzJ0V0lGWjlvRDRsWXkrU2JaL3daWFVHbTVGT1lOdGJxcnovRXRzWldvRkxmSWxzY0l5TnhnZ0phZFJrSlpuTUtGNVV0M203emdidHEybDh3a3BRZmFaOWVEUlBiMFBvVG1BaEEwUUFBRVFPQndFT3ZZU0tsMnBOZzhOQmFINTIyV3NiTGxpOU5Vd2VSYjlycng5VkdrNVQyMXpINFhrUWpNcmtDNlp5MGVVczlPRkM3a3o1cm54WE0zQS93Y016UU1Da21aT21rT2QyR1ltTkUvOTcxVEl1MjJRYlY3WHRlWjZmM3VrOFZNL1FtYXlaODFic1c1c2d3QUlnQUFJakRrQitRVVJZeUtkSDhvb1RNdTZmOWFzY3JxdW1QcHExVWxUbENxcEFuUjJ6ZHpyWk0rYVdZSDBhTlJLdm1OUEc2SEYwZ203UEUwZmZoa3NOQThLU05yYkxHRFVyV0JDczlwejJ0MDJ5RHJuODhKMGZXSmVWMHV1cUhmMnUxeG83cGdIdnBOVnNRTUVRQUFFUUdEY0NOQ2JRZmJURnVzMkJtNFdiblRhOTZyb1hyTzhSTjB5cDhqcnR2NXU4ZEsxL0lZR2wwc0NZb0hacHY3d3lVSjhlL1JnUS9PZ2dHUkhKNzlqbGdyTk0vYVdBZ0hTUnloVnZ1ajFrU3QvZExhSjBDeVpZd0VCRUFDQncwK2c2VjBIZFRkYkM2R1p2bDFoejRsYmw2alozWXU2N2E1KzZ3YURJeFdhQ3dMMTlld3NPK0kwNWZJb09ES0MrODhhN0t4NVVFRFN2bzU1RXlvMk5oV2FkKzNkZ1d6S1hDb0lQNW9hUzNMYmJHamVMaHhqdVFwSWdRQUlnQUFJakNlQk9mZmpnM1RsMUp3S0YwSXpYV21WQVZrdGM5ZHA1ZDd4c2ZlR2Q3ZnkvY0gvVkdndUNEeGhUcThuNGdleUQvYXNlVkJBUklIZUtwNE5ZTmlOVkdqdTJ1c1cyYVI1Sm0yRE94dTJrbHlDRGMyNG9PMEFJUVVDSUFBQ2g0VUFuVXFhbUV1dk5adUx6NFY3elRQZWxkYjE4L1FndFhtSG1TcmQwRzF0cnpHTlRvWG1XQ0E5WjJia3VEUEhYTjdKQTMwTWJFQkEwblM2VFgyV1FVSlpxZERzWGVVL2JnNlQydmJZaDVkbGNoT2hlY3ZzeHhvRVFBQUVRT0J3RUtDdmJ0cVhvdWkxNWt2YTZ1QUpiWm0zNjBVWitWVFNjZk0wTUZWYTA1V1dWblRDWDZWQ2N5eVE3c3RlMVBVMm8rZWFEelEwRHdwSXRpWDlrNHlKMEV4WCtmWG56T21Pdm5uYnZHdDdSZk5KckJDYUUyQ1FEUUlnQUFLSGpBQzlyV05lbUpLdk5WL1g1aGRDczN0Q0xEc2pIeHRiTUlHREtzM3FTcXZuZGNKZnBVSnpMSkIrcU5ncDMvSWxrRjBIK0Y3em9JQmtDMDY2bDVTREJpWFBtcjJEbzJ4M1RkZnBXRENSa0dpVERjMTRyem1paEUwUUFBRVFHSDhDOHRXZ3M5cE1ldURKQk5mZ2EyQnl0M2VsOWJTODBycHI0aWhWTXZYWGw3VWdmNVVLemJGQTcydlBzZklaK3d5NEx6RDB6WVFBQUNBQVNVUkJWTGovOUNhMTFWMFlDT3ZURVFZdDV2YXV0MjlRUUZMRWhyMTM3d2xVeWNSWk0xbXhZb3AyZFY4UUdKMHlleExyUkdoZVN4UkhOZ2lBQUFpQXdKZ1NvRnZGOXZIbk9XSGUxNkZ2YU52bnNaWGg3b2N2OUpYVzd6RHhtQ3FacG4ycFNmanJSR2d1Q0tScnViTzYzcHo5V25lZXNjQ0Z6SW5VenpWLzY2dDg5WDU2VTRYZlMzNldUVk5RcElVSnpZTUNrcExiOXQ2OTFhTVRpZERjZE45MXljekx6SFJzY0NHdXptNXpvWmt1eDE5bkN5TVRCRUFBQkVCZ2JBblFTN1AyYXJGM2pYazNpbzRVb013VjdDeDgyc3U5MXN5M01SR2FDd0xwdDZMUGF3bHowU1BKM0M5UE5Ub3lsUExMTEc5Sk5sQm9IZ1pRK2k1eElqVFRjYzY4TnY2WWVkczhmY002YWlZWG1yMXJFVkZwYklJQUNJQUFDSXdyQVhxSHlYNEcwanRyakg4aW1ZcHRtU1pzTDV1VVhJc29qdnI3WkRvUm1nc0NLY09FNW5aMDl0cGlyZ3ZMVzhDcFpTMjJRVzhQRkpvSEJmU0FzYzQ4eWg0WWxRak5YZmNzK2lsNTJXS3FZNlJzQmRYWkRTNDBFeVpEbGEyRFRCQUFBUkFBZ2ZFalFDZUY1bGxyNzdYbWJDSDZxWW9UN2puc0tYdVdMVnREbGV3enhXenJFcUc1SUpBeWRyU0F0anVSVnptNzBkVjFsWG1uZnE5NVVFQjBBcHd2L1lUbVRYZFh2WFdSbWltdnB1ZkxsbXAwNlQ4dU5OTnRndUJBcWxRQWRvSUFDSUFBQ0l3RkFicU9iTjZmcFRoZ1htdW1oNkx0dWJReWszNTNha1hiZTl6OGJMUGFwa28zOUE1K2xRak5CWUgweWE4ZExhSHR6aDFWenB5emk5ZFJNWGVncythQkFkMTc3d3VGK0t4NzcyV05TNXcxZHh6MjlSMVpzWEh2dlhQaTQvZmVPODlLQ1RPNTBFemRjeUVzaFMwUUFBRVFBSUZ4SjBCenQzbmd5Mzl6NTFSMDRqcmpIdEpxYmZsdDhsNXI5ck5kT2hHYUN3SzkwTHdiaGVia2w2aWRsa3FwZ1VMekVJQks3aEluUXJPN2hERmxUN2JUTjZ5alJuT2htYzc1bzFMWUJBRVFBQUVRR0hjQzNnWHBCZTlwM3VQdWc1R3FCWFNTZTE0M1pkTWsxTFlYWXZtbUprSnpRU0JsTEdzSnU1SHlkWGVmbTlkUk1YZWcwRHdFb1BScnpmUmFGWHN5MjdHWE1FNllheGxaMWRlYU15NDBIL2VPY3A3LzBObUtvRkFNQkVBQUJFRGdRQW00cytaMUYzN2xUYzU1M3l5NkUzdyszN1pmNk13M20rNjFacis4U3lkQ2MwRWd4ZmhsWFNzT3pSMTdNZDJKSFNRMVVHaW01OXpNWllWK0FXM1kyL2dGYXhPaGVkT0dadnM5OHZSM3VHT2hYR2crNmE2UVU1ZXEzOE9PcTJFYkJFQUFCRUJnM0FoMFRUU1EzOWE0WUt5amM4V3pKaTNYOUp6eVlyNzlqdkNwcjdsZVYwd1RvYmtnTUIyYTZkM2NuVnoza1A4SEM4MkRBeXI1K0hVaU5IZE45Snp1R1B6VUxTYlpvL2xjYUY1d0w4RzFxSCtYZTRqQWJoQUFBUkFBZ1hFZzBEUnZLdTBLL3pxeVBVdk9iYVFuZmEvbnFjMlZ3T3BlcnpXblhwNHFDS1FMMmp0YWNuVFdUSWNKRndLZGcyNE1GcG9IQjFSeWx6Z1JtbmROWjV5d1QrR1YzTENPT0hDaHVlbWVvT3RTYUY2THFtQVRCRUFBQkVCZ0hBbWMwQUZadmloODB4bTRia0t4empLZkhEa2R2RHJWKzdYbVZHaW02OFQ1TjB5TXdDQTAyMmVncFBaai9pR0RzN0QvMUdDaGVYQkFuWFFvVElUbUdYTWZvWHZSTksvcXJ6Vm43TDNtdHZ0cGpHM3E0QzBqRldzUUFBRVFBSUV4SmtEM01uZWtlYnZQQ3YvVzZKS2IwNVh4NWd0ZFMrOVdtK2FmOTVDVXlZcldpUXZhV1N6UWUwSTdlcS81dERtVmpDVDN2VGxZYUI0WVVObGQ0a1JvcHZ2QnM3SlpSL2JtVGVzMnZGNzVXNHF1MGZMN3Bod2ZtcnZ1Q0d1ZGFxNjUwa2lCQUFpQUFBaU1MNEZkSWFQdFY0bC9HWHc4cE9XdWhDclQ2U1dwczVSNDJYNTRiWmxpeVkzeXBxVkNjeXd3L2NtUmsrWnVlTG1pM25zSEM4MzBlNWlEQVNxN1M1d0l6ZG02K29CTG8rc2lybi9EdWh2RlpkbzAzNHVoMW5NWHREdm02VDM1UWUvb0prVnZZQ2dCQWlBQUFpQndNQVRPaVAzbDdHMmQzNkpYWUwwb08rT2VIOHJONm9xbjU3T2Y3UHg4YUdUUDE1cVRGN1N6U0NCSk9xOWxSeC9xYkxyUGQ0ZksrOTBhTURRUENxanNuZUpVYUthbjQ3NHdtMzdCclhuYk52K2w3cys1VmxqKzJCYmtRak5kMUxDU1NMUjN3OEpWUXdvRVFBQUVRR0Q4Q1B5TUVOdjBaREJkVVY1enhoV3VJaC9iRm50WHhhKzdFaXBGZDRobm82eG9NM1hXbkVVQ2c1KzNDTjd5bVJNWEk1a0RiZzRZbXJNQkFaMHFDWVdwMEp6OUN5R3VkUGJNUVFvMWROdnZsZEtHTTJmTmsvNlhZOTV3YTdhMFBuYUNBQWlBQUFpTUQ0SG5YOTMvc1N4YkNLTHNWT0hacTZuWFh0My9pZGpvWnM5WGU1S2hPUXNGMHVYZlJTMTlLVHhqWDdlbjA3SDJQcmNIRGMzWllJQVcvS3ZOa2FuSjBKeTk4aTJkRCt5NDB2VG0yS3piS2sweG9mbDRYZmNDU2hWakp3aUFBQWlBd0lnSTdJWlJ0bFBwSmRpNVhxODFweTlvUjgyZ2E2OHJPbXMxdU05TndjbGVsSTNxOUxrNWNHak85ZlFMYUxma2h6L1NvVGxxRTcxa2RqYktTbTB5b1htaHJuc0JLWjNJQndFUUFBRVFHQ1dCMVRES0xybG5lMHUwcnZ0WFRObHk2YlBtcUxoNzFXZzllRHA4MG4zUUtxclI3K2FRb2JsZlFQNWQ0dGpVeXFHNTdJWjFKSlFKelhQMmNDY3FpMDBRQUFFUUFJSERRR0E3dkRXNjREOFVsclMvWXo1ZmxTeFJPVFIzN1Z1MzRZYzVUNVdjZkNhMXNqdUdETTM5QXRKM2llbGVRWEdwSEpyMURldmozdDNub3JROGh3bk4yNVZQdVZOQ2tROENJQUFDSUhCd0JPaTZzZmNpanZ3MFovRGpqN3hoOU9xdStjQTBYeUNyZkVHYjNsRzZvV1dFSDVUY3FPc3BzR3k0ME53M29Qd3U4Wkhna1RaRHFYSm9uc2w3WlduUjFFeXZpNkY1dXVjMWpiUTA3QUVCRUFBQkVEaHdBblJUTS9nNmRxVnBuWjdkTXZFMDFZREtaODJuVEpTZjhuNHRpYVN1VnJycG5WTHY1dzhYbXZzRlJEZlA1VjNpaFUvN0pwaDA1ZERjekY5MHJ2S3AwbUpvUG1xUUdyVllnd0FJZ0FBSUhDWUM0V3ZOWlBscWhZdWg5SzdzeFI2TnJCeWFqNWw3eXVINWVpTzh6dDVEVytudTRVSnp2NERvc0VWYXM3ckkyVlE1TkxmVnNjOVI5dFE3RWx3TXpRdVZYN3lLUkdFVEJFQUFCRUJnSEFpRXJ6V1RSVlhtZFhxdGViR0g4WlZETTczQk82OWtiZGliem5MelNIZ3kzME5iNmU3aFFuTy9nSTZxMTgrbWdzK0JXL01xaCtaVjlVaGNhOHZXVENkYTRSMEpLcmhVNGVncUxROTdRQUFFUUFBRURwaEErRm96R1ZNbEp1NEsrM05SS2ZPcmgrYW1Qc2ZiREFMS1FxVW54VlBhZy96aFFuTy9nUExQZld6dzkrSXJoMmIxdlpYcFN0ZjA1K0p2alRmaWpJQUdOa0FBQkVBQUJNYWRRTHZ3QXUzMjdYS2I3MzNrTDRRUVAvYTU5NVlXcXg2YXorU1JKTHllVFdkKytibDBxWkpxTzRjTHpmMENtcEMzekNjNjUxbmJLb2ZtcHJ5RThQbWZZb1Y0bVkxN0gva1c2b3cvL2R4N1BWcEg4RmF6aHdoSkVBQUJFRGg4QkxyaGE4M1VnRmJwdVZxalE2RkFMMTQ0S0RTOGVtak8va2I4QWYwRTVQYmVzaWRrdXNidldRMFhtcnQ5QWxLWGsrZUNwOTVkdXlxSFpubnRZckwzQjhGYXBpdjhpOW9iZFgxR3pkbU5GQWlBQUFpQXdCMGtJTUxub2tuejBlRExIN0VwMDUyOWEwODgrdWlqMTY1MitOdXB1a0lmb2JuUkZlOTdxaU84WDJ6SXNoTTluek9MRFV0dkR4ZWErd1ZFcjUvZC92SGdNTU96ckhKb3pycml5YzZ2ZWpYNVpFdGN2bktOK3VLeUg1bzNiL0dGa1FzQ0lBQUNJSEFvQ05DejFvV0pmUHZaR2t6dkl6Um5qUys3dXZmQkh3cVV0dDB2RndmNWcyd01GWm9IQVBUM3R2MnZZUWNXVncvTkV4OHRmcms4RUpYY09LWit6REs1R3p0QUFBUkFBQVRHbWNDeCs1K1NGMFEvZU80ZkIxWnVCTTlqQmJ1cWIvUVRtb3RTRzNXK21UdDRhSzRkVVBYUVhHUlNOV2VoOUlaRVZTa29Cd0lnQUFJZ2NDQUU1c3lkeXZERStZejRuZUhOR1M0MEgrOTltN1c2aVlPSDV0b0IzWW5Rdko2NHoxMGRHRXFDQUFpQUFBZ2NHSUZkY2ZuYW80OWZDMjVVU21QbXdsQTlrSDNEaGViVk9xNnBHN3NIRDgyMUE3b0RvZmtvZnRyQ2REeldJQUFDSVBBY0luQ2tobmVLaHdyTms3Vit6bXJ3MEp6cTA0RUIzWUhRUEhjelpUWHlRUUFFUUFBRURqR0JwU29maUN4djMxQ2hlYmZIcTlYbHF1Tzk5WWZtYkZCQW93L05aMm80cklvQlloc0VRQUFFUU9EZ0NVd08vMlpzWTRqdlhrelVlMDEyQktGNVVFQUw5WDFJSmVFbHpUcHZCU1IwSUJzRVFBQUVRT0FBQ093R3YwWTFrQUU5ZjVzcUxYV2gzZ2VaUmhDYXN3RUJ6YWlmdmtpM2ZPZzlqVHFmbnh2YUdnZ0FBUkFBQVJDb2o4RDA2NGFXOWYvdURDemlaUmNHcnNwVkhFVm9IaERRbVQvbERLd3hyL0VuTlFxREtCQUFBUkFBQVJBWURZRlJoT2JSV0FxcElBQUNJQUFDSUhCWEVFQm92aXU2R1kwRUFSQUFBUkE0UEFRUW1nOVBYOEZTRUFBQkVBQ0J1NExBdHZybzJRMjJyUXRxSDE0Rlp1RWdFd1JBQUFSQUFBUkdReUQvSE9rbldPRk50YlAwTjdUWWVzZ0VBUkFBQVJBQUFSQVlsTUJFSHBvL3c5YWZ5M2VXL2ZJMFd3K1pJQUFDSUFBQ0lBQUNneEk0a2tkZi9xSjFmckViTHdNUENoZjFRQUFFUUFBRVFLQi9BaHQ1YUdaL0t2R1kzdmZ1L3NXaUJnaUFBQWlBQUFpQXdFQUVHdnJFV0hBZk9HdnAwSHdMVjdRSGdvdEtJQUFDSUFBQ0lOQS9nVGZxNkN1WXE5YjZXamVWK05YK0JhTUdDSUFBQ0lBQUNJQkEvd1NtLzRtTnpHTHZ1Nkw2cit5NG5iOWQ3OGRCSTAzWUJBRVFBQUVRQUFFUUlBSnZ1LytqTHZiSzFQNURYNytzeVV4OS9Xdk5sVzVkNXBkZjg0V2dCZ0lnQUFJZ0FBSWdNRW9DdTJGZ1ZsdUxXdUZwWmg5M04zcVU5a0UyQ0lBQUNJQUFDTnhsQkJDYTc3SU9SM05CQUFSQUFBVEduUUJDODdqM0VPd0RBUkFBQVJDNHl3Z2dOTjlsSFk3bWdn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BQUlnQUFJZ0FBSWdFQWRCQnFieTNXSWdRd1FBQUVRQUFFUUFJRjZDSHlubUsxSEVLU0FBQWlBQUFpQUFBaVVFNWd2MzUzdi9VdUIwRnlGRThxQUFBaUFBQWlBd05BRTVwN3RLZUlsMy9iOUFxRzVKeVlVQUFFUUFBRVFBSUU2Q0V3STBldTArVFRGNVE4aU5OZEJHekpBQUFSQUFBUkFvQ2VCbzBMMEtuUDY4Z2UvZ0NMNGJLOXkyQThDSUFBQ0lBQUNJREE4Z1pQaVpoVWhDTTFWS0tFTUNJQUFDSUFBQ0F4UFlFTThYVVVJUW5NVlNpZ0RBaUFBQWlBQUFzTVRhSXVQVnhHQzBGeUZFc3FBQUFpQUFBaUF3UEFFdXVKU0ZTRUl6VlVvb1F3SWdBQUlnQUFJREUrZ0k2NVhFWUxRWElVU3lvQUFDSUFBQ0lEQTBBU21oVGhmUlFoQ2N4VktLQU1DSUFBQ0lBQUNReE00SnNTRktrSVFtcXRRUWhrUUFBRVFBQUVRR0pyQWFiRlhTUVpDY3lWTUtBUUNJQUFDSUFBQ3d4Q1k2dEJudnRTeTFWTU1Rbk5QUkNnQUFpQUFBaUFBQXNNU21EU1JXV3oxRklYUTNCTVJDb0FBQ0lBQUNJREEwQVFhOTk0N0p6NSs3NzN6dlNVaE5QZG1oQklnQUFJZ0FBSWdVQU1COTFyekMrdzV0RXZzN1JnVkNNMkdCTllnQUFJZ0FBSWdNRklDN3JYbWJSZVJYV3JOS0Vkb05pU3dCZ0VRQUFFUUFJRlJFcURYbW1lMS9EZGNLeTRmV0RiS0Vab05DYXhCQUFSQUFBUkFZSlFFNkxYbXM1WGtJelJYd29SQ0lBQUNJQUFDSURBa2dhcXZOV2NJelVPU1JuVVFBQUVRQUFFUXFFU2c0cTgxWndqTmxYQ2lFQWlBQUFpQUFBZ01TNkRpcnpVak5BOExHdlZCQUFSQUFBUkFvQnFCaXIvV2pOQmNEU2RLZ1FBSWdBQUlnTUN3QkZiRmpXb2ljSys1R2llVUFnRVFBQUVRQUlIaENHeUx0V29DRUpxcmNVSXBFQUFCRUFBQkVCaUtRTU85MXR4RERrSnpEMERZRFFJZ0FBSWdBQUoxRURoVDliVm1QS0ZkQjI3SUFBRVFBQUVRQUlGZUJJNEtZWXY4WmZGallOZndOVENMQndrUUFBRVFBQUVRdUJNRVRvbWJVczN4OC9RUDM5QytFOFNoQXdSQUFBUkFBQVJLQ2N5SXArWCtwVVg2eC83eWxJelphc0c5WmtNQ2F4QUFBUkFBQVJBWUlZR20rRGhKYjRnTFBYVWdOUGRFaEFJZ0FBSWdBQUlnTUR5QnRucXQrZWd6dlNVaE5QZG1oQklnQUFJZ0FBSWdNRFNCVlhHSlpMUzJlZ3VhcXZ5YVZXOVpLQUVDSUFBQ0lBQUNJSkFnTUNjdVp0bTBXRTdzOXJJbmhianViU0lKQWlBQUFpQUFBaUF3Q2dKTnNaVmxuLytwWHFMdmZjbnpsb1M0L1ovZmVtK3ZrdGdQQWlBQUFpQUFBaUF3RElFajlCallwSmp0SVlJdVpwdWxWOUVla3JBYkJFQUFCRUFBQkVDZ25FQlhQTm41MWZJaVdUWWw5aTVmZStMeGE1YzdQYU40TDFIWUR3SWdBQUlnQUFJZ1VFcGc0cVA3UDFGYUFEdEJ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kFBQVJBQUFSQUFBUnFJVEQ5dkQrNy82bXIxNVdzUjE1OXo0T1B2NzhXc1JCU2pVQ09mNlZhNGZKU0wvbjdQL2hQMzd4OXRyd1E5dllpTUFUR0lhcjJzbXFvL1dwYy85ckFJaHFQZk95ZUp4Ly9lTEwreEpjOUpxNzgwUVhhUC9YNnp2dGVuaXlISGJVUWFGMis5dWlqajc2Wi9xNWQvalJKWE5pVDIzSzVkdmt6dFdpQWtMRWcwQkp5VWFGNVNpVnZqNFZaNDJyRUEyTHZpaHdKMTY1MnhMdHJNSEpYTVYrcFFWSzJya1FoTkEvSmNnaU1RMVFkMHVqUzZtZVVZenhiV3FaczUzRlZQeG1hWDlrUjRvb1FONWV6eVcyeDN4R0xaYkt3YjJnQ0xkVWQrVDhWbXIxdGhPYWg4WTZQZ0x5akVab3I5c2lxTnc0K1ViRk9XYkZkSlcrbHJFalZmV01hR0txYVB5N2xoc0E0Uk5WUnRuNjBvZms3aFBnSk9tUCtPOXZQVG0yTGY1T2RFVGkySDJWblp0bFBuM3R5VzgwYXR4NCs5ejJrNnVpNUp6ZlY5djdESC9xdTBhcG1wWi9aL0YwMi93NWxIckQ2RWJieWJlZGt2NnJRUEgzLzZ5bHBSOVpmN3krT1VPOGhGZjNaWmh4ODREOTk5MDdVaGtHY0pNZS9Fa25xdWNuMXpaOC8yS0h1Ry9xc21SUGQwNTdSRmhnRTdNQVdEWUZ4aUtvRG0xdWhZajZ1Qno5clBuUC9SOGl4N0ZsejZDQXZGa0xHaHl6N1BMRXBuczZ5bGhDemFydkt2MUJVbFJxOXl0UXZzWmZHZzlnL3ZVb2Q4c3k4VmQyWW8rM2JkSUIwRUF2WnNuVVFlclhPQTFZLzBwWTN1am8wazVhWHVkQjhWSWo5a2VvOXJNSWJIUm9IM0IyMXdaeWtzUzdFU3A4c0VuMGo3MGdNRzVvVG92czBzTjdpZzRFZDJJWWhNQTVSZFdCenExU2tBRHA0YUNZRkxSZWFRd2VaNkloM0tRTW15ZmRrVU40VzRsSVZpMlNaVUZUVldtWGw2cGRZcHUzZzlwMGsyRnVlZW5uUDRZYTNmUWVUMHVXZnVZUDZJbFVIckQ2eXB1N05CUmVhR3k0MHR3ajVZdDJxbmhQeXVnNlMzNTVCbldTai85Q2M2cHVsNFVOelNyVGYwanVjSGhUc3dHWU9nWEdJcWdPYlc2SGk5SkNoK1lnTHphR0ROTVYrZnJLMklJUzRsV1UwZ1ZTUEVhR29DczNvV2FSK2lUMVZIa2lCRTRSNXpkTk1oeVRWajRpOGVqVWtwZW9EUEljN1lQVTFBQ3dUUVlkZzE4MytqcjJndlVySXQwdzIxaDZCVFNFKzZXMmE1S0JPTXROL2FFNzFUWHY0MEp3U2JWcDVBT3RCd1E1c2Focmp5L2FYeTZXbXE1YlhHL1hlSVVQek1SZWFBd2VoSzBqeVNTUmFkbW02a05lOGFYVkpaVlQ0RjRpcVVMNTNrZm9sOXRaNUVDWGtXYktkczhrQU9uUTZxTWxhUFNSNEVBeHluUWVzdm8rR254amdHYjFUWGpkdjI5QzhUcjE5b3cvTlkxeDBjNmRXNHhKZ3FqdEphTTlNLzZFNTFUZXRnVUp6WUU0b2VoQjNHb1IxWUVJc29Ecll1T2FBMjJtTTI3MkdSTHBxLzdhVVF1a2xMdXE1SVVNelhiZ3c5NW9EQjZHdW1jMHRvWWFMaTVUczluR3RMUkNWaStuL2YwQ3BGb21SRFlHQ2FOOUJiY29oTVNhaFdSNDQwK1dTZzFvT1dIMGZ6VDQxUUdpbXF5TzJtemR0YUY3Vlk2MFA1ZU5hZEh1blRzdms5ZFUxUm1CMUp3bnRvWXNXSzR5NHNxeFUzN1FHQ3MyQk9hSG9RZHlwelBEVXZzQ0V1RkIxc0hITkFiZVRHT2xaNXg2UDVTZXJEbUJLS1pSZThxS2U2d3gzcjlrTHpZR0RiSWc5YllpOCt6bEw2ZE45S0FwRTlXcFFhbjlBcVJhSmthWkFRYlR2b0RiSEtEVFR2Ukx4cVlQaWtHVUhyTDZQaHArc0xUUnZFUEx6ZldnZTQ2S2RuVHFOa3hlUFpobUIxWjBrdEdlQTBKenFtK1pBb1Rrd0p4UTlpRHN4YUhwbUJTYkVwYXVEaldzT3VKM0VTRFBpVnJuTVpOWHlhdXplVWloc0RTOHo2cmtoUS9PRU8yc09IS1JyQS9IRXR2YTlhYytJSHNsQVZJK3l5ZDBCcFZva1Jxb0NCZEcrZzlvY285Q2N0YjB6dXdQZ2NjRHFxN2Q0cHJiUVRMZVg3SHRVMWZXUFpVbXhVNmRaOGhHTXM1ekF5azRTMmpOQWFFNzFUVE5oR1dldHl3dk1DVVVQNGs1T2NQVlVZRUtoV21Xd2hacURaU1F4enZTOHdKR3NPb0FsNVZCNkNJeDZycjdRSERoSXh6MTFzU0JFRDVNS3V3TlJoYjBWTXdKS3RVaU1GQWNLb24wSHRUbE9vWG5pdFg5NlVCaWszZ05XWDczcEc3V0Y1dXo1RCs5VTF6dk9KYWZySFZ3MFAvT1RVRlVuaWV3WklEU24rbWFnd0JDWkUzVDdJTzQwZ0N0RUpzUVNxb0tONncyNm5jUklPM2JLaFNhcmxsZmo5dmFBd2xYeDhxS2VxeTgwQjc0bnpGTmdXVVl0OTlSWFN3YStWcTFLWENxaVZJUEVTRU9rSU5wN1FKdmpGSm9QQ01HaFU5dXVMelFmdXJhbkREN1dhejVOVmVUelcvUlJRbjVQeGR6SW5rRkNjMExUUUlFaE1pY1FQWWc3QlFLcWJaU1pVRTFDcmFXU0dPZUVtQy9YbEt4YVhvM2JPeHlVcU9kcURNMmVyWFNyNFliWmJObmJ6aWJuanF5SG8xVEJ4SkVycUdCRG9RaENjd0hKMkdkMEVab0xmWFM2M3RDOEpPUlhqNFpZSW5zT09qUkg1Z1FORzhTZEFnSFZOc3BNcUNhaDFsTEorTG91ZXIzQm1hemF2NEhEUVlsNmJqU2htVzVCMjlDOGV6Q2hlVGhLRlhwbDVBb3EyRkFvZ3RCY1FETDJHUjJFNWtJZm5hdzNORys2UjJJS3FpcGxSUFljZEdpT3pBbWFNSWc3QlFLcWJaU1pVRTFDcmFXUzhWWFlwNTVTK3BKVlV4WFMrY05CaVhydU9SdWFoNk9VcG0vM2pGeUIxZFJIQXFHNUQxampVWFJLSURRWGVxSlZiMmdXM3FsQ1FWZVZqTWllZ3c3TmtUbCtDd1p5SjE5QXhYU0pDUlVsMUZvc0ZWL3BKTEhYOEVwVkhjQytvYURFUGZlY0RjMURVYXJTS3lOWFVNV0l1QXhDYzB4azdMZVA5NXc3bUNidzd6VXpCUTlwMW5xdG9UbjFXbk4xT0pFOUJ4MmFJM1A4ZGd6a1RyNkFpdWtTRXlwS3FMVllLcjdTZDZKN3ZOWXNINFppbjk0ZndMNmhvTVE5OTV3TnpVTlJxdElySTFkUXhZaTRERUp6VEdUc3Q1c0l6WVUrb25PZG5VTG00Qm1wMTVvclM0enRPZURRSEp2anQyTWdkL0lGVkV1WG1WQk5RcjJsVXZHVkpzU3RIcHBTVlh0VVkzWVBCeVh1dWVkcWFCNk9Fb005emhxNWdsaGhwVzJFNWtxWXhxblFOa0p6b1R2b082UTdoY3pCTTVLdk5WY1ZHZHR6d0tFNU5zZHZ4a0R1NUF1b2xpNHpvWnFFZWt1bDRtdUZua3BWN2QvQTRhREVQZmRjRGMzRFVhclFLeU5YVU1HR1loR0U1aUtUOGM0NTNmdG1HTk9BNS9nRjdXNjlvVG41V2pORGxzMks3YWt3NGJOeW1NeEJBa05zamlkMk1IZnlCRlJNbHBoUVVVSzl4VklZS1grbmg2WlUxUjdWbU4xRFFTbjAzSE0xTkE5RmlhRmV5QnE1Z29MR0toa0l6VlVvalZNWjhxTmV6Nmt3NXRZU21xZSs2WW5YTWJJUFBvdG1xWjRUYWo5V3RvWjhyYmxnejhHRzVvSTVIb3ZCM01rVFVDMVpaa0kxQ1RXWGFpWnVHUGQrcmJtK2U4M0RRU24wM0hNME5BOUhxWUxiakZ4QkJSdVlJajFEODR1ZTZyenZSL1ZURDQyZit0Z1hQZm5ZRm4wNDZ3Y3UvK2k4bGVZWHNabE1ZdUwxblN2ZnkrVG5XVi8rNmg5KzhDM3Z0N3UvNVMyZC9WOWN6cVoremVhNHhOUTNYTjM3d0Q5MDJ4VlNjWldYdlBvSEgzenpGYXI0L0t2dmZibXNINm5QNGdyVHovdkIrOTk4ZFlkSy9nVXAvMXBaeFMyTk43MUZ2Ty83SEJINlRkTTNQYmIzUzFFcFY1NVNYSlhIL1NvSmhYOHIvTkNjNkpIR213SlJwSTRMelkzbmZleitKNjllVjJZOThtMzN2UGJ4MzZUa21SL29YREg5cmZaazJkdXBLejVNalR1MkxjVGVXWjBwVjQxSFBuYlBrNC9MbjZ2NWk4Y0tUS2dEci95ckM3WTBiMmtwNVNmK2NWNTdpdndtTWluRWU0WU1LNFJtM3l0NTVkYTJRbUlwOFZwejVDUXBIeTNhbzBQeks0dVlmRE05Ty95K3liTW52dUd4L1llSWZoaFRBaEFKbDRuTUNVU0g3dVFad0NjRE4vbUY1YnhRc1ZWeHQyYVJDVDFISDY4OWtSdDVXaFlZR1RsT3htTjBra3RlYSthclZ1bUJYSHc4S2lNb2VhSFlId2lsZUlKbXpRZFduSTBxVmV5NVBEVDNIQzJSbkN6NzdEZDNQdkJkTkttYkZ3WURCNUhaTjB3VjkxN3pJNisrNThHM3lQbVRmbnpnZVg5RzA4aVdTdE8vd09CUWxDenlvcWUyYlR5aHpkSytrdVZqMS9FbEJwWFQza2c2WFF5VElnTVRZd1d5Z0RUVFZTbWQ1dkxpby9qZkt6Ui91eEJYT21KL1Z1bVdoeGZ5S1luR3VyZ3M1RHl1bHFDSXlXVFdaelpsN1g5djk1eTZaSk15MFpGN3pSZWRHNjhReG5JSThBQUFJQUJKUkVGVXR6NzA1UGJlK2QyYlFTRzFjYVFqOW1neS9yK0xlN0wyNVd1UFB2cjQxWTZTTTdWMzVZbEhINzhzSDdnc1ZPbEtiZlJ0Z1JlTHZjN2VEcFhveUF5am5xbXdLL2ZMK2Y4RlZFT0lQNkFxZGptenJuYmVwSWxUTDFQcll1K3FFTDl0dGd2cllwVmpoSWRhOVo1NVhaWlYrUFlmVUpyVVB4a1MrUjZKUlZGQkxqUlR2S0RsdXRSSFA3ZERDNTJOVDNhb2E4WCtqc3pVeStlb2ZiZm5HNXZQTHI5VS9TaWMyWk5yLzNqV2VJRXFFclQyRmVRNEpPaDhXRGJ5blVLM2NJMm1Jd0l5U1hXU0VSYmduZjRSd21ZVzJ3V0JWL0tZakxUaWV0UE1VdEd1amxSam5DVGxvNXc5aEhvbHk5NVlkSjNBVEUrYjF6ZDU3aytUN3F1U1o5TS8zUXRBcU4vVExmaG93UnhQZE9ST3grU0FlZlRhNWR3blduSXNYZTBZZjVSbXNHN3lMMVNyN0hSQXhlSnVMWmpRSll5SjBYZlUyQ0I3Y2s2YWNPMHk5OHZaMHB4OGlUMk5OZElVNWpIbWV6OGlyZExMdTB3RnQrYXJWdWdCTFNJYWxRVW9xbGpzRDEvUkViLzg0RnZFcjUrSmZnZ3Q2amxWVjRYbVk4VUJISnJvR3BTbnByK2Z1cUpEczZrTnpaNkQwTFRCTExlMUk5RDhTVXRMbGJpVVM4dENnejFSK2Y0M2tESWF6T3BzaUhKSyswcldLRkR5SkxLVmk5NllsVEl0S0ZCMkJsWEtwamxWZWpUL2VvVG1meXZFTjJhTk40cDlOZVdaR2U3emIvMFhxcWV5c2l3c2tyYXlRZk9kWEhaTWtibnJKcVhXSGJuVFRIdTdnZzdqYU1yZlozNG04a3puOXYrU1pXOFQ3dURBeVdsTEliVGtvVGxQVTJndVZ1bktmZnZaUk9kWDV0ZlZ6NVIyWklaUnoxUXdRZU5uOXVoY21JNVlQZU1uTnNXdEw3ajNuVjhxYnM1clM2Ylh4VE1Yc2hkMXhHODUwNEpVc2NyVXR2aDM4OWxYZHUxWHFGaUZiV21sWHZ6UUhQUklRUlNwcmhpYXB6ZmZjMVllUmxvUUt2ci80ZnlYazEwUFBEdFB2MERpdjFsaWZIWlgvTnhmL2RRTGdnNzVHL0hoQzluMGtvdW9uTzhVdTRWcGRHUDkyYlBaMUtid2p0RkN2TWNNRUxuV1RobDVKYWM4Nkk5b2d3VGRpTExVWmtlcU1HeFNQc3JaUXhQS1NzYTRUbkx3ZURPUTB2d1ZRdnpLaFd5cWUzTys2UnFaaFNCc2FBNFVGY3p4UkxkbGUvUkM3bVNMS3VkdTVUdU1UMHN6ekdUb3U4bUw1VkQ5RHVHRmprSzNXcmxTb3V5aHJrendvKytvM0NVWFdXNHVUNWFHNW9LbmNVWks0K1hDWTh6M1pibXlsRXErYXBVZXlNWEhvN0lBUlJhTC9lR01JT2ZQc2hkMnRvTmo0a3orRkpCZDVFUWdGeG1hL1o3SmMyTW4wYmxtMVZnU3QvNHF5LzZaK05lMWhPYklZTS9YbE1MdkZMZCtLR3Y4TXlGbWMvMWxmYVZLRkNoNUVybktSVy9zd2JTZ1FLb051NkZrbXN0Yk1aci81YUdaN1A1anFYYzF2NzE1NW41NVlMblY2TXhtUy9tUGFxdmg3QmRKVy9tQWRpVTZOY3VYemdXVFV1dDdYa3NGOUxSM3hKeGNkNW5RdkVRaGdwWVh5OWt1WGw3NVpFZXFlZS8zeVIwVFB5N1ROOG04WXBVL2Y3QWpKNGY3bnM3b1JSbjVLOUcrZXE3QzJ4N2NKR0U3MDUzdmthSTMvVThHcllwYnl6THpoZUkzNUlxV3RyZ3RiYVJwWmtkdUZwZGlsVzRleGh0NlRjY2VuTUpYbmp0SG1HNmVrNHMwaE9zUm12alVFWUVUUlFXNTBEeDUvem8xNmJxMGJ2citweWo1bWV3ZGlpMFZYcEc1Y3BuZUZ2SU1nc2F0Yk11Uys5UTlaWjY1WDU3RWYveW8rRVBha0xQRm1sekw1WWhRbU9qeXlyTjVCbXRwc1Z1WVJ1Y21rWjhxUTVXMEVPOFVzYUNHUENTWm5KUFlhYW5ndUhsQjluL3l0V2JmU1pJK3l0bERFOG9LNHpxUm1aNHhYdC9JM0ttTytBOXlQYjM1RzAwdk5JY2dlSmNwbU9PSmp0eHA2dHhicUQvRjNrUG5wYTdQNmNpTmh6UlJtY081aVc3VnVobTZWS3JRclFVVFNrYmZtUWMvS3RXS214ZEkwbmVxNVB2K1JPcE9MRVZQUy90eUNxTVcvY1BrUDY4WDRsbGF2V1luVmpkRUQrU2k0bEZaZ0VMRkN2NndkRXRpVU1mSEYxWEMvSXQ2VG1YTDBGd2N3RDBtb3dmRS9yS3MvVE43ajVoTFJaNkRUSjQ3OXlETnluSmt5WVdHMllkbzlYM2tDSEsyenMrYTMzWk96b3lYY3NzaWd6MVJjdjlwZlk3M01yM21IQ3FYWS80WEtIa1NtWTVtdkxFSDA0SUMwaHhWU1U5enhzcVJyR25LOCtZOE9hZjY3L1hOaVdlVVZoZGpLTUJ1SGFmb3VtM09LNHBGZUR2elF4eVNiazVzanBpekQxditaZVFFK1VZNzczVFpsekpzQm92OUZEa1h0bWtTSXcyNTBWUnJOYi95ekZhaHNiYWZyZTlrcDZpQ1V1RFVVOS9zNURwOUhkUGtnVHYzNVVjV0M3WVpXZWFpeGxmdnphdHFrMElzcW9RK3BNbGxlZitMVmI3YU5KM2NRZzBWS3MwcnBBTDI2RWFLTFBRSUo0b056WFJab3V0Ni8yZElicU96STBVMnpDQ2w5SDFpNzRMTWE2bWVhRVlINzluUEN2SEo5ZHllaVk2NGxiZWZ3clEya1E0NEw4cmFhb2t0clVKNXVkRTVMeXVUU2ZiY2ljSGJqZzZDaWw0Wks4OU40di9MUVRETDczSk9VdWFqOGpCbHh4Y2dRL003Y2lZTG51c1V6WFNWL0w2aDA4ZWIrWjRqZXlUNnJDNVZCTUc3VEd5T0x6cHlKOEprRDh1bzg0STdHMHByNkNhZnpPN0xmMktkV3JXc3JXSzdOVGFoYlBRUlkrTkpYVEtoL0tFUzF0TkNJODFacFR3TDV6QnF1OVdLUnVhV3YyM1RmTlhLUFpDeG83SWR1VW5zRDhlc01WMXZIR21ib3A1VFo4M1R4UUZjTk5HMmlSSzBkeTNmWHZwMU4rcDlCN0VuMDFSc1Y0Z0xlZW1NR2tUelo3N1FFYmdPelVXRGZWRjA0ZlI2WHFQdFJuT3FyNHdlZGN5LzQ3WktKaTNPRzZuUHd4aFdOREgyelVLVkxEWE5lVmJWbnl3TnpSU1JOY3BOYzdaMGhGeTN2U2pkSUwrMHlSVGhqV3dKczJ6bEJSWStIUmVrNlRjUHpRM1hjZHVGMEx4eFM0OVZpcWtyc1FqYUp2ZTVZYkpQNUVPUnI3SWs5bzlScjhrckpQT3lnbFdmWlh5RkpnMmt6V1VsbTJhdExaV2dmNXNtcWs1OFJPTmFOVGwwK25uQkZQUFhoU3AwYm5wZEY5Z1YrV1JIbTZ6Q2VFVEdQY0tMNHM2YVNjT0M3V0Y1WHZ5WkV6cjhkZTJvbzJPdzNCeHFNVms0OFhWK015aE5RM3R2NzJ5ZVNlYitUcDZhRmorbjI3MXRUNXZWWVYvZ081VW9uOUJCdml2MmpHb0dienVjNHhpdmpERVpZZHlhWU5ud0YrMjNUbExxbzRYQkxrUHo5cktTNWJrT1k2YW56dXNiVjFBZWJWcmJHQkJOMWtmYklSNi8yeU4za2tmUTg4YUliVE50bXd4YXgyNnl1YU4yVXFzdTZWSjh0OFltbEl3K21ock5HTmdRZStlMVdIN0ZlMXBzcEs2YndPaExudUVuRlhrQjdMb3VOMUFQOEtNeWd1S1U2UGwyd1I3dm5Lb1dtazhWQnpEakpGNkQ3VjdaUW5WblQrMWNjTTFOaFdZNkJ6S2hPZHN3dmM4WTdJbjZXVE12eWpzanBsOFRmZVhaMkU1N2IxeTU2STFWbUVZS0NsVlMwNXhuNHdpU01qVEh5NWJSczJ2aE45VTVFK1VUMDkrUlBkTFZzWWtwWW1vSGEySW9QdnpXN0ozZmIwZmQwbHBRUUc1MGROY2RjY0cxWFFqTk5ESjJWRTN5RFQxdHEwM3pqeUsyRGZxVDR0MHltNjlDcGk5c3FXdEYyc1dNK2xRRkdyYi9uLzQ5SXRKdGxMaXBkbGNmcmhBamtpc1hhdlZGbFFqL0ZhdWNzcVRsZFl0bFhaeFZHTTJsaFI3aFJTVkNNNFVNTStQUXJiYlA3TTdtbWx2MmtJSkM3eVdWUjAyeHA2M2FQTG1TVTdrNUs2RzA3aTF5YnQwMUpHbkhGSTk5aCsrV3FOSHlPRkF1QlBkc251THd0ajAxcXJDWk5aS09tOHZpLzVNSnlkK2xOVTVTNnFOY2FQN3VvdXVVRHg2dmIrWU1XSFdOcGd4RVJFKzNMOElqRDBkTnQ4ZnV0R2s1MDVWcFE5SEhGTHJKMi9VVkt1b1U0d2FycGkrQ0FScWJVREw2WkpUUTkwRTJ6TUdlYjRHZjVqMk45MlVLK1hZMmtmT2U5aWRmWE5ZMHhnZTU4bnlicThxNUl0OEQvS2lNb0JUOFljbTY0YkhpUkJMM0hFMmZ6ODdONW5hMzdBRG1USFJ0bytGOTBXeXR1eTcwSFlRR3Z1blo0S3laR0Z2M29EYm5zd1Jqc09kcjIyWmVKTmR5czBub1VCZU1PVzRkVWZLTml6cWE4Y1lxVENNRmhTcXBhYzZaT0lwVVdXaW1YK28wc1krS25WZnFhYmo5dHN6Y3lBTUlWNFExODVRNS9HM3JEbTNZQU9US2IrdlE3QjBpenRnUllZcDE3RWR1Tjkxd01UdHBUZDVtTDJnZnk1WHdWVnBpZjI2SExodmJtR1BVdTJzQzhwVFlHVUFPK01hdFhCT2RQSmtmRGFSKzFXTjhXL01pTmlSWExldm04Rjl2NTZ0aWxhNk45UEplZ1RxZW9LS3N3bmhFUmoyUzhhSVNvWm1PWTY0YjAraWc2WXBPTHdneG15Y3B0WktuT200azVobnFQdzFjZS94THFzV2l5cVhocU0rOVNPOUZsVVgvWWtzN2JFK0dqWDdHTTJreEY3VEI0RzI3UENyRWVXV3NQSmZGLzIrVnZOWnNuS1RVUjduUS9KR3RYSmx6SGM1TXp5RFhOMlM3T1JDVTEzYU12M0VnUW5xZWorNTRrdVZOSE5QdHNUdnQyZzZuZUdTMWVwVkROM25GVnI2THpES2pyc04yYXp2b0lYbURKRG42c216ZEZHN2JXeVNlQlg2Uzl6U2FzUmxmVG1EMHhja1Q5dmtnSTk5SVZLM2VBL3lvREtFVS9jRzdadWlHa1RFdjdqa0t6YmU5MFRLYmwrTk1OQkprTDdqTGVndGVEUFljcEVwb3BsNjRwSVF5Qmp0UmRFWnl3YWltZUdBNHMzMWx5c2wxU0NuenZUZnE2S0kzVm1JYUtpaFd5UisxT1c5czZwcHB6bVNNWmkxRDgrL0pPL3g2ZVQxdGIybFZOSzJhcEQzMm9vNjZKbnRoK3ZWL0tFdHhSV1IrWVZrMU0zeGpPNDliay91Rk12YlM4SUx6dytNdU11cnlaS0MrNGt2RHlIYTFFMGFUaEwzMGVUU3Z6VmRwaXYycnN0cFAvL0xadlBhbVBqTElxTU01SGVTQTJ6dDVVU3Foait1cEkyL21lWExTVkhQaHBndGk3Z0JNMTVPclloVWFaV3UyUU5zZURiQUs0eEVaOVVoQ0ZIWFVkYVBCdFRPNEJVMngxeHlKemRqNXVXMGpiNWVsVGRwMTgwbjZoam5Lb2ZvNllOT0JrcDNmSTBzclViWUhoeVJTTjRERFMyYnVtT2J4WGhrcmQ2V0xxU1YzNEZYWWFlQ1YrbWhoTnBFUlpFZkxzcTdUWS9DNExsdXdiU2NSWFJ1YU9SQ3N5eFRNY2FMbEl5K20xNVY5Sk9DR05qVHJXcGN4T2JRTzNjUnIxVzFkaUpyS0ROQzJBNkRLbFl3KytZQ0Q5cHB0ZllmRTB4OG1lVStMakZ6SjZ5UXdCZ0xYM2RqMTh4TlZLL2RBWWxTR1VBciswTEF6QVIydFhQVHRrZW00NTZqUnRpc0p5MHBlbmpNeDMwUC9hY295dmFZdUg5clRZODlCYU9EWTdGMS9EaEFPRllYZlMxSW9aN0FUMWZhbUNqTCtvcXhCUytoUUt5b3YrQmRTQ2g5cERTc1h2YkVTMDFCQm9Rb1pReEJ1V3BzMnpEUm5jMGFTa0tIWkg0QkhhSHRMYTZLT21EVktUZitRamZyTVNPM2hpcGdxL25yS2pGYjUrTUJGdWVka01DSGtaYzIwMTNTend4RXVOT3VUZ2FhWi8vUGE1bi9YVFFKYUNkbk1WS0hxNWtBL1ZLOUNNMU9CWmkxN1BORXhYVVVBellWZVVpTWJSWWN4dXJJNjd6MXI3TExyWXBVRlo3S3FzNU9YWlJYR0l6THFrWVFvTjBDOG0rT3hsOXVlSjhWcnVRbnIxcklsenh2eWZmSS9hYmVObFJjaTgrNmFJUlN6cWhEdHQ3Zk9JMHRsYU81SldSK05xMGNDTGlxSkxONjJOVk9XNGJ3eVZxNWtKZjV0R205bjlsZnkwVUlzWkh1U005UFQ2THBzMVVaajJyMWtObGdRcktLQ09VNTBZWUtuQ2NCMkdIZmtLd1BBbHJhU2xObWo0STROSTN5M2hqMmtucU5JalQ3bFZXcWtuV1l0OEJqSkMwdU1wMFZHcnVVMWVJeStORG55elNzRlFUNWZ0WG9QTFBqK1NUYnY1TkpES0x1bUtiUlRlU0Q1ckxWaTZhSk42a1E4RWJDTlprMjBrbWpBMnJBcjc2VFpEYzlCeUFpYlRSWmVzSlVwS3BxMENjMmN3VllVSFFkNGM3N2I2QVFPdFdaa3VuVklxV3pTS25wakphYWhna0lWc29RYXhreHp6c1JScE1wQzg2YVpCRWl4ZVF1R2JEVFgwNlE1WEJIT3pCUHVxbWVqbzA2ajJ1b3dLeXpycGozTDRWZ2hORy9iV0xoZ0R3MERNUzBiVjdMZFhBbGZwZW41bkJKZzFLdm56M1c4OVhYUVRHUm5rMjB6RTVHVUxhMStQVC9XSjErMHZreDRWL1JldHlwV1dmTEdvUHlNeUZaZW1GVVlqOGlvUnhLaTdBQWh5YTZkMFZtelBlaWlvWFl4TjRIUUxlZXB1ZkFZTHM4TWZWYWFva3BUZlYyTnhxT2Q2eUpMNVZQK1BTbGJmQ1J5UytsazhiYnRiQ2ZMYkhvK21uQmNKU3IxajZ5L2tkcG40RFhkV0MzNmFDRVdzajNKbWVtcHRWMUdWMW04VVVEOWNGYVZZa0d3aWdybVdOSEZjeS9xTUtPTWFSY3A3cmhqYytvVDI3bmJkcUxtdXpYc0lSV2E3U2hSelRGZzFRYVZYcUZFMnh6MXFrenVIKzlwa1pFWFZjMEV4a0FxdWFnWFB1eXVSTlhxUGJERUQvQVFTc0VmeUpwWlkwUDdva21aZFR3UnNJMW1UVFFTc2cwN3ppbHIwcHUzUEFjaEkyeEg3ZllPemJOR3VESFlpcUxRNzQycXJ2V1hUdUJRRjAxOXR3NHBGVUx6b2k3SmVtTWxwcUdDUWhXU1R4QnNTSkliWmxKMFJ0YWZLZ25OZEgvRkhvWFFzWG8rWU1rc2x5bnZIcm90VTRRenNtV0hNSTAzMWNqdDJXSTVNem9YM0VRNzVTNjQ2UExrSG10NWNvWU5GdkpXaEFyK1ZHaDlVWlhrcXpUTkRaSmNtaCt5K0FvMDdkbXB3czVFWFJkODM1R2Z4YmM4dWVTT0Y0MTR1eTVVOGFaREtrUkRSSiszc0FyakVSbjJTRXFVSFNDa3dHQ21wSi9kY1E1SENMZG9MeTNDQkFJNXZWOVVXY0cvd0dkbHNGVmw2RmpkWFAveExwbUZscXFUMjdWY21OK1RZYVBOK1lXMDlKSXEzRElKMnJKNHliaWRYQlQ5WjcweVZtNUxGeE5VMzdoWWNhZUJ0K0EwRm4xVXd0cng2NGFOeXM4MldETzlTclp2NkZqTkhoS3F6M0Rrb2JuRmdlQVUwWkNMekxHaWk2RlozdWZONVdlbnVDZ2xBOEN5dHBMY3hCYlp0RE1CUDNoaUU1cWU5VXFjQWFzMnFNazBCaVpjWlBLNEJFbmUweUlqdDR4TURtTWdqc2JlSjRLTWZHUFlIa2lOeWdCSzBSK29tdVhidWg3YkZVOEViS05iSG1ZN1dxeWtyb3VLdFlSbXptRHJhd3ZCQkRKbkwzbDJBb2Zhc3NiWlJEdnR2VkdiTFMzampkV1lCZ3FLVmNnUWZwcXpGbzRrVVJLYTZXcUhtVi9WTktyMGs0MHVVMTdCZEZzMEpKTW1ybSs1WGFka2tKL2l5cHJSU2ZOTC9sa1JLdmcvdUlwNTZzem03K3FzR1g0R3BlR2xoK0MwdnZ6Q1YybkcxWTE2dWliTjZpQ3o3TGkxb1ZsWUY4dXlINkVQaGFuSHU5ZTBoZkxpOWcyVHR1dENGUnBrM3FFTElaYUVhR0VWeGlNeTdKR1VLRHRBU0t4clp4eWE1NVZhOWFERlZwNGtXOC9tcVhZd3NuVEJ5R2VYREtHLzNsL1VKVHdQQ1MydFJ0bGVRS01HWEZJaVY3MXVzM2pKdUIydFVIM3BwZWlWc1hKYnVwaWdLU3dkRXd5OFVoOHR4RUt1SjNzTkh0dGw1T2Yya05BTHpTd0lUbEYvb2JsbGp6V2JPZkFJVU1jOUtPVWRCSk5UbVlOMGZ2QUVQVVFpbTE0M0tnMEdiSzV1Vy9yZGZkNm9pS3l3bTZ5bnlSbTc0TXNKakZhU1ROQjB1QlZrNUJ1SnFwVjdJRFVxQXlpTVAxQXoxS2Q3eUlvcDB4NXJYandSc0kxbVRiUWloSXVLdFlSbWFVSnNzSFZqYXV5SzFTejcvMksrUlhWTTI5d3BnU3RZNnIxUm04MHBtZlhHYWt6SnNoMnJrS2tTaCtZbE04M1pTcU5JbElSbU9mbFlsUzA5UmRNTTV6Smw3SEJicG9pdDR4SU5kejFiM291bG5qamhIY0RhY21aMHlybVJQdWpXYTZFQnM4YVVvVU0zUFVzVWIxVDdWWnFCcTVBZ285Nlg2VmVnMXQ0dysweG9wdUJnbzRmZTEvSGswaUdZdlJwa3FoYXJVQ2ZZKzN2cTJRenRxNXpDd3MzQnNFZFNvdXdBSVN1OGR2clpaTGN4MFEyUmJUdDQ1OWhyRktUZFhlbVJOM250Z2F1V0ZZWm01eTFHbFZxbktWdVR5TkpMcWl5THQrMFBMdFlyUTB5QjluaURWSm5qa1hpWGcxZnVvNEU5SklUclNkWk1UNkh0bTFZd0UxQS9uRldsT3B5ZmNZcEtKN2ZDQkU4UzlBRm9kOUd6eGlaSnJVbVRtOWdCNFVLejJhdWVtbGd6V3pHUnBtZTlLdU41SlcxdnlCaTVlZEhVcnJMMlBFM08yS2FLOWVXV2JaamNaVEdhY21wTmpWOEpNdktOUkZYU1lrdmJrYzcxUUdwVXRudTQ3WklROHZPOS9GTG9PVExIbExTTlprMDBwY2htR3hYckNjMk13ZGFOMTcyVG1DeGJzTDNCbVcwc1ZPdTJUNGx5ckVSS2g1VUwza2lkNGFhY2xobzVqSW1CQXFaS0hKcDNpOU5jWUhBOUd5V2hlY09mZFp0NmlxWVp6b3NpYkJIR3NHUG1pRnJ0Njh6UzBMUG5uMTV4TXpvcHVOTHl3Zi9SMjhVbFovalFuSFZOVnhZZk5mT3JOQU5YSVFWR3ZhL0xyMENkZHNuc002R1pqckhzZU1qMzBYMHBkODVGdUx3VG5yeEFzUW9wOGFES2k4ZzdxaWlua0F2Tlh1V1VLTitkdlhiNjJSMXpST09mTmE4YlcrVGpSNHQ1QS96LzFFQXZORzk0bDY5MUtXL0NESDNIbDBKV3I1bnRzTkVXTGxtcTRQTjQyOVpNRWtOV09KdWFyT01hWmV5YXJMRnFDd1VNdkhJZkRld2hHV0dqOGd2YXJKbWVQdHMzcTE0RWRER0ZCOEVwNmk4MFR4cG5iTVRIbkxsdG9ac1VKa092QWZJWnJUV3pIUk5wbG84K2lqdTNqKzVkTUxXcnJEMVBveG5iempnMlN2RVlROGxrMVU2WW83YjRxdFY3Z0VCNFk5UU44QURLUnRGdEZ3UXQreDgreTVqRTNJcGdHczJiYU1TRk14RjF2RDJOc0w2bm9wTE4zdlhQUTVqSHdHVEFqUTIyb21qUGVhTlpIYmJwbzNqR2JGZE1wdHBScDFpSnRDK3NYUERHalVwTUF3Vk1sVGcwVTVIQ2ZkYlE1RHEyU2tJekdleE9nUlkwSHBwZVhhYUU1clpNRWNhc1kyNnFwTDJyYS9SM25TbG1wajBwVnk2MzFBVmlwaUJsUGZLeCs3dmV5UGNMdFV5K2Znck03SXVxTktNZUw0Ym1xQUpOZTF0RzFyWWUrelR3N1NTUTc2Tkp4UTF2bXNBZElGMjNXSVVNOWt0MXpQa3BwNUFMelY3bGxDamZuUzNtK0FBMER4bGtKcGw0S2JlV0J1TnNucUxwNld5ZTh2K0hvWm1tSUN1RFNrMy8vUjkrMEpzd1E5K3hVaXBRcHJMVUFEWHdlTHh0anpudmxRbmwxZ292UVF4dmVwdGgwc0lqbFhMaGZiVHQyME1DdUo2a01xN2pGcUlLVk1kMjJiYm5keTQwOHlBNFJhV1RHNGx4VnNpbWtzdm1mVGpKUStCbVpLcTJHUi9PUk4wYUUybkdEYlpncFJGWjFoVml2WEJVbSs5aS9rZWVSak8yOVVQcnl6ekdVTmljZnhycGR2RlZxL2RBSzRUY01RTzg3VU9nRGRjVEMycVAxQ0NYWDJCR1htRWk0QnJObTJnYVJtZ3NwbnJPbWhtRGpSdkxVL1FkbzFtTkNCM2V1TDV5NVNqVkRpcDZBNFAySlNvYmI2U3FGWmdHQ3BncWNXaWVDYmdGdHRhNFVSS2F5VTMzL3plelVGdlBTN1UwdzNrRGhpM1MwN3JXSlhxOGlITTJPem9uaFY2QzMxNTBncWQvaE95Unk1ckxjeW55dVB5bXcvcUt5eXhXYWRwcnRicVVWYSsyaXhXNGFXK20wRXZTOWc4WWJHOE9ENWVWNEdLVmRnRFZQa3pGVHVpRkVSbjJTRXFVR1NEU0FxK2RmamJyNVdUc21yS2FyUEtHY1o1Ri8wbTdkOWhGNU4zNTV0dGZUMXUwMkJrK3REUVhVWTB5bFNWTGI4Z3FQTjYyUDNybmVqdHVyanp4Znlsb1UxVEl3aXYxMGNBZWtzQzVEbXVtcDgzMlRjZmVscE43cVpvYU96d0lUbEhwNUVhVHFadThsUGF1VnNBL0JaYXhiaEtINW1LM3hrU2E1YU5QSGgyS1dXVlA3MzhGVDJPTjdMQVlRK25yckpPVE9ITmpWQmJ2dndmYWlRRk8rVHZXQU00ZktFOHQrNjZZTFYvb09hWm5lQ2N4SXNoWjlGTXRNb2ZLMnROajYzdHFoTnZzM1Y1bnpaSk5aTEFSSmFQMnN0R3NqdjYxYnNac1YweW0yajRsMmpZUzViNUU1VTA5RDVFNWhSaFdOREZRd0ZVcG0rYWtGU05aU2tMemttSnMvKzJwQ1NHY1h0a2lQZTJjK1VSMnpNN1hmbWs3N1dWL1k5VCt2TC9mcEk5dEN2SCsvL1pWTXpac21CMzVtbnhNM2NrMlQ0SEpYS1pLTTNBVkt1UFU4eFc0YVk5czhMeGJhanBpVE5mcmQrVlhlZkt0TFNwUXJMSlVHTG15SEQraDl3ak5LVkcrTzN2dDlMTlpMeWVXS2lKNkgwMVRwcGwvWVdnbWNUWTB2NEd1Si96UmY3MVFIcHFaYnVFb2t6WVNyUXdwNHBXbXRQM1JTd3o4aFhOY1l6NjczdlRtcUVJQkI2L01Sd043U0FiWEtOWk1UNS90RzJyTW1zdWYwNUdUQjhFcGl2Q1FLQ3VhdVN5YXRmUTVuVHlDWmhiV1RhTFF6SFJyVEtSWk92clVkM21zS3pGVytGbEZUMk5uYkI2akwwak85TzdXcExlSHIxcTlCNmlydlJNYWVleTlwYVFIVURoL09OTWgxWEs1TmUrWmt5ZXJoR2JlUkNOcXhodWNOWVhtb3NIRzE2UXB5MGF6Q3MzNlVEL2hVSzVvMngvY2xHMGt5aEtKeXB0NkhxckdORkRBVllsQ014bFExVGRkSy9wT2xZVG1MamREMFZSc2o2R3lqQzNTMHdiNnhRTHpvd1ZoV1RmdE5VaXlXdko1TlN6MlZTTC9PUnJ5ckxWd1Q3NUZsK1QyWk1wN0NveXIwb3l2MERyMVdjWlY0S2E5amNDN3BWWjYwU0s2SkxCQU9YclpvZ0liaFNxckFWUTVjbFVVWWlkMExqUjdQWklTNWJ1ejEwNC9tL2Z5YlgxV1RQZWxyc3ZtUlVzWW1xVTNYVkFsR21USWI4dWsxOWpRZDJTeHFwU3BLRm1xb0JUeFNrRnRmL1IyUTV4eWYzanduK2NrLzFNamxDcTJnSU5YNXFPQlBTU0hjeDNXVEUrbjZSdDV2M0RONWM5cDkrSkJjSW9pUENUS2lLWmtZWUtYNTZ2cVFSRCtLYkJlazZFMGxPdldtRWd6SGlVT3JCU2gzZ201bnFmSy8zT2V4aG1ad0JnSXB6TFJKUVMxTzFHMWVnK2tSbVVBcGN1NXJmd1ZMclc4S3pCVWJoUjZqaG5BdklsRzFJWTNPR3NLelZuQllPTnI4c2IyV2FOWmhXWWQzaGl6WFRHWmF2dURtN2FOUkxrdlVYbFR4ODV1SmFhQkFyWkthcHFUSm94cU9ZalFmUFNackhtSmE1QTNPaHRmSXZMRkN6dTZ5aVFkUSs3STlFd3daZW05Y2tWMGwybmxuZ0pqcXpRRFY2SHlubnEyQWpmdGJRVGVMWlVYUjhPQ3NNc1dGU2hXNllZT3RHMUNBNmV3TUNMRGdKY1M1YnV6MTA0L20vZnk4RWNoWlFPREplV3pjMEw4aWlybzhRa3RwYjJWS1ZOWnN2U0dGRmpFSzNQYi91aU5HTWo5L1lSbU10TVBoWGwxKzkrRFYrS2pnVDFVbCt0SjFreXJ4ODFBUXdlR0NBK3A4THE5TU1ITFhwSDNLQkpQZ1dXOG0vajNtdGx1allrMFMwYWZna0EyK285T2VXRENKT2RwbkpFSmpJRXdnc0U5bnBxb3lydGloYTYyQXp5QXd2dkRDOWRGdm5oaExiZTUwSE5Nei9BbW1qWnZlSU96cnRDY3hRWWJYNHRNa1Rjc2Nqc1lzNDJCK2JydEQyN0tNaExsM2tUbHpiTFFYREF4VU5BTkorUGNoTlEwbCs4ZHpmK1MwTHlVc05FTGxteVJub1lldTUydExuS2x2R21Qcm1pOWFadDZyM2p2Ui80a2JWNTdKaldGdHZJZDlvb2NYNldabmh6NEN0eWdJeHVZQzlyaE1GcWdadWhsaTVwZHJMSWFYdS9xbUlld09JVTlRbk5LbE8vT0htWS9tL2R5ZXRWTGZzZVlWdXk5aGRCblNWdyszdWhIV1BYYmNkN29qME56ZGNwa0FJbFdvVmxlRnd2eDBzNHdOQy8xZGx4Wko3VlFaQ201eStuQlMvdG9hQThwNG5xU05kTXp5dllOMmJQbTh1ZDArM2tRbktJSUQ0bXlvcGx6TC9NY1dPSXBzRjZUSVVIWjVBWm9PNXBmbTNFM0JtREpScXJBZExUam9GT3NwN0ZHa3J3MVY5MWdkRG1Vb3ZDeEZXVG9EYjVxOVI1WVRReHdhdU9PMWJmRXVTM3RmZnRIU1QxaldKWFF6SnRvVk01NGc3TzIwQndiYkh4Tm5qVXZHODFxUk96bFcveTg0MHBLVDlqeE5uM3ZaVHVheW03cWVhZ2EwMEFCV3lVeHpmbFcxWjR1Q2Mxem9UL2xxc1BwbFMzUzA4YXBXNW0rN0JrVmpVWm40eStvTjNVWWRpWHBtMXY2dnMxTU1OWmNDWE5Kemo0RnhsZHB4a1BmcWVjcmNOTWUyUkE5SFNWbmRzOEZ5YXl2ZnRRdWE3UlpyRUlZL2V0b0pHQ0x5dkVUZW8vUW5CSmxCb2dVNjlwWndjdFAzaGJpRzdPdlhEZWhWZ3J3bHRCbnphSHdkTWN5OEVaLzZEdFpWcDB5S2FRR3FOQmN4Q3V0YWZ1amx4ajRkL1p5YTJQbGVTNzNYdzZKWXZBM0pUMTRNb3YzMGRBZUtzYTVEbXVtVVVOcjIyVmt6NXJMcDJyS09oNEVweWpDNDR2bVFuUFdWWjEzc3NoUUdaR1lTVGZOU1ZDaVc0TWVJa0hOR0hJRWRrSjhSTmlmWUhPdGoxTmZvbGt4QUFBZ0FFbEVRVlM4cDdFek5vOHhFRWowVm9JTXZjRlhyZDREMUdmc0FBK2dwUDNoYTFiSmdNS0hJS3FFWnQ1RTA4UVpiM0RXR0pxenpEZll1TEUwWmNkbzltZkJoRU81b2dFbHlqWVNaWWxFNVUzdGpkV1lCZ3JZS3Z3MDUwd2NSYW9rTk85eVY1VENHWTR0MHRQTWlYMytLVEEvWnVSQ2puWE10VjBydEVGWk92TE5CRk9XTGFHY2pDN0oyU3R5aVNyTjVPU1FxTUJOZXhTTTlNR2YwUysvS0hMZWJIRHJZcFYyWWVTdXFZcWNRaGVhbHhaVm9iQkhVcUo4ZC9ZbVFUK2I5L0s1eGMraEJ0R0xmQmVVdHZnZmFmZWUwS1llVVFjcTk3bmc2STMrME5Lc0Q4cWtsU3k5SVpYemVLblpPM0x2RVRtQnNWNFpLWmVGRXdzMW91UWhEdzllWHAveFVSY0xsVDFVanV0SjFrelBKdHMzMitaUVRlMmMwMjdMZytBVUZjMnhvcjNRck4ySmREVFZ1TExYbkR5VFpKSjNFM3Vla3VyV29JZHlKV2NEeVJIWSsyNVNqOTBNU25BYnZLZXhSdklZQTZFYlFmUnd1L2lxMVh1QUdoK0Y1alVsUElDeXk4MjMyb1kzaXFKUDJ0QnNlbzdwR2Q1RTB6Q2FpYnp6Q29xZDlvS281eUQrd0NFVDNUVEFxRE9Dczh3WmJFU1J1VkZvMXIxYktrZEtEQ2pSdHBFbzl5VXFiMnBjMVpnR0N0Z3FCSUdaNXFRQm8xdEtRdk5HWUk0MndlOG9kZHZVczdpcWxSTWk4VjZHR1ozM0xScFJkSVVwdXVGRUJodVZNNm5RbkQ4SE5tbXVOQ2VxTkpPaE9WR0JtL2JrSFJSamJMNldONlptdzZ4d3ExaUZMUEZiU1FKV1ZCVk9ZWS9RbkJMbHU3UEJURHI4Yk43TE8vUFpUNzVGWFBud2ZOZ0lzeFg2N0liKytNNjZRK0ROcjZIdnlJOGljajNKTnRxRlpoNXYydy9OWklVUmJNenM1MTR6SVN3SkNRWmVtWThXWnhPdVVheVp6bURYTjExemcwUHRuTk51eTRQZ0ZCWE44YnE5TU1HckozVG9qdXY2ckdlTGwrVGR4SVhtUkxlMi9SNGljVVM1TkRTdi80NThFU2RoZ3pPSDl6UjJ4dVl4T2xHVUlpTmQ2UEgyOEZXcjl3QTFsaDNncEc5SHFsRkhjQnNGdDIyOHg5cEFGcHkzRzNtaTBITk16L0FtR2tFMEUzbm5GVFdFWnM1ZzQyczArdjBtek5qdmRERm1Hd1B6ZFVDSnNveEV1VGRSZVZQUHl0V1lCZ3FLVlVnTlA4MUpBMGEzMEVBS25ydzlRdHRidVRvNnBycGRVQnhPcjJ5UlFwMDRZMW9ranNqTnROZThZYXQwNDdjWm1tNmVvdDVkbzQvTEx0dkNOdEdWWjlZbnpXaElWS0hzczdhR1RCajFjdHE0cFBmNE9yaHBUeDZXaGxMa0E5YlhBN25SUnJFS0NmWXVWOG5odEt6cWNBcDdoT2FVS04rZGJUc3JlUG1FTjNhamRxak4wR2QzODdNRHlyVFY4amozcmJKdzZEdjlVS2JLMUlBYlNpT0x0KzNQY2F4WFJzcVZLUDdmWEdHSzlNc1plR1UrV295RlhFK3labnFxYkpjUjFienBhaWVaZDFZbFdCQ2NvcUk1VmpSNzFreHovak4welduZXM4Vkw5cGdNVTkwYTlCQ0phNXBtR05FR2JMNTloR0lrelUySmkrcW1qblFwenRQWUdUdUIwY3FpUk5kSSt5SS9WMTJIR2FvSFVxTXlnRkwwaHdsMzFFOVJkQ1cwcVRBUnNJMW1uY1FJa2pPUlNmZC9RZHY3MEFHMTc1SVV4QmxzZmEwVDNKemNzSjJiY0NobldFQ0pzcTFFU2ljcWIrcUdWV01hS0NoV1VRM3pqL2JKay95TElNN1NXbE1sb1ptaXRIZTVRMnNOWnppMlNFLzdHbUo5a1Mxa1JtZkxqY2lUOFJuTXVqdVVubEdodWJsVmxOV1VlMXBtTkNXcVVLR3pRVldqWHY3NHpxemU0K3ZncGowNlFiZGxkWlVsZTNBVFNMY2J4U3IwaElSM25rWURSazgzbk1MQ2lBeDdKQ1hLZDJmYnpncGVQbGwwQWRzUW1TRHQzaG5xYWg1RXZCT24vT1dwQ1NVbHRMUWZ5cVNJR3BEM0o0czNHRnlzVjBiS2cwYUVHK3ZlaGIxd2o5d3k4TXA4dEJnTHVaNWt6ZlFVMmk1YkNBeWFNMjdMZ3VBVUZjMnhvdG5RckM0NkhTa2VsdWUyOVpnTVU5MGE5QkJKYXBwbW1CWWJzUG4yTHMxOWpZN1ltemU3K1hYQzA5Z1pPNEhSRjl6Ukp5UHhBV21pYXVVZVNJM0tBRXJSSDZiTXJUdXlzVU16V3JqUUVWUWVJRW91YUdlc2lVYU9uSW5jRkRqcHVabm5JUDdBMmZXdktuaWhlVWFIWnM1Z0sycFZUZGRHTjRtNmxLY1REbVVLbG5vdjI5RlVjMU9INW1wTWUzUUR5U01JeFduT1dUaVNWRWxvbG1kdjNzajRleXJ0ZDFUK1hZQkNrZDUyK2gzc2x6YWpzK1hlK3o4U0hSNUlveTdvT2d1cXI3blFURWMrbjhqTVUyQ3BLazNmTDZWSW96NVZnWjMyeUFuV3REMjBlajdSMkFqZXdKajRZN2RYcHdwVjZCdDJPaGpMRXVST2VscGtGY1lqTXV5UmxDZzdRRWlCYVNjbC9XeDJpQnoxRHF1bGNmRVMrbXdudjJCQUJENnRDOUxvcDZNT0xqVDNSZGtMelN6ZXRuL1dMQ1VYdkRMRUZEZkQzNmJhTi96dE1HM2dsZmdvVlFqc29XMnVKMWt6UFdXMmJ5amh6UXR6eG0wM09EL2pGQlhOc2FMWjBKeXRFczNVVTJDOUpzTlV0OFpFbXFZWnBzVUdyTnFlVnNlN1ZPYWkyYzJ2aVFIbmFheVJDWXllWUxJOXY5SjIzTHVJSmZjbnFwSjI3MTByUGRLNUhraU55bmE1MjA1NVo4cExZc3V6VkNiamlZQnROR3VpRlVRejBhemRtT3d6TkcrNnFabTBYSkp5T0lPdHI3VnNNSlpGbCt5MVJYYmVrVVhNRWxDaVRDdVIwb25LMURCVnV6akdPQk1EQmNVcUpJbWQ1cFNHMGYwckNjMVpON2c1c0xrc3JZaG1PSzVJYjJOZG40Wmx6ZWhzdVVCMUpubzNpWnpjQm90bU1qU1RsejF0bndKTFZhSHFad1A5Um4ycUFqZm9zbFl3a1c4VEpMcjJaQzZsay9nVDdncUFVVmFzUXA0MGIvWkt6OVBURGF1UVRxcnpnK1h1cktvUzlVaENsTy9PcHAxVTNjOW12ZnkwUFJDeTlnVUowdTZtTVFudUF1MzJHa2o3RTZHNUw4ckswaHRLTTR0M1Y4OXhwMVVNNi9aMjNLQVJ3UVpaN0I5c0JmdG93OEFyOFZFcUZkckRoK2FNTTlOVFovdUdTSG1uc0V2R2JWa1FyTXNVekxHaTFXTjFnVHRKQTVwRVlIZkxNOFZQc203aXpsTlMzUm9USVIxbmZiRVdyTW84cFJwTXc5Z2RwQWVGelViTGpUN2YwOWdaTzRIUmlLSTFEYTE4NUcyWWVLOTNKcXBXNzRGTmZvQ0hVQXIrTUdWT0xNbU0zY0pSU2p3UnNJMW1UYlJOSm56WDdRYWRFdlQxR0pqM1VkTzJEYzJYckRoanNQVTFTbmdITWtUa1FsNDI0VkJXVUpuM3NtMm1taVE5cjErSmFZOXVJRW5rWE1WcHpsazRrbFJaYU40UTNwR2F2bzFBTnRyK0k0TzRJdGtySDE0dXQ5VS9DZkJMMm1uUGpkcHBmMWFpc25Tb2FPUDJuSnBEbTF1K2lEeE41MnI3OWltd1ZKVm1hbkpJVldDblBYSTRkMHFqZm9XYURydThxOEROR3dYemlsVmEvdEVyTVYzSjY3QUtxUWZ5eUwrNW8wcEZQWklRWlFjSTFUR1lLZWxuczBQa3FEZDJsYnJvSDJsM3N5YzVrOXBvdStOam1sMFRvYmt2eWw1b1p2RTJkVERPdnpKSEJMZXNuYnpqMGhIK2EvK2pMZU1ueUdMdlZNTGZvOUlHWGl2dG8xUXV0Q2NSbWprelBYMnViMmlpbWJjN1ZvM2JzaUJZbHltWTQwVExTU2R3SjZtSGRuODY5UlJZcjhrdzFhMHhFZG8rYTlza0V3YXN5dXhlVXF0MWZjU2xOcmdPYS9PZXhodkpZMVN5ODM5MDNUblgyMTN4Y21XU3IxcTlCMXErVDIzWUFVNFF6a3Z4Q2JlZDh1YmFqY0pBTFBRY040QlpFNlZLdFZCSHUyaEpyYmRUZStnZ05udlh4bE9xN29YbXJnM050aWlGaHV0R1I1Nmc0eHMzVTVKZFp0N2d6TTdOMC85RFNoVW1MUzgwRStzdEsweE9CUnpUVUVHaEN0Vm5wem5LZi81RFo2MzB1aE5sb1puNnlwM3lIYzhQM01sR1IxLzlhbjJoQ0ZWelJ4aWN2UTNQSDRMOVpuUzJUR3lTVEZ4M3lySnk0alIxYUx5czBTeTRaYmE5ZFZlSTd6U25ycWtxMUNFaFY2TStWWUdkOWdpSVBWYklUaXRJcStZeExtblFldTZYbm0yeW42TXExQXVYYklrbE94R3pDc21wYzd6YnVmVlJqeVJFZVdQTm53VDliSGFJVE9wVGRHdGRsQ0R0NWtGNEZaRFVTSjl6NXpLa0lCR2ErNkxzaFdaNXVYWFpXcUh4MG5CYWxIbW5sSE5XY0Z6NjdUTmR4WXJTQ1RraWNyTHhIclZ0bktURVI2bGNhRThpTkhObWVqcGQzNUNuenRvZEhXc2VCNEoxbVlJNVRyVDhObnJnVGxJUGhkZmIzc0dBVmEwU3JKdTR5VERWclRFUmFsTkkyWUNWU2laMUQ5T3JVWisyMnJrT20rTTlMV09OVEdDMEN1UnpaOWZsMWtTaDhZbXFsWHNnTVNwREtBVi9tTExoUzQ2dFdXZW9TaFY2am0wMFo2SVZSS1BYVGEva09uWnE5eHpFbjE5Mi9kQzg1R1l4WVVPemliZk9ZQ2RxM1ZXUWQrM01RUUZydGpXUkVpR2wva0p6SmFhaGdrSVZNb0dkNWxRMEtnOTFmalA2VGN1SlNMbWpya2pJM0dIR3RqL3Q1bU9FYkhTeG1Pb3dSVm9rWXFmTWp1bkN0UmxkMm96T2x1MDJ1c2JreHFZc1JWZHh6SVdRcVZ2cVZ0VHVtcTd0cjVwQ2JOL1FHYWtxVkdiWnIyTkRWcW9DUCswdGVmTm1VL2syM2VtK2FBUlBHR3ROaGx3WHFqUTY3aG80amJqOENtTmlRcWRwaDRJZExYcitpSG9rSWNvTmtPRDh4TTltaHdoWjg0MUtXK0lmYVhlZHZhblROSUpOcjdVMnBRK2RVUmFIbHZaSFdaN0o2UTdsOEZMWHJFa0w2WmRUNU1KNFphaGNIajA3enFxTytUZERPMHlhV1Zmd1Vhb1YyY1BlYTJiTjlEUzZ2cUZCZWNuc2tBTlV1MjBDeEpZcGFuNjR0R2lPRXkzdjFnWHVwQ3FUanZ4STNJankxcXlidU5CYzBxMXJVb3J1SVhraXo0OCtXYWlkbXlSblJIc0JpdTJ3aEtmeG9UbUJVU3JNRjhLeUtGTW5YTHpLZDhoSU1sUVBOSklEZkUxcVNMZ3ROWGxlRzBCWGRTK1lwRm5IUGNmMkRPY2tSb0NjaWR4SndwSTN0WHNPNGc4Y3d1MnNvQTB0YUhKUEQwN09ZQ2VLRHJUT0c5VWJidHBnelRibDVEb2VURTVpejN2TnhUSEdtUmdwNEdlUDRqU243dHhGWHV6YlBXU2FtcGxQYWxvT0hUSTRKM3lITzdGb2RCWlZDV3BaRUpxWklsMFNjVkdMWTFjVHJvZkMvY2JYV201aU9CMkpvbEJoRGg5UC9iNHlkVzRsRktLMnlDSHRtWGVxU2l1ZUhJejZWSVVaRDAzSCtqUWQzTmlEemUzclV2dDB4MTAydUk4N3FpcFdhVHFmcHg1WlZHMVFYOHk1cEpNMDJaaEJ0SnFucHZTa0ZmY0lMNHE4NzZJVFJkRXlYNHhUeWkzdlhKNnlqZUpOSWE1Y2UrTFJSeDkrelYvcE9zR0tCcTc5WnRPa09RSGJjQWZqMXpha3RaUHFZRHEwdEJwbE0vcmxGOTV1NUpvNXZPUzJ5dURXbGlyRGVHV29QUDhXdDhYZ042bmxYd2Z3ZCtScDR5UWxQa29GSTN2a0YrQU1VSzhuR1RNOWhWN2ZyTHZUcDEwQ3ZwT1g0a0R3aW1KelBORjA5VUE1bG5FbkpYclY4Mm5QSXBVTTNVVDNpWndDODY1S2RXdHNBbUZlRGtRYnNKUjV4SjdMa1NIWGRTbTZheXFQOHNKbGcvZTBoQy96R0oxRVVqRXJ0NVl1eXYvQndsZXQzZ05OZG9CSFVHSi9JSjgxcmMrNmhiWVhlaTdzbVV1NS9aeUpybVUwRTYzb0xYbE1aYzRKYkRTa2ZXU0V6Vzc3bHpvVzdJSERmYi9vUW5QQllPZHJORmVZSTNZNkRiSVRJMnUyTTdFNG1KekVlTks2WWFvWmIxU2ZIRnpVdVNxR2NVeDdkQU5WWjZlNUxPc1NzelV0dmZZVk5WTnNlVkxsV2JSdG9OY3JKN1JuMExVdWM2RlkxV0tLRUJiWEJaNW9tNXh5eDRJMlR5WE0yR3U1dzZ0bU5JQWxEWDBsWkgxbld4NG01SStuaFlMVWRlK3pKaTlScGUyMDVDV04rcFNPQlErTnNIN1pvSmNJNW5NQnAvZnlSTXZPbnRubVJXT0Z0eTVXb1hHeHBRc3N1ZU1TWGlGSlg2YXlwN1Z2eHozQ2k1cHhDbWplc3FjaWxIMVI2MjFRazNSU1JoSnp1YWxKMlhxNXVXUDJ1elg1N0MwemFleWFtVVRPb2ptSjQ1K2hrTHFzbjRXTExPMWFKVUZQTHJDVXBVbG1YTGVLZU1rTjFSRmpkMUdaeG5obHBGejlIckIzQ3VCYVJHYTVxM0l1MjZTTWs1QVI1M1Zld1VmVmZPYmJrL0dOWXN3MGFtanQ5YzFMYll1blJjY2R1cEVOTzdxQzhiT2tvc0FjVDNSR1FueDNVdkthbnJkb0JXYVZjQk55S2syenkzZHIxRU5aMi9ITFJSdXdOQTl1MnRCTWhwZ3BYQjV0RnpvczRXa0pJeE1ZVGRQa3JERkxHMmYyTHRnc2swaFViVlh0QVg1VVJsQmlmNkJ0TTlsT2hHZEV5aXhTN3ZkY290R01pYVpSOUg3YXRvMjdHM3VPdGU5N05IRHNSWVFsMTF4MWNMdVRTK28rWHc5T3ptRFAxM2J0eEVOWElhNXJLeEptT3h2bHdVSEtlMU9WbmF0VVlSb3BpS3VRS2V3MHA0NUg3Ynp0R1Z4THNyRktqWGhtM3NwcXpOSDJiZXVabjIrbWdjYTIvSTBEV3I2YWpuR2tQOWlsV0dTZFJOak90T1c4eEJGei91Zmx5U1NORE9Wcldjc2VxRFcyemNnMFplbkljbC9aKytKbjZDTFBmbmJHaGhsVFFxNnB5MHpBVUFkT1RKWEdwaEMvNnRleDZ1VlhnSmtLOGpxMGFaY3N1NklyMDlITWIrVEoxWGZsNjRtT21WQmVtc3ZSSmUycVdPVUJzWjlUcDhsbTBaVGpGVkxsTlNxeG9ZTm5vVWRZVVhNV3FjSzhvMVZRdHZKNjJxVFJrcDh6VUpxeVRYaVMyV2JaVzlUVjNJcDg5dW51bXRxbTJVZDNGaDJwcTkvRXlCcnJpMnBPeWgvM2pTeXRSbmxSNnlLVGJ1c2toM2RkeUd1ZzArYWdyK2lWa1hKNVg5RzFWd3VXcXhkU3RoU1ZXS3lUdEN6UW9vOVMzY2llSmQ1MWltWjZhcjIrSVYvVmMvUUR6NUlvN1dZWkF5S2hLRExIRXkxQnJKRlc0MDdLQUxweWM5Nnp4RTlHYm1LR3ArUnlYWlZMZEd0RXBHVDBUVzJhNFNjeEN2RW51WHEyd3hLZUZobHBmRG1CMFRhUHp2Z1hhYU5saG9UZFFSUEtzRDNBanNvSVNoYjVBOFVJYyt6MVVqY3JXS3VpbmtzMG1uRVNLMEhONTNsUFQzVmVRMVA3V2IzTGN4QWFPR1lTYTNTRStDMWJtWWIrUmJWeDlGazY3Ync1VDJuT1lFL1VWRWY4Zmw2OWE2YUs1THlUbDh2L3A3MDNhblBSRzdOS1RDTUZVVGVRRWV3MGw3dm5tbTlwWGVtM25YdVNSZ0V0dHg0KzkzSVNlc1JzN3o5ODdtdVZFbkxJbTZxMzVsVHZIRHYzbEN5KzkvQTVkLzh4S2tMVjJsVEVEQWJXMUJObWp2WDNUcDk3YlVmSy9rL2ZTMk9EbmtKWlZEdi9yaDd2cmlSQkVyOUptNU9kUlRtci9OcTZ2WnJzeWxDcWErWXlTbk5WZnVSQjFmVDNmdWcxRjFROVh6MWI0Zm5uZnB3MGkvZWVlMTFteWo1MEx2ZmtWVDNILzEzN1lBdTU4LzhxeFU3bUVVcHBDUDRWcWt6cjMwV21lVWxmUGtvcWJLakEzOWhlSklsY2p4UkYvWFJ1Ky92UGZZKzEvVVBuNWpPVC9hSGxiRUxUZitqY0JaUDkzblBmcFV5ZWs4M1d5MzdlWUs4cHhQYnA0M2sydFdsSDcybFNSOHIwQzJpc3JJdTkxeEtZb3FWY3R5UWFyUzAxSmpGNDcxT3o2a3ZOMkl5OHNxaGNQdXJranE2MDJWUDNQUGhtMWRKYkQ3L21IK284ZjJVNnZwZVBVaDNmbmtTanFGUmtwcWZMNnh1WmF3N1lqb2dWMlIrLzk1b2RWVFlDa1Zia214T0o5dDFKQ2FWL0JNY2tnM1hDVFF3WE5TQzRicFZDZkJOS1J0OVJOY1dJOThncWpZK28zdmpBdVZuYTREcE1QbXhVOExTRWtWSmdBcVBjcFphdUREYVQxbzExcmxvbHFsYnVnZUtvbEdKOUtMUVorUU5GdW03dTBSUGJ6SnpwOTF4Sm95TVRWV3ZjUHhNa2w1NlZSMWY3NTc0NU14UEErMmxlMEFQbjFvZStMOHUrNk1GdDJSMDBaYzduMWR2NU5OL29YcVRRTEc2OTVodGxhQTROam56dFovVk0rUjFtcWlneDI1a1lVUElrSmlvSDNsaU5hWGsza0NYazFNdzBwMExkZWMvUTJwSXRTVm92bnlhcEMyYUQxam8rSE91SVcvL05XOSs1bXA4aWtudnF4VHV1REl1UUdEcmszbU1jeVprOVk4NDlYVlord0tXRTA4NldtSDFnN3d2b0pPZ3Y3V21xSy9waUt2VnJYL3dONHRjVjllZ2MzaFpydXN2eVdjWlU2ZXFHNlBOMGRieG4xTE1WZGsyRlQ3cXllZ3hQYll1OTczM3JUMzJwK05kVy9SdUYrTGxYdmVRdmtvY294U3FFOGRuLy9KSS8yeGEzdGVPbkZaS0QvNXYvNDQwM3BiSlVqNFNpV3NiMlQzdTJYeURNZXBsVlQ5ZmxHOHN1Vy9uQVYzUk1LYmt1SEFkSm44MVdieTVuMHk4UTRudE0reHZyNUFQZi9jUHJlK1MzTkRQSXF4T01wVXkzSkJyZGxMcmxvczhkaTNocDVydjVxcmQzMW93RmhMT0g0MjRLMGJsdWl1ZnJCYVVqLzhkNThKVFozOHRIeVhVOWV4S05ranBETXoxcldrYlZiSjc1bldLUERvZWZUeVRuMUo2MVBEc0VrVmJrbXhPTDl0d3BGMHIvTy95eE5WMEMwVXZnSmpJYTU0dWNwNWh1bFhKOUU3cW12RmlXdTV4WFBpMHZwY3BGZWJlOGI2MldpN0xRWnJIRGFBcFlMM2hhd2tncElrdGdWUHZvMzB0cDN2dWFUWE5Sd3VUbTYwVFZxajBndXpvY2xWS3NEMFZ1aC80d0paNmU2dnhmWjdQc25ldGlWdTZPRnEvbnlob2RtaGpKb0pub1BSZXlpZFc5WlJtYUZmaVdTdEMvV1RkcXFUK0l2MTR1NURLb3doL01aOU92dUNrZnJhRGxNOVNQa2NFdHRZUCt6ZVpWeUpSLy9sbnYvRWRDL0hHK1hXWjJYa0wrOXlsNUVoT1ZRMitzeE5SWElCV0czVUFaL0RRbjhTaEhsWFZxWFZwNzEvU3ZGVjd0cU5DOGQwVnZYK3VvYVptMFRXNHJ1T29ja0N5NVRFOEVQWDd0c3IwS0t1MEppc2lNYjlwL3VidWFMRE9paGJ0Z1JMMTYrY29UajE2NzJxRnByMG1mOE8yS3ZhdDA5cTI5d0pmdzdjb2lkUlgrMk9iN3p2dTdYUHFFdmQ0czg0cFZ1bnRYcVBHa3prNE9UajFiWVhmdnNxeHd1U05Ec3l6NytOWExZa2NLcDU3TXZmYmY1VnZxUDNrZkxma2xCeS9iSm90Vk5NYmJwc1ZwaGVvdVJINDVvYlJIcktpV3NWMkdabU03aFdhWkxYdFRobWFUVFhPdUtTMTk0S2pZVStlUDk3N2syMTVQRGRxM0RkQUo1Yk0wdksvUURLbXZQTW85VXpSajBpS3Z4V1J2MkpOZ09FdUwzWkpvZE5PWVpHNjlGZkYrbGRUbnhkUEFLem5sUnpaL2QrR2l0TTh0OXduU294eThvNjdNdUQxNXFycVBacGxuVDZKUlNtWmdwcWZQNjVzOGwxcTgzeEh2bVE5RGN4YUFLRkhrbVJPTDl0ekpHckJhT0FaVHV4SnVNbUc5UjQzR1lyZXF5cDRKSmFOdlp1L0tFK1NUT2pSTHI2UkJlbEVLWURxTWNvdWVsakJTaXNna0x3NWp2bE1HK3N2aTJYbTlGYTBTVmF2MmdKa243YWhVNGowb2Fqdndod214bUwyTUhzUHNDUEc2eUJpMTZmVmNyMGJUNEVoTVJsTGpWYkgzY3JwYUlCY0M3emxJUG5Db0J5aDcwMDZaWm9yNnR6VG9yNG45OHpZMEZ3ejJST1VOeUdtWm14VHBlU2RzcmtmSms1aG9jK1NOVVlBcW1LZzBlUXJVZHRBTmxKT1k1ckkzM0pwVjVRL2szL1NYUGJiM3kxOVlxcnBZcEZFYW1sZmxjVURaY3Q4aUhRNS8yZmJlRS8rY0hTVmY4MDhmMi84eGRvOFRPblV0S0ZDbGlxdE1xZjRxTk41RWtPaXN4bHQrOHFuTysvNG9zTUhiU2NsaUZZbnhBM1E1di9mUytKOGYyLy9Ec21MVlJaVkpvWDMwbUlnK3ZxV05GOUVnWG93cUtKL05wcjZwYytXaFpYOVg0OCtmNm56Z2gvd2NMdDBmWlY5Q0VlK0wzdHo1NEZtdlNORXJ2WjE1TWc3TmhRSWxHVDE4bEdoRjlpUmtWVEF6ci9tVGIrNWMrVk5LdnVDSmg3L3VYNzdLZWxZUkJLK294QnpHbmRvWGVTblZjaFBkV21KQ05ia1oxMkhWUE0wcVNHRFUrNmMrSW43dmdpMGJKUkpWcS9aQXhvN0tHSXJ2RCtxSG5GNzRVWEhsRi85TFpJcmVaSHFPTFZocTR2U1hQTGIzd1IyS1lGZCs2Zi81NHYvNlZsWkFJdlBNazFmM2ZwbXFIcjN5UzYvNTR2L3VRdGJUNEN3alU2S3BJaUU3eUk0cEJUdDdibFJnR2l2d3E1RDgxRFRYVS9YWUZaaFdCNzBwcyt3Yng2a0N5QjhYQWlmYzR4cGtFbDIzK2tSa1dlNnpVZVpoMmR4WU95eVczbWs3dDgvZmFZMlY5S0hES21GQ29ib0pIT3BwTG9BeHhkK3F5c3MweE1XZ01EYkdsOENjMlBLTld6VTNlMjNtb2ZiWjFvcHRCeEkrQWUvSC9menNBMCtqd3c2OEMrNU9BdzcxTkJkMDJUSHVRUzlUNGxoK205UnNZajIrQkJyK0p3Ykl6TUpQZE9vclBlUGJnbExMMnJPbHUrL2VuYWZMRHEwUEVBczY3QURoMzgycW56dWgrYlQzQkhlaFIwOG4zNWtzRkVYR3dSSTRrMzhweWhwQkQ0WFpkSjQ0MUQ3YlhZNWFnODJjd0VLdnAwRU9DQlE2N0lEQTMrMXFEL1UwRjNUZXlSdkJacmh4c3ZCTm4zQS90c2FHd0pIbzNZRGkrNjZIMm1jN1l3TjZ6QXladXpobUJtbHowR0hqMlMvUGVhc085VFFYOUU3cllyQVpialRqTTY5d043YkdoOEJwLzNVa01vdmVKSXlNTzh3K08zVXJhZ3cyTllIT3psaWlRSWVOWmJmY0JVWWQ1bWt1N0o3Vm5YQTcySm9yZlh3N0tJcU5neVV3NlgzdVZGb3lXWGl4K1RENzdGSDU0allXajhCWFhWYXZ5cDBaMDRObmRKalhWMGplUVFLSGVab0xNRTJYRHUzTnNtZkVBam5ZT0dBQ1U5RVBDcHdvZk43c01QdnN4cVVEeGp0MjZqZnpRNi9panlLT2g2WG9zUEhvaDd2UGlzTTh6UVc5Wlg0VUtjaTBHOFd2UGRwZFNJd1pnYzN3YWZxVy9mVW5ZeWY1clBsdXRjazZOT3Z1NHFFeDljNFlTcDBwZGtqVjdwZ2VzNkREN293ZlFFdE00REJQYzBGYm1tVkRlMEtVUFNNV3lNSEdRUk5vQmk4eTArLzhyRVFXMFhuMW1MNW9FeGxhM0p3b3ZiWlRMUC9jejVHL0lERkx6ZXpJZitPM29NUEdyMC91RW9zTzhUUVg5dERtK1hBNzJKb1VhOEUyTnNhWUFEMzNOZXZNKy96b2dXM2FRN1A1YlZmZ1VLVk9tQTl5SHlxclIybXMvTDJBSGZwWWRlRkw2YU5VV2wwMk9xdzZLNVNzbGNBaG51WUNEcWRMSit2VC9tUWYxTVBHK0JGbzIxL0NrZytCaFplM3BiWDBNMk9IOVYyNDd2WHh3MzJ3RnRFWFptUlUzdjJOZ3pVanBSMGRsaUtEL0JFVE9NVFRYRUNtdlJWc1JodDRyVGtDTXRhYjA1dmltUXU1aGZUckZwOEpiVDEyVHY0YWxkai8wR3ZDL0VPeGRXeE16dzBQRXQ3cUh2MnU1eG45WTJ3SGFRaW5HeDNHVVVIZXlBa2M2bWt1b0ROUmZobzFneWt4d0RYbUcyZm9xZDF2cHVEOGxWOGk1RThTQm92N0RlWWcrM0JzTk1mMGkxY0hTZS9FM2s0MjBZME93QTdTSUY4M09zeW5nZlFkSTNDb3A3bUEwcG5mQ2piampTYmVuWXFSalBYMnhQZlRpZkdlUER2K2NHeW4vVFhYK0VNa2NjRngzUDdicytObzFRSGJ0RVEvdkwwL3BtRFFZUWZzSEhlcitrTTl6ZlhUYVRqNDdZZldPSlI5NXpkYzdldzk4WDNMNDJBTGJCZ3BnZWx2Nk1pZjdzVUNBaUJ3MXhFNHVuUFhOUmtOQmd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QUFFUUFBRVFBQUVRaUFoTVArL1A3bi9xNmtxVU8wNmJqVWMrZHMrVGozKzhsMGtUYjNwTVhQbndmSzlpZmU2dkZjOGpyNzdud2NmZjM2Y0ZCMTY4SXY4RHR4TUdnQUFJZ01CaEl2QjMva0ZpK1VKcXhhNlF5OG9ZdCtlNHNyQlhhSDUrUjRnckhmRnN6Ykc1VGp4VHFpRzN4eGcxYTFvMS9teFZaSUlBQ0lBQUNDUUlMS21Rd1B6N0pGV29NL1lrOUErWlhTazBmSWNRUDNZaHkxNHBmblZJYlZIMU92RWdORWR3c1FrQ0lBQUNkeStCVlNZcXE2eFBFWk8zbmR1azlNb1kwemx6LzBmSXd2S3o1aGNMOGNlcUNTOFR5N1UycFU0ODAvZS9uaHBpejVyL2VuK3hWbE5ISlN6aVg3dlp0UXNjRlFqSUJRRVFBSUVhQ2F4VFFIam9mL3JjdDc3a2tXK25sUGphejczM0pZLzg5ekpLUEsyVU5Hai9TbzNxUmlDcTFTTTBUMnlMZCtWcTM5NTVkODM2YThYek1oZWFqd3F4WDdPcEl4UG44YS9kN0p5Yk8yb0FBQ0FBU1VSQlZOb0Zqb3dDQklNQUNJQkFqUVEyeFo2OHF5d1hpc2UzOGxUMjAwSThreWMzeGo0MEgra1JtamZFSGwzTnB1V1lPZDdJVzFiTC96cnhORnhvcG5BbkZtc3hjUFJDUFA2MW0xMjd3TkhqZ0FZUUFBRVFHSjVBUi95K0VkSnhvU0Y3d0Z4Ym5SbjcwRXdSdCt5Q2RxTWpQcDIzY0dFRXA2SzE0dWtZNk5tcUVHTEw5TXVZcnozK3RadGR1OEF4WnduelFBQUVRRUFSRUh2MnNlVk5JWjQxVkNiRXpUdzVNL2FobVI2Z0tndk5wNFdZelp2U3BuaG4yamY0ZW5QSHIxc3JubTBibXRmSjFCdStub05JaHkxTld1RHhyOFBzUUdzZEFwT0dWOW9SbUZPcEJncUJBQWlBd05BRWhIemNLMTgydmRDY3JlcHIyeWNQZTJqZXNQRzRudEM4dldONHlYV3RlRFp0YUY2bDBIelIxM01RNmJDbFNRdTgwRnlIMllIV09nUW1EYSswSXpDblVnMFVBZ0VRQUlGaENVeDcxMDJEMEx5d2w0dXVOZllNYXkxYmY2TDhySG5WWGdwb3VudnByS0JxbVowZHYxeXRlRnhvcHVNSmNkN1hjeERwc0tWSkN6eitkWmdkYUsxRFlOTHdTanNDY3lyVlFDRVFBQUVRR0piQWhQZTBVUkNhVCtocnY3WEdubUd0WmV0N29ZSGJ2eTNrRzlweW9YZWdUVExQR09pLzJQR3IxWXJIaFdhNmYydmZvL0xWM2RGMDJOS2thbzkvSFdZSFd1c1FtRFM4MG83QW5FbzFVQWdFUUFBRWhpVXdKYzVhRVVGb25oVDVQZWhhWTQ5VlZXZkNDdzJjV0dHZUFzdXlWOXhhNWtyMGxUY2R6dFcxNG5HaE9Ydit3enQ5bVRXQ3dsRkxreHA4L3NPYkhXa2RYbURTN2tvN0luTXExVUVoRUFBQkVCaVN3REh2d2FnZ05FK0lDMHAwcmJGblNHUDU2bjVvS0phWUZ1SVR4ZHpCYzQ3ZG1kQTh1SUcxMVl4YW1wUmJ6ajlaTGJHanF0WkU5YnF6eDh5Y3Vwc0hlU0FBQXVOSllOTDdza1VRbWh2NmRQcXdoMllLSERmcVJILzZyZ25OVVV1VEVPc056VlcxSnMycGQ4ZVltVk52NHlBTkJFQmdYQWtjOFc1cEJxRTU2K3dvbXhHYXc2NDdlZGVFNXFpbElRWnZxOTdRWEZXclo4QW9rMk5temlpYkN0a2dBQUxqUStDMC91aVh0Q2dNemV2bmxaVUl6V0ZudGU2YTBCeTFOTVRnYmRVYm1xdHE5UXdZWlhMTXpCbGxVeUViQkVCZ2ZBZ2NkNjgxUjZHNU82dXNSR2dPTzJ2OXJnbk5VVXRERE41V3ZhRzVxbGJQZ0ZFbXg4eWNVVFlWc2tFQUJNYUh3QW52ZGFMd3JIbHBSVm1KMEJ4MEZzV2hIVCtqVmp6ZUU5cStqb05KeHkxTldsRnJhSzZzTldsT3JUdkd6SnhhMndaaElBQUM0MHZncFBlTnl6QTB0NjhycTJ1TlBTUGhVQjRhYUcrZGo0R2R1bXRDYzl6U1pOK1Y4MDlXNDNkVTFzcFhyenQzek15cHUzbVFCd0lnTUtZRVpydzNpOExRdkh0Um1ZelFIUFJjOTY0SnpYRkxBd3orUnEyaHViSlczNExScGNmTW5ORTFGSkpCQUFUR2xrQVltcldaQ00xK2Y5RnZaUnpvQmUycGIzcmlkYjQ5bzBzWFdwcFVWV2RvcnE0MWFVNmRPOGJNbkRxYkJsa2dBQUtIaFVCWmFIN2xZM3NmK05xd0lTOTZxdk8rSHoycjh4NzV0bnRlKy9odjBzYVpIK2hjc2JsaGhUNjNBdmxjM2M5K2MrY0QzNVZsVVdpSXF0SGUvSUwybDcvNm5nZmZ2SjNiVzJadDQwMlA3ZjFTMUZTai9jeDJJalQzd21NRWVPdHZlVXZueXIrNjRHWElSK1R6VjlrYXovdlkvVTlldmU3MnZmMHRuZjBQejlNdlRwUCtQV3BDd3Y0Zyt4ZVc4L3E5VEFzcTJaNHJ0dFJaWTFJeGY4L3N4azk5N0l1ZWZHeUxPdWNITHY4b0dmNy90L2N1d0pWbDVYM3ZWcDlXOTZoZlVoVUo1UXB4amxKSnJ2RXJFaGZ6R0dhd2RFMkZnaEJicWlRUXhvTXRPZUFHWTQvVjEvaFNOcGg3NUxJemRuaGN5UmpEdlF5RlZMaGlPek1EcDdrUUdOT05qd0RmR0thSG5NWWtnSEd1aitJUTI5ak9WUnZHazZhUGhuMy82LzN0dmRjK1o1K0habHJxLzY2Uzl0cHJyL1d0Yi8zMlB1dS8xdG92dStTT2pZcDl6cGZhM2Q5NG5kMmZLMVVZOUFiYTRad3I1V0FUOTEwTjZJNnhWM3ZUZy9MOHVQMkhmK3FlTjEvR3JxZGVlZWdGOFJJblgzU2wrK2x2eis3RDBkLy9qZVZrOGlQWmFHNlJBQW1RUUo1QUQybCtZOXB0cGVsL2tEbGVucWFYVytuK3JJNDdCOGxLMDI4bXliRldlZ21mUmQ2VktTUGg0OTNMRDk5Ly95T1gwcGx6S3ZUZ2xVdEtsT1l1UFhMLy9WZGFSbE15OWlNbXBuNGM1YlRTMzh0SmN5YmJLZTJXL0FkZFEvZEJ4OFM5bmR4SXUxZlM5Sk94RWwrdmxOa3UycEQ3OGxRL1BCRmpMd0UrVk9DQzNPV2tHVE1WV0s3NlhkK2l0eCtmcnpVZlc3NFRYNlFxOFQ4YS9YUDZ5S2xPazE4eWlLS1pwaUkxOWRsdG9NaGZ1SzJHbStxTDA3VU5uQTYrOEV6QnhzeWY2WVRwejZ1dFFxbkNvRW45QmhCRDU4UkpZTlIza3pMOGI2aVQ2c0VyTGQzcm1kUm4yeVZ6RldkUWQ3VE5rL2lWNERUNDhMd3RvYU1xZ1BmMlBCZWN1N3VoMkJBNjNrcTd5UEY3SVNhcHZTUzk4UVgwU1M3c1hiZXhiN2d4Sy9ZelNBSWtRQUtlQUJvZC83MW1ING5tY1RWNWR4ZkR5TCtVYXBIOG4ybjY0cVQyeG5SZmE1UnJKS2VhSDU1Sk1QWXhvejl2cEJBNGJscmtGTkpzUTFxYVRYaFpKYy9hTHhoSWFrdnBqYThteVErbHY1QVpOV2V6OVpIbWlMZFRHK21qbThseld1a25pa1hpV3d0aDBkVzIwdHdYVDlIV1g2UmYzRXltbHRKTWExNGl6ZEM1ejgwL281Tis3ZTdINXBNRzNqdGFRanNXL2R6MFI1TGtCOU4wUGJpUVJSVExsTVJxR2d6b1VJUy9VRkluelUrNzhWL3hVUkhMS2x1d3R2SzMwdlI5VDduOWo1dnBMMkN6VUtvd3FGTy9JcjN4dXFUMlEvNEQzRkhmZFVyeHIyR1BtWkZtczZHbGVXQjNsTkhKZHZxYjg4bXpjREJzRVIxbGNUK1phSDFnZmlQNjNmQnpyY2QvTmtuZWtZWWVTcExzcWFPUzFMNXpQN1dmWGdVdko5TFdMbGNrUUFJa1lBaVVTdk5VNjVVcVJWTW9ONXJSejZ1NE5UVlV4b0RuaFY5R0MvWE41RDZJUjVKQUVWZFZiUGt5ZVE4S1E1UDJoYzJKTHoyZ1FnKzlHb2xmM2xMQnoyNGltTE5mdEhSM3VyK3NZdC9kL1JYeFVjaGN0bVBuejkrRGJ6aWQxOHRyTUhReEt0SEQyMGI2dUtyQmlkd2xaVjMrSk14c3BPbTkycHBLaFVYMVhQcmpNV25GLytPcEpvcEJwZXdNT1drKzlrSVU0MGZOVSszMGc4aUtIb2k2ekwyRXIzV1UrQitKdHE1dGlMNVNEbEVrRXdRb1VsUGh2UXBHK0F1M3o3M3dEK0h1VHEwMUM0ZnRsNmR6QlNzandQeHYxTG8yMThWQkw1UXFES3BVWjIwLzhQbDJYY1pCcFEzTHk3N1VnaXZtQkVzbTNxTEMxOVdwTzdnN3ltYkg5TmxxZHAwa1g3bW5wYVQ1anE4bDZHNWFvUTJGSTdTa2Z4SVlWWWZmeFBIMDM1b2tIWmRqRDE1ZHlHVGpCZ21RQUFrWUFzMnlVZk45V242VEJULyt3ZHh6YWw0akZqVHMzWkRtV210WG1hb0pzVFNtSS84N2FORm1kRHdhYnpzR1FYT1ovb0dPSzlyUG1qam1CNEpMSHhXbEZiT0pNZlVrckpzU29laHhiMkYyVVJka3V4elpRckhWeUdtMmt1WktlTEtXR29ZbzFNYnFsdDd0cEJrRVFlZXF6WEpIcW5RclNWWjBPMTQzR1VyOHowYi9kWEtIZWFQTVFwb3VXMnVWajF5K3BpNi9XY2Y1UzdmdmhqVGZobXEyM2NYKzRyRkpmSmVoMXZ5UXNac3JWUnFzTlIyU1J2aTRaN2JDNGtsQTRhNDY3djZsZDJ2dXVzd3c3aVRQYzMwY25LbU82R1FMMHJ5eG0rQkJLL0d0R0ZlKy96NkdsMkdjUlB0Mjcxa256UnZJdSs2eWNFMENKRUFDZ2tDelRKcmJwaFdDanV6WTVGRGtxeWJZeENoT0w5REFiN29YbUhUUVdQVmIwSkxaTjVFaHRHTlQ3MW1SanRqUDJsdHpiYVFhZWZtSnhFZzJJYzBZNG50cEx2SFdtOFhBZnpOYm90bHFSS1M1RXA2TXNhbjBmZFo2V3c2Ymd6UW5DeDR3dE0xd0FuNHduL2crYmFuRS8zeDBjMWVuUnRhTDFvRTRvc2lSeTlmVTVyY3JEeXJEWDdxTlFlUk9ZekZKV3ZiVFg1R0NBUmsxVXN1M3R2UjhjN0hySXppOHh4OXlUR1JmTVBuVVhFTEVkN3ZUcmZaYzd3QVJwMUl6Y3p5VU81akFzQTVqVHRxL1IyOHAzVDhKNlVjdnpYNUkxWldyMWxzMzdBMWdPTXRYelk1YTZGbTA3VGk3amJ3N1ppLy9rd0FKa0VDR1FKazAvMHM3cHNYb3c4b3dHaWFudlhYWDhVL1FTTzdOR29NckpjSW1pOE80d3c1bDBOSTY0VGh0bTYrWWZaa1pnN1p0dDcwUnBEbVNEVzIzSDB1aGlaNXh1YUxld3BNZGt3RFp0bDFTdVc0VXBia2lIbWtGdW1DSHpTQzE2L2NJYVVZN2IwVUFWVFYwNEpKNGRWdlUveVIzRU40VkNEc0lFVVM1VEp2R24zeE52WmNxVU1KZnlaTjFXMTBRLzVRNlNUcVdhYVJnMzRORFdxdHErVktGd2JZN05wZ2tEaVJLT0dTOGhTcTZFeGVlbS9INVVPNmM4YWU5bXI1ZXRvWEExTUtPbW04UGUwUHhhKzRBNDlkamovbng4QktjaHBWbVFPS29PVUJqaUFSSVFCQW9rK1kvM0RHSk1FOXRSUm9mUWJiTlRJSzdmQzZZM1JnRlg3YldGdEowMWdiTFY2RWxhM24xdk0yMDBGSDcwdEtLMEg0VVpuVW5sazFLTTNMTk9DdFJiN2RjTzVwZ3J0V1BpbHdXdFc2RUZEb2EwbEVSajdTQ1hGYUtNSERjOW51RU5FTk5yTVl0K05GV1N6YjlVZitWTk11RDhKSWRZeHRIem9wMERGRXUwNnpKazYrcGliWC9WNkw4RXpXcGE5MU9JRVdmVkNmSmx0R3dTTUhvbk5rRGgyeTJoNUl2TlJpRThtMDZIODZrM1hrYnpsWjQxcVhJck5HUnNOVlhsNWlYMWI3aDNPa0VpY2RraHAyRFQxYlMvYmxkYlZKMG5ad0RMZis5OEdacWRmaE1PT1RUTm1vRkFMUmZMaHZYSkVBQ0pHQUpsRW16SDlmNUNXOEl5bzdORkFhYVVBNm4xOU5lVG5yQTdmaTJkczIzbkdkTUV4cTFMMHhCYXV3RUtDTFJadHNXUHBhdFRKcWozamFEK0lWUmxTZzNLczBWOFVnejRHTTdORkFOUDZEenp6VWpLYXB5MWVSb3VLUnEvTG5wclVUOVY5UEg4aUFJMXl5dkdLSmNwbFZmN3E0dkxSY280Uy9kVmxQTmoxeEV2cW5YZms3bGpoUzg1VWVLQzZucnl6V2NSdHNTSllmck5rN2Z3clZ0TjdJVlh2VkpaQUR1ZHQzMkNTT0dRN21EdnNTNnM0Tk9tcFhWcEo3dVgxSFI3M3ovak4vckE2aVo3ZVBOdWNPM0VLVDVObXREZGg1OFZnWklnQVJJQUFUS3BObk5YYU1KdDYzam5tdEprY3NMWXl2b05VYUY2MzJSd3NpaVNiVG5XODR0bzFOUis4SWdKb1N0R2lNU1U0dDJJNVpOU25OZGpKcGozcUtiNFo2SlNhWkZXbEZ5SXljZHFHbEZQTUtJTW02bkZlQmVHSjJMVVhPUXBBMWY0cExMcEV6Ri9DOUVlMEZxT1IzWkV6WTh0Nml0ZkUybC95WDg4OUxzanEvS0dpa1lOVnMyVnFmQlkxY0g4NlY2RHBCWDEvRkR3ckFSOWQxWURmODd6anl1Q0JzclE3bXpFTXdrNmhqdW1oTHFZbEFleXJTaDFKOVRTSFpCUjliRGhQWnhKKzlQdmRlaUtCaGdCQW1Rd0MxT29PbEh4UUlFdE1kUEJyWmRBNCtVZm9EZ24vOXBlYWxWODVyYndrWThpTFp0eCt4WjgrYm10blZNMUw1SnEvOXZTZnNZY1ZocGptWHJJYzJMMXFMM0ZqcmdGUjhUOWF0MnYxdzFmSU5zWXF2amtWYlVCSzVwaXFFNDRmR3BxRFMzWFZMY1crMUcwckJWUWpzYjdVMjNYUWNpaGlodUsxOVQ2ZjlXbkg5Qm12MUpvdnQ5ZnN1Y01qZ3lybGNEMkhaQ0lGK3FsMlowd0s0RkZ6bythNnZLV2JjU3VvcDdGN1dWSW9jSzdpekpXN0F4V2JOakhLcUwweWE0YUVOdGY0ZkFnanVqNnFFRGVOSkpjeUVmSTBpQUJFakFFRUJ6NWR0eXp3VGE0NitndVFZZWx4SDllQXkzNU5qbUJZM2tzczBHNmRueEZzb0NZZWlGbktzbVZmdUNXc2Z0bXhUNmZ5ZTB4L3FXSkNPbzBXdzlwTG5nN1lxNzR3cUZRQXEyUllrdTJDaEtjMFU4em9KYVkzanVabWZsMUh4VW1sUGZiMEhaMjk1S0swNDdHKzNIbVUxN3dLS0lsRFFYV0dEQzFvMEtmWmsrMElueXgyNnZwUG81N0hDU3hBNHB0TTJkYmxNdE4zZVFMOVViWEpDVlY3MFVmYWJvTGtyUmQrK29EZUI4Tk5NeHVJZGdVY1ZGT1BSM0I5MG9vYVRvRWRyNWpybzRiV3lCWWJYbmV3WFRybWVGcXV6YUJKUGh1a3pJd2hBSmtBQUpDQUpsMHZ4MWw4WkpNMFRWS1l1ZXFUVDdXKzdXSm4wMzBJN0xWTHBHODJpYVpnVHNUY2hUNXVhb3VIMWhDQmxjZXl5a09acXRoelRQVzR1K0k3SG1tMUd0bnRkRWlTN1lDTTJxamtMUHBTSWVaMEd2LzN4LzBXNUxsQU5LYzhGL21Nd2VCS2RIdUZaaFpES0tLSmRweDNpV3I2bjFWNi9pL0xITEs2bVc1bkNTcUVlc3doYmtDbWtoVlg0dS8rU3Jab3o5ZktuZUlIYXNtaVRxZjkwTGRhdktXUWNaOWJmQmJhcjhRN21EUzgydUx3RVRPTEdzVU1PWmRXVTB1cHhyL3E2TlIzM1hkUkRuakhrTkNiYittZDNKRlFtUUFBbVVFR2htbWg2YkNPMklseWduemFwdDhUWlczS2dPamFTTDlHTG5JcUpydkZ0WXg1OTl0RzFINXNkTjh4MjNIMndvTFhlNkpLUTVtcTJITkR1RDNsdlVZTlZGb2d3L3VlM2lzRzRVcGJraUhtRkVCcVZrUmFXNTdic2hjMjdZcGZLWDBNNUdlOWVjTkVjUnhXM2xheXFjTHVHUEZGNUp0WFNGazBROVZSVzJWdlFwc3hlR3NzRjJ2bFJ2Y01PUGsxWGlCZDhqYWxVNTY4SjlZUGJpN2xEdVlOcmQ5eVgwZTNYc1NWZ1hwMDJvU1NFMDdhUVpFekxxamFOY1NJQUVTS0FLZ2Fac1BsMEdOR0lYWGRoSjg1YS90UVY3MERBdDZ3Uk9hYkhoeGM3bGpLN1hiTTdwYjh5bFptTFAzcU1UdHg5c1lNempld0ZDbXFQWnlxWFo5QXVFdDNpZ0pwMTFwU0NmbjZsMmNWZzNpdEpjRVk4d0lvTjlwUm1hdEdzeUxNbHA1QkxhMmVpQ05FY1JRWm9MTElvMUZVNlg4RWNLcjZSYW1vV1FSUXJHNGZmK2VlTjV2dDVnbXBIbWFYOGZXTlIzYjg0Rk9nNWkrUm5XM3gwVUttcUVXOUhzZ2FsblhITkZGdGJJdnE0ajBWSEE4dG4vdFpDQ0VTUkFBaVJRSk5Bc2tlWWRsN1J0bS9DR2J4aXhaOEcxVUszVTNkV2pwTmtMbHN0Y1hOZnRLSEJ2Wjh0S2JkMjAxWEg3d1FETSs2S0VORWV6bFV1ek4rRzh4WVNsVTBFOUtQSlhha1BKTVduZWNidDc0M0dweEhycTcvejBQWDJsZWMvM0Y5YmMvSVF5VVVLN0pCcUhWcGNiUlJTM2hhUzdPay94WHdsL0pQUktxcVZaQUl3VTNJNmRKUGxTblVFMVVCZnVvTU5vcjlLV1ZEam45SXFUUlhzWDJGRHV3SWlva1pwcnVLcUxxV2RjeTVWc04zL2xUMS9ZY1Q2b2swZ3ROL0ROR0M0a1FBSWswSWNBMnU4dzZlalNvaEhjY1dHblBYT1F4bDkyQzNKZDBBbXFOWkxPRnRabzRiVVViOHlpQWQ1Vk85Wk1XeGUzcnhLWUJUNWw3OGN4VTgvUmJBTkk4ekUwbDU5MjFYcHpkb2praW03a211SHFlSndGdjM3WGExWDczRmVhcDMyTDdpWXR0SVVTMmlYUk9FZzZWeFRSd05KY3doOGxPQ1ZGTUR2dEVDa1lWZC9SVHNsL2pSeGZaMUIxbTVaRFFwdzY5Z3dvcVhCSXFrTkliNjY3YjZ6cTdhSGNnVzl5SXFYdHJuZlhNNjdsU2xhYlU2OXZ3bjBzNjJhbk90SDBrdm5LcXRuSC95UkFBaVNRSllEMm81bzBMN21teGF5N005cE90VVpTRklscmJtb1VVa3MzMGZDdXF4MHQwL3JHN2FzRVpwbVdlcGFnb1RQU0hNMDJnRFREbjh6eVFWZWVXRGR5MGhHVDVxZ2Z3b1lKdmlGTnU3Ly8zelpsVmFMWG1sRzlhem9INXR1Rk1wVFFMb2x1V21tT3V4Yk5sSytwcU1DMGREcndSd3FucEFobXBUbFNNRmh2QzZNbW1DL1ZHVlRISml2TmR0SWo2bnZCTENEcSs4Q203RE5hUTdtRFRPSUFxTzkyN09pQzZoblhDbVVuSjV0cCt2Ri9lTmUwbCtia0wxQWJ2Zng2TVRWalNJQUVTQ0JEQUMxSU5XbnVPREhNWksvV1NJb3MwQm8xSzRsbk8zSDFUZDNuUEdrdmVjYnRoNXhiY1dtSVpodEFtdkg0VEhoY081U1dDVFVxU0hQVWo0d1Y5RWZXOEI3TFRVVEtxa1NsR1JKZzNvT0NLN3hYZzVVUzJpWFJPTFE2YTl5MWFLWjhUVVBSeVpaMHVvYzBteDVUU2NIcXl2NjZNR3FDK1ZLZE5Ldkwyek1oTlViQjltNkRxTzhob1EzaEJOUG5sbnZGUjZkd0JsZHdCNGRNMUVoSjh6VnR2cDV4clZEMnM5TjBYMzNpWWpyVXQ0Ynk5V0o3dFlVOGpDQUJFaUFCUndEdDl4TXF6ZXIxWS9NWWFlSGVHdlBHNnJPMmVEUmNzZzEwL3ZuMVZsd2FvdGx1VW1tZVM5TVA2UHJJcXNTbE9mdFJTQWVoUkpKS29rRmFaNHdpU3FLWkdybE9pQ3NZNnhMKzJPT1VGRUVKUGttS0JWZlFRbUV3MTIwYVZKcFYrY3N3Wis4Q0c4NmRYQjNhMWFRWkEvWWJ1eWhhU25OU2UzcHFscDdudWNyRmhRUkk0RlluZ1BhN21qUXZSYVV6MnNEM1pEcW5MMU12WU1DOHB5OGRUdHVHS200L21KcVdlaFpHYmRGc1VpSHFZbmdUOFZaTm1vcVJXU2hQaEJvNXdTcVowTzdYNHVJencvWkJXMW1WdURUai9TU2ZnZ2RZeWVuUGlQL0t6WkxvWnBqUWpyZ1d6WlN2cVlCUXdoOHBTcVU1Y214QWUxc1lOY0Y4cWM2Z0dqVXJiYlVMc05zWmxxanZMbGxZcjVnaDY4cEZFeldVTzJ2WkNlMld1NDJ0M3V1MG1XcTYrK3FudzZnWlRreTlxWTBxeWRzWmc3TU1rUUFKa0VBZ2dFYWttalRQWmRzb2E2RmlJeG5LVXpkM3J5ZkpIUDdRYk0xRG9HM0RHYmNmTWlMMTliQ0ZZWW1SbTJpMkFhUVpobVR6SDBvUW9VWUZhWTc2SVd5Z1hXNzVrbVJWNHRKOCt2RTBmWEh5ckEwbjVzWlNDZTJTNkthVjVyaHIwVXo1bW9vS1RFdW5ROWNJS1p5U0lpakI0eUFYVHhuUTNoRkdUVEJmcWpPb2pzMXVTQTBQQnJyV3JHNDVWSmRNN0YxZ3c3bURPc2c3dEwzLzlWN1NmSit2T0h4ZUR6WEFOWTAvZ1lWMFVVWXhUQUlrUUFJRkFzMnEwcndYdlhzNTJzQVhDcEVSZUljRDJzdjJydjU2MUt4N2lhSit3Wmg4Z0ZSbTBXRzBzLzdKSi9Id1ZOUXRxUkN5RFkxNGkzR3BlLzFqb1VnWDBiQUtjZHdPZW1PajVxZ2Z6b0JlMytIYjZ3clhtdWNXdndXTzRicjhwclFSOFYvdExvbkdvZFdaNDY1Rk0rVnJLZ292NFk4VVRra1JsT0NqaDdUdFJwM0NjcEl2MVJuTVBOaW11M0syY3hiMVhWbzBZVWc3cnRqamprT3pHZUhRM3gzNGxwUG1kVzJ0M2tPYWF5M2ZDWnZPU1RQdXNzRE9hOFloL2ljQkVpQ0JFZ0xOcXRLOEpWODU0bzFWYkNSOWV2MXR2Ni9oeTdtSXdXT3IyNkhoak5zUEdYSGgwVTVucWppMHVtYlVITTBtRmFJdTJ0Q0l0K3JxNTJ3b0pScHFWSkRtcUI4WmF4dWhJRGtBalkrYVcvUEoyOSthWHY3aWZNWkV4SCsxdnlRYWgxYm5qcnNXelpTdnFTaTloRDlTT0NWRlVJTFhsNmY5Ujcyc3BVNU1sL0tsT29Pd0pydE5rRGs3d1JQMVhmaHFnK1krc0dQMmlTdDF0WHh3ZCtyWkhpazhXdFhXRVQ5VExOSEVvUGZwQ29MUDZ6cnlqa1d6VC9kSWUvWkJYVHF1U1lBRWJtRUNhTCtyVFdoajFHUmYrQ0JwVld3a1JSYTBsemVTNDlwVUM4K2RublJENGJqOWtGRU5iOE9XbCtab05xa1FzZzJOZWR2TzNBTWRTaENoUmdWcGp2b2hiQ2pWOGwwTEk4MHYxYnVqMGp6aGswb1RaUm9jcXhieTRkRHEzSEhYb3BueU5SV2xsL0JIQ3Fla0NFcncraG4yL0NtejU3cFV3bkxwcUJuMWxYTy9XMzdhSWVxN3RHakRIVFY2UGUyRU1NS2h2enVZSWJGekpjcW02c2d0YStQMUh0S01mUmV0QjlOYW1pZVhrL28xRzVNa25jZ3Z6dTlrZ0FSSWdBUkFBTzEzTlduRy9WSk9SUVc0cW8ya3lJTDJjdk9NZmxaMERhM2VLVGUraU5zUCtTRHBZcHppcFRtYVRTcUViRU5qM2k3RnJuNkdZbFdvVVVHYW8zNUlNMklvWlNhMEp3ek9xRFFmaTZDR3Naai81ZEU0dE5xQnVHdFJXL21haWdxVThFZUtVbW1PRkx3UUJwVEJkcjVVYjNETmpUbDEyajJ2ZUZIZmd6MGZxcXY4SzA0VWgzSUh0NktKV3h6UVA3R2RKcGllOGVYa0FodGhmbVJhMTZDK2s2eUVwNk5QUzR1NXJOd2tBUklnQVVXZ1dWV2ExWUJoUGpEN1ZoT3Uya2lHakxneE81MnRYMVFSZFlqOXdqZnNycmg5a1ErZXp2cE5MODNSYklOSTg1Yi9hSUl5UHZGNVgwUUlOQ3BJYzlTUFlFTFA3cnFxUXVYUTNQZVM1aE5pZ2tBWUthRmRFZzFnT20vY3RXaW1mRTFGMmVwTW1mWGJuajlpdkpMbVI4MlJncEZXS04zRUs3WEJmS25lNElvWFk1VnV5Yzl2UkgzWHByTC9NRTcrdXI4TFRBOTVjMmR3ZjNkdzFVWE1ZRURkN1R4QXZWeWFWYlUzclNNTFhwcERCL2g0ckkrYmRaeGJKRUFDdHpnQk5MaWgwWEFzWXZjNVlSNU9YdmhyTHV2RVZSdEpaeG5yYVF4VDExWlZCRnJPbWJsdEZWSkwxTDdacGYrditKWVptMmdqN1FOQnNXeURTRE91b2JvWlQ5ZzlGUVkzb2VnOUs4MW43UWkvT3A1Z0k0SDcxK3dtM09zanpXZDkyeTRzRER0cWpwT05Icmw4VFdYcEpmeDdTSE9rWUNpZDZIV1l5UlBWV2R0VkpUbStYcG9SVUxkWTI2WHBGUy9xdTBzbTF1aEFmTTNmQlJZN3d5cTRnMUtEbnNNaDI3K3FsMHV6TklwazYraURZdFFjQlA2Y2ZtaFF1TWtnQ1pBQUNlUUlvT1dwS00xYmN1WjN3amF3Slkza3k5NW1sRHRYbU42RUZ2NVZhMFlGb2ErTHpRc3VUZFMrMjRsMXBwM0dQS09WNWxpMlFhUVpZeHd4ZXl3dUNZYWkwYjVxTDAvWmUzV2owaHp6STVqUXMrSVg3VFlVbzQ4MG41RHZBQXRXU21pWFJPUFFtcXhSMTZLWjhqVU5SWmZ5N3lYTmtZTGgxS3kzYXVlYTg2VjZhWWJJdWVzZCtqcXZPMU9qdm51cklZRHBpWDEvRjVpZXVOanhPODBaM04rZEZla3dLclJxTE1CbmZRNTdleUdBRzh1OURzOTVhUTdKcDl6SSs2bjNscGtJeGhnaUFSSzRKUW1nYlhJTlhxaC9WSHVnaG1GSWVadWQxNHMza2tncTdwMEpkblVJN2UwTjAzUkJGWDg3REVtaTlrVmU2RzFvcCtHaGxlWll0a0drT1ZsemQvYW9zamF1aWhKZEVBM3lvZ3Fmc1VWV3grTXNZSTFHK3ByZGhQVDBrZVpqcWUwRkNBTUl4bW1YUmVQUW11d3hSUEZNK1pySzRrdjQ5NUxtU01HUXRJdmVhc2ZRenBmcXBSa3ZqUE1pcHpweWJnaGR3c0hiOVlGT21yNGl6SWtNNVE3dUVRZ09ML2toTk9veDQ0dkpCdER6OGpNRE9BYnJadFRzTkYzTitwdnpHT25LZnlWWms5d2lBUks0eFFpZzdhZ296WGgvc0hzTUJZMk5uZGVMTjVJcmFKeDJTMEcyZkpQVVRHOUFvOXdTcysvMnFmV1NhS2ZSUnJwK1FpUWJWTVR0VGVDTGIwT2ozbUphZmRzVk14R2RTSVlVcjZzVTAxWWFvdEljeGVQc1lyM241MEtURmRRYmIvb3lWWS9lQm9aT3k0dEZYaGVNK2wrcTJEaTBObU1FVVZ5YTh6VjFCZXQxQ2YvY3RXWVBYdVVwRmd5QjlSMnNDWHRrOHFVR2FjYXo0QmVjRDF2aG5Dcmg0RktHZFQxTjI5ZkM1akR1MUZyaGdnY09pK3N5d2ZKeU1Kd0pxWHZaTjAzTTVBMTljdTNoWmpUZnI4QXIzc3lQWndYcHlteGtESEtEQkVqZ2xpUFE4amUyaUtwUGk1RkN5d3NpM25HMGFCUFZXallrNXU3UXdGNjB1enRvZExadHVMaGE4eUkxRjVvNkpJdlpsN2t4ZmxtMTI2cjFjNDFrSkJzRzVtNnZ2NUNwY2thOW5XcUZ3Y3NkMFdFTVJsdTZaaXM3cHZqcWVFeDYvWDhyYU5Jalc0cnBNZE1sYWltWk5vdVRLR3cxMC9UeUl3L2ZmLy9iWHZWVnR4ZnJxUC81NkdzdVE5dExjd1JSM0ZhK3BzNlVYcGZ3VDRUYkFKK1I1a2pCRzZHcmRNWk92ZVJMRFFiUng3SjlRSVhFSDV3U0RobHY5UWE2WGY2Y1FjUlE3dFM5MEtwT3lLSXRaS1ZjVmlIZzZheEpkdVl6K3RTWlc0VTAyOHFxQjV1MzlkNE8wcTJiZFB4UEFpUkFBcEtBZWlSbVgwYm84RUtZZkVVVDd1YWNoZUNkc25LaXNydmMwMkhDRWFJUW1sUzMzNi9yYWJwak5oWkVPZm9WSkU1UW5YMmZSd1ZxYlMrNFcxMC84azRpYnVGcW54K2F6WVdCVjRtM0syRTQxdHpPbEdnM25PQjBGazJFZER2dGhVY2F3eVYyQy9LMmIwSXhsdDBkWjRJL0NHN2JMSFdrdHN2MVhXZW14UCtTYUhYa05rM1dDS0o0cG54TlhjbDZYY0pmM2RlM2JSTUNmSmcvUmx5azREdk4yOEZWaHM2SFRMWjhxY0xnbmo4N01keStLcDc2TXdBQUlBQkpSRUZVYXBMak5UWFJzODd1bFNzMXR6d1RJb1p5QjkzQUhXdGlLZWhySTV4V3diNE5kZnd2WVdPM3Jmb3F1R2R5SmFTdjI3RnlHODQ1eXdVYmpDQUJFcmlWQ2Z3Z21vZjBEL0lFbG9LMHFjWnQxZTUvbWhzMDFOcnEyd3RZMEY2NkFZSzZtT3FteGpjUTdiWFJwQlQvSVV5elpoUGpNTmZjcW9paWZaUE0vWCtlYTk0bVc2L0N3TW0xdWNWc1NMZy9iM0pCVC9TSEl0UldpYmNUZnRoOHA4dmxTclRyRFhWdEdBL2ZXSnVWOFVnekdKd2JSMm9iaTdxMTM5dFJ1eFhmWFJYQUFvSnV6S2xjZFV0M1VlOHQ5VDlYTFRlMlZKWWQzU0tpWEtadzVESTF0UVhiVlFsLzRUWlNkSmRscG1MQjZ2cnhwazV5d2gvQkhGOWhjTEtWZnNiWTY0UkJjNG52c2x3YmhvamJUcVNKR01xZHU5Tjk0ekI2VjR2T2NETk4vNTBORjFiM3VkUHZ1WTlpMG1ZL09ZZk83NHFmeUttMTdSSGF3QUZhTDJSbUJBbVF3SzFONE8rLzhKNWZSZ09qbG8rOTdRdXYrZ0ZINDZubjM2TGlIanIvWThuVStkZTBFT3plZTM1RzdhMDEwK3M2TUtjbGJNTHYzVXplNlRMOWlFcllRQ2JYMkt2dDdJS1dkZDdFWUpDMUxQYmw3SXM5TnVpYTU2WEhsTzdzbnpjKzU3S2RQUDlsN0V4dmZPSFZTZkw2ZTNRTjMzLytRbEx1YlFKQitYbFZ3akV2NHJtaTc5QnQ4cDI2U2EyTUoyY2pxUVBrTGlLL0UyWWdUNi9CY003eC9jTDVlVWZ3NDE4d1JPWlVIZXl5cjZDWCtGOFM3U3dQZXVSa1RmTVZVRThmR1ZVUi9PMkJWMjViOE4yM25RL1h5WFBIUnBuRTlMWHV0azIwN1YxMVNTSkxGUVpWNnZmWWZ0d1B1aDVNU1lWVjJzalN5WTdpQjNjSE5xZnN4N01ubTI3V3hwNVdEMzNoVlp1Uk1uR2ZWNXIrRG5ZY2F5MG02SDErWkFNVnhZUzIxZlcvN1RwTURTUzdFTXZQT0JJZ2dWdVlRTnMyL0hibHBYVFB4ZisxbW8rMHk2NEdkUklYUnYvQnI3NTN6WXlqMVFWZnMrajVPaFBVVTlLNEp0ZDl2QlR0VkJqSitPdllKbkhXZnRIQVpEdjk4R1l5c2RaZFZ0THMzMTZSemFabWp2V0M4ZCtHQzYrcjd5dmFKZTl0a3J3eFRkOTMxKzEvVXRxZFFPTjgvYTUzdGRhVlI1WHg1TjJ2d1pudXYvenBqUzZhWTNRRzFLQXI4TjFNVnB4N3N5cmo5N1RjcGxvckRTdnh2eVJhcVlOWlRPT2ZSVlNTQ2FYSW1pby9za3VFLzRvclp4YlhVTjNpeHY3SW5TMVltM3NGMU9xdTIvOXA4L3E4c3k1TEZRYjFiaHlibjN6S2U3OHJUVDl2VXBmNzdxekpkZDNmRm05aUIzWkhaVU9teC83TDdYL2NUaCszSG5kY1JUTTl5MUR1YzdIL0k5LzJvdlNqdWp1ckp4SlcwdG03dTM4WGdQL016eWVCbDVxaTRFSUNKRUFDZ2tDN2V4bjNHWm5sa1N1dElNM2RTNC9jZi84amwxcEttaThoellOWExyazUxMk50M1NqcE1TYkV3dTJGMkxsTVdwcVRmN3ovZ3N4RW9pZ1d3YWEvSHRueHBab1VHZnZaVEhwTDdiK1NkbCtnNTRGRHk1YkpkamE5aEJ1b1VDTWx6ZDNMajl6LzRDT1hNSEhZdzlza1FjdVB4VXdKUklwTm5xMTJtODdHbnF0cFB6d0ZPNVBRWml3dlVEdmUwUDFOL0E5OEljM0tybkoxRmp0T3BOMXZ4eXA1NXUzLzRyWElnZ25STXY5THFqWGhqNDJSNWlTRHFDU1RLbEhVVkczbWxpSi80YllCcjZvZ3BEbGJzREgzQnMzaGh2Vk14WWxTaFVHVDJod2JmOVdsaCs4bWZlYi9LZE9MREhFWkRpYTZwenM2aWMzMCtLYTEwMUdubFRyRlNxUTVlYm11NGFOS3lVODJQNllxV244MHFYWFM3aFZNSnprcnlSdHV6RnFEWEpFQUNaREFLQVNtdnZ1Qjd2di9YZ1VMdFI3U2ZQZU9NM0NmdldidHRwTis5cWVlL2tEM3M3dVlLN3o4Vy8veDIvN2JyN3A4L2JLNWRLWHJ0Mys1OWJIZlZ5MXB5ZktjTjdjK08xT3lUMFQzOXFQMmxTKzNQdjA2a2J3c2lBdmtkb3lJRk05QmQyU3hMR1gxK042dUJUdTlhMXJDUDJRdmhpSUZQd2UwLzZOWEtKV2xWNms0TnBmdlhTNGFyaEl6K1VqK29BN2xqc3IwNlIrdFVxQk44NzNmLzhEK0w4bWk3MWpFQ1BxNzI5MkhmMUxHRG1DUlNVbUFCRWhnZEFKVG5Lc2JIdUtwY01zVGpPRGk3TmVIdDhXY0pFQUNKRUFDSkdBSVRPYW1xc2xsQUFKejJZZHExckwzTWcxZ2lFbEpnQVJJZ0FSSXdCTTRXZjd3bEUvRFFKd0FIdm1aa1h2NEZVRkpnMkVTSUFFU0lJRWhDWnlWdHdJTmFlTld6WFl1ZCtNNmJncTdWVkd3M2lSQUFpUkFBdU1qY1ByYStHemRhcGFPNXg2cXdlUGZ0eG9DMXBjRVNJQUVTR0Q4QkZhMngyL3pWckY0MWo2bjVlcUxSM2xka0dzU0lBRVNJQUVTR0piQTJ1NndPWm52V0hnbmk0WnhURC9ZVEM0a1FBSWtRQUlrTUFxQktWNGRIUjdmcFA4dWhiRnhxdlExWmNPWHdad2tRQUlrUUFLM0dvR3o5aFgrdDFxOXgxUGZabnBWR2xycDhSa3ZtWTVoRWlBQkVpQUJFaWduVUw5WXZvOTcraEdvWng1a3hqZXJWdnZsNEg0U0lBRVNJQUVTNkVPZ2VhRlBBdTd1UVFEM2ZjMkczVS9MM2JBZDlqQkVBaVJBQWlSQUFsVUpuQzMvN2xSVkU3ZDB1b2IveUpIK29uTm1ldnVXQnNQS2t3QUprQUFKREV1Z3NUTnNUdVpUQkthYTZhT2JCZ1crYm1HKzVrVXlKRUFDSkVBQ0pEQThnWW5VNnNyd0ptN3huT2VhNmY0UEFPS3pucDZtSDU2L3hXR3craVJBQWlSQUFxTVRPUGVKMFczYzRoWW1maHlmL08ycXovNSs4Ullud2VxVEFBbVFBQW1Rd0UxQzRMMHZ1dExxUHZ6cTVadkVIYnBC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JBQWlSQUFpUkFBaVF3WGdMejR6VkhheVJBQWlSQUFpUkFBaU1SZUY3NnIwZkt6OHdrUUFJa1FBSWtRQUpqSmJDUjdvL1ZIbzJSQUFtUUFBbVFBQW1NUW1BaVRkT1pVUXd3THdtUUFBbVFBQW1Rd0RnSkhJYzBMNC9USUcyUkFBbVFBQWtjWWdKL1dWa1NYckk2OW1wT2ZYVHNKZy9ZNE1IZ09nTnBIdER4K3k0TW1JSEpTWUFFU0lBRURnbUJFOTNOcXA2bTE2cW1ySjZ1dlY0OTdjMlE4b0J3YmFYcG93Tlc3OHoxQVRNd09RbVFBQW1Rd0NFaDBQbXJxbzdXMHE5WFRWbzkzWjAzNXFzbnZnbFNIaEN1dVhSZ3VMWDJyOThFUE9nQ0NaQUFDWkRBMkFuY1Z2MFM1MVQ2amJFWG4weTFQalYrb3dkbjhhQndOZFAwNnFCZTM3ZC91SG8xZzlhUDZVbmdTU013OVRmLytJVmZ2akx3Yi9KSjg5Y1dmUHZmK2FudmYzTjc1c2wyNDZpVy80U2VGYzMvVVJuamdVaHpVaDlWWUk0Q3J0b3dOMmhQcEllcVYxUDVQR05DRW5qU0NhemdGemxFZC9uSjludER1MDFwUHFEanNLTHhQakVkdHJQcFl1VmFISXcwbjB1M0szc1FUWGdVY0oxTDB5R3VITy9kaUFKaEpBbVF3SWdFbnNoV1pVUlhaWFpLczZReDl2QVRlVllzRGFBSUJ5UE55ZExqb3hFOENyak9wdWxmRDA3aCtPQ1Q0SU1Yd2h3a2NBc1NlTWQ1WEdQeXY2OXp6ZDg5SEF5K2NrOExicnRSODlqZEhydkJ3MEhWZTVrOUszeDAzOEFRM0NZSHVmbm9nS1Q1VERyYnQycTlFaHdGWE5OcHV0T3JqaVg3Mmw4cjJjRm9FaUNCMFFqVU9rR2ExNGI3Zlk3bXdIQzVKNFUwajkzdHNSc2NybzVQWWk1NVZsUjNZd2h1ZDZRWHF0cy9JR21lU2l2ZkkxN2k2K0hIdFpJT2NpQThoaTNmUC9aUkRKQUFDWXlGd0lLWFppVjNnejdiT0JZWGhqR3k1RWZOWTNkNzdBYUhxZCtUbkNlY0ZkVWRHWVpiYzVDcmxRY2t6Y25jeUcrUFB2UzQxdEp1OVFNZFVoNGJhcXdkOGpORUFpUlFSdUMwbCtZVGtPYVJHNm15WXNZZDMvRFNQSGEzeDI1dzNIVi9BdXlGczZKNllVTndPem5RNDFBSEpjMm5CN2dWTFk3ajBPTnFwY05OVGJjT1RWOCtmdUFZU3dJM0xRRzhvYy9laTNzYnBIblFsL1dOdlZxbnZsbk41SXFYNW5HNG5TbDFIQWFyVmFJc1ZjYWRza1FIR2gvT2l1ckY1TGcxZC90blhVaFgreWZ5S1E1S21rK09QS045MkhIaDR4YkR2YzJsd1JsdGYzb3lRQUpqSlhES1M3TWE5UXd5dnpoV041eXhNd05MOHpqY3pwUTZEb091T3NPdE0rNE1aMkxFWE9Hc3FHNG94NjI5Mno5cko1M3ZuOGluT0NocFR0cWpudmFISFJjK2JySHFNUThTT0pOdUQ1S2NhVW1BQktvU0NLM0tGS1M1K3ZzZnF0b2ZNTjNwaXRKYzk2UG1jYmlkS1hVY0JnZXNkUzU1eHAzY3ZpZG1NNXdWMWN2TGNXdnQ5czA2a1Q3V040MUljR0RTdkpmMjkxWDRVUXdlZGx6d2Y3Tllxd294NTlLS3Y5Y0t0cGlFQkVoQUVCQ3RTc01Qb01YK0p6ZzRYZkduSHFRNUdZUGIyVkxIWUhBMGFsbDNSck0xWEc1eFZsUTNrT1ZXUWU1dUcyd2E5Y0NrK1V4NnNYb3RZeWtQTzY2RmROaG51OXREM1Q0V1k4ZzRFaUFCU1VDMEtoT3YrU081NTBrSmJ3MHV6V053TzF2cUdBeU94aTdyem1pMmhzc3R6b3JxQmpMY3BpcEljMzJ3YWRRRGsrWmpROTRFNWRFY2RseU5vYSsyejZXem5nSURKRUFDNHlNd1ZLc3l2dUx6bGhxRFMzUGV4QkRiVlVzZHd2UXdXWjU4ZDBZL0swNVdrT2FOd1c0aU9qQnByZzMzNkZBNHRJY2QxOGJRbDR3WFJwMXdDQkFaSWdFU0VBUkdiMVdFc2RHRG5TZEZtcXVXT25yOUtsbDQ4dDBaL2F3NDIxK2Fhd00rcTNkZzBweDAranZiODhBZGRsenAwUFUvbTFiOHdmYmt4NTBrUUFKNUFxTzNLbm1MSTIyM0t2N1N4Ylhta2Nvem1hdVdPb2FpcXBoNDh0MFovYXc0M2IrMVB6YmdHMjRPVHBwWGhoNDFtc041eUhHZEc3Q1BKTTdoeVNmL29RN2hEWU1rY0hRSWpONnFqSlBGWk5WTytGaWx1WEtwNDZ4cXVhMmJ3SjNSejRxVi90SjhacUFYamlUSndVbno5SUNlNUkvZEljZDFkb1FuTTRhOXR6dVBrTnNrUUFJWkFxTzNLaGx6STI3YzlxUkljK1ZTUjZ4ZHhldzNnVHVqbnhVYi9hVzVQdUJZOWVDaytiWUJ4Ky81QTNuSWNaMGU0WUx4eHNpdlVzdkQ1RFlKa0FBSWpONnFqQk5qL1VtUjVzcWxqck9xNWJadUFuZEdQaXZ3ZnFuZDhocWFQV3NEdHVvSEo4MG5oNS9SMVZVNTVManFBeDRJZVdBYmZJMjJ4TUV3Q1l5THdNaXR5cmdjMFhiYVQ0bzBWeTUxckhVdE5YWVR1RFB5V1lGWFYrNldWdER1U05QbGZra3krdzlPbXZHMmxKbE1VUU51SEhKY1N3TzlsQzNMWm12bzU2NnlkcmhGQWlTUUlUQnlxNUt4TnVJR3Z1aitKTndHVnIzVUVhdFhMZnZONE03SVowV252elRqUzFYVmdMaFVCeWZOU1R1ZGRhVU1zejdrdU5vRHZaUXRDK2pNcU0rRVo4MXhpd1JJd0JDbzBLcjg4d2QvWTdqWCtBM01HQTM2a3lETjFVc2R1RUxEWkxnWjNLbHdWdmlxVGY3amgzL01iOWdBdWhkOVI4M0hCNzI1OXdDbHVaT3U1NnN3eVBiaHhsVWI1U2E0cytuMVFVZ3hMUW1RUUlUQTVJdXVkRC85N1prZHZsVjV4Zy8vOUQxdi9YallOL1V6VjlMUHZnN2JQNGRtOW9PNFAvWnYvdFFMMzN4bEZ4Ri9BaVAvaTB1WWlYNzRINW5veWRlMkx2OWlkb3F3OXFZSHVyL2xjbVV5QlZ0L2laTDZTUFBFaXg3WXZ4ZVc2MjRLVXJoOSt3Ly8xRDF2dmd3UG5ucmxvUmM0LzVKTXdTYTI5cWEzcGg5NzlieE5raXRWR0hTcEh3eWVsM0x3NWZVSkRPcU9NZmVjTDdjL0ZvRFdmdTFQLzZjdlBiQ1RKQk0vY2VrWFhUWDZsRHZZYm45V3hJbzNjZTk2YTJ2L2l5ajhaRHROdXpnaWt0czV4UFdWNWxPNWU2OU92cVg3bjNwNldTYk5mOWI2K0xMTmVPektZaThUNzNqci9pL3AvZTlvNy8rUlROaElyOG5OUWNPSEhOZDNYZTFiNGFrWHRUOTlRYVdhK2lmcFozZEY4cE9Eem4ySXZBeVNBQWxvQXNkYmFSZU41dTlKSEw1VmFhRTFGYS9TbmRoUTIrbm5rK2VsUDFwVG4rYlowOXU3U2ZLZGFiZVZwdi9CR29sRm83VytoUFlhYWYweXVaRjJyNlRwSjAxRUxGUHlycC9RSmVoL2YrVXpaZ1B2Uk1sWDB2MExRWm9SNGR6dXFPQitrandYRHZyQ3N3VnJhK2RNMWE3UHFLMUNxUzFsNWZGUTdNbG1tcmJUOU1Qek5pcnFlMGl1UTQxTGo5eC8vNE5YV3RyTVpQZnl3L2MvZU1sOGRXOWdkN1M5TjZCZUFPcjZHMnBNbXVMMm05b0dPUDlPcnV5eGJQcXpJbGE4anZzVzdjUGo4N1htWTh0M3FsdXRXeXBDVjNqcTllRGxGZzA1NnROMHRoczIwY1M1ZWRXbFBOWmFkMEcvTHBIbXZ3VTI3bmh0K0pEUEpRTHcyWHlZK0xnNmhlVVhpdXVqWFRFOW1yZ0VPYlFHM1RTZFJjeVMrbW1yZ0Yxd3YxLzVJWGFKdUNZQkV1aEI0RnpyOFo5TmtuZWttZGJjdHlvdDFaaTZKaTdCQzVJZWYwcnRXOVAwSDdSZW1hQm5QTytsK2QxZGpIMHgwclN0cUZNcUVWM2JlR3dtbVd6S21hNnBqZlRSemVRNXJmUVQycjlJcGtSOXBzSXZKZEw4UFduNmdjMWtzbk45dnU1YWhKYktZOXp1cU9CK010SDZ3UHlHYTJwekJhdlNKNXJwamIvN3pQZCtSM3A5SGxzTmxja3V1dFNXMmdnY0p0dnBiODRueityNGxqenF1NjVWK05kUU5yQm9NN2ltcWhZdHpZTzdvNHkrSXIzeHVxVDJRNzVKZE5MOHRCdi9GUjlKUG9pVzBaOFZzZUpWSEZ6NDNQd3pRT1h1eCtiQkVKVnJxVXJxQ3VOMENVdTVkeXZ1R0NsN1NiTHkyT2JKOENXcUpjL2I3RlgvNDlJOG1mNFlIRmpWeVk2aDNFMGRpdjA3bWY3ZVptMU5UVjF2ZkhRK2Vibk5vMU5Pai9Ca0x3d2NTVndTWVdQL1o1Tm5xeC8wYmQzWEpaTWI4dHAwbWw2UUtSa21BUklZbE1BU1dsRXN6MDFsbytSYmxiLy9HclJyWHBMZW95Y3AxZUQwbTBseVhEVjQ3N2luaVFTN1U1QnFMRTNYaWthaTc5UGxRRFN1cXBSNmFhU1BxN0x4U2Q5ZHRSM0psQ1F2TzM4ZUxsdy9yeFpkaGtxWldTWmI2ZitqSXFhYXZ3M0hadlErNGZaWDdta3BhYjdqYThwaGpQUFZraXRZUmEybE41YlYrbjlPZnh2L0M2VUtneXBWeC9RbWFuWmQ0cnRLS1phWGZRbWVwT2xEcjFaeEUyOVI0ZXVmVitIQjNVR21zK20rcnV2ejdUbzU5OEkvaE1XZFdtc1dnNWdCSHc1V1h2UmYvRm1CcElYaUVUZlZWdGM0RWd5WjFBRmRVaGNyQTdkSkhNQ05OTDFYSGNqejZyREhsNlhNSlBLRU11UU9xaEo2MmZ3YkEzRnBydU1FbmJZcUQ3ZmxpQzVYN3ByNjVPa3huT05uMWNueEJ0a3pPQlBPL0Z5bVNwdEhFcGVvK1FrdHYzUDRRWGUyY1FtaktidURZcXBENUdDUUJFaWdLZ0gvd1lHTzB5MlZVN1FxencvU1hHdHAzVW93NHR0V0xiQnF5NkNJYUlqdlFFdUlaU0cwb3JubzVWcnJna3BSUzlPL1ZtdTFZRFN6cUFOclN1blZrc3VrcFFjLyt0N1htdWRTOU52VmNyemJDT1VMdDZIZCs4bkdibklHVGJST1dDdzRDVjJHNTNXTmJ1UkxGUVl4blc5N0swaTByRTJXK1c1MzJwVWFLai9xb3RiYy9QOVE3dFNhcm8vVENFVHZoalRmQnBidE5DTndyc1JSMStLc2lCWi9SOXJkVkdXczZET2pyazZTSkpIY2NIeDJWVnlQWlFOVDhtSFI1MVhiM1kyRnA1bUtudzZQUzdNNjI4N1lFME5KODJxd21RMGROeTYzMHQybGJkMUw5TWRIZFQrNjJjU0RiUjFGWEpMQWt1ckVKcWZUYng1WERRRk81MFcxYlpiT0NPOHJjVGE0Sm9GYm1jRFdEWHNER0lScjFZT1FyVXFRWmlSQmk0ZWxvNlhwYjh6cWpUcmEyNllSS0V4bzd1ZzQvTXRGbjdMcTJ3bk4zWm9UT0pTbW0vUkNKbU1yTDVLdUJMUEdtUHVxalVIcjRIdnU2QVA0d2Y1U3VuOFNMZTVwN0o1WFNTTUZOMTNxaVQrMDV2S2xDb01ZSGJvaTk0Slk1Q3BzZmNxdTlvUm1uckxLTVp3NzczRU9KK2ZjVWRFVEdUdU5SVDJOYkM1aVowc2ZkVXVjRmRIaTJ4WUdUZ1B3bWZnK1haN2dodW1CdnRMY2NqcXNNM2RXc1VwZE00OURVcnltRVpYbUUrcllUOXRURGRreVJyVmw5NitoOVFYSDRCUHFITVR4OFdlTkZtcVhiSmoxVWNRbE9KdzBuWm9UNlg3OUc0azZDLzJQQW9uV0RxUnZLRXBua0FTT09BSEkyYTZ1SWtaMFZqMnhLVm9WekNLNjFtck95U3BVYU5sem1VN1QvOC9lUEFNYitKV2FKUmV0RkVNdGFQeG1UQWcvNWgwVHdnem90Z25sTXBuSXZFaWFXUGQvemd6ZTFTYUd2czY0a2lmbk5zcmNYOWpSVjBMM1ZiSkl3YUZQQWYrTXFoVktEUWJQWUJSdWwrT0JSTlIzbDg2dTBibnhnSTZsSDlLeHc3blRkdkRVekxHYmlJQ3BUeW5YT2g1dHJueTkrWXlYbGkxM3haS0hPSEZXeElySDZQK2lUb3pqNlR6Q2R1QldSWnBsQnhFVE0vT1lqbkJIUkYzS3ZoYThzYUdvTk5mVk1keXlQVEhvUktrMFQ5a1RHYWUybWl2ZkVMTWFlbHBuczFCZTlZZ2ppRXRXZnNzY1l4ejExcXI1N1MyRzNYUGhQQStSREpFQUNWUW0wUElOSCs2RDhybEVxNExaVWF0eEdQL1lTMzBZZis3NHRKQ2tOOW90cFBCM3VHYWpINzFzMHkrazZhSUpvdVhjdFpFYmJ1eVp6V1J0RlVUUzV0SXIyUnRBOFVHYXZkdHFnblYvRGtXaGpkZXRTYVRnaHMvWWRqMlVRcW5CWUVlME8yMHJzR3FRRnVVZ25WVnorSDdDOUtSVmhhSGNnVXA1MVRpVDJqbDRkYVhoazZwL0JaUExtWExsUnEyVmxpNnpNbUVoSE02S2FQRUxYbGJWRlFTL0JHNFZwQm5IYU5iblRHNVRzRkFwSzhnNDdkYkRUaHVLU3ZQR0l2YXV1Q2Q0d3RXS1F1NVQ5bkEwVEorcGxlbFVvS2RUanJGZ3FoQnhCSEhKT2pZWDlSWitKK3BVVkZOU0F0YWU3SnpKWEF5VEFBbFVJb0JmbEwxK055ZGErOUNxcUh1N3JEVGpSMmlUb21YMmd6LzFvMnp2MnJLOGVPdmZxb2oySTNJSTJGV1R1Qm5hYnd4clRWelVWa0VrYldGNnRlRHRZYlBqRlZhNHJhYko5NitveE85OC80eGFGUXVHSUZ4WGUvUzFjTnU3S0pRcU9henJ4T3BmdzNkb29yNzdkQ2FBemtQWFJaMndQYUdoM0drNGgyRU5ubTRib3hpdVBuSVJ3YW5YZnM1RXhQNUQ2a3FYOVZnR0h4Zk9pbWp4RFQrejNoR25VamgvRkN6ZkcvTkdzd0U0ZHlIRTFOVlpoaXNXcWs1WXRqSzZiZUtpZDJqcjBUWUd5NVkxcUMvYTFQbFZ3NXJHeWIrT2ZSdnliTUtnWFRxVHo5cDMrd2ppRW5VK2FlR2l0NmwrTytqKzJHWkNwNm03cGtMa1lKQUVTS0E2Z2RRUGRPdWlJUXF0aXRBNC9QcnNsUGR4bndrRlFaTDhHS2tWRkNNYjdWcFhsWHBiZTRjaGlSeGh6K2pJYkNZcmx3V1IxRW50dnpXaHhwamFEYU5tcjZUNkNyWWZxK3I1N0h6QnFKbWJnUVVQVThsQ3FkN2dnaFNZYWI4UjlWMjZxc0lkbnp3NWJjcUpjT2p2RHNUR0hncGwxRzlBUzBwRlNDVTBpN3FSTzc3c0w3czAwYlUvSytMRlE5ZDJUVDRjaDFsdndYT3JJczJnTG54WVc0Y1ZjRlVyTEExeGVFME0vc2RHemZwU00yYlM3UW1FOCtLQ1Q1OE50T3lPTlZQdWU5eThrRTZGSHR0aU52bEFXMGNRbDZqL2FkdE5SODlKL1hady84V3EyTHNWWm9kRUxJTWtRQUpWQ2JTOUtpMms0Y2ZsV3hXWThVMHJMcFJhQVVOUE9YU1IwWFI2NFd2N01hUnFVVVcwTncwak85bzNGT0h2NllFV3JlckliQ1k3ckN5SXBFNXEvcUgxdEtuVTlweG91NzNiV3BwOVVmbzZ1dCt5QmRlZFUzcmNaQ1lFQ3FWNmd4Q2U0QUVtRUhiTVZ0VDNrTkNFVnJ6T0pIc1hkVlNFUTM5MzBEZTZGa3gzWE45SVNmTk1pQjkzeUo4VjhlSnhLaTJiSW5FY3J2ckNQYmNxMGd6TG9nSmE2b0ZzMXhqclNQRE9ma3lhVDZ2ekZBTncxMzJwUzZNdW8xcWZzME0vTlZ6VzhUKzhLWGZMYXNqNGF1R2poMHZXMjU2K2FyaDhUY1ZQZmxYdW5SWU5oSXhubUFSSW9CcUJQYThWMDZJaDhxMEtqUGltRlFtc3BrRzJnaUJDa3R5UUU5ZWw5MTJ4MldqWHVxb2J6QzdxSkdoeFRRQmJhSkMzZFdRMms3VlZFRW1kMVB5RE12b09RQzlwOWtYcFM1Qit5eGFNTm4vVkdyM1B6UjBVU25VY01HUU1sVmRYaiszd0llcTdjRlVIeFgxZytucm9rTzRzT0dEYTZKenpHZExzdENaZjhEaTIvVmtSTHo3MXN0cVE3amx1OEFEeHU3MGR3UmhzMDZlWTBISzU1Z1U1RElOOWt2aW91WDROQ1dCS3JkUXlMZnBTSnNiKzF4ZXpWVGh6VEgwU1dRMGZXVGx3OUhESnF0dlRWOTFpc1MzalRYZzZGYitSNG03R2tBQUo5Q0Z3cnZtN05nVitZK3N1c1c5VkVPR2JWaVFva1diL3BFNVdta1cwYjNDOU5LUEY5Y1ZoVXRlMG9wQTNrYW1DTk1NbjN5L29KYzIrS1AwQXB0K3lCVU5VTHFDbWVubTlmYVYzcVRSamgzanhCZFRRTmtKUjM1MVZ0NGFTMjY3RWxFVVM0ZERmSFdpVFRlT2dBQUFjVzBsRVFWVGNxak9wWndXMjlSYWN1UjZpeHg3eVowVzhlTGc5WThyRS9tMWZ1ajkvcWtnenVscnpQdWR4emRuZjRZMFpFbjhsd3FlSlRtalByV0kvanNkVm0reE1XWWRsMnN5UXFEc0VJNlloMk52V3dqQ3JvNGRMVW5DLzZDMTU4Y0lub0RSN0ZBeVF3SWdFb0hMcnpvUnZWUkRobTlieUNlMXJMbDlXbWtXMEg3WjRhVzRKZGNIY294RjlOS2NpVXdWcFhoRmEza3VhVjUySDZtR2VJR3VtWUFpMGEyaENzbEpweGd5ZUhTZXJ4QmhEV3pHSitoN3NtUkNTVzVuUTcybEE1RkR1YklpK2hIN1RpK25RUUpwRnJ5RmY5c2piL3F5SUY5OGV3NFIyUnBvbi96VmN4aUd5blM4Y0VYOGxJdFFsTnFIOThrM3NYd2xEOUZQaDhrdklxRUluRnMwMnpnRFJ3ek54K084dlZ2aVlRUUpIRDVlcy9hdnN4cDQvNm5MdmRHcC92REtTWVJJZ2dTRUlUUGVUWm1pU3ZYaUhlZUF3alF4SnV1aUt5MHF6aUM1SU04WXA0VlloU0lwcEdhTzJDaUxwU3NONlRXaDVMMm0rNFBORUNzYlVwL2ZQcHl1VTZyb280Q1NrR2MyM25hU04rdTdOdVVESEp6Y3NoM01IaFlZYXFUbEZZd3djcFd1dXpIR3R2ZGJFaTk5d1ZWTzM0eTM2UWgwM1JEUjhDcjgzRjhBNU5wK05nbGpiOHdpaGE5bDlhaXNtelRvVlNMdlU3cFlsdDExWWk4bHZ1YS9saWhhUlV5VVBoVDlGcERIQm80dExWblV0WUJiUnAxMFBWTVF4U0FJa01EQ0JYL25URjZJcFczZjVmS3VDQ04rMFltaGhaLzNRa29YeEN5UnB4K1ZyaDE5a1NUUXM2L1lWeWhldU8vbzdmcU9aQ2lMcFNzTzZMUXJ2SmMyN1BrK2tZRXdIRkdjOEM2VTZEaXRPQ0kzSmxwczNqZnJ1aTNVQjVGN1hZWHNielZEdVlDUVo0T21wV3pNc2hEVGJ6cE1yYnF4cmQxYVVGTC9uTzF0b3JtZDh5WTRiSWhvWnQzMEtFVUFSWWtzRnA3M01BL0I2YmljMlM2Vlp6Q0M0ZWV0aWJodURNMkE3c2pNbXpUamo0c3R5M3NEUnhTVnJLdTc4Rk5HVVpnR0RRUklZa3NEVTY1dW10VmwzQmx5cm9yWkQwK3F2WktJbDIzRkoxVFU5djFGZG1uSFJOZjMwTDl2bHpXNjBGN1ZWRUVsZnRKNE8zZzZiYzBJU2d0dEpYYzY1UlFwRzYxK2NmaXVVNmd3MjNCRGZsSXVtMm5nUTlUMzRaa05BWjY1dmJxenFtS0hjVVhvdWxBQTJiMmhqZnZiQkZqYm1sVHNyU29vSHhuVlRvcGc4a2VkUFZKclAvZWY5ZnhYOFJCRmhRNGYyL0RIZDh0SXZrNVJKczV5alhya29jMFRDQzE3L016dmJrV0U2ME1lWDJVeFdiQnhkWEtLbTZGV0hDYlFRajFNeWJEQkVBaVF3RElHVHpUVDkrRCs4SzdTc29WVlI1cHdrNlVHcHNiOGxsYUZFa2txaTBWNWRVMFl3SjU1WlBxZ3RSek1WUk5JNG9mL0R4bnJZblBQTnVIUTdxVXQzSXdXajVrYmFncVhJUnpVY2g2V0NOTy9vZkZIZnBVVWRoaFRycHN6ZEJUYVVPeXBUVnBwTjErSUprdWFTNGxFMWZXalZUVlhpeXEzamh1bzNpcVBteWZiK1cvM3RXdnJFeXlIelQ0YXAzRE81bmRnc2srWXdFWTRUOTJveFh5Wm1MOFBUNzRxTm12OEoyTWVXajIzNmJEYmdwUG5vNFJJMWxUMGdFYzFSczREQklBa01SZURaR0RPcVQxeEFvTmFkQWRlcXFPM1F0S0lyUEt0VHJNbW5Ga3NrcVNUYVNUTmF6a2hERzgzVVE1clZsZHAxN1pMK055ZHNCcmVWTkljMlBWTHdscDhPQ0tiVU83YXlrOFBPNEpxY3pSZGZlWXI2TGd5YW9Mc1B6TjBGTnBRNzZ1SjRxRkg0cEJha09WeG9LQlE5Y29RN0s4cUtiOXNMSHRndnROQnhRL0dOb2pRdmRYZVRwWEJiZWZGYWN4aVZkYUlqc1RKcHh1bTg2bXE4Y2NHRlN0WTRwckU5clRBZkZOdmRKKzdvNGhJVng3RytKalpkOEhSa0hzcnQ0NW9FU0tBQ0FZeDFidXlxZEdqTDF0VmFMYTVWVWVIUXROWXlINFZVKzlSU0lra2wwWWRmbXFFUVV2L2FybTBxcWJDQkZQNGorN0tpWm5WL0tHbk9aVUtYeVNqTEV5VE5aY1ZuUHdycHFoek9uNGcwbjAwL3BjNDJMNTB3UGU4eTZqVkdaWTUyOUxIbTBsSHpudWk5NUd4bUN0QWI4UXVteVhpaytlamhFZ0J4N20yTFRSZWtORHNTWEpQQWNBVFVKNUlYZGRiKzBxdys0YVFhenIzMGhtZy9TeVNwSk5wSnM1cmxteW00SE0xVUdMK0tiTEN5SGpibmhFMmhDSFVScldmU2N3V2o1Z05NYUs5bHBtdlJmTnZiZUtPK0I5OWNhTVY0N0M1L1JqajBkMGNOVzVlZFFkMDU2dXF0SjBpYXk0cUhqRUpvMVplOWZqMDRKN3AyRVdudXFCUHFYTGdSdWlETkdFWmZOTVl3UXhKNzlyaHMxTHlSR2liS29UQXFGMzZKWU1rRjB6RTkxM3prY0FseXlZSnJQbVNrNnVjWGYxSFpGTndpQVJMb1JRQnZ2N0xYQmFFSTZ5NWxmTlNjdERycG81dTFsMmQvalNXU1ZCTHRwQm1EZGFrdXR1Qm9wdkZLYzZSZzFIeUEyOERtc2pQZHFNZU85ajdxdXdNYTFoaG1xSWVRN1YxZzZtMWllUTc5M1ZHWmRvTkpuK0VKa3VheTRrOC9ucVl2VHA2MWtiMHhTUFNSR2htM1VZR3pla2hjQzQ5OFFjWTJROFVRUXQxV1RZUVlQOHNVWmRJc2J0QSsyKytKTXBnV0Y4ZURkZkdMQ0pHVlErNUhkT1J3U1FKN2hkTlg3NTFPKzNXSHBCR0dTWUFFY2dRd1IrMlVBWTNndXR2cldoVzFIWnJXWTQ5T2JFQVUwdlFQWERxMUxwR2trbWdueldnTnd6U21OeGZONUtWNWFkRW5kSUcyRTBZZE1TZUd4OEh0cEM2aTlUZmZMN2pzWmcyMTlDTXN2NmRRcWpQWUtFanp1czRVOWQyYjh3RTAxQmo4MVp3Q1JUajBkd2UrNWFUWk5JVFZwSG1pNU1uY2w3NzBMdTlsTk9ET2lyTGk1eGEvQlk3aC9lb1pkWFhjWUxKaDNUN3VidXB0bUpzWFduNkloVW1FNVV6WmRWOVRxUGExekM2elVTTE5RT0Z2RlpqMmI1aUw1RmRSTUIxTGdzSDAxWkljVmFLUExDNVorYlg4RlFpemN5RTFqL1BKcEF5VEFBbFVKb0Q1UWpkTE9OMVhtazkvUFpsNmVydjcyZGRsekpkSVVrbTBrK2JNcXphOHZXaW1na2o2NVBwTFRoZkRaaFZwamhTc0xnWUdJelpVS05WSkRNUkNqc0tRZDFWbmlmcGVNS3RlSDRaK3dERW5Sa081QTkyUi9Sb2NPZk1Tc0VyU1hHc2hkOGt5Vy9SWHhEaXRLU3UrTlorOC9hM3A1Uy9PaXp5eWExZVE1aWs3VzlIMCtORlQyYzNreGlHMTV0QmpXYy9zTWhzbDBvd2VrRmZiUml5Zk5BWFRPM0xiaG5Gc0ZpUFJWYU9PTEM0SklQT2NYTml4bFowNUNUc1lJZ0VTcUVLZzdpL2wyZHZBSnBkVk50ZXFxTENUSkx5cldhaWcybU9XRWtrcWlYYlNyRjRXY3RXWjhPdG9wb0pJK3VUcXNyY2NTcUVkbjNFN2c5c0pLdW1qOVMzVnVZTFZ5RlVrTUJZS3BUcUQ4TkVOK3BCU1NldXl6aEgxM1hrajFoMlZJYnlmcXNpaGdqdXRqR2hzdWZuWVN0S3NYaGhTdHF3TFA0dEJmMWEwb3NWUEZLY2VsQTNIRGNGR2J0Ujh4czRqYjNqOHFNR0ZUTUVkUDZHeDRKNFB5T3d2dXcwTTNhMGRsN0J0RHBEYkxLNWhldFhFbnJ3cTlvSlUxaG14cjBMd3lPSVNkVWRIMDcwYTlrMGlPbG5KZEYvbEhvWkpnQVFxRU5nSTdkMjBIcFhVZDFRdTM2b2dISnJXT2IxUDdaZExpU1NWUkh0cFhoSnRwemNYelZRUVNaOWN2ejdhM2NDTDJEa2hzY0h0bkRRWEMwYjdZaVpXaGVIdzhKU2JSbmNHTWZzcHJxTkJSNjBpUlgyWEZtMjRyaml2WEhON2huSm5UUjhyWjJMUDlhOHFTWE15K3ZlYTQ4VWZLMTZ3Vng0NmJnZzJjdEs4bEc2ckZQZ2s0NjVlNjFlU0w5cWdXYlg5ekNocU9aUFpaVFpLUnMwNHo5WnQ2a2szUXhISmJhSmdldGVFRnZ4eHdUYU83YktKSHVxLy94RWROVnlDQmhEWjZ3WTFQL09oZHUvRkw5NkxuQXlTQUFtVUUxQmp2azI3ZTBFM1pyMmtlVTIyVzk1b2lTU1ZSSHRwM2hJempra3k4WGx0TDVxcGx6VERuSnVRaDRFNTBYb0xSYWlMNkNTSkZOd003VGlzUEhWZStWSW8xUm5FV0VvTUQzRngxRjVWaS9xdUxPVVd6SjUrM2Q4Rk5xUTdLMDZNdGUwbE53RlJUWnB6L2xUZjlGb1RMLzVFcG5IMlpoMDNSRFN5MG93dTBhNU8xZ3c5SXo5K3RmbGIvdmhDNEd4Y1psVWl6VGdhcXpiZGJmNmljeWFqMklCcGZjeHhCbTJMYUV5S3V4K0hpSzBjUExLNEJJRndsZDVmb3RGNzU5SnZpRlFNa2dBSkRFWkFUVzY2SFBXKzB0eUovdHhLSktrazJrc3paaHpGSmR0VC92TVdPODRmLzlKUDN6UHZ6THA5Zm8wS2lQdE5vRkV6YnBkUUJOVE1SNnU3Z2dzRnIyU214YzM4WjZGVWI3RHBHM0tVaGZwWUtpVVZkdjc0dGJvUHpOOEZOcVE3S05WZlNWWGpVaXNoVDVRMHg0cy9HeGN5ejAxZmZ0aFZITTZhN3RRSmU2azVhWVZydW0wN2tIYTR3c0ZxcDJLeXd1MHVmUnZZZEpnSVdka0pxWE9oMmt0MVJMaGcycDRWS2FBN1ltdmdJQ2hkMVptT0RDNko0Rm5MYWl0Y3BUOGp1c2pxc3pQWFpHS0dTWUFFQmlLQW9hRWZBYzcxbGVZMW9ZS2htQkpKS29sR00yVit0Qml3aXduUXVvbU1ab0xnR0JGdjdvWlNYU2lqazJ0Q2c0VWlaS1U1VWpDY0NnM0xwR21QQzZWNmd4RHlXVmU4R29Pdm1vMm83ejVkQ0dDc3VDK0dHRU81Z3g1SmNCZ1c3UFcrSjBxYTQ4V2ZpTnc4Z0dwN2JyaFp3VjY4UFdYR3NWdXVFazdEa0hyRFBjWnNnWWtKVTVjNm9GU2g4bEh6Qlp1dzZRSko4ckszTFdkeUw2VWZ4RGF3V2RXZjdNNkwvYmZKTTFURVZ3eDZhVDYwdUVSRkoxL3puOFNXZXRGdWR3WVJPS0xySm43bFEzTC9ScnJqTmlkZTh5TXV5RFVKa0VBMUFoakIrWUVCUkc0ZHY3VWRsZE8zS2dpSHBuWE9YWkZUU2Z4U0lra2wwVjZhMWZjY1F6dTVjVlhiaTJhQzlKajdydHFxTWNndGFCdG1mVlNyaWpSSENrYmI3SHNveVZuVEFTbVU2am1FdDJDZzRDVS9oSTc2N2wwVGdVNmF2a0pNR0JRNVZIQkh2RkFEcmFRYlFqOVIwZ3dCRGJ4ODhjZmNaVWRSVndROU56MTV2NmgybmpIM0IzVHNoQU02SzZzcVdpMXpyaTVtRXdOcSs4UXhUbFZ4VjRIZGkxV0pOT004dTJBU25RczlRTGdxN3VEVEwzSlgxNkV4T3JaOW0xT2h3NFA0MHk3YUdCcjBmL2dSSFZKY3NzSTR6eGR6Mjl2WXhzbTdhcUticzJadC9yZGN0TDdLdENoM01Vd0NKTkNYQUdadDNTems1QTM5eXIyOWRaVXB0Q3F5YWNVVEVadEZreVdTVkJJZHBCbHpZZHZPMm9UMUlwN0p2YUhSWFJCMHVkUWFyZTFGdDQxd1VIdWhDSFVSamJTUmd0SHd6RG9yZGFzQStWSzl3Vm9yekloRHdNMElzUFQ1Ym1jMnJPRk8rMXJZSE1xZE83enlhTUhiTmVZZ3pWYklndmt4aHNKWkVTMGVMRjRjS2MxejA0aldWUXJ6b0RFVWVWdHRxVkhyb2c3Z1h6MG53RTNIRjBVS2FDNTVxVFRqc29XMWVWOVE5QldjSUxzaHE1cnlVRDFUbkhWV2toczdZbSt5NE1xV2tkWERoeDZYcUNvRy9oa1lPTmI2Y0xSUys4TTVHVHBBeUlaRHUydHpxNXdIZVZJS0p4a2tnU05EUVAzQ1prMXR6bnhHaTl6Y3F0cEVZN1d0MW1weEVxVUZ1L3ZJSS9mZi8xdGYrQUVoMGROQ0hGdGhOSldOOW1OekNKRnRZYWRhWVFoemh4M01aRE81a2RtYXNUcVorZlViNTlRTXFIdDZRejFKNVZzRTRYYXlrcFhtU01FWUNQc0d2SDNWbU02WEdqalVmWDlHOVdFV3JTZHgzNTJiWWcwRVlVd0JiU2x5Nk84TzFPd2J6bVRUYzBRemVKQ3RZRGdyNHNVMzAvVHlJdy9mZi8vYlh2VlY1eHZXZ1pzYW5sNVVlMVoyMUgrTWd5K290UXJNNmdEK1RZZHVqNDVhY3FxNWthcEpuZUpTTW1wR3A5TWV4K2FxejlRQitXMi9wVzlMVStmVVhNdWVRMU9oWjZkUzFRTmprYWx5OE5EakVqVkZUeWU5SWJaUFluc0hSNjdyVHVXdHpJbUg4MlBUcGxZNXI0dWNESklBQ1ZRZzBQR1RvUnU3YmRXdU41ZFZMc2pNanNzZGZwUDR3Zm5sLzNDN01iWndZcHZncGNOK1pGc1NEY3RPVTFhQ2tEYTNqYmw0SmlSVVhwM05URWE2OHUvMFZxYlNWaEJLdU9LYmtvYlRBSnNIOW5adDBCWmN3NDFBOHlicXJMdmNtQzgxR0VTenYyUHpMNldQMjFBWkI3YzdyS0ZFOHJZMDFYUFl0WHVydTRQWG1kczhtQ3U0YW9Ob01NVk11WTBjMzBxY0ZkSGk2NmlZWGE3dittSUR0OFIxSFRxTGFpKzZLSnM2RlZydlhSM0F2OXNDVUIxVlQwMjdybVpFWmwwaXVTNlJaaHgvYzZQY1dYOGE2RWZhL2RtbmJLenA0ZkpVK2laYnlKM1pNNndSSm1Sa2lWWERoeDZYcUtqcVRucTFSVHc2V2Vwd2JQMlBqdWt3MWRxTEluVnlNblRSVlU1M3Fzb2tESk1BQ2ZRZ2NCOStOMXFUbnZzb0JwMzdpYjB3TnhlbXI1U1FMRnNMU3dpNzVjUE9LaUxkRlRxVmRqV2tsZEdMTmhxV25aaE4rT0hpblU0WDQ3WXdpRnhIOWkxeFU3SzFobFd0NmVUbzdzZVEvWU4yajNBYktkSi9GekpnQXJWWU1JcjRiWk5relZuSWxTb01KbmVuKzE1VUZwM2x1Tzl1cjFoanRrL0l4WkR1VExiU3p4aWJIVDlvVHA2SGErYnVXSWtDeHhXY0MyZEZ0SGdsbjI3cEx0cFNKVGRNY1NpaG5UTDl0N3BydjlGNmU2OXhlMUhHWFJ5RmVSV0JzalA5R1orb1RKcm43Rm01Skc1UDJvQVJkMUphbyt2b0RUeU95U05WU00xTm1GampIZC9uc1JHRHJRNDlMbEZkSElaTTF3aEhWUjNKamF0YnBnZDBwL3RSbXp4bi9ZOGNmUzJPbWdWSUJrbWdHZ0UxRVA0ZEpEM1dXbFEvb285c1lGNzNuZWZmb242SUh6Ly95bVRxL0d0YUNIYi8zeC9WNWxRejY1ZFBxS2lubXJRUG5mOHhuL2JlOHpObDBkYnlRK2ZOUFp0UWtwOVhSbzdwRHhhVlpVS1RxYVUwMXpGWEdmV0NNZGVpQ2h4UFYxWDcvZTlmdGV0ZFVXNi8vcDZtY3ZtaEw3eHFVeWRYLzNJRnE2ZzEyL0w4YlM4QXN0UWNoeW43WmVKSmZ5VzBoSU95WEZ3NnJqTmhkdzNzanNyM0h1dndENloyeUhueS9KZFZSYnR2T3grNzRsdjBZc0FZY1ZaRWkxZVJpcjliOW1jUWtlT1c0SUx4WXBMWXdlbWF1eFN4RU9aYTFNQTZIQ2Rsb2FYMThmbmRkcmhoRWRGaEtaTm1uTTNLZytmYlRwVE8wSUJ6L3ZJSFlyYlNUK0ovWndlT1gwWGdiak5BMTBuVnY1YTdrOHpIVkE4Y0JWeWl0bW9DMi9lNkVZOVhyTTVpSG1zZnY5M0hzVG5aV3NmL3NKd09aN2pLZVpCVE9hRlFoa2pnS0JGNExuNDVIL20yRjZVZjFlTlBQZWhhUVpSZXZxRWFTclBvc1VidEpXNVRyMVhMdCtkaS9qcWtoVlNVUk5kZGF2dGJmV09hdnUrdTIvL0VOcGNsbVZBS1pPaGYvVjl2ekRXYy9paThJdTFDako2S2tmR2N0cjhlWElIYkhWZG1HSmtsU2JaZ1pXbXluWFovOUZkLzdUdlNYL0IyUmFsWkRuZ2ZDYTVPL3BmYi83aWRQajV2a3BmNzdzMkZRRDFjQVRDUmc3cWpjeUhUVHo3bHZkK1ZwcDgzUnRSRlBiTmtMdnVGWWtjTHJUanIzekIyOHNVajludGFMbzFhcTR2M2VXN28wMXkvNjEyMkhXK24zelNtVnVSSTJmVTB6SzRrZVZyNitHYnlqdFpuV25xWTVtTER1a3lhY2VDL2huZDZ0K1QzS1NIWFhhVWtiam1XZmlCSi9oSlROc2R4SUd0L3Byb05ZcGtRUFFZUlhTMjQ0bEFjWWx5eXBodHAybExkRjdmTTNkaE56clUvcFI1UitIenl2UnZaS3dGSlhkeG4zekZ6WGk0ajF5UkFBcFVJNEJPUFdCNVZFbk95K2JFTFdLMTBMK0ZlcjBjdXRaUTBYN3I4OFAyUFhHbHBhVjVMLys5TjdLODk4OWRlMzBTZUhZVDNYRm9selNydGcxY3VLV21PUjlkZHRPdEdRMWl3WEorQnBWSmIyRk5iVThtdTZsU1JmN0N5MzBvL1BDK2tPYmpkNlY1V3RiblNrdEtjWkFyV0prK3FLcVhwYndiN290UXNCeVE1MXRhcG9ScG1LYWx3TUNaRHArVDRRKzhZMEIxanpHVHlud0U3bTE3Q1BWZ1BQbkxwWUc0RkUyZEZ0SGgxL2JINzdXclhNMi8vRjY4RkhYV0JzY0R0MlFxYlVVZk02L3RGNkdVbmQ1eHJuUlFqNXE5aHpsbE9SUnNYMVA5U2FUNkp6dFlWMWVVVXkzZnMvNzNNdFlTL1VMWlYxK2FONmd6Nk55SWxnc2V5MXgyeU8vdHRIUWxjb3BMSG1wOWMyQmJiNTFycFpkMHhSUy8xU25waldleENjQzROYVU4MjM1ZmR5UzBTSUlFcUJMNzMreC9ZLzZYNUNpbnY5R05FaU9YUFFjNHI1T21YNU8xZmJuM3M5L3NYWHZ1WkIvWS9WMjdyN1c5dVhmNGo3UDdPaDkvMmZmLzdYZjNOSVdteDROcWJIdWkrUHpNWDNLdlVxZTkrb1B0cE04MWY3bGZKbnNsSENpNE81UTR5WGI1M3VhU1FnNC9PRlk5YjZlejRIVVUvQjEyWHhaZ0x6M2x6NjdNemVvZDZjTTh0cnF1R0hTdjVlNittWHRUQytZbDVVVFVNTHk2bDBweE12dWJLZnJoYjBlWE1TSFB5M3gvWU54ZFhmcWIxa0FtNGRPcU9OT0ZXaUI0MmREaHhpZHBPYjR1TjVOeVhXLzllSDhpVGIrbmVhNDVvMkwweHdxV0FZSVVoRWlDQktnU2FtY1lXQTluNUtybVk1aFloY0NyVFY4TXR2Ri92WFhIY05QYktaNnJsOW96cW5vNFArakVYZlRGcXIxeWFvOGxyWlpkRmlxa1grdFdnbUdXQW1NT0JTMVpvWVYxdTlRcGpRb1J0UXk5QTNFY0NZeVJ3VEU5UmVvTm9leS80RFFaSVlFNWY0ZkFjMXZxTk9mRkkrSzVPamVHelVGMWM5dlUyUkdDNlpCUmVQcUV0TW92Z2hMd05UTVJIZ25PRjZ3NlJSRU5ISFE1Y3NucjFWYm5WSzN3c2M3TmRyNVRjUndJa01DcUJoZHlNWWl0ZEg5VWs4eDhkQWhncHpjamFuQzY1YmN1bmdkaHU2ZzEzaTczWkF6cytpUWpzNWN6N1hRT09tcy9GcjFoN2N5TFF6bFpJN0JsRDhKRGdralhkbTVWYnZjSm5jazFGcjdUY1J3SWtNQnFCUFRtMmdhbTEzUFpvMXBuN2tCTTRKMit6Umwxd1UxanZHazI3QktlZFJwdjBIVHVZMWx2UGNISnZub2lPV0J4UW1rOVV2bjE5YXBTN3dDS09acU1PQ1M3cDlOcXkzT29WM2hKM2dmVkt4MzBrUUFLakUxaktqWkliK1VlQVJpK0NGZzR2Z2VPNVVUTHUyK3BkbVFXWG9aN1ZRTm11bjBodnpHc3JlSkFwZmhmWW9CUGFwNi8xOWlyc1BSRy82QjBTakJRNkpMaGtIVnR5bzJkNExmTTBSTStrM0VrQ0pEQWlnZnhUTFh1VTVoR0pIcW5zNGdWUXVsNjRndHk3Zm5WMzI5aFM5cXIwQ1NIQ0hmZWVDMHg2cjhmTkRUaHFybS9IelJSakY4cEtMQ1lkSXVhUTRCSTFtOGplMnk3MjVJTTExK25LNytBMkNaREErQW5JWnhXVjlkeDlMT012a0JZUEU0SDhVOEM1dXdhTFZWbHhieHhwWjYrTWlJWmRQVisxclhQVzA2NFpQaGZzRENqTmF4Y0tGa29pbGc3eVVuUGhvZW1iRkpkZ2M2THlvMlRIUmVkS0dHQ1FCRWpnSUFpc1pMNE1vRDRXdVhvUXhkRG00U1NBRjM5dFNzOVA5YnRMZDg4MjRIaVp5S3pNaVBkTHpkaHQ5WUt6ZFIzMmIwVE5wRlFiZzBsenJmS3NiQzErcDNpaC9DRWpEZ2N1V2JrN3JzbXRYdUdGM0Z0amVxWGxQaElnZ1JFSm5NcTJWZm0yWlVUcnpIN1lDVFN6RFhLK0oxZW9ua3RRdUYvc2pEZUU1NnZNUFdGNGVmdHF3WUNKR0V5YVQxUitUODd4QTMycVdmVnNyOG9hT1JveUxoTjJDWjVRWE5LRHRVVzUxU3U4eEtlYWUrSGhQaElZTHdIY2lYTkJXTHl2MzZoSXBHWHdGaUJRejF3eXhtY3BWbnRYMnIxbk9mK0ZacnpkMDkxRmZjWjlqYUtlN1JaS3c0Tko4OWFIWk41ZTRhM00yZDRyNVhEN0RnVXVVYldwc2lzS0lvMEpUbVZPaE1KdVJwQUFDWXlYd0o1OGkvRkU2MER2a2htdjU3VDJCQkRBaGVIWlVNelQrdDRLdEdCdkl5emVzN0RXdFhiT3B2dmFKSFErTThRTXhRdzZvZDJVdlV0cHBoQnVWcjdycVpDMVVzU2h3Q1ZxY3FyeXBlWlQ5djRBa1psQkVpQ0JneU9BeDJIQ1M1TG55c2N4QitjQkxkL01CQnJpSGV1WWdTNFZVMXVIYVNQTitYZHZZTzhaTitBK1p6WDZibmN6ZDZUNkE0MmFUMVIrVGVmSnRQTDRPdUpVbGFoRGdFdFdZMjFkYnZVS055cVByM3RaNFQ0U0lJR3FCTjZkcHZiekQrcnJGcnRWc3pIZHJVRmdxcGsrdW1tcWlxOWIyQTgrbGxmOWxMbVllMExPeFpqVVUvNE8zNmIrUk9meHRMdGNhbWNnYVc1VTF0dUZBMzgwOXhEZ0V0QlBWdGJibXI4ZUliSXpTQUlrY0lBRS9qeE5mL2VyK096VVA5MUl1eTg0d0hKbytsQVNPTmRNOTM4QTR2eXNwNmZxRTUxOWxtUG1qdjk2WlBwekQ1OVExc3VkS1Q0eitUZndIWXh5VzROSTg2Uy85N3ZjbnQyelVmMkZubjF0bFNTNDZYRkp2MWRLM3ZnaTA1andiZks2Um5FM1kwaUFCTVpQNEtrdDNET3IvaDYvTUg3anRIallDVXo4T0U2Tkx2N1NML2F2aXIxYnFPMWtXT1E0NXVRYW44eSszRXE3UFpSNW9JZW56djFiVVVqUDRBazNwOTR6MVlnN2IzWmNzbnAvamk1WHRXV3QrZ2RFcWhsa0toSWdnYjRFcHI3eTFrdnA1ZC80My9vbVpJSmJrc0I3WDNTbDFYMzQxY3RWS3IraDJ2Q3o2YWNpYVpmYzE2ZW1udDdhLzhXZTFnWVpOVWRLS29tYXEzeFJ1c1JBdGVpamdrdlU5aGh2RHhVMEdDUUJFaUNCUTBaZ1N6Myt1aFlaTkNmSjhjeW53WHZXNjBDaytWemZtOWg2K25RZ08yOWlYTEsrZTY1WEpTTVpKZ0VTSUFFU09Cd0UxUGpxZWVtdlI1MmRxL3lvVHUwZ1hnMVN2d2tuWlc5aVhPSVFUandSVndKRWVReVNBQW1RQUFtTWxVQ2orNStMdDJlYkVzNVZ2MkhyQUw2eVVyc3A3MlM2YVhISmsyTGg0RytmazhVeFRBSWtRQUlrTUY0Q1V6L1JmUi9tdEtQTE96ZWowWkhJLzc0YmlSd3RxdllIbytVL21OdzNMUzVaM2VkWFBtNHlGOE1rUUFLU3dQOFBzdjJIaU10S2M5VUFBQUFBU1VWT1JLNUNZSUk9Igp9Cg=="/>
    </extobj>
    <extobj name="334E55B0-647D-440b-865C-3EC943EB4CBC-6">
      <extobjdata type="334E55B0-647D-440b-865C-3EC943EB4CBC" data="ewoJIkltZ1NldHRpbmdKc29uIiA6ICJ7XCJkcGlcIjpcIjYwMFwiLFwiZm9ybWF0XCI6XCJQTkdcIixcInRyYW5zcGFyZW50XCI6dHJ1ZSxcImF1dG9cIjp0cnVlfSIsCgkiTGF0ZXgiIDogIlhGc0tYR2hoZEh0Y1pYQnphV3h2Ym4xZmRDQUtQU0JjWlhCemFXeHZibDljZEdobGRHRW9lRjkwTENCY2RtRnlibTkwYUdsdVp5a2dDaXNnZDE1N0szMGdYR0pwWnlnZ1hHVndjMmxzYjI1ZlhIUm9aWFJoS0hoZmRDd2dZeWtnTFNCY1pYQnphV3h2Ymw5Y2RHaGxkR0VvZUY5MExDQmNkbUZ5Ym05MGFHbHVaeWtnWEdKcFp5a2dDaTBnZDE1N0xYMGdYR0pwWnlnZ1hHVndjMmxzYjI1ZlhIUm9aWFJoS0hoZmRDd2dZMTU3TFgwcElDMGdYR1Z3YzJsc2IyNWZYSFJvWlhSaEtIaGZkQ3dnWEhaaGNtNXZkR2hwYm1jcElGeGlhV2NwQ2x4ZENseGJDbHhpWldkcGJudGhjbkpoZVgxN2JHeDlDbU02SUNZZ1hIUmxlSFI3Y0c5emFYUnBkbVVnY0hKdmJYQjBJQ2hrWlhOcGNtVmtLWDBnWEZ3S1kxNTdMWDA2SUNZZ1hIUmxlSFI3Ym1WbllYUnBkbVVnY0hKdmJYQjBJQ2gxYm1SbGMybHlaV1FwZlNCY1hBcDNYbnNyZlRvZ0ppQmNkR1Y0ZEh0d2IzTnBkR2wyWlNCbmRXbGtZVzVqWlNCelkyRnNaWDBnWEZ3S2QxNTdMWDA2SUNZZ1hIUmxlSFI3Ym1WbllYUnBkbVVnWjNWcFpHRnVZMlVnYzJOaGJHVjlDbHhsYm1SN1lYSnlZWGw5Q2x4ZENnPT0iLAoJIkxhdGV4SW1nQmFzZTY0IiA6ICJpVkJPUncwS0dnb0FBQUFOU1VoRVVnQUFDZG9BQUFKSkJBTUFBQUJGRXdxcEFBQUFNRkJNVkVYLy8vOEFBQUFBQUFBQUFBQUFBQUFBQUFBQUFBQUFBQUFBQUFBQUFBQUFBQUFBQUFBQUFBQUFBQUFBQUFBQUFBQXYzYUI3QUFBQUQzUlNUbE1BdXpLWjcyWVEzU0tyUklsVWRzMXVXNW05QUFBQUNYQklXWE1BQUE3RUFBQU94QUdWS3c0YkFBQWdBRWxFUVZSNEFleTlmNVFrV1YwbkdsWGRsVjFkVmQzVjY3QTdpendua3pPY3QyZlJZelcwQWlOS0ZqcmFJQjZ5V1htY3gwSEkxQjBZd0lYcTBaWVdnY2tVQnZIcFF2VUFncXRBbHN2c2dvS25Hb2JIdzMxcWxZc3MrTE1hUlZlV2QxNFdqNUhCUFREVk01MVEwOHhNMy9lNU4rN3ZpTWlJeUlxTXpLcit4aDhaTis2UDcvMStQemZ1Sjc3M1IwUUdBUjJGSWpEL293UEZWYjZ2TXpDZEV2ZU93RjBuOXk2ak9BblU0c1ZoT1l5azJSOFpwaFNWeVlUQTRXc0RzOTIrT3pDWkVndEE0UEMxVmdGU2loSkJMVjRVa2tQS2FYeDF5SUpVTEJXQnhZRjBOdHY0c1ZRSmxHR1BDRXl6MSsxUlFvSEZxY1VMQkhNb1VVdTdyYUhLVWFGMEJBYXozVzJzbGk2Q2N1d1JnZlVKdXIrcHhmZlltSHN1UGpkSkQ3ODlXek5aQWdheVhhWDk2R1JwZXpDMU9jYTJKOFV3YXZIeHQwUnY4T1RTK0JYY3Z4b01aTHZiMmNYOWE5ayswcnorNEtRb1N5MCsvcFk0eEU2TVg0bURxY0ZBdHF2U1U2YVVWai9DTHBSU1Qzb2wxT0xwR0kwOFIvdnF5S3U0VGlzWXhIYno3T0hyRkpXU3paNW1qNVZjWTBKMTFPSUp3SlFhdmNRdWxWcGZXbVdmWFV2THNhZjB1ODdzcVhpZXdvUFlibjA0MUlzR1ozYndsc0E4MW1iTHUvQkwyZklObVN2R25vMEpXUTBhc3NWSERKaUxjNG1kSTZ5NDZQdlpOU2VJMmpQUEh2THlqUFh5VUw4ejB2cVBsRGVQTTREdEtvMmhCckxGZzlNK01WSzBJOExyejRsRUZSb1J0ZWNJTzF0b0RVTUtHN0xGZzFFRDVwaFRZdWNROVJaL1B6dm1CREgydEFkdUMzT0xqLzZxTzJMdXJiUkwyMkU0Z08yT0R6ZVFMUjZjMjh2ZGZudDAxSTVXMUo1cDlzam83OXIwR29aczhaRUQ1bWhlWXVjUTlSWi9QenZtQkRIMkxFM1M2dUFVVzNNVkx2enFydEoyWUExZ3V5WTdPWVJoSXdCbnRsSHE5dHZxdDRjd08wK1JHSHU2STcrbHNpZzRYSXNISXdmTTFiMjh6c0hySGNIOTdKb1RSTzA1eXZ4YmNLcm1GU3J2Y3VlYm82NnJ2TzMxeVd4WGFiRFdFSGFPQXB4U3Q1Y2ZaMmVHTUR0WGthZzlxMnc1bDRTUlpCNnl4VXNBekRHM3ZNN0JxeDNGL2V5WUUwVHRtV1Y5TjB0UUhmRm8wcXZPdWp4YWdwKzVOZFNVbWFWazFtQXkyeDFpVjdJS3NmS05CSnlGTXJmZmRrYy9xSXphYzJnU1ZtV0hhL0dnQk1Dc0d3ekIwam9INmhySi9leWFFMk5QM1ZzZm5HS2pubDN4VkRLWEd5V3NJY3lYdFFNcm1lMlcyTGVNelpsRG93Rm5vN3dkU1BObDdPMk0yRFBMaG5La016ZExwb3pEdFhncGdEbjZsOVk1VU90bzdtZkhuQ0JxejZyWDk2cU1qY201bS9NMGNUVXY2cXBkMGc2c1pMYXJEak50TnlKd2pualB1cUpRanBHelhnYnRSTzNwbGpCZ2lMSFdpUnFxeFlOU0FIUDBETXJxSEVFd292dlpOU2RxejFGMzFXcUtYV24wYTE2aGNpNXZHLzI4RGd4WkxjbDFUV1M3YWNZNitRRWRFVGl6cFQzYUtvMlJUOG9DMWFnOXcvbFYrUnRvUUluaFdyd2N3RnkxeStvY1FUQ2krOWsxSjlyWjBSUXRLMCtWbmJtZGpYaGJsRldkSGR3cFpVcnRXRWs3c0JMWmJvb05NMkFmRlRpOXNuWWdIUzluaWpCaXovR2haa250KzNMUDRlRmF2Q1RBSE92SzZoeFlveGhUWjkreEIxWmlpYmJhN3pnWWxITXhNOXd1dE56S05VWS9XYzUxU21TN0pmWm9icDJEa1lGenVLeUJYbk1ZanpZL1VCRjdqcmxQOC93UzkxNWlxQllQU2dMTU5hK2t6akc2KzlrMUo0alkwN09ueTdwOEZIdDBMTTdkaXMyNm50SkZYamJMR2NvbXNsMlhYYzV2enNqQW1TbHBLRnNweWNXSzJGTmhaZkY1WXFzTzFlSmxBZVpxWFZMbkNFWjJQN3ZtNEpGUmMyTldySW03bytFSDd6Ykc0ZHgxblJHMXEyT1JWMGRHT2FRNjFtRFI0eWRzOWRIN1R0clgyY0tqQTZkZHlwQUNUOUJoRnFLemdlUGtpdGhUSGZHT3U4OUdHL3dYSFkyR2EvRVJBWmFpN1VnN2g0WEs2TzVucXhJRUkvWk1XVHZ1dWcrMmVPNlpNVGgzMDhVKy9LZnZ2YkZ4K2l1ZjQ5YndZL2ErTlhIR3p3SkxHMG5PUEVQbHpYMCtFcjMxbVR0UGg1RlZMYmZZZ3NHeDY5OWltL2JscU1KTHczQjhzakxmL1pSei9UdC9zS015dk9QSFZTaUkyTE9WMnQ2NjdGQ0JiclRKM1dYL29WbzhLQmd3WlZxS3R1bWRRd25hMDduZyt6bEhaMTlnK240L3FqYWpiWlh2M0UwVit2RC9NK2xqdmFFVHRzbzkxbWF2dHIrZjJtKzRwV0dXRVVJaE0vZWZsMGVicWRENS8ybFhjTVI2dU5qeEE4UEZndU5VZFdURXJvK3NyRnFrNTc3dzdwQmhkajhWU3A5cm1CYUwyTFBpUG0wYzQ0dTRlS0p1WngxNGp5TjNxQllQQ2dYTTZKT21iV3JuTUtMMkVDcjJmczdUMmVGb241Q0szNlVtOEtjYmwvWmd5MUJGQzMyV3ZWQS9iNi9XdURaZ2RHTlF6d3JIcXJwVnhEcGwwcnpkRWh0aVEyK2g0TGcySHl2bFpZTkNIK1l6WnJyZ25jS1lMY3VHaUQzSGg5cng0NEswcDZ1aFdyeFF3SEtvbjlvNWNzaEt6bHJvL1p5dnMrL294ZERwTTByQnQ2dEFhZWZxRUFPOEpPWDQ1TVN6Zitpblh2b3NuTVZiV2oxN21MeVM1czAwMDV5L3BIcnQrQ1MycTdNaDlwMFZDWTZ0Sk1LVllYeE5UMGI2NVZTQml5RUxiY2I2Ti96ZFovNTJCODE3RW5WanFNaFA0Ukd4QjZubVNhZHlsWGtlcXNXTEJDeVBzYW1kSTQrd3hMeEYzczg1TzN2UGVqSW02amZxaEFvcndxRUt0ZnhweG5ZL0xvSnpYY1l3cFhQSXVlR1BwazNrakpUdEdrT00ySXNFSjlLUVhUMlJFVWtxTG1LbHVGMk9sU3BqYjZnSjFYNFh0TGNXQkhYbkJ2YnR3YnRqMnlMM3VINkdhWEVzV3A0ZGk3NnBuYU1JcllxOG4vTjI5bFZXenJMY1FKeU9XU3ZEQXpPbUo4NjIyYlUxbGUwTC9MbGZkZnlwdVRSN1I4bDI2SHY1YitNQ3dWRzRtUE42R1dUUUsyNGJ5TnNZMHhPaFdBSy9nazhIT1MvaFJPeGhRenhmRER4N0RnM1Y0a0dCZ09XeUlMVno1SktXa0xuQSt6bDNaMTlrUmM0Z0p4aVlGbjFFRDZmVGNxYW1yN1BkVFoycDBtVVB2b081SHpsTG04Z1pKZHM1b3k2dFpVcWdRSENpTlMwV2gzeFV1SXBwRjdhM2VJNnhOeXFwUWZBcXh2N2xqdnZSc29nOTFUUmYzb2diUldpb0ZnK0tBeXluVFdtZEk2ZTQyT3dGM3MrNU96dWVqWnV4U3BVWnVWU1loNEh1Y01IU0hBc1VqUDJ3RlJIQTFidm9YUHNYbzJTN29jQXVEaHpmVkZ4UE1iVTJGWk5ZVU5SMG1qdWR2WjUxZDVWbkM2M3J2dGNkc1dmRExaRzlxbUp5RHRYaUJRS1cwNHEwenBGVFhHejI0dTduL0oxOTNxV0hXUDFHSGxsUFlhRHNDcXg2dmZjdXpPSjFuT0xObE1Ia0tOa09qclNyaktOWndrVng0TVJVTUZQZ2pHbU1lQkYxeUd1VHBIenA4UmdYT28rcTJRWmp2K2dVaTlpenhZcFlkWExxeUhNeFZJc1hCMWdlVlhuZXRNNlJWMTVjL3VMdTUveWRIZDdQY3B4T3BjWjVnODNoNjhaM1lqZWQwaGhKZU44algwMVpJQndsMjYwejVtaVg2YUl3Y09KcUEzL1U0dUtMakZ0MEI1dDdFSDJiUHl6dHNkMldJeTlpejhvd0R4aEg1SjR1aG1yeDRnRExxM3RhNThnckx5NS9ZZmZ6RUowZEcrNGVqdE9wekRoNHBBVlZkOXhab0lQUVh1U0RmVWY4TEY3Vm8yUTdkRTZ2dHZUTDRzQ0pyYXM5K2gwYTY4TzhHeHlyN0k2bkxKNWxQbG43OWh3ZTcwek5NQzJPYjl0ZGpqVi85SkZwbmFNQURZcTduNGZwN0EzL2VWbUFSVGxGekJjMnNkTjBadTNFN2hPZllJNm03SzRmSmR0MWg1aEVLZzZjMkZicDZ0M2xzY2xGUkc0VU5Tczc0OE5YQjl1ZGRWWDA3Y0gyNHBOdWpsS3ZobW54b0REQWNwdWExamx5QzR3V0tPNStIcWF6NzloN2I2UEtsUkZ6UERLeE0vdXg5aDFuZU5Xei94ZDcvV1oySFJxZTc0UVZ1WjZ6UTRHL0JqellrVXhodTVuSDljTXQvTFpTVDN4K3piNU0vT0pUSThXdmRJV0VWOFdCdytWVnZuaXVmOGMvV1BVMFIrOUg3TGlUYmFqODEyL2MvZWRDaDE5djc3N1BVaVlsZU5pak5pd0IvSld6dlFqbGZYdXcyM0k3Uld4S2NyWVdUeEF5VElzSGhRRW1sSHJOZXh1bnY2dVRvSjhYbmRZNXZPekRYQlozUHcvVDJldU9ZL1dSRDdSWmYzc1lLd2FXR1N4MjBYY3ZwNnVzSCs0SjNtQzNPcHVEQjlhQ2ZmWHVmNmk5Rm5NRS9xdVQrSUJwYlpDVXdXdzN2ZE52R0dkaDQ2cVFoTGxQYnpZZy9sMEt6QnE0K29WNmxBUU9yMnlteXRnNTdOc0lLK2EvU3luVG1DWm5jbWp1RCs1bjdQbUo2Wkd4NUJNWkMxbGduZ0ZOOXkzNlJDbEk2TGw3aVNwODkwbmJXNFR3N2NGZ2QyL0R3b3d0SHEvM1VDMGVGQVlZVitvRldLZHJzQWM3OFFwNnNXbWR3OHNlZTVseU40eTNzL2NzWDJjQm5RRkgwWi9uU1JPNzd2ZTQ1dTcvSHZ4YlB1S2M2cjhvbUt0bS9wZXVGWGRZaHMySHo4RS9yWGt2YTduYlVTTU5OcGp0MXE5MFpyUXpqSjRrSEZETWhJZTBwNFhGc3gybUxEeFdSSUhTd0VGZGVNZjBGMXJCOUNjczFsajA0ZEUyWkE3OGliaHBFcmR0d3VxYUkydUcvVUtuVXVkTlZmM1JWdkE3NXVIaDVJcGVWTHc1aUxleGZnZHNMWnBBNS9idGlUNkpkTlpzZ1l3dEhpOXNxQll2RERDdTB3dlo3b3VDNExzYmNZL1pHSjFUT2tkTUNUOHE1VzdBcE9SRGJwRlNPL3VXV2JSYWFETjI3WVpUUDdUbXFyUFhxMVN4Rzk3ajk1QzRnM3VZZyt0dW80dnVlTDBsV1orbW0vTkpqSy9ZN1hpajI3WTN0K2VKRzhoMjAzekpWL2ZlUmVsMkFrSnZkQnpQZG1ESHlJT2tQSENDWUhxSC9haXd0bTV1dUNNK1VYdHdwRjkrRnRaLytkU3AvNUdVRTN1YzNLUTZmL3djUTcxSHJ5SHdNdi91ZHpOYlY5NjNPcWNiZkxuOXVEZTY5ZTJCdDVLeG8xczFXY0dzTFc0VnNZSkR0WGhoZ0VHUjcyVjk4VFE0NVBZTVMwVTNtTkk1M014eFYybDNRekRlenI3RTFKTitEbVQzMURnTDloYVhMcmJxM2JFYjRxOHhEck5INTNsM3FIdWJyQVpvVStYNTlZSEgrbGR4c2VYdGNlc08zbkl6a08xdWV4UUMyOHFEQkhRMVhodG51eFlQNkNPZTdUQ0hkRmxuQ1FNbGdzTkhndElGUFdSd09zcThvYUNuWU9ybGgvRHRoZHFnWEZQZU90RThQREljMkN1MHNTM1drYkx1YjU1aXlHK09MWGF0eFQ5dzg3Q0pRc2kzQjJQSjdFTmxSMUo0a2JYRlk0b2lhcWdXTHd3dzhjbUVDNkZtOWUxNERiM1lsTTdoNVk1ZXB0NE53WGc3KzRxZUY5dGc3Sk5SL2ZjY2t5NjJvZWdqckdzbTdBNkgyTzRTN21SdzFtQm56RkxRdmJHYlllYys3RzFicUVjb3g1S0FhZTVCdmI5N0Vua2JpaTU3MG11NUhTcldIQ0h4YkhjMHNvS0lKMTBhNW9XQnc3c2VWejhJL28rR2VRQWcwdEU4N3dVY2tVZGFBd3NkOWdhZ3pmQnZudXJzNTdnV2VGSjRzd0NKd2hhZGhzU0V1dWpJRFpmTUl2YklEK0VrU2sxSnlOcmk4V0tHYXZIQ0FPT2VRamdMTlB0dTc2RVFyeTR2Y0RrcEtVdDgrdDJBM25QQ2xsUnlaMTlVZlFCVCt1WWpzTFpDWHJqeTVOOUxPanBlVm42WlFhelNRSlplRFljZUdBVTAwRHVuUUNVWFkrVEdSTG5QZVNBdnloMWwyMDdlM3VDR0g4UjIwOXlGZzdjZ3g2TlZGdnBJZkV0L3pha2pudTJPTTArVk1zSGg3OHlGWGhSWGQxT3BDNVE3S2p6RUdTc0YvRU1rZzQ1RlBjOHBjczNLb1VTUDlYbFBySUl0QjVXMjBsd25mVU9XNnhvL2xlZU4ySU1aZWt0RzNtRG1GbzhYUEZTTEZ3WVk3enRoMThFclJYeFVrbjZrZEk0VUFSbnVCc3dEb1ZPYm8rVE9qdTJYSjNqbEZTekdkb3dXeWFIYlFEOEpoL3VZRlNJeWlNWCs5MHQyZFRzWHhSVWUzcndqUWo4MTFMWXp4WVVQT1NQaXJweC9uL0VlVjF1REozSUdzZDBVNzVpWVJMNGMxcTdkaHFWc0kxbVljc0hSdTB4d01NTWxuNm9JR0xhRDY3em02SlR2QW01dDJqOXlycm9lOTNGSmJzMXd5UWJNR3o3YzB1dXQyeE93OEpyT2lDSk4xemVOMk5QMkJ0THA5ZGc1TXJlNFhjaUVoMmx4L0ErcTA0K0dCd3hiV1NUVDcyUmx1NVRPWVN5TERXVzRHOGJjMlkvSTRSWDZnSm03anJWRlJxNmpzeVFjTVUvUkRHSkJIK0dORzFZd0k0ZVNlRXB6ZVhnK1pSM3FITGNmRzY5Vlhkci9UK1dsd2F1UWc5aU9qNno1Z0hCWmFEcXRiNkhJdlBKaDErRVEyYkVMejN1dWNRSkt3N3d3Y0RCSTZiZUVJcXRvdlk1VUNVdldEdmdxT3VzWjNhaVdrbmZkeGJ1NUhPYnZoZVJiOVo4QXlkSjJyTFY1ZUJIU1dWbDFGWWpZZzgxTXlTSlRVekszZUx5a1lWb2NxNWJPTG9MaEFjT2QrbU5DTDFETTRBR04xajZsYytoODhZRU1kME5oOS9Od25SMXNzc3gxeDIxbmMwNjhPVHoyYUFQWXhSKy9GQzFWalJYN1orMDcxblJlT0hIbUFzNmNiR3UwRlgvcXo3WnREdE9GNGdMMnhBN2NKdlh0RTlVdlpCSC9YV0pQMGlDMnE1OUFadHpCRjBRWjBMRWMwa1krbVRzZnJuMTZvbGZWd0VMRmx3a09VSmI4c0k0ZFdFcURBQjNob3I3SUhjRE40L1RNVU1EQ2UzZS8wNGhxdXM1YlE5NWw5YkRWMythT2MwMnhhTWgyZVc1bi9WcVlZOUg0cVR3aVlrOTNUeE9UbVZzOFZNYi9IYWJGZzhJQWE2b0hQaWpHR2ZiNGFwcnJsTTVoTXNhRnN0d05ZKzdzR0JKY2h1cm91ckgrU0p4Vk9lTGl4WDZJM2RFMkRoczhvNW9sY21zNXZBQjJYTEZnVHY5M1dCaWYvTHRvOFRWMm4zUmt6b2JiSVJjSCs0cUQyRTUwckMxMUQwSEJzN0tLYW94WEc5Vnp5UnV5bHdvT0t0OE9WVnB4UEVyRjNWRjFNOFQwdEZBcjgxeDc5MFpyeUw3aCtLOEx5dE9xU2hiNmFNY3FPakJvRVN0Mm4veWl6SHZZYW5RZTVkdFQzeFBiamFIRmc2SUFnNXNydXpTbW1wMHVsZ3h6U3VkSUxzaFRzdHdOWSs3c2NLRTRxYmhkWUxCVk9WSmp4YzZ6bndqbTVTUVNaRUdEamlXeWVqRzhXSXpyU1ZhK2FIREYrSWg0bXZIZEorSm9QNlpDNHJ5bzdnRW5WbDhNWUx0cE1VWFVWZDBIQ3A2VXhUYmtaSlNXRWh0WTh0aXVWSERhaXFUeDdseC96ZWlYRzJWVGxDL1l4UFNpamY1bXNHSG92ODc0K0Y4ZFlpS01YK2l1cUZMU3poWExSMXhuMTFveS94RjMwaGR5dHgxSmRmZnVjdEpTTDhiUjRwaHlLQVl3ekZHcHBZbG10Z1ZJUG5DUkJKa0tUVFJEcHJ0aHpKMGQxWE53MFllM293YnNPU1pXYkhlM2hVMi8ydU9DZDRscmZTanFXL1c0UVdkSURLeVlydGNVYzM1aHpoMlhpbElhZEFEYnpZdUpJejJQQ1BMYWxMbzAxVzJWcUJ0UFdQZEc5V1dDZ3hHRThxcUNWM2NzTmZmUzdtaTVhT2NRZjhKKzNIaGNYVFhlRjVVdXlwNk1FYWY3RUxKVWlnOVdqSThJWTA2b1RNZTlrYmh2ejhaZTJHNGNMWTZ1S0NkSTlnaFlrNFZ6VkJCVCtiQ0NLK1djMGprR2xzNTBONHk1czhPMXhBMElyMWQzWFdOU3hRU0hDOFdLRmQwaDJOS2R6d1BnbWJLcXJYQml4Nmw0c0VLRzdUQkdWRzRYZGdPNzNXclJtclZ5aEljWEE5aHU3bDhpQ3hiOStIUWlqcDVoNlhYNy9neFRZMzQ5dGlzVkhLd091akFvL2N4d1hNVmtQNFB2b3pRdm5tVUx1cU41bmZlUTlOd05qRloxTFNzY0NWcHMxN01tKzZLKzNWbW5LTml1NWtUa3VSaEhpeGNHV0NPM3U4QjlPek9sbXdjb25qZlQzVERtemc2Mnc3cmdJYkJkeExwakZtVkVFak5GeElydGl0dHZSVC85TWYvVmlwRldqMnFVb3RDaUhzazZmMFRsOWNqRHhzbVJ0VG83Q090OWV6ZGhKNklZbW1zNWpLeWFPNk1wb3lLNW5ZZ3Q5NGxTS2ppZzVuaEcxbnVsTFZWL3pZYkFoUDlqeThyRGcyaWl5MTRVWG1iZ3k4d1ZNOGxXamEwWXhrZUs5cXhGVjE4c3J0VlRodCtzbDNTNnQwcGg5bjdMSERDOHBqT2JRRllUVWFMa0ZzZDZZVnhMNVFZTVQvellmbVV3aUFsRk8wY1FaSVVxMDkwdzVzNE9VSEI3NHRIZi83L0Q0KzgxQ0V1eHNPdmtESUU0c1RPaGszRllqNXl4RHlOT1ZEczZTa3BSU0s5U0FOSXpXcVE5MzhNam93MTZHKzZMaENQcUR5MXF0MUZ2dHd1Q2pRdTZ1Z0VCaisxS0JhZmhqL0NVbmpGc2h3bWYrRU02dGFvb21JVTlMN3hwL3FpbElwc2hFeld1cVlpZEtLMGhDWFZzcXh6eURGKzM1VVU1bDVwQW5YK1JzeVpyUlc3Zm5sN01FRUZVbjgxRXlDeTV4YkZMTHZJY2dCYTVBY1B0cGR2QXdYSFFSYlJ6OElyamo2SHVoakYzZHJBZDFGNDNCcGtPWG8rRmZSQllmbHFjMk5Wd0pmTzRGaDRQQU9ZODNmazJ5RTVSU0UzaFlET1cxUkt6ZktSdUhXZzk2NG9ITFMwTkRHSElUTGFyTWx2S1Y4QkNpQjdHVlEyNXFud3g1NmJyMjFuVmFzeEhCUTRmTlYrS1VRbmpmTjBPT25uUlIwRmRhelhEckh4amd6cVU4Rm5wOE81b2tPTTc3MHAwNXd1OEY2MUNYRUROdjc3VzRhOVZOYzhyaS9qMjlKemNTbTVXRTNuK3JYSmJQSUh0Y2dPMmxEUjNvVENJTzBjN0J5ZjcrR09vdTJITW5UMWt1N28ycVA4MWpZTDNTcHVPeng2SUU5dG1hMXlBK1QvMGVBRGlKblpTRkRvcTU2N3YwcHV4ZUVYK3V4VFJ4MWV1SFlSZE5YN0ZGSUFlY1hnOWpsY2JjelJkdGlzVEhDaWJvS1B2QzBIditUWnl4eHpXclNHc0F6MnA0L2tkYWU4UithQ3A2dkZqUE50dFJVbklmejlVU3RTbmJ2am93WXR2YWljbFQycDZGT25iMDFOY3BlWHdRRllUZWQ2U1d6eUI3WElEdGhFdVAzSUxzaC9SenBFWnFteDN3NWc3ZXppUzNkR3pVUVlaTEp1cEo3YUp6QmVLRWF1KzFEeWxQYVA0b1R6QXUreFZscWJRUWtnLzAyWXpGaGN3WmRidmhMekRpcTQ4NmZKeXdDcUZ5S0ZkVHJUYnNpd3puVzFxRnpmc3BpekJUMldDZzJlMlhoV3lWRUN3b1RjTnV2RVpyb0JBUk9pR0hLQld0YW54MDFEMXFDUG52VEVWVVdBckhPaGFPeWw1bHFybmZ2djJ4TE5kUlBpQWlKSmJQQ2dJc0xhNVB3Y1k1eVdsZEE0dnQzT1o3VzRZYzJjUDJZNVphL3JLQnF6ejExUjR5SE9NMkJYSmN1WS9OTHhsR2xrVit1ZTJWMnVhUW5KcWZJdGRhMWtsOVd5ZWpFdHAwQlMyZzh2SlorRnhMSnA5ck1jR1Q2K0grY1dRNkl3SzQxd21PS3Q2MzR5bGdBajY3T0NuRDdnR0FoN1Y4QjE0bTZLRStjT2NybkdCTFZreHM3Sk5oYXlWelE2RzYxcG9BTDJUa3FmcTJUeVoxYmRuSThtcHRVVVBDcGZkNHZBbDlaakIwaXN2WUhBTnJDM2VscUNCd1pUT01haHN0cnRoekowOTNJRUNhQzc2cHZpZkN2UFRNMXpIaUsxTFgrS3ducGFMQjJBbHFsR3FRanU4ODRHK0w5aXFTWmRBUjZWc0tVcGhPN05BdDI2V1FxYXNhVUpkVHpTd1pVcnd4RExCZ2JKNmY2T3JXUFNoNHFZUHVGclVYby9PaE05MGhlR0d2cDlpTzIvY3JHeFgrOHBhbkJNNExwejBIcnRxeDBwLzNrVDU5bXpzbGUzS2J2RjR0c3NOR0o5VXRaK3RCcUZCb1pUT01iaW83dEVxVzh6ZE1PYk9MdGdPV0VhaE9lemVWOHFFSE9jWXNYbzBhdDVSd1ppMUV4VUthbGp6WWxNVjZuRkJkUS8wSFcrWXVSaHhTSnhxVXRnT1BWeHlxZFdOVmk0N0lwSXVRRG5XL1ZjcU9FQlR1cVMrY2pGT3ZaOGw2WG9sU3FGNk5LcGhRbnU0cTBSQ1d2eXNyRVEyb2I1alhCQnVsb3QydXYvdFlqeERUdGpwQVpxcDVVVGt2U2k3eFFzQ0RBZ1BNVFJMNlJ5RHNNdDJONHk1czR2SmR0N3pObjFUVmhQY2dTZWJIVmhlcU9PSmlCRUxiZzl6cmVnZG90Qmd6U3VJeTNyMExrMVNTQmRld1oyT0NpN3BDQVFXOVB5Z2pGMFpUT0lwYkxla2dhb3lQV25WZER1WVhiMGRSbGxMdFZMQjZVVm5RVVBOb01VRlc4YzhZZHpmZWxWYWx1dEthb1BZa3pKcVE2NWJPSkp4MC92RE5Ud0h6emg1L0F2eHZ4UmQ1aTRGYm5uM2JjUWUzRWUrb0h6WFpiYzQrRGxtcUpBYk1BeHhoakE4cFhNTVFpN2IzVERtemc0WUw0dFJWYzAzcFJuM1VBNkNQTHZUZ0xnbmRvVmRDK3RaMGk0WW5rS2JmdDE4WjRUbmsvSGx0eGd2d1M0NXo3NXRQZ1VrRTQ3NHMvQXBuM2xJWVR2UVJpdVUzRENzV2QyVWxRMCs0WDY0YU9Vb0U1eDYwaXNUNEJoYkowdTk5T0JpeEdFRTEyeUxjdGp4b3NSdVJTZ1JPVEFyZTlhckFMT3lIUy9LdTl4Z2E2LzE3NVcyZDVkRTdPa08wK250aXN0dWNleDQ4WjhoVUNjM1lPalhIalMyVVVuaGxNNlJWSXpIWjdzYnh0elo0UXRkNWl0ejBWc3RZUjVsSGIwMDRmRG5yR1BFOXBURDJOTVBhZlNNTXhFWTBXL1UxUCtMVldLQ1FpcVo3K0RmeFI5UjFVd0VRajJmU3IzUGh6bVpjWkhDZGwzbDBVRkJOUk5XeWZnUXhmMXcwcW91aXZub3dObndCM2hLRDB6dlJNRlhpU2xuN0YvMUhqOXdLRUpwQ0Z5U3BXTS9tYmFpb1ppNUlQT2x6c3JpeXhXL2FMN2pGWlk2NWpORHhCN0xCVTh4SnlHNTdCYkhHMWpxeHJJMHlnMFluS2hJZDdUa0pRUlRPa2RDS1JHZDdXNFljMmZIa3ZDeTJBM1JzVTI1Ui9GWjlQbVFaM2ZhVG9SRTI2cURkUFY5Q3Q2NGFOY3R3bmdHeUNkY3lDVURGTExLOXFEMmM2eHIvcVZoNlV2cTJKVFBzNmF3bmY0Y0xMcVZtZ21idWFxRkR3d3N1cFJUSmpnQVJyR0txeUp3WG5OanNsOWh6NEhIZHZCQU9xSThucUdiVXRBS2UwU0dyTk9XVGhkem5uTU5kYitkdFRMNVFUNDQ2M2VjMkhYcFMrcklpRDA3a1J0QTU4MFdLTHZGUWVwRkFBYXdNdDZXTmd3cG5jUE82b2V6M1Exajd1eFFjaHV2UG5sRFR2U084SWl5blcvbG9Pc05UeXovK3NCeVdLQnRaaWYwYzk0U1plWXBqZ202NmtsOUJydm5NT1pheTVJU0JIZjVIUkxPbnRkRm5meHB2bDFEM1lyb1Zrck9rWmg1Rmxkb2VPVnRxaWtUSExETHlUaVZvdi9qRUpzclBoTHVneUo4bVdGSmViNHdkVTNHZVgrekVNYldtWm9RNkcwamh2TlllQXhpTzc1RDBkbDlFbUNuY1NjVXFINGh5WTJ4Smh4VW5uem4wbHU4R01Cd2Y2ckJVUTU3VXpySElFblo3Z2FzSWtWdnhQSTZPeHpRQytMbHFUWEhsRmU4NGpXTS9hK3ZlSVVUbWZ0aTNkejBZVm5ZRlJvTGp0ZlQxRzNPdC9wNDlSb1Btbm1LSStHMGRDYUZnTGpiWFNwdDdXT29DdXFSWGNzcVJaeFRmRHY5T2c2bW1TN0xndXZMam9URUM3alJ0blpsZ3JPcWNBK1ZXenFqbEVTRHFHRHVNOXhiaitmcnFvZXRhRFpEUzlyZWRlWDNSRFZtVnJaOWlVZFVYdkdLSG52b0ZhOW9pZFNrbnczL1dYZTdHZ0RvRWhGN29ydGtkTjVzZ2RKYnZCakFNSUZwczkxMHpPZzR4djZVemhGVFFrZGx1eHVDOFhiMlJUR09CT2VKdTA3ckh2MW5UaXNwY3pBaUZpUzJLVW9EbTJVbHBtcUNlS2NubkhoYjBxTys5UitUK2J5Sm5ibW4vSllTb004Yit0YVVVVTlTcnBqT0VsUWR5akh4TXBUQ2RtMDFxWUpuNTJWWnBLcTVJeUxOaVVCUFhMWWl5Z1FIZFowd1ZjK3F6Nlh6TjAzMjRMMDNXUGdrMHBMYmluM1dsWlBIYTlCcjE4aTNJVjc3Z29zdko1WG0raTFadXV1QUUzenc4V3N5UVovd0xIUHZVcncxYzFHbmhvR0lQV1o2MWN1WjliTDBGaThJc0lhQ1dCaDZWemEyUytrY0F6SExkRGVnK3kwYkthVjNkckFkT2l0dUpLczNDSFZTZDdjWnBSTkRFYkY0NXV2amdpcldNMjZlR0ZOdkk2R3VuWkdkU3pLZnA5QkdkTG9QczBYdS9CUW95VGNMS3ljblZjVng1eFMyMjFFZEhLWmREc3RQMjcwNVRxU0tnenVvL1ZuRWxRa09pUGFzVWdQTDZzYmJPdXg0QUNaTHB0Q0cwNkg0S3BFNTlLUVJ4cFl0TFEwMjg3cWhqblE4am11K2JEZ3ppOGdZbWIzcVFyb1d5MFZ1ZWZVanlyY0hMbzZjLytVRmhqbEtiL0dDQUt2Yno3RktZenVUN1NtZFk2Q01USGNESnBLc1ByREJ4TEN1WGxwblh4WGVsajJ3bENhdHFuNDkwTVRCaVJHeFc3aGgxWEZHbFYyeXBuOXdkd29XYWFqSCtJejJQVnlGNEJ4Rzd1TXErMmFUOWRlVTNLRFNWWjFLUi9FZXVXbXVvcUVVdHJQSGFyTFpqbWQ3YklyL1pyVG51Y29FQjdCS2JvYkZsZmJydE4zcVJUNGRrU2VBWjFmTHpvK0hpejQwS1BEamFqb1Q3alkrY29hcktWbXVxVWdZR2w3UzJjTHYwbXhhMXdoaUl1Qi9jLzd6K0ZXNms1aU12ajI0VGRUMHFzbVVLMVI2aXhjRUdQVG9CMzRBQUNBQVNVUkJWS0EyZHQ2KzJ6SVh5YUcwenBGY0VpbVo3Z2FzT0pzK1VINW5YdytuZFh2cTl0TUdOUzIxZEdUZWdDOTJnMTE1aFRqUUZqVWxiRkdORGhFQi80ZDdJY2Y2Nms2V2Y2K0xKRmNoN3NjWkYwV0l1aDJ6aE9od1Z6dmlDcjE2dysxQklocjNra3FYMmR4VEN0dXRxeWNtWk10bTB4M1dGUlM5UXVNNmZrYVo0SFN0S2JaN3JGdC9hUzlrQUMvRVppanVyVDVOdE80ck5UaEFRZTFLNFlBMHcxMWd2WVo4REtuLzBoWU5YK001NU5GbDRXTmZYWE9PaGdsYmpQMm1pdnBaVFprcUJtZmZIcWg0MlVvZUlsaDZpeGNFR0RySW1qSjNybUdlYnlvdTdweldPZUxLNkxoc2Q4TjRPM3N2ZkFRQW00N1VXMzdEdm1zUHNMVkpPUU8rMkIzVjM3ZXMyWndwYTN5Q01RN3ZRYXZmN0laajBFcjdvcXJTVlFnemdFWmxrUVVMZE5oOTh0TWd3UmVKNjMvWFpmaTdILy9BZjlENFVjNTFDdHVoMmc3UFA4M1VHMnJUaHJZZFFURVhEZmVSVWlZNHQ1bEIzekY3ZE4vY1V5dDNOVmZPZFdBdmxzUTNoZGw0NWl5TEFQK3BXa1BVdW1Db1dmWmlxYzd0ZXJqcXpjcTIwYnF1VTRidmVIV0NTcFd4ZjJ4eHFaVS93M2FVVFI1eUR0OGUzRThubkF5NUwwcHY4WUlBcTFqZlIrdGwzSHFYMWprR2c1ZnBiaGh2WjYvTCs2NHRSdEF3NXgxeVJzVUNhN0NSQTFNOXNmb1c3ako5bi9PRkNTMEREd2plTXRVTHErSDQvbll6VWVNcWhIR041MW5nVTBBdEZHMGkvdlgvNTErKzVBTTRYK0VSN25IVW9sWTNKYnhLWVR1TWpFN3lqTGM5Y29TRkUrd1o1Mzk1b2FvM3NDNFJIT2k5eVZYQWVMcHRrT2NmYjdzUVJnLzFxNWNQWjNjNEtvdnErUU1ldjZnRmJsak0xeFBrTTNVVmJtNExHU3B0WGJ2M2Ric3FXdTh4TFFJQnJFaHcvNFQ3L3J1Ly9WT2YrWU1kQko1bVp3akR2ajI0VFl3bTBld1pZa3B2OGFBWXdQQ1JXaldTK0ZCV0ROSTZ4MkM0TXQwTjQrM3NWVWs3VSt4YWh4dnpGdlAvNHBjR0c1Y3AxUlBMMUozZnNKN2N1Sjg2U2hpK2ZZdHFqKzVpQ3hibnVibkdDWlBpREp2NGJlK3NONmhuR1IrL3l1T3FGcXVFOENralBhTmtJcTFRQ3R2aFZ1U2RjSFpuR3gyVzY3YlF1R2lWSGh6c2VXUHY4c0RoTS9yaGJwR1puYkNkcGFhTjRWK2w0QktxN0d2OE5Gc1h6TCtvSGx1WWwrdndlSEdzVzAyOXl0NkV1Tzdab0NkWTloN2pjN2l6c3VLWlplK2d3QXVMWVY2TVg5V2h4N1N5SW43eTdZRW1tMWJ5TU1HeVd4dzBaYnphNFFIai94ZTFKdXg5V2RoSUdXeFA2eHdwSXJMY0RlUHQ3QTMxQk1DVVdpMm92RUNTSDMrSTFsS015NVRzaU1Vc2FNaGVtQ0RZTnNYdE83SjNiVE5ZNE5Qb0crdzl3YityR2ovRVY2aktXT09Da1lHM0psVHZlSUhzRHQvb1dNa3FtUExmRm1tN2kvbEcyTzhJS3MxcnJlQko3TnBhTUYzbDVKZnhXTGNuam5tWjBzRGh6dzMyVHZ4K25nRmZjNkFkV3VZcWZ3Z3pkVThOZ3BkWFErZGhSVElTWnMrc0tkVkZkWWRCL0RIMjlTRDRMSHp3ZVhhMVZma1R5K2R3WjJYNWtrVGZ1UFVvdWE0ZWJUTm9lSDVjKzRjWWRTUDJhSGN6Sm5QR3FOSmJ2QmpBZ3VBZWRyVVdCTDlmNVpobk85STZSNHFVTEhjRFppVTN0WmpTTzdzZVcxYTZqSjFuN0EyZFVCZE1lR2lsOWhKd3hPSm1ERDBoNEhMR1NMV0hId3NOZGhvOUFXT1dCanZIK1VRZHZrTEhkdDYwc3EwUytWbHZWUWxlL2JINzJLMWZDV2Z2N0J3ODNHUGJmcFJ6bmViYkJiK01maWdXNml0MUR0aTFtbE44NE1VS3Mxd2Vuck04Y01UN0Nydm5HSHZ1bXEzaU1adVc3SVNzNFZkaFlObG11NThTK1plWWZEaHQyQTYwTXp6NlU5WnY0ekVXQkM5a3V3MzJQMDAxZFc4MTRmL2QvWHVMTVRFbnFKOHFsWS9jMU9nLy8vdGJwcXdKUmV5eE52NlpYRGxEWmJkNE1ZREJ5QjV1MEFici8xWm1lOU02UjVxZ0RIZURNM2RTZG1lSFk3bXNiUGowL2V6WkgxY1hSOVJ6V2tVTWZiYkVvclpOSVFlVFhwYThkYU1EaG9ZZmFQeDhqU2ZPUEs1L2d3andDLzUyaFJuMmhESEI0cllNNURoVmJacU5LWmZLZHNGcjN0dllGVEJWUG4ydS8vTnJNVEtTb2pDTGIzRzh5RlVpT0hQUGF1LyswOSs0dWszWnRPUW1aYnhhZUZhNy80UmFtRm5QRkxYdEJwMXoydnJQN3R0OXFzajlnc2F6dzBCWXRoMWRUWERZTHN5VjlodXhwNmM5L3JTaUE5SkxidkhpQVB2Zy9lek85OWNHV09ZbHBYVU9MM3YwTXYxdWdKTytiTXFWM05uaHBwODBsVnVoRmZhWWRWVlFFRk1KTlNIS25hVTVMT2VVQnRZU285REtpWUVsNGhJeGxtN0Z4ZXU0ZExiVFdYTUhFc0VXa3NZQnpvcTkxek8zUFg2Qkxia3BCMU9hbDZ5MGhwdy9zcUlpUWJTTFhZU25WeUpQdDBpcFNFVEVucW8xakk3a0huM0VVQzJPeWNlMVZOVUtBc3lwSjdWek9MblRMaEx1aG5GMjlpbmxiZm02SzEzOStEMWQ2eW5LdWszd2ZCSW5YV3lNUWt2eFJEMUkxckcwWi8wbzJRNEQrZTFrNWNZQlRpL2hXWmVzNWFBVU5iMSt5UEhtZ28wTTY3NmE2bzM4YVRVUGE2SlNReEY3R29YU2VXcjlmb2FoV3J4TXdCeUZVenVIa3p2dEl1RnVHR2RueDVwVksxWnRmeDRsTmxQZVNEUitXSnM3cE1NekpWMVNqRUpidmp1UUx1V0kyaE9jbEhXVWJJZUg5dVdrZXZrV3Z2TEJhVXRmTzFtclBDbHFrdHZlUVlyeUs0T3Nsdkw5V1ZsRUx3d3h1UER0Z1plNUxXc1l6Mm1ZRmk4VE1BZVYxTTdoNUU2N1NMZ2J4dG5aVjVPbXFlVTh5ajlQc3lsWHVyTDBtSG9qUVpidVd1czBTUUpqRktxdkpXVk9qRjlOdS91YitrMjFSQm5ESjlRSGphdkdBTTVzVXVzUFo2S2l0UjUvSGNZY1J3ZFpMYlBKV2RtcE02YllvVytiY01aUXhCNHM1T2QvSW1hc0xGTzJvVnE4UE1CY0cxSTdoNXM5NVNyaGJzQXl4V1pLeVNBWVVXZHZKazNQaGJmSnZGeGtTMVV2WXdicHhLMTRIbFlXbUdNVWFtU3MxY3BXVDVzU1dSOWlidHlTUHppNFBuRElYajQ0aDdKTW1BNDJ5VTVkREowNDBIYk5qbzV3a0owb3c0dmhmYmh4MGFRZHZtekNHVU1SZXpCUjA4cFlkalRaaG1yeDhnQnpqVTd0SEc3MmxLdUV1eUVZWTJldkpzeHJZRmhWZ3pVckQ2ZVlsRE41Sjd6NTZ0NFQ5NURIZmpGU1l4U2F6azlNNHA5Y1lxU2JxT1BSbDgxTTRsNUQ3bEswTDYxOGNQamZGaFY0SEE5dnBrUCtFN1R1c2w5Y2pVdmlEcWpZTzNTV3R1TXlEb3lMMkxNWVhjZ2ZLS0R3eEtGYVBDZ05NTWZlOU03aFpFKzdTTG9ieHRqWldjTDlqaUVBdDZadVBXdlRyTXVTM2hPMzh6VHplQ29EempFS0hScjhWa1NjUHZQcHRCcFhyS2c0TE5IVmttV1ZEODdHSUhXU0ZVMUtFZitCeU4vTTMzWnpSRWpJVGVaWFRlRVdIcktIRXZVejBXd3BNUkY3dGpJTW9sTms3aTE1cUJiSHhGM3FVNmdZd0J6akN1NGNTWGZEK0RvN2xzSTJIWXZWUmJpc05sZjBKTmFxMkhCMlJMenlxS3JpNThodGFpZUtjSXhDdDEyTzVFcUxXTW13UEpnbVl3L3BHT01OZUh5VURrNWw0TUE2djUyejRlNjl0bmhmMlNxZW9SdUZpL1RyWjAycFN2NTVpcWc5WFdmdDN3Z3ZMVFJjaTVjRm1BdER3WjBqNlc0WVgyZjN2anhockE4M3BadlBMWm1VUFlXbXhJNkhydDhkc0hYNFFvcmNHSVdHY0R3M3hqeU5NN0QzbFE3T2ZNSTBSa3BUSkNkWCthYVJvNUZuV2RCTzNXRWtkdkdiN3o5QmpPUG5KVmRwcDBUdEdmaDBzWXVPTER4VWk1Y0ZtR3QxMFowajZXNFlXMmRmVk8vNnVIYno3UkJ3NjZiTkY3Mzk5Q0d2WjNuL09oVHREbk9wMCtWUmhXYkZtK2k1RkpHUG0xeGxDczI4Tk1qTzBzRUpuY2tDRFZ6bEQ1TjY1Rm1HL2ZOcktiVXM4V1hjSjlsVEU2dnFDLzBwSmEza2lEMlkvbWhaNmVNSUR0WGlaUUhtQUZKNDUwaTZHOGJXMlp1SlQzYyt0dXdOc2VQSkFUQjYwWHN3cU94Y2EwVVM2dmFiWkpGVUhoRlJLUE0zZzQyNDQvNk1ra2txSjNSODROaXhiSEIydk9uVFBXUEFQNTMzV3U5L3dialFRNmtEU2o1Mk8rYXNYZTJjeWExT3hKN2phWHZKYzFlUnU4QndMVjRTWUk0MWhYZU9wTHNoR0ZkbjMwbmNTNDlYa3gvWFgzUGdLT0ppaGoyMzdkelVVdWlSUkVWVXJSR0Y2aWRVVXVaek03ODdtRmwycG94WVdXNGxaeXdabkJuNWNhOWtoWEtuTlB2dlpYR1B5SGJxZXhGZGRuZmp4NjM2RHVWL2J5eHFqOXJnYXNrdE96aGNpd2VsQU9aaVVYem5TTG9ieHRUWkJ6WEZ2Mjdmc2VuQ1VjalZXOXJQLy9zWVFiUHBpNldlUWpQNW1hc3lhQndabzlRSW91UzNrUklrbHd2T1N1cjRNa0hONU9qWnAvZS8wWXBKWGsxZC9KMSs3KzcvWWhkczVoL0lSdTJwcGo1RDdTcEhFeDZxeGJFcHJaYWlUZ0dBT1RXTW9ITWszUTFqNnV4VDQvZjBGZUpiMGRrZWxSUi9YbjhvUG41QTdGU2NWemtnL3dpU1ZqTzhSUld0ZGpUZ1ZPTzhzR2psUmNRc1JLZHFCNHVkUyszdDBmSVJlL0F3NzBTemxSd3pYSXVYQXBpRFJKbWRZelQzczJNT3ZwQjR5WTJJL0dlSmwxem01Ykc4VTJwLzNjbXRYajExUEpWYlpONENSMk1IZW1sU1JnTE9vVElkbjE3T0tjSUY4VTNrTkZ5YzlLZzlSNVBXNEp4eUk3NFlyc1dERWdCekRTK3pjNHprZm5iTkNhTDJkQWR0Ly9KS2ovcHlJM1dYd2w0MWNQNStacS9DaGl4Zllma0g0S2hxRk9CZ1RhUzhZejUxaTlHZWRZbmFzK3Ercjd2bkdvWVNNR1NMbHdDWVkwNjVuV01VOTdOakRwYTgvR2w5L0FtRW0yV2NWL01qWjk2dGtmTnBCdnlhUTVrNUFuQVdSczgvTmh3Yjltc1Nka0pSNFJoN3VzVlBUQTZoN1hBdEhvd2NNTmVVY2p2SENPNW4xNXdnYXMvUjhjL2FXenIyN04xV1ZueFJ3ZWt5UjI2SlNrK3hvVjQ5TGg2Y3BYS0g5Y2NpbjIxT2hHaTRoS2c5MHdPMyt3eFh5eENsaG16eGtRUG1tRkoyNXlqK2ZuYk13WDdoazI0RWY2SHhnaDgxeHV1RklTYW04Nmk3VXQ2ay9BQzFLbzJoQnBDRmcxT0pUT0lPVUxxSXBLMzhxMHA1cW8yeDUwanhPMnp5YUtUeUR0bml3WWdCVStxRjU3STdSK0gzczJ0T0VHTlBlNmc1SkU5dWNaZHY2UlFuSzBiU3EwWXJQcWJHMktpdDRXaW1hSEFxdnhtcjNlZ2laNTh4T3RtUUhHTVAzNDgrQ2NlUUxUNWl3RnhrU3U4Y1JkL1ByamxCMUo0TTd4NTdNdWh5N3dnY0dtNG91L2VLcnpjSjArRTNDc1p2TnJYNCtOdUFEMlRQVElJYTE1c09rZmVicmpjQVNySTMvZVh6a2hRSnFNWExRbnBBUGUxSldLTWNvTjhCVFRveTFLcnNBUVZqaEdiVmMyN3hHNTBxMU9Land6YXI1RU41OS9ObUZVejVCaUpRYVR3Nk1KMFNDMEZnWm5KdWIycnhRbHAwVDBLYUUvUHMyNU1aKzYvd1hSTXllNzcva011ajhYcmVWeEh6Q00rWmwxbzhKMkNGWjUvTCsrcGk0UnBjcndKbkc4KzVYazB2eis3WlNicTlxY1hMYS9qNG1sWW42TmtYcitHQmpiMXJnbDVoT2FnZzMzNnROVUdtVVl1UHR6RXE3YStPVjRIcnVQYkt1enZYc2ZYbG1IN1h4WExxeVZZTHRYZzJuRWFWYS9aNW81Sk1jZ2t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BZ0JRb0FRSUFRSUFVS0FFQ0FFQ0FGQ2dCQWdCQWdCUW9BUUlBUUlBVUtBRUNBRUNBRkNnQkFnQkFnQlFvQVFJQVFJQVVLQUVDQUVDQUZDZ0JBZ0JDWUJnYyt1VFlBV2Q1MlpBQ1ZJQlVLQUVEalFDQnpxZHliQXZpTVBUb0FTcEFJaFFBZ2NhQVM2RDAyQ2VaWDJWeWRCRGRLQkVDQUVEaTRDVTJ4dElveTdhN2MxRVhxUUVvUUFJWEJRRWRqNXBtL1pLNy9ucFg5d1U3dm1SeGQrWFhuelo3NTA5LzNLczV4bXJ5dThCaEpJQ0JBQ2hJQkc0Q2k3cU1NeVVHWDhxUG5SaFY5UGlYb1Uyd1ZiMXdxdmdRUVNBb1FBSWFBUjJJaXVEbFFGQzlWMGxsRUZQTGFiWnhkR1ZSUEpKUVFJQVFlQmhaMDNPTmYyeFYvdlJqd2dPM24vaHVmWXR5TEsvOFV0alh5KzNTRGtJdEpOeE1LOTcwWTkycmNMMm8rWk5Bb1JBb1RBQ0JHb00zWTJRZndoeG5ZVGt2WjU5RzNzVEl3RmMvblliZ0J5TWNMdHFIV2I3VlpMR0QzYmxWT1lFTGhlRWVBOS9KRUU0OUVwbzlOYkNYbjNWL1JPL0dUWlJwNTV1MEhJcGFBeGI3UGRzY1NuVFlvVVNpWUVDSUZjQ01CL1MzVGc2a2hMOHZ0eVZUSnBtV2ZZdzdFcU5mT3czU0RrWXFXYnlCbWI3WUpHMHRQR0ZLQVFJVUFJN0IwQk1XZHV4T3hzbW5CUUJkdGR0cTczVGZENG80TlZYV0VuWXpQQW1hM0ZKc1JGZXNqRlpVbUtnMXRvNXUyQ1pvNUtreVJTUENGQUNLUWl3RDBVYTFqWDNyUksxSkcyYlYzdm0rQ1JGTGJyc2xhc0xibll6a011Vm1CQ3BNdDJSL1lueUFtMlVUUWhNTEVJeklMUnJJMjJqVTFMMDFXa3hjM21XMWttTTNoNE1OdE5zeXZ4ZWkvbDhlMDg1T0lseHNkT083N2RBaHVzYnJ3TWlpVUVDSUc4Q0RTWnZlR0xiVnJsTWIxMDFicmNQOEhGd2ZReEZiUC9SQmlYaSswd0FyV1J5NE9PeTNaQnU1K25NT1VsQkFpQklSR1lmc3I3VE1sWmgrMkNteCsvYWRMMlVXaDFNTnN0SlV6YkJmbll6a0V1RnpvZTIvWFlwVnpGS1RNaFFBanNIWUVabCszMkxuQThFcHFEMmE2YXRDeVFqKzJHdDgxanV4VzJQTHdzS2trSUVBSkRJWEQwWUxCZGR5RGJWUkszM0l5SjdZN1N4TjFRZHlzVklnVDJnc0RoZzhGMmpZRnNkeXh4Ty9XWTJHN09YaFhmUy9OUldVS0FFTWlNd1BxQllMdTV3YjdTa1lTOXhVSE9lYnZNcUVZeWVpUFpnTEZPSkE5RkVBS0V3RWdScUI0SXRwc2F6SFpMaWZ2Ynh1VGJZUnYzeFpFMkt3a25CQWdCSHdINEhKdCszRDY4WGhyTWR2VkViaGtYMnpVUDVndDYrL0RXSVpXdkh3U09IQXkyYXc5bU81YjRrZlp4c2QycS9TTFo5WE83a2FXRXdCZ1I2QjRJdGp2S0JySWRYdHRLZ25oY2JIZUUwVGZ1a3RxRTRnbUJrU0FBbWpnSUkxbHc5cUExMmZua0ZkQnhzZDFSRnYyVThraGFtSVFTQXVOQTREWHZiWnorcms0Qk5lcy9qMWw0VnVQMEUycWV4TXFMNys5LytlTk81RWR1Yk94K1pTMlkreEVlK3pNZmZja3ROejQzVEY5b08yeFhlZkpuN3IzNzNBV25iUFNpOHVMNy9BcGtKdk52TTUrK3IzK0gxcUh5YTUvNTI3dnZPeHNFMDArLzlRa3RMZEJUZFBiSkw3MzNwbk9iU1A3MHVmNmQveVhNTm1kYm1DQStDRDRMS3dheDNmSG9CcFRwajkyM2UwUE5YNU9ObUphRTNDcy8rdEpiYmpvTkhXOCs5K3hQaHFyaU4xSWNjZDk5VStPT3A4SjA1ejNaSU1BcmVyb1lCUWlCZzRiQUMvQlZ1UVo3c0JPeDYyWFhjcjVGQkU4R1J5MTRUWU9mZDkzU016dU10Umw3WGt2WFUva0V1L2F1dTl2OU0xdkNuUkNGcnZMVTJaOUVSblhVRUhGWVhBaTJhOTU2L29FSDdqL1hFQm5uK3FmdmZPRCtXOE5QbmM5VldmOGNZMi9pRXJ5RGU0cThWMWUrSUFJcVN4aDlOcWhVMmEzc0oxUVpYOUV0VVdZekNMN0ErdER4alR6ZlRCc2xXQitSL0VnUS85YW5pNUxpNTZFd3AvZTdHT0hDdDZDR2MyejNqTHNEeFRjdEVibWd5MnZEVjU1L0dyb3E5UUsvT0xTWS9UN1I2cjhRWVR1d1g4M1RraTRKZ1lPQ3dBdlo3b3Z3cEc5ODJ6Y0lmVGpub0VaME5WWmJZTmYrbjEvOS9ZWW1BeUY0cnMzK3NSVzh1bXROQzIweCtCWmdvTjF3UEdmWUR2NkZPV3JJWTdPZFRBblpMcndRYkRkYlpZOTBncGMzMk0rSitwd2ZSVWRiN0J1Zit6VXdubVMyTVBwczhLUnIvdzFmaU9NVjRZZ291aVVxMlF6ZTBmKzQ4TlpBdXBYcWxWb3d0NlB3U1JEZmxLcnkwME9oY085MzNZLy9XY2ErM2dubXVnKzJsclJDb0NiZnRFVGtGTnROTjc3ZXFpcmhrZUl3WUlOZCsxd1EvQzc3Rjc1dmh3MTNaend0NlpJUU9DQUlmQy9yaTd2N2tPcnQyaTdleS9QZCtIOXhxbzB5dGZyVkdvU0FzbXl5N0lZc1ZKRm5aSmhuWHd2cjZvWnM5Nldub0hCSVlxZE9uYW95ZGdOT3AwNjFrT25ZdmJnTXYvTHh3YnNiQ0xKbmZ6OHZPLzA0SG43d1BUemNaRmRiT09GVGI1czR1Y2ZDdmR6TmV1Z1FleWVQYnpKMlFxU0hmMEp6dHRLNEZHem96K2RGRlAzMVczWlFlSE8yOFRSZWFJZC9vdW11S3kwRXdaQVhlRlNRSVA2RHAwN0JwQWVGRmFLc3lHei9iSGhmS0oxcnNGL2k2Yk03ejFteTJNNDNMUm01UVB4L3oyNXcyMk9BTjRRMUZwbDcyTzRhcitnZC9UZjdUTndlOW1zcVhCNGRoTUFFSTNCTTlkaWd2dTJwV1VVZkQxbkJTeGh3T2R0bTdIY2szVHlKc2EvcXJLOE5lVXlRNEZvWTIxUi9xM05VZGN0WFdaOTFhcnFzQlpaVXZkRDVFNGE2SEZvR01PU2lrRnVQakE1RjlOc1krM1kxbkVPYmJyQnJyVkNINEI1OEFINEswZEQ3c29pS1VSVGtBMlZ1Q3d1dllOTklwWEdHNTYxQXBCUVRKSWlmR1R4dlYvVTJ0L1hVQTJLK0QvdHJVbmpFdElISWdURjNnK3BtY0lUSkdiaEljVHc5ZE10dS9LalBkbDIyckl5aU15RndvQkNveTY5SnpyNDc4ZzRUQ01EcmpCa3M3ekhXK09Fd0g4Wkl1eTFaQkN4NFFRYTM1QmM3SzRZcTJ0ZkNOTkNIOE8zNFZkTmx1d0FzWXlRWWwraTQ0b2U2S25vOC90MG5kUEIrdnhiV0E3L3BkV0dJZTBCbm14ZURvTUhDRDgzRktJcWNLTEM1c3lhS1lOUjZWbjE5dmN2MDErQVN4S2V3WGNOOW5NQXZWVGJXQVg1TlZCZ0V2bWtweUcydzNSbjh2Y1JoU0doeENYNXhPNHE3d21yQXkvUGlxQnR3d3dqNkpRUU9CZ0lZaktHcjQ3Z3I2b1IwMFJGTzVEVnpDNFZxc2hEQzJ6SjRoTStjaHdmNFpZMkg1azJ2YWtxMkErY2tzaDA2cjJJQ2VDMFBoN0s0bC9KaklyaWdtUmtrdTYxU3JUTXk2RzZOc0tvUndkZHgxV0RzV1o0N1JsSEVMakwybDQveFpFenJvWEpPai95QWdUVVJ3R0EyWG53SzJ6SDM2M1k5clJZZkpTdlpFQzFVRSt1bjI2Z3ZCYmt0dHJ1Q0FxQmxnWG1rdUhEdHVCeHhWQTBzWVVUUGdDdXowSWtRT0JBSTZJbjJuU2picmFQRHJlVzFjc242MkRyNm0vb0xxNjdWaGRvaFFWbC9nYkNvdUtlZHpIYWd1QXRTR2ZoUlNtNHdJMVZjaGZjbGs2djI1OTYxL2lCQk13dlpWU1RQeWV0TmZJaUs4bXM4YjR5aWlGMWs3SVdTY2VCL1BzSjNlUEJqUll2aFM1dHg0Z2V6SFQ2d2ZpbVVKSDQ1a2FwTFZLUFlMbUphQ25McmJMZTNpYmsvT2M2T0ZBK0NkY3Y5aFEzdUNzcVc4Ym1WTW5RbUJBNEFBaGpIaEs0Ui8yTUQzZE9rWVRhcFpMWjF5ZklIdWRBMVVSS2Qvb1FXMFF3OW1CWGpnazBwdHR0Slpqc01VQlhiZ1FuMENQS1FMTHBqbkVmNE5yb3VFd0FkbVVVVE1NQzN3eVJFbjE5R2NQWlpZZ0VqVGxHa3dyRnNiK0xNRHhnVnp1QUpFbFE2SllnZnpIYWd0ek9oVVBFTDRsSGloTE5aQzlNaXBxVWd0OFIyei9HU2Iva25JU0JTbk04M2FoZWF1NEF1MnkzRlBpeENWZWlYRU5pL0NEU1ZSNFIrcDRaTHhwcWJiMWd6RnhsRFlMdExPbXVkU1VaRFA5N1VzWXZoeFpJWnljN25ZenMrN0ZUaTVKL2NZTGdtUjVxQ2cycTZNaDBBSGVrY2ZMWktWb2xvT1pZWE9lTVVSUUxZVGpOb2crbHBmRVJ2eXdvU3hBOW1PNlN1eWZMOEJMaHErbkpEWFVSTlMwRnV5WEo5eFJCYjJ3M2tlUVd3M2hBY0poYk1CYTk5MVRqTy9KSU9RdUJnSUlBdUtqdTlOWERhbTJub2FvYnRjQkc2VU9pNlJpeWY1OGZWa21HZkdha0Z0bmRvcDZOcEdFMFV0WHc3UGhJN0llVnRMYXRVM1djeDVYVlNwbG9uaDQ0NHg2MkpSQjZxbVd4eGlpSVZ0S2JIem0wakhxTnJiZ2svRXNRUFpqc3dUVTJVRmo5d2hSVU91TzZwTkJqdW1aYUNIRkRYQllJZ1dweVAycmQxdGZEZ3JkeUlYalJ0b0ROUmdCRFk5d2lndDZwQldaUDllQ0htb0t0ZDBvSWdYL1JmY0tuVmo5Ry92b2tzSzRiTzVoVEhaV1E3eUgxWVZsSzlLQUxyeHVIaXk2emJNdFU2T1hRVWdMTENQSWpXbzJLeHB5U3FLSVNBN2VUSU4rQkZONlZjTU1teURDYUlIOHgyY0xJNnNqeE8xalFucmpUYlJVMUxRVzdKYUFVNTBlTGNOUTVSNDNYSHNKMEZBYzlCQnlGd0VCQm9tbjVSK1hBeEJxR3JHYllENzRoTkVPanoxcittZ2hoNGZ3S0RYR25KU3YrelBHZGtPek9qT0N2cG9tNjhQYjQ4ZWxuS3MwNHVIVzNJRFNmY0p6UFRlVmp6aUZFVVFxRHJ0NVNzdHFHb1JMYlQ0Z2V6SGZpdHBjU0tFYmltVkl2dG9xYWxJSWNtT0dHa1JvdnptY2MxbllIWVRrTkJnUU9OUU1PbXBtSXNkZGdPdkNQOElJd3R1VGNuRHo1cWJ2RjlGR0M5RjZuSThKeVI3U0JCT21ScXhnK1duRlNpTUFmcGpzMUVnc3QyVzhxclJiUkZ4TEdLb2pqNFJSTm8yNHpLRTlsT2k4L0RkdXNXcFZwc0Z6VXRCYmtsQ3d1eGtkQkRocy9SdGhSWWNiNmRucUxVbVNoQUNPeDNCUEJZdDI3N1lxeEJWN3VrSmZGRjJRdTRXblRZanZzV20yTFVpTURyLzQzT2pVQkd0dU5qTVVqQUlSY3BlRVc2V2hDWTVTT0piUGh4Mlc1VkxVc2kyaUxpV0VWNU5jWUpEdG9aMkU2TEg4eDJJTmVXMGs4c1VsdzJWejA1YnhkakduOWNERUJ1eVY3cGpTbU84Yk0xaXhyeDdRNnJKNG5SaFVLRXdMNUhBSDI0OENrYWREVk5PMkszeGxuQXRLNDhxUkN5UnNpQlRkNW5vY0xIRFpCWjJRNENUNGhTY3BFQ3BLSW4wL2dHaTBlTlNCVnkyVzVSTGJJaTJzb2NyNmhnTzI2SE9OcUdEZURiWFpheENlSUhzeDNLeStMODFEWnJIcmpxU2JhTE02MEpjM0VrSUxka1ljSEg1ajR5bVBXMHZEZGlPNnNKS0hod0VVQzMwSnNUaXJJU01pOFpXZTJRRHBxdXQ0WFliZVRocnFVNDNxZ0xaR1U3TERHVFFRQUFJQUJKUkVGVXZVeFJQU25LY2xGMy9ETjUzT1M0YTBxMlMwY1FFQklOb2kxSHNPbGNjZjdaRnVYeFhNakZkbHA4SHJacnFOcEVsVDNKZG5HbURVWU9UYkFtUlBDZm1PTHVRdzRaM0hFL2ROZWxLVUFJSEJRRU5zelNabUVtdVd5M0U3SWRLcklvUlRzeGY4cmtvVDhla0pYdDBFWEZqaEMxU01GbnN1eER2cWxyVytXeUhieXFPTGJiaUZlVWoyUnpzWjBXbjRmdG9OSUpvM0ZQc2wyc2FRT1JjOWd1cHZpaXN6QVRZVHNheVpwR29OREJRYUJ0elVZVlpaWExkdFdRVCt1dS80QjZML1A2S2wwV0h2MmFyRDRyMjZsbENyVklnY1ZOcG1SSVVmN0paVHZNbUlXcnVZaTJYSnU2YzhWcFdTaWFtKzIwK01GczU4emI4Um0yR0xhTE5XMGdjbWdDZzBWTThkVTB0clBHdVQ2S2RFMEk3RThFZVBlNlVMVHFzV3pYVFNDUnl1ZWhBajhVNFdSbE83NU1zUWJWNVNJRjM2cG05ZkJZbXpLeEhjUXFWYmlROW9qWkRtcTN0TEo1MkM0WWhCeXhuY2FVQW9TQVJJRHZSRGhUTkJvdTIrMkVkRkYzQjRnTjQxUE92aGlNWW1iTk03UGRldWdIclMrSCt2UHhXbTJ3S1M3YjZhRm14TGV6aDl4YTBSR05aQjIyNDB2Vk1iNWRrbW5KeUMzWldNUVVYeHpzMnkyeWE0T1JwRlJDWVA4aHdIZkQxWXBXRzEzdGtwSFpEdG11NXl4ODhtNTlWdWVwZkJxWGFtOS9acmJEVkRyZjdpc1hLY1JjL0pvV0dSdHcyVTR2STdoc2w2Um9YcmJUNGdlUFpMRVhwR09VQlF3eGJNZVhHZFpNSml1VWhKekRkakhGVTluTzJtNXRWVWRCUW1BZkk4QTdRdUhxdTJ5SEdqaXZOU05zWjNYcllLYWhCb3h4KyszbXhYS0VlTi96Z3RFV3VtTTV1YUxJZ2hQM0daTWFGM0xaRGowK25KMXkyUzVKMGJ4c3A4VnJ0dHU0R0tNVUhLODFFOTIySHdKNkI4b2cwK0tSUXhQVXROU1k0cUJpYTJZT1NOcURkLzVHMzFWZG1nS0V3QUZCQUo2RmRkY1haQlM2MmlVdGlrOUZuY1FWSXEwdHZOeTNRK3h0dXY5alFDZVRZM3k3ZUxZTGx5bU9xVEVYcjhoVXErdTNBeTdicmFwWEtGeTJpMVVVVXZLeW5SWS9tTzFBUlp0R3g2NFo0Q095SnprcnhyUVU1R0JFVFV1TktRNjRyVmVESTJ4SDMwRFI0RkhnNENBQXo2TDRNUXU2bXFFZDdsaHNBakNRaGZUUU9IcThBNjZCQWkvekMzRjAxZHRibWRrdVhLWTRyRG0wbmJyZzRyTGRsdkkyWGJhTFZSUXE1bVU3TFg0dzI2SHlNeElDbkZESVFLTFpMb2lhbG9JY21xQm1wRWFMODFZeDZSRzJXMWVQSHBPSFFvVEFma2NBOTNueFl4WjBOY04yOEI1RnY4TFo0bFgwTnU1YnJKdjFnTU1xT1R2Ym9aNFR3YnBtaHcxbkZCalhNaTdiMVJXenVHd1hxeWlrNVdVN0xYNHcyOEZEdldoMFhYSEdsRDNGV1ZIVFVwQnoyUzVhSExWYWRCaGhPL3Ayc1drU0NoMFlCTUE2MWd2eEJabmxzQjFJUXZBcFZuK3RzUk44U2g2N2JpcWZWMFBxN0d3bmxpblVJb1g0MExyK1NBbmVpWDFQMUJxWDdScktGM1RaTGxaUnlNckxkbHI4WUxiRG1QNmswUlRyeE5hckxacnRWcDJQQlhEVFVwQkRFOVNNMUdoeHpJNWFUNlFJMi9YWXc2WTBoUWlCZzRFQVJwU0djRUFSZWxpNEYvUFExWXk3c3E1ZTFrRC9hbW1wNk5XOFA2MGJBc1RmYlllcEZ0dHRoWVBnNEtoa0FKUzZvRVdJTjZJZTA0c1U0dHR3bHZySGpkdW9pNERXekdpYWI3N3BpQ1NYN1RnUnRIUVJxU2l1TTdGZG5IZzhVUjRWOHJxWHRGZ3IwSlp2cG9rb0tHWDUydkRKYWlMYXpHcnlTMjVhQ25KTHFtUkNjZjdhc29FU3p4NTNsYUp1ajZlRkNQb2hCUFkvQWcwMWdCU20zR1hSUldqYnpUZlVjaHVKcm5aU0Y2cXFDL1F2MDl0WHc5aDE0NEhNcW01dXNSMEVuZUdDMUw4WmVteUg0ZGl1WHFRUWM0SFdpb3Mxc2FWMUFhMFpic2RMRFBMQ1k3czRSU0VpRTlzbGlBOWgzZG5VbWxpQktsdTJyblpzcXEwcnpzSkR5VE10SGJtYWtSb3R6ajluYkJ4aERONWR0cXRhMjRPTUdBb1JBdnNiZ2JyZGpTcU5iYzhhakhHTXUrS2xKVjZDcExRY01JbjBsTUF1eTdvSXZKWVdMdFlOTFU2cklaekZkcXZTU1R3aSs2TEhka0dYc1E5Wi9BeHlXTk0xVkkzcm91T2dqSFFnRVFVdFpYLzMyQzVPVWVUUHhIWng0c0UxSVlidG10YkVDdlNVR2lJT1dwbG5Ra094WFJBeExRVTVpTEVyaXhSM1AzNEYwMXkyYTVoMnNUU2xJQ0d3dnhGWXRkZm1idDl0ZWRhc001dEJ2TVNrUzNTMWNPaUdEQ0FvR2E0MHpFSWZDRURFcnB1ZXZxQ21paXkyUXk4OHdTdFpsTFRrc3gwcWFsODJXbUFlYjF0ZFRjdFJxcm9XWjA2OW15cG1SNGNSYlE5NzR4UkZvVXhzRnljZS81QWJyczhJZ2xmVjYvT1N3elFZVkM2ckpJUVZmVWRNUzBFT3lLd3BNVGhIaWdmQmhqV051dUVDd0wrWHRXbVZwaUFoY0RBUXdJelFtckprcnZFNkZWVG5ManFjSUJ3VmtlV01ydFp2eVl3OU00ZUg2STZNQlcxZDVNRjFOWHpsczI3YllhTGlCbHhoaExYTUk5ZlA4bDlCT0k0eTZNUzJFekxiTUk3b2JYRXVLV2U3OE44a3hhU2Z5b0xKTXB2dHVOZlhFZlVKc2hhSzRuTFI0cUdHZVVaQWg4c3ljNEo0T0daaWVuTE9Hb3pLRXZ5MGFCNEMvTEtxeHRkaU80cGluWWhwS2NpdFc4MEtvWkhpUVFBUDlpU3ZEd2ZmanFJZlR6d0NoblQ0bVE1QzRFQWhBRWRHRTBqUDJpSWlqV3lqSTV6TmF6RFlZbWM3TElTT2RGVVZSMWlKMnBDeDZKUm5aUEtTWWwxcnRLbG9xSHN4ekxSb09XODhCdU5zWjhBR2NadGh6a0FwSUMvREUzcnhOVFhXM0RMVDlGZzB0Y2JEb3ZmN2lxTDhpcUUxdmplNkpTVkRwNGRsTUVFOFh4RllRNWFqaWwxbGRubWFNZ2p4bU51MURiT3NZUjRWa0xFcEN3alRjRDBJdWFaSkZxWDg0bmdIcGEwWmJyV3Z4dHF5aGhuTDc1TlJkQ0lFRGdBQzYvcW0vNUMxa3FvTXE2SmZuMUFYV2M5TGpIMVJFdWVXNmE5QmNBL2I3UWdaY0NoRC9rSW5sRTVGcFMyNWdEUFltcXFwS3NhQXM0cGFlcDRUaGhHWElpOVJZbG83ZDlFeE9jOEFPbnFzRzVvRDZ0WGs4MXI0b210Q2dQeUpLb3FFRGJNNWhPc1lHaURlZDFCOG5pQ2V1MUc4MGxXekxHQlhOdTlTUzJWSFVlODlWMUNsK2txZmI5cGc1Q0RFL2Y4NHZ6Z1VnTlZuaEI1empXY0NnSnFsMDFHWGdLMFVDaElDK3hrQmRQczFvZi9MMk5laWRqVFJyOE0rRVUxTGpGbkNUSHYxNTNneWhxTFdFR20ySGE1RXpPMm9XSXpISkczOEs3RWhZdmJVVXhxb3NmOGZmaUFVZnB0Z2xkc0ZMNzNsMU9PUXhKNzdyclV3amY5MkZUUElLUFRnNytEQll5d3lKdWZSbkk2bWRtczhXRmUrMHN5cEQzQ3gvY2VmK2hTUEYwZFUwWnZEeXA5OTZobUIwdkdHVTdWQTZ2VHNVMC9sNWVMRTgzajR6N0NnMGxZRXllUE1BUWUyWTY3RVJocVJjWjZkN0VHeG4zL21wa2oxVEJ1RTNFL2VBckpqN05udmVxWVI3QlhuSXJ1Uzd6ZXVjUGJlUGZXSG9oNytjOWlEVlNkUWdCRFkzd2pjdzY3V2d1RDNxK3pyTVhiQUM0c09iMlB5T1ZHYzdRNng3d3lDdHpmWWxaYVZoRGZZci96WFYvNVZtMTJWc2V2czBqMzl2OEc4MHA5SUh1UzlsQitQaGFWQU93OSsrSzJORS94cVBVeXgxeXd4dzNZNXpLaCtYOGpZTno3OHlrK2J1UytWSU02Y2pvTDZnMnZCN0JjWWUxcVlCQXZsOFcyVE42TG9sc2tFZHBMSEpwL2hDdzh4RW80VEwyUytqYkh2L05VWEpnR3BlRmRWL3lIV0IvSGVET2VzSjRRTDY0UEFOVzBRY3QxUUoveXVLWmwrY1I0LzEyYlA2d1RUOWY0YVp6dTdvWmZNNHBFUlFDRkM0QUFnMEdQc2ZJUDFmeXZXbEpkZHV4UWJQeWlTczEyQVB0dUdKOVp4TWg1REZJNnJLbmJwRWY3eDR2NDViSDBUVVhQczF0TjNQbkQrWEVPeVhmQnZSWFloWTcxLzYva0g3ajkvcTdWREF5dStKeDM1UWZEZlJRVVAxcnpvOEZMUUVUcjVhZmh5dnlsekhHVzNucjlUeUxYWUx2QVYzZUtWUDNEKzFzYTNnMURIKzgvZGlvbTBKUlZ0Mk00VEwycXAxTGxXRjJKMTRqNldsd0liZGh2c2VTMlg3VnpUQmlIWDdaL215cDVyMkd6bkZoZXFjQ1BQc2Y0bnhmeW56WFk5dHAyZ0swVVRBdnNjZ1EvZXorNThmNjA0SXdUYkJSKzVyMy9IRC9oQ1o3L294UEl2ZVZTKzJPN2YrWU10UDZlOGZ2bE5qZGZYRXRMZ25weHYrV2x2LzBEaitlK1B4SWE1Qk5zRmMzL2NPSDNEbWwvT3UvWVU5VkxqTDVQRlYxNXczKzQ3NHd0eHAzWFpTM3I3VFkzVDcwUGNGKzU4L0IvOTFJZGJLdFUyTFIwNVZVcWY3ZUpoNU96bjcrdS9maE1ELzlOZi91Mi8rL05mMFRtcitXY3ZkRmtLRUFMWEZRSWgyMDJneVNFZGpVeXhJY1VmWnJaWE9UTHRzZ3ZHNGs4cmUyN0tTUWhjendnUTIrVnEvZmxKV3dFOWxqRHRtY3NxeWt3SVhCY0lFTnZsYW1hNFVybnlqenp6RWVmdGpwRlhSeFVRQXZzWUFXSzdmSTNYMVJ1SDg1VWJWZTVWV3FRWUZiUWs5OEFoUUd5WHIwa25qVjNxemxwdVBsc29OeUZ3ZlNGQWJKZXZ2UTlOMXNpeE1zUVd5M3dHVTI1QzRNQWdRR3lYcnlrbmpGN21KNHQ4ODJGSnVRbUJjaEVndHN1Sjk0YnpiWU9jaFF2UHZ1THZkaTY4QmhKSUNCd1lCTUIyMkRVOGdRYzJ4T2xQQVl4QXZhSEZINWtvZnRtZzNYWWp1RGxJNUFGRllOMThPbTJ5TE1RcnJ1WlQ2c1dyTnJUNHVVbmFYenhMbndRby90WWdpUWNXZ1dieU82SGp0Umtmc2xOZlp4cUZJc09McjR2UGZZNUNwL3d5ajlQK2sveWdVWW5yRm9FZDg0SEx5Y0xnT043Tjc0eE9wZUhGSDRsODNXQjBXcVpKYnVydlRxZmxwSFJDNERwSDRDZFBnZXdZZS8ycFNadTZtem4xTEs3WTdydWVPWklXMnBQNDJjbFpCcTFNMHFoNkpDMUZRZ21Cb2hEb2Nrcmh4K1dpSkJZa3gzeklyaUNCcnBpOWlkL2FiYm5peG5ZMVpYOVJhMnhhVU1XRXdINUFRSHhjalgrR2J2TFlqbi9Jam4vMWJTUXdodC9KRzFiOHNZbVpMS3VQY2gxbkpNaVRVRUtBRU5oWENHeU1jdmtrQnhMSDh2OE5TUTdwbEpVUUlBUUlnZmtKMmFLNE5TR3NTM2NFSVVBSUhGZ0VlczZmUEk3THpPa0pXaHdlRndaVUx5RkFDSXdXZ1lXSmVIdHNSZjBoeUdpTkplbUVBQ0Z3UFNQd2xzNEVXUCtxU1ZCaUFuQWdGUWdCUW9BUUlBUUlBVUtBRUNBRUNBRkNnQkFnQkFnQlFvQVFJQVFJQVVLQUVDQUVDQUZDZ0JBZ0JBZ0JRb0FRSUFRSUFVS0FFQ0FFQ0FGQ2dCQWdCQWdCUW9BUUlBUUlBVUtBRUNBRUNBRkNnQkFnQkFnQlFvQVFJQVFJQVVLQUVDQUVDQUZDZ0JBZ0JBZ0JRb0FRSUFRSUFVS0FFQ0FFQ0FGQ2dCQWdCQWdCUW9BUUlBUUlBVUtBRUNBRTlnMENuMTNiTjZvcVJlODZvMEowSmdRSUFVSWdLd0tIK3Ayc1dTY20zNUVISjBZVlVvUVFJQVQyRFFMZGgvYU5xbHJSU3Z1ck9rd0JRb0FRSUFReUlUREYxakxsbTZ4TWQrMjJKa3NoMG9ZUUlBUW1Ib0dkUGY3VjRpdS81NlYvY0ZPN05uSTdLMi8rekpmdXZsLzVvZFBzZFNPdmtTb2dCQWlCQTRYQTBiMytqWGFWOGFNMmNsQ21SRDJLN1lLdGF5T3ZrU29nQkFpQkE0WEF4bDduKzZ1Q2hXb2pCOFZqdTNsMlllUlZVZ1dFd1BXSXdNTE9HdzZtMlhQc1czczA3Qzl1YWVUejdZYkVjdUhlZDZNZTdkc0ZiZnJqN1QyMkhCVW5CR0lScUROMk5qWmh2MGZleHZhK2MyMHVIOXNOaitXNnpYYXJKWXllOTN2cmt2NkVRSDRFZUg5K0pIK3hmVkJpcDRqcHI0MDg4M1o3d0hMZVpydGpCL1Q1c3c5dUdsTHhRQ053Q0d5M2V4QXRuR0VQRjJCV013L2I3UUhMR1p2dGdzYkJmUDRVMEI0a2doREloOER4UjYzOFlvYmN1dDQzUWNlS0dLMVgyTW1ZMkx4UkdHSFdNcGZaQTVad0M4MjhYZERNVVdsbTdTZ2pJWEFkSW5ERVpqdnVqeFF4NUNzZFI4ZUttTnE3ckJVVG16Y3FGOXZ0QVV1WDdZNnc3YnlLVW41Q2dCQ0lRZUN3elhhellMczlic0tOcWFLRUtNZUthSDNUN0VvME1uL01VaDdmYmc5WVRqdSszUUt6bXlpLzFsU0NFQ0FFUWdRV25hNkVtYWw5dWIzTHRTTFN0bE43M244aVJPWmlPNHhBaDhYU1pidWczWThZUkJHRUFDR1FINEZWaCsybW4vSysvQ0ltb0lSclJVU2hwVUttN1lKOGJEYzhsaDdiOWRpbGlFVVVRUWhNTkFLZnhURFJPMzV4L0FvM0hiWWJ2ejdEYVpCaVJiV1lpZjU4YkRlY0pieVV4M1lyYkhsNFdWU1NFQmdIQWwyUDZuQTVBZHZrdXdlQzdRWmJVU2xvVzgyWTJPNG9PeEJ0Tkk0K1IzV09DNEVubm84Yzd4bVhMcWJleG9Ib1NZT3RPRmJRbHVreHNkM2MvbHduTi9jWWhRaUJpVUJnN2tENERTbFdIQ2xrYjNHUWM5NXUrUGIxUnJJQlk1M2hoVkZKUW9BUUNCR1lPaEJzbDJMRlVrRTcxc2JrMndYVnZYNnRpdTUyUW9BUTRPN0tRUmpKcGxoUkw0Z3R4c1YyVFhwVmx2b3FJYkIzQk5vSGd1MVNyR0FGZmFSOVhHeTNhcjlJdHZjMkp3bUV3SFdKd0ZGMkVOZ3V4UXE4aUZWTTQ0Nkw3WTVNd3VKOU1SQ1NGRUpnaEFqTS9mR2R6MGdXajEweEIyQWttMkxGZkZGcm11Tml1Nk5zcng5ZVRyNERLSVVRS0F5QjE3eTNjZnE3T2dXSW0zM3lTKys5NmR3bUpIMzZYUCtPajdzU1gvNkJ4dk9mVUxQajNucGpZL2MzV2tFdzAyYXNyMUkrY3FPbkROL3diTEhkejN6MEpiZmMrRnhiVEV5NDh1TDcrbC8yNmcrem1mK1ArZlI5bG9xVlgvdk0zOTU5MzFsc21uMzZyVTlvYVltVkY5OXZ5M0hzdS9PL2hObm1udFU0cmUxS0VCOEVuaFc2QmhVNGJtOUFlZk5IdjNUTGphZEYwdXlULytyZXU4OUJNUnh2L2s5ZmVzcjlQNEhBd3RPdEtrVVNGUC9ZZmJzMzFQdzEyUWdRZ0hmM0sydkIzSS93WWhhV3Ivem9TMis1aVZkNTg3bG5mNUtuaVNOU0hMSGZmVlBqanFkR2RoY0grQUtVTEVRblFtQnlFWGdCdmhmWFlBOTJjbW40c21zeGJ3cHRnWmdZMnd5Q0w3QitnN0UzMmhKL2g3SFREYlpybFhxaXlIMjFWZG01c25hN1dwSDhCTEpCbnpPcTZGdWZMbktKbjRkNEpPUXlkcFdIWnZxbjczemdnZk8zaG05NnJ0OTYvb0VIempWYVBHV3V5dnJuR0hzVEQzc0hCcFE0SGdvcVh4QUJsU1dNUGh0VXF1eFd4Z2xGSERNN2pMVVplMTVMWHNmWkI2cStGV1M5R1daSkVCK3hRZ28wcDBXTDBSZUVhdUUzL05aRmVKbG5ES05CL01jYXZNcmRUUjZwanJjQWwzTWN0eVg3cXdBK0VKVlBzR3Z2dXJ2ZFA3TWxIREdVa1ZnR1hSNUVsVCtObGxQR3hPRTQrMzNpYnZrRi8xMEtmbDFUeXRDWkVKaFFCRjdJZGwrRUozYmoyM24wUTYrT0diaHM4UzREdG50SC8rUENtN2xnUlA0eVk1OEtLcWlycHVJZzRwMnRuK215eCs2NTBzTGI2ZDhTOFgvS2ZxTVR6RzVvOXVDdnJldkRaenVWSUtwWkQ2OWFFRE5iWlk5MGdwYzMyTStwdXN4WjBkRVcrOGJuZmcyTUo1a3RqRDRiUE9uYWY1dlMzWGF1emY2eEZid2FLc3J5TWZaVnFsZHF3ZHlPUWlOQmZGT3Bpck93d2lna1ErdFdmQXJiemU0OHJ4WXN0RVBLbDhWL2xyR3ZkNEs1N29PdEphMStEQkJiN0trb1VQbkNMaFBmekdwd3RjU1RRN0hkZE9QcnJhcFNKUWJIeWdhNzlya2crRjMyTC96OWR0aHdweDlSRWVzb2doQ1lDQVMrbC9YRlhYb28xNk9aOS92b3pmM3J0K3dnZm5PMjhUUnUybzcxQ1NPTWM5N0Q0K3JhaFpsdHN4OUdCRG9OZHdZM3dyMjE4MHlVckZSMTBRK2VPdlVVTU9zcGZvaTBMK0V5N0tGenR6d09RZGEvUVNqeVJORjFIOStDekNhN3lrLzRlTnNtVHU2eGNDOTNGaDg2eE43SjQ1dU1uUkRwNGQvS25LMDBMa0VWNVdkMlE3cXN5SE1ReE5oMzE1VVdCSUFoTDBnNXNlSWpWb2pNOXM4R3U2d3ZaKy9sTm9hKzNhK2Y0cEF1ODdUWmV6K0E0S05CV09WeFpuMUZZSzdCZmtsazJYbk9rc1YyUGhEejdHczhWd0J1RTJ4bnNBekUvL2ZzQnJjOUZ1QVQ3Q0l4RnNkNzJPNGFGL0NPL3B0OTNtNFArelVWTG84T1FxQUVCSTZwZmhyVXQzTlVWMFcvQzNuQ0xUU0x2cmw1V3pqTnRtTDF1NTZjbGpJTWRCdnJkM2paZGRHMzVON2FwcHlnZzR1MHpSUEZBYWFVMGVIMXE1US93Z3N6dlUwTm9zUEJIVXk2S0hJYWFnMEx5dCszTWZidGFpaHh1c0d1dFdUMFBmaHpueWxFdDVra250ZUdwSW9oczlrZDR0bTNWbW1jNGNVckVDbkZCQW5pZlN0VWRubXV1dHZWWHF2WURyS0I5YkxNOVE1QVVXbHM4aXRVYWJ6RW52SXQ1L3ROZzNvRWlLYjZ3djFSUldnV2xtRE0zYUM2R1J3QnBxSzZTSEdNb1hXcmIveW9YVC9QMzlWYWl0TDBRd2hNSEFKMTZVWE52anZYbTB1Z0JMZDdLc1BnV216dXJJa3JVTlpaR1EwbXVoQUdkMVExYmZsSlR1UkMwdlFmOGVSWjlvMU9tSzJ0blR0Qk5nN2JvWitIbzY5d0tpc3NnTjhkeWI5MWxRejNSNHJUZVhnQVhiYXZGa1dnN3V0a0lueWFzODJMWW1Md1d6d0t6cWZVT2RneW53LzE3Rk5mWCs4eS9YMjNCUEVwYk5kd0h4N1lrS0tZS1ZnMWJBZFArTkhqa2xlN0pvZUJGODZ6WVRzZmlJcWg1TFowM3l3czRkVHV6dUR2SlE1RFFvc0Q0QmUzbzdqamJMRnRtUDB5UDlGQkNFd3FBaGlDb1lQanVNdHpvRklVN3VKbVB4R1haNUd4djN3c1RFQ1BmVmhtMmRJOWMwbDZGZUNFWlpHSURxemRJblFoeVd2cklFMVpscnRXRHR0aG9VS3hIWGZFT2lwZnI5L2lRY3g2blEyaklIbzdERG0vZkZwTXVVVUl5MzdQeTcyT013eE1FK1dQYUozNTRHNU5pdkRzNC9USWp5M0RNUW5pSTFhRUJkV3ZQUzdsY1JiYm9jcGxrKzNSclV2aEJTRHF5T2llTm9LUHFWa3RqSVlpTGhEelpyVGNWRlpiV0tLUlZsQUFqeDlCdEpIaTRqbXhMYXNNcWdiRU1LcW5XMXRsb1RNaE1GRUk2T24xSFo5U0JxdUpycVlKd01tSnJ2bEMyY2ZnTjBqZXd3ZkJGVitoTjU3aEJWWjA5K1lES0hsb3R5S0FXN2F0WWlNODBUWnMxMU5zamN6TmtEVlhEVkZXalUrbWhPRU1FalJ6amwwdEFPVDhKcTRseXEveDNGMnI5N2Jaai9Fb0hLNTlqNFRiUklRNUY4TU1TZUlqVnNqczRRa0lYWElpTExZREtzc3FEUitwdDZxVVJhekhDaC9nS3JhTEFHSDllY1NpWWpzTHkzVzIyOXZrRGpZVFFFYUtpNG1EanRKa3hXZTdyYkNZU3FjeklUQmhDTUNaQ3JzeGJuR3JjNmRyQ2RjTWc1NllBMTJ6dlNuam1ScU9ncnZPeWpqbE1UUTE0NEJ2T2pJUlZDSjVDUEtWWHhqMTdYWU0yNkhQTGN2Q2F1Snh4N0FudkJXVmFKM0JkbVk5R1gwNkpFbk9VdWU1ck5sbmlRVU1zTk1KWGFpcG5TZlhQazNpMFB5Q3pKMGdmakRiZ2JETzZOcDR3R0k3VEtRdHF6UThHdFJ6QTFXZURLTUJncXBjdUthMU1Eb0N4SXA1Z2t3cHRyT3dYR0s3NTNqSnQveVRFQkFwenBsVU85WGNCVlFPY2xqZFV1eWpKVXlqWDBKZy9BaUFjemFGRnVodG1wQXlxWFh6RFd1eCtjQUdtbUd3aVMvTXMyVjVMcktUVkZYTndZWkpSQWVXTGc0bzQ1dEtmb1FuckI2S1BxZDZmeERPM29OT3BVY3BITEdha21MT2tLMXo4UGtuMmZFUkxVZjFJaXNvWkZPWGdXTHl3clZQMHhDaXQyWHVCUEVSSzdSd0hrRHFtaE1CV2xQWEx0dnBaa0tWSjhJc2RlM080UnB3MWtSMEZJZ2xNNUtkajJVNyt3a1dMYzZ4TWdTSDBiMjU0Qld1MnFXRkJ2UkRDRXdRQXVpWThxNjNCa0I3MHc5OVVEdDliU1Y5Ui9WQXlKYWJTOXE2ZS9lTVo0SitMVHM5OU5IL3dCWGhDWXZ0d05MS1Qxc0kxd25nUitwZWlHR3pkSDlzb3h3NndvV3Nrb2RxSnQrRy9XNEFTUFZzbU9UYXA4VkRjNW1CKzRpR1RJMzRpQldtS29UQUhUVW5JcG50THNwOHFISmJCT0dYSys3Q2RVOUppZ0t4WkJTYlVTVXNMSmNzNUFJK2wrRGp1S3BxNU5YQys5YnBRbzFGWmh3L0VVRS9oTUFrSVlBT296eWpKdnZ4UWpRREc4aVJJZC9MRWZvbm9DUzlZaGxzaEYzVFVFdlQ5Q0g0RTRxN3JFRlRoQ2VzSG9vNjFEaDRLbVRaZGFZZExzNGgyMUdySERyaUFzSThpRFphOGxHYklnUklRTmVXcnFacm4vTDRPRGNzeTVvU3hFZXNrTm5ERTl5bWpoT1J6SFpyTXA4bVdGQ3hmc0JZYkJjRllrVjdxTUdjWWlZTHl5VmpBNnFJRmcrNnR2TWJ3M1lXWUk0dGRFRUlUQUFDSUpwbHFVYmx3OFhvQXpZUSt6ZTROTVYyNk1xS3hNVHFKVTlqeWdVSm9NUTJqK0hIWCs4cXo4VXFFdUVKcTRkeVYwWVdXWDFZaUtqckFaNVlucjBzSXAwZmw0NDJsTUtJTmxyeW9hVjJMc1hDaHV6S3JuMmFvaExaVG91UFdPSG9CTVpxT1JISmJLZnlhYlpidEI0d0Z0dEZnWUR1VjFUcC95eHJzN0FFMjUwd09rU0w4elpiMHhtSTdUUVVGTmdYQ0RUVU5GbHgycUpIYVlKUmJNZDdtYTRCUGtNTkYyM2RjM3BtSktzemNUYlUxQlBoQ2F1SDhyWGQ1YkRZeHJZNHc2YVRZUVRlbC9WSFd5TEJaYnN0NWQ4aTJtakpkM0xvaVVPeGxWZXlrV3VmZmhFK2tlMjArSWdWU2tseHpzRjJxcHhtdTNYRjF5SUZjTlpFSUFvRVhGMTI3VVdxZkhpMnNGeXlrQlBiRGowYytkeHVTNWVPWVRzOTA2Z3pVWUFRbUJRRWNNTmF0Mjh4V29FTmxwVWt4WGFyOWt3Vyt0UWFNbFQxcUdwRGUyZXFIRDluWlR2UXhLTmh1WENSZ2k4dVgxS0NRR0I2V0szaWhLUDJtTG1DY3VHb0Rwa3RmbHQwcnJoYnN5bkt1UGFsczUwV1A1anRRSzR0b3hOQ2liNmRIbTFydHF0YkR4amoyOFVBd1NkbkdYdjl2N0VyY3RudWpFNktLUTRYWGRzYk0yOTMySjRJMEhJb1FBaE1CZ0xvdVlWUHRVRG1XV1ZkVzk3L1RjMUlTRmtKZVdOTGsxSmRPU09xV0REN1BTKzVKU3ZiNldVS3VVZ0JVdEdUYVh6eVRWS2hsbzJBNjl1QjFrS2ZCTkZXNW5YbmluOTU1WUtRRVdjZkV1RGJYWloxSklnZnpIWW9MNHZMVXlMYmFRY0tiTGNzTXJjdHlBM2J4UUdCaHVESHRZK2J1bHkyMjlRSk1jVlJvYTZjMkU0alJZSDlnY0NTN1hNVnBISWNHL1RRVGY2Wk9uYkNuV1dMZXBKSWVZQktnYmMrUzNUSmpDUFpvQzNuOTZmQ1lTajNWKzlRZGQza09taXlCcGVPMElkRG9rRzA1UWcyblN0ZXk3WW9IbWNmRWhMWlRvc2ZIZHVCaVVQZGhJSTkrZkNJQTRMSGllT05JaXYvY2RsdVRjZkhGSWZwMXNNUkdkdzFXVmlxUzFPQUVKZzBCRGFzTGJ4RjZSYkhCcWpIUHZvMVZJYk9FanBER0RKWkpCTUVMOFBTNlB2L3ZKUFZ0OVBMRkhLUmdzOU4yUWYvem9wM3VHd0hub3BqdXcxWHJiYnluK0xzZy94RXR0UGlSOGQyTU9DRU1iRW4yUzRXaUQ5RlhuRjhWUlZJWXJ1WTRuaEE2YmxVOHUwVWdIVGVKd2kwMVZpb1FIM2oyS0RydXdHOHZqWUxKODh3R3hTT0VZVVNsVHJlMytvZ2FQV3NDRTlZUFZTTWpKZDVVYmxJZ1hrOE9VdlBJMk1QbCswd1l4YXVyQ0xhY2xhZ2gzVUZiU1U1eDltSFdoTFpUb3VQV09Ib2xuM2VUZzhtNFVzdGN4bDhoaTJHN1dLQnFIU1JtUi9paWNOTFcxZ3UyY2pGRkYrMTJpU1c3YlJxWERBZGhNQWtJY0M3aVVVMHhhZ1d4d1pkbHpuQ2l0d3ZQcW5LZS9ncXBRaGJQU3ZDRTFZUEZTK3hDOTh3WEtUZ0x6UVZ3bmFlenUwUnN4M1ViaWtNeERuN3ZGMGV0Z3NxbndjKy9GQlVibUZKYk9lMEFGMGNLQVQ0am9JelJWc1V4M1licG5PWjZyQ1QrSFc0d2ttUHF2Q1JTTDFSTmpQYnlXV0tPYmxXeVVkZ05WTkxYTWoxN2ZSUU0rTGIyUVBzaG5LRDQreERKWW0rblJZZjRXeEh0VDJ3SFY4dmp2SHRrb0NZZlhFYkJmUjZReExieFJSZnROb2t4cmRiWk5hc25tTWNYUkFDWTBjQVJKTkdEUGwxakdPRG5qc0hGZ285ZkpWL3UvM1ZWZnM5Z0ZtUXlscVliUFdzQ0U5WVBSU1oyOEl0a29zVWZENVFpUWdGUlg5ZHR0UExDQzdiUVdkcmhaWXp5bGtoS2M0K0pDU3luUllmc2NKUkRPUDVqaE9SM2JkTFlMdGtJQ3FmaGpWcVQ3YUZwZVBieFJSUFpUdHJWcyt4aFM0SWdiRWp3Ry9vd3BXSVk0T3R1S1hSM3NVbjhrN0hybmFNRHJjWldveGp1NDJMWVZhcmh5S2lKL2F5ckR3Y3BuRUtUM0ZZWGJaREh3N25tMXkyYTBiWUx2UVVpbjM0QUFBZ0FFbEVRVlNmNHV4RHpZbHNwOFZydGxOV2hQcktYN2hTYTA1RURyWnJLeVlXQWdCSGpRY0dBVEhUVUFQenhIbTdtT0lnYm10bURuZVBHZzJMZXJHMUtOeTNHRjdSTHlFd1VRakFuN0R1M29KVWkyT0QxYmlkTHZoM3NMZmZ5RTcvUnN1cXVLbzM0Y1d1VWlpZWNObHVSUXd5ZTl1aEhENkxkY2tTR1JOMDJRN0toWHRYWExaYmNoa2FVazhLVVhIMklTR1I3YlQ0d1d3SGN0bDBWTTNCZGwwMXloWUNlcEx0WW9DNDdhS3FBZ05udVpQYXdoSW0xMVFHc2ZiaDRZaENlbXR6ekVpV3ZvR2l3YVBBNUNFQWY2TDRzVWNjRzhBcGlEejJwNjJPbzZBQjMrallVTGZmNDBrUm5yQjZLSkxSQ1RIREZ2NC9CQzdicVVzdkx0dHRLU2ZPWlR2WVliMXF6NmxqRGNMRmQ4elBpZ0IrMmtiZFJMYlQ0aU5XS0NuaWpNclBPQkZ0OHlTQ0tzc3FMWTRFVWNWbGxXNTJGOGNBc1dTeWRkVmJjaGFXRHR2RkZPZnVucWtuNHR1dEt3STFlU2hFQ0V3S0FyaGZJeVMwWjkzUU5TTnNBRnFOT0pISElqSGluN3ZDWFNuUVFyRGR0TWdVNFFtcmh5SW5pT0pCdkJHck5OK3dGRkJ4N3RsbHU3cmlDcGZ0NFBoYWp3SjBkTW5EY2ZaQmZDTGJhZkVSS3h5bDhOYkhSU2ZDWXJ2RkZMWmJjY2FVUGVXaFJZRll4MU5CSG9lVmRSYVdMdHRGaS9NWHoycEtRUFNMVC9UdFlvME5CU1lQQVhSaDZ6WDRndlNMWXdQdUdiV00vSC9OdzRjMFBabUVWYlBiR1QwTFpKT0o3YmdYMGxLTEZPSkQ2L29qTEpEd0hpTmVoVnkyYXloZjBHVTdMUFZxUDFOOGZrNCtHT0xzZytCRXR0UGlCN01kMlAyazBrK2NkOHdEQXJBc3E3UTQzdzUxNjRlRTVkdWhtQWZFdW1udWVTVStrZTJpeFRISFowMFNSSHk3SHBOVHAwcFhPaE1DazRNQVNNamMvaUFHNjUzNDRaV01aWU91TTA0VGYwbDIxRnVENURXdUt6ZExPbXlTN2NESzRmSm85MUtvbDlWRGVVUVBuVkF0VW9pQnJXV0krb091c0dENEMxb3pnMVMrRGFjajRsMjI0MTI3RmViSEx3aEZkdVZZKzN5Mml4TWZzVUlMRjRFMjIzWWlxb3FPZ3FDWnduWXd3ZkxSTjVRRFp1Ym11R0FPeExyaDd3VjJMYXpPd25KSmxSUXAwZUs4ZlM2RXBmQUxoOTFkcGFqYjQybWRqUUtFd0dRZ29MK2tMdFM1eXlLSmRQMXV2cUVXbXltV0RWYnQwZVcwOE9vT1dSMUhDYks2TlR3SDdkdUJoa0xWZGpiRG5GWVA1UkVya0s0V0tjU3JCZFlnMlpxcUNzdmlGL0lNeStNbEJubmhzUjI2dGlSWEZJRUIwdldLdGM5bnV3VHhyaFZhSHhHb0d2OU5YbXNydWlsczV4SnpYWEVXSG1aYVJCQndJTmJOUUhSV0VhU0Y1WklxS1JTSUZ1ZWNiN3hGRFBWZHRxdWFLUXpYTkxvaUJDWUFnYnJkSFNxTjdSd3FnWTJNQTJPWGkyVUQ5QXd6WlRRbEhKRmowbCt6eS9hTWI0ZU9wZGtPL1M2c3ExMExjMXM5bEVmd1pZcjJtVEFKditqdWEvcWlla0VIZFFDMEpoMGJSS0dMeXg3c3NSMW9jRmtYMmRDT1hxeDlQdHZGaVk5WW9ZV0xRRStwSWFNM3pFQ2FXWnJFaldTNURaZTB0SWJtckFnUTY0cXlPZVBMd2ErRnBjdDJNVGdDSVROa0JoQXUyeldNZEswTUJRaUJTVUZnMVY1anUzMjNsVU92ZFhUQnRiajg4V3pRdHZsRmpBblIrVC9sbDkvUzQ4VmdmWWVYV0FnWENwUVBxb2FXVmcvbEl0QUpkNjFaUUt3QWJ5dkowM0tVcXE3Rkdmblpwb3JaMFdGRUcwckdCendiWm8wUnlvWmo2WXhyc25IaThkR28wQnBsaGRJZ1BDOTUzQUVzWklaamZmTVFpUC9zSFFhVnkwb2F3cXBoSWtDc0cwWmRVQ056QzhzbFhWSUlpeFFQQW91Q0VYYmc0bC9YMmxSSzBKa1FtRGdFNEJTdEthWG1HcTlUd1N6bkxqclZpYmlNaTFiUGEyai81QzZ6NUZocFhCVGxRRE9uejkvNXdBT1BmK2JubEp4VjR6dWNYK1ZsajRWRHdub29aMDROekJSdnFISnRQUnJsTVhnaFE3dWR0K21ReW9zelo3dndmeVhGcmpHVkJkTmZOdHR4ajZralM4SFRESlVXZjJPMkxHUDVSKzlVRU5Sd1dZWVR4TU5YRXRObTJncFZORHd2R200VkVTdmFtN3p0SzBZMkZqUDAzQnVlSzh0U1JsV054c1dIOEJYclJJQllWOE5YN2c5dmgyVXRMTmV0MndHSmtlSmkwZnlrckJMVGtQb0pJS0pnZGtlbTBZa1FtRHdFNEw2Y1VGcjFRc2REWGFhZFFURHgwelRvcGFyYm8yc3FQd1pNb3B5ajQzS1l0NFJVZVR5NEdWWUg5cFVGcGg0RmZheUpxWFVreVc1NFZQR1NQUkxsSlh2dW9BclpOM2swanAxdGNYSi8wQyt2cWJIbWxwbDR4NktwTTNPSi9ueFdGdHd3TkxFU2F4Ly9VMjNoc3FKQWd2aUlGYTVTVTZZS2tRQXNOc01jM1p1TmJEaFFtbUJScFpwRnUxMW5ubVVOdzh6ck9qb0VBdGRuWksxTDZqbG5ZZGsweVNLWFh4eitibHMzNHlvOFR0VWVJdmVNNFdGWkI1MElnVWxDWUYzZnZCL1N6a3MyL2Fyb2Rwb3A3U0lieGovRDNKNmV5bm1TNm9PVnR2UWgrWkJMSGYyTFFnUi9UVmFrVnFvWEJkZHNoWFNES1RSZTE2cnMzRnp1bWwzbmlqVjJSZnkwZHU3aVIrZWdvOGU2b2ZLb1JYZloxOEp2Y3NUZXczWTdvaG93VDZnZ3JqWmMrMVI4ejZ5TEpvZ1BQQ3VFWlBNejc1RUZwR3lMMUVOWE1PdjVZQ3ZNeVVHN0ZBWTV4NnZWa01xT0l1cDdya0JCOVUwL0h3alFsM3ptVk5yU2JBdExDSEgvZDg0dmpucUIwUmxSL1Z6am1ZQ3JKbFhocDZNZVhWdEpGQ1FFSmdBQmRQWTFvY2JMMk5meXFkTkV0d3Z2ZTd2Y3phY2VoM2oyN0ZQUENHWlBQUVhjeGZvM25LcnhIT2hLRDRwQVQwOFA5bmhXZWV5S05ENTQ3RzhpOXhmUUY2dXMveFFXUnNNSFJVU2xmUkZKU3U1LytBRmN5QU5zNU9pQ1B2a2RQT2xZeUowcW16cHpPcG9LYTZ3cjcyZm0xQWU0S3YzSG4vcVV5aGJNdHNOSitia2RSUklKOXIxRm1mMVVYalpPUEkrM3JlRFg3Z0h2dCtQRU5FTXVxM1Mzd1hiczJqTS9GVXhyU0R1Qld5VmZxT0hnWUZ2SXlSNXkvL3d6TjRVc0R3aU1aQ1Z0L3l1eEltNWorWk8zZ096UWRPOTZaa2NVNVQ5ZWNSN1ZsVStIalN1Y0ozZFAvU0dQRk1kaFJiZ3FnczZFd0dRaGNBKzdXZ3VDMzYvS2o4cGxWdzdkSzJib3U4VTdERCsremYvdVN4NmJRdXBNZzEzN0g3L3k3K3ZhMi90WlRvYjZlRWhrcWxSQk9ELzBrbW9mNUlXdXBsMk50ekgybmIvNlFsR2hsbXRXQnptL3VKcS9rTEZ2ZlBpVm45YStqNXZLNlNpb1A3Z1d6SDZCc2FlRmFiQkhIdDgybWFIemxmLzZ5cjlxczZ1dE1ETEJ2aVZWVm95RTQ4U0w0cFlWcGc0ZFVyeXJJc0FtYjJ3RnM1OTRFQnV4K2ZHb2VNOC9yR21ORDR2RFF6cHJIMko5MFBUTlFLd240aytFWWx3ZzF0bWxlL3AvZ3lmR24wZ2Fsekw0VlZlRjVmTlBsSGVMODZpNU5udGVKNWl1OTljNDI5azN3WkllVjRkVjB5OGhNR2tJOUJnN2o4V0UzOHF0MTh1dVhZcVcyZXJmZXY2QkI4N2YydUJzZCt2cE94KzQvOXl0YXZycFdKdjNqdERwUXNsRHJQOFBYTUFyWHZtZitQOVF5QVdJdVNyUHd6N0pVMTdXLzBkKzRrZWx6bU12OEdBbzkveTVoc1Yyd1k0YTB2RWMvUGp2UEwvMEpzTVk2MWZRRWJydGFWRHJiOHI0byt4V0xKbmNmLzVXRUxVNXBNNVhPeklxd2I0bFpiWmhPMCs4S0c5WllhclFvYTYvQWZHWG9kNTV0bnZHWWpzRktkaE9WU25aamx1ODIyRFBhN2xzNXdLeDlFaFE2YkwrT1F5Qk83eGVHOHR1L3pSdnVuTU5tKzNjNGtKVkRzazUxditrK0xTV3pYWTl0aTB5MEE4aE1MRUlmUEIrZHVmN2EyV29OL3ZGKy9yLzlQZXlwa3FidlVkWCtuTDBvSXZoVmVVdlB0QzQ0MFU2UlFVcUw3aHY5NTNxSW5yKzBPdjh1TGQvb1BIODk3ZjgyUEJhc0Ywdzk4ZU4wemVzeGVmUXNWem5PMzVBWDJZS0pJc2ZhTVU2Vy9iRUw5eDlydjlQbTNnd25QN3lNLy91UDNhOFZQL3k3VGMxVHI4UGtWKzQ4L0YvOUZNZmJxbGtHd2orRFpUS0Y5djlPMzlRSjZ0c1NXZTdlSmhuOXZQMzlWKy9pV21DMDEvKzdiLzc4MS9SQmF2dWJJS09wd0FoY0wwamNGek8vNFE0WUt6MnJmSVFDZWxvWlBVTktmNnc0MVdPVEx0UkNjWnFjV3RVc2trdUliQ3ZFZWpwM1IzQ2pIcVpVOXhEMGxGV3ZJY1VQNysvMXpTUEpVeVNaa1dOOGhFQ0J4VUJlQUkxMnpiOUFTSTdjbFRoSWVrb3F6cERpZ2NrV1d1WXhIeEh2SGRCSmxGSDBva1FHQWNDQzk3dU1xeFpsS2ZHa0hTVVZjRmh4WGZWZWs3V2lpWXEzeW90VWt4VWU1QXlrNFBBdkxkL0JlOHhsS2Zjc0hTVVVjTmh4ZTl2dnFnN2E3a1pvYUpzaE1CMWdJQy84Ujdibk11emVsZzZ5cWpoc09JUDdlZXhZTVY3ZkdYRWlySVJBZ2NmZ1dQV04xRzR0Y2ZVaHJzeVRCK1dqakxxTnF6NGZVMFk4L3VacWpNMkxHVWpCSVpDQUc5RWRPeUN4OHRjMFJ1V2pteUZCNFNIRnIvaHJ0d01xR0x5a2xiOHZkR1RweUpwUkFpTUNZRWR0M2VzczRmTFV3UjBoTmR1UjNZTUxmNklpOG5JRkJ5RjRBM2FiVGNLV0VubWdVQmd5ZGxnaDQrZm5DelBMRGlXL3B0bVJWWSt0UGk1L2J1L2VOWnB6aUxSSkZtRXdMNUhBTXNTbDR3UlR5cDFqaHNMd0ZkTjNZV0hoaGRmTDNFYlRyRm1INmY5SjhVQ1N0SU9GQUpOZHJXbERNTG5OQzZvY0FubjQvaGdRR2QwOVF3di9raVpIbTZoQURUN3JVTGxrVEJDNENBaE1MdkRIdW1FQnVHakFJK1dadHJNS2Y3SkZiYjdybWVPcE1vOWlaL2Ryd3VibGYwN0JoL0pYVUJDQ1FFWGdRWDhQL1FmZG9MZzFaOW4vRU5GWlIxSE9kZUpZeVExN2szOGx2N1U2VWlVRzVuUUtYdGFZbVMxa0dCQ1lOOGlNUDE5SUowK0o1N2ZLTkdHOEVOMi9EdHVJNmwwYitLUDdkUHByL29vVjMxRzBrNGtsQkFvR1lGLy83RnpqZjZkMzc5V2NyVVRYTjNHS0pkUFJtYjNzZmkvS0JsWmZTU1lFQ0FFOWo4QzgrcXJwdnZLbEsxOXlkSDdDbUpTbGhBNGVBajB4TWZlOTVkZDAvdDJLWGwvNFV6YUVnSUhDNEdGZmZqMjJJcjlGeUVIcXpuSUdrS0FFQmdkQW0vcGpFNzJpQ1MvYXYrcFBDSWtTQ3doUUFnUUFvUUFJVUFJRUFLRUFDRkFDQkFDaEFBaFFBZ1FBb1FBSVVBSUVBS0VBQ0ZBQ0JBQ2hBQWhRQWdRQW9RQUlVQUlFQUtFQUNGQUNCQUNoQUFoUUFnUUFvUUFJVUFJRUFLRUFDRkFDQkFDaEFBaFFBZ1FBb1FBSVVBSUVBS0VBQ0ZBQ0JBQ2hBQWhRQWdRQW9UQTZCRDR4Sm5SeVNiSmhBQWhRQWhNRGdLTjdjblJoVFFoQkFnQlFtQjBDTEN6bzVOTmtna0JRb0FRbUJ3RWlPMG1weTFJRTBLQUVCZ2xBc1IybzBTWFpCTUNoTURrSUVCc056bHRRWm9RQW9UQUtCRWd0aHNsdWlTYkVDQUVKZ2NCWXJ2SmFRdlNoQkFnQkVhSkFMRmRFRlRlL0prdjNYMy9RNk9FZWEreTMvelJMOTF5LzNQM0tvWEtFd0xYTlFMRWRrRXd4Zmd4eVd3M0p6UzhlbDNmcVdROEliQlhCSWp0aU8zMmVnOVJlVUpnZnlCUUZ0c3Q3THdoRVpDLzNyMlltRlowUXB3ZUMvZStlOEo5dTlsN253VU55YmNyK200Z2VkY1hBbVd4WFowbDFuU0lzZDNTUUUvUVkzMnlSN0tBNTFYRWRxWGRKRlRSQVVVZ2tZT0t0WmRQUEQyU0lCSk13OHB5N3BMMG1KOTR0cXNRMnlYY1B4Uk5DR1JFb0NTMmcvK1c2TURCM1NwSml5QkkwbU5tNHRrdWFOQklOdU05VGRrSWdYZ0VTdUlac2V4cE5OalpOT0dnQ3JhN2JGMlBNdWpwb2F1Q3p6ZkphN0pjenpheG5XNHVDaEFDd3lCUUV0dHhuK3FhMGErOWFjSkJIV25iMXZVb2c1NGV1cXA5d0hZN3hIYTZ1U2hBQ0F5RFFFbHNOd3RHKzZiUnI3RnB3c0VxMHM1WTE2TU1lbnJvcXFZbjM3Y2p0dE90UlFGQ1lDZ0VTbUs3b01uWUJhTWcyelRoQUhObTVlMnRjUFhRV2hEYmFTZ29RQWdjVkFUS1lydnBwN3pQUURqcnNGMXc4K00zVGRxSVE0NGVwaTVpTzRNRmhRaUJBNFhBRnpCNDlJLytabWttenJoc1YxcTl5UlVSMnlWalF5bUV3TDVHb08xVEhiOCtVWnBKUjRudDhtTk44M2I1TWFNU2hFQVF2T3k4T3RpdUN0MjVWaG95aDRudDhtTk5iSmNmTXlwQkNOZ0lsRFZ2WjljWnJCUGJPWGhrdWlDMnl3UVRaU0lFRWhFWUM5dFZpZTBTR3lReGdkZ3VFUnBLSUFReUlUQU90c09Td0dZbTVjckxSS3NVNVdGTk5SRUNZMEpnSEd4M2hOaHVpTlltMzI0STBLZ0lJV0FoTUE2MjZ4TGJXUzJRTlVoc2x4VXB5a2NJeENNd0JyWTdpdDB1bS9IYTdEMTI3by92Zk1ZUVVtZ2tPd1JvVklRUW1CUUVYdEI0YnMzWFpmcHgvNThYbFpYdFh2azlMLzJEbTlvUXVQQ3N4dWtuK0lJckw3Ni8vK1dQTzZJL2NtTmo5eXRyd2R5UDhOaWYrZWhMYnJsUi9vbk1RdHRodThxVFAzUHYzZWVzdDhvY0tlcWk4dUw3L0FwVWtqaS9GYlg5UmlzSVppQzhYd3NDL3E4MU41NFdTYk5QL2l0VWNGYUViVDFFUlBEZE56WHVlR29RdUd3Mzk3RnovVHYrSWN6QWYyZWYvTko3YnpxM2lkQ25rZURhR1ZSZWZDTjcvdmUza0tpT3djcENPTHZ6QjRMZ25wTXFmNHdJb0hmNnV6bzZBdys0dnQzTFA5QjRmcVFablB4MFFRaGNOd2g4TDd1VlhWSFd6c3VYVkxjWTY2aTQ4SnpDZGpNNzN3anpkVUZSak5XQzF6VDRlZmVTSTJWbWg3RTJZODlyNmRqS0o5aTEvNys5YncyUzdLak92Tk16WGFxcDZkRU1DS1BBRzB1VlFrUVE5anEyV200d2VxenB4b3dZc0xCcXZGSVFKb2lsU3pCQ1BDUjFpeGd6RU9DcFJpdHBIZGFqVzRCRU9MeFFMVnRlOEdPakdrUVFjZ1RlNmwzQUpzQjJEd1N5SlVOUURRaTBzczNVREZPcjFqQ2F6djFPWnA3TXZIVnZWWFcxcGgraVR2NjROMjgrempuNWRlZFhKeDgzNzhmdnI3UU9MWjJpTkYzcERNV3kxNkVnaHdJU2R1a0h6WGFUQjQ2ZU9QSFVrWkl1bUdzZFBIYmlxUVBQVUtVb2wxZXRJMHI5bm41SXVWeWloWndwWjVxbjUyL0NnU29qK3RtY2lGelQ4UWxkeTl0aGhHUmZoYmFVMU8vRzJXNVBTYlVxQ3FrY2xyU0l4U2o2dG1wQnhFYzRuZTRqZVoxNXF1QVN1eHY3dnBKNitvcUwxZFVqZmpkM1VzUVhsRG9JeXc0NW1ZakUyTzRoRkNpMS94bkMwaElYQkFZSGdaeTZIRy9pajlvR044d0JKRGovTm53M256SjdzRjJWWDdGQUJLRXdvbGEvKy92L0UyeXdhQ1hUTFZkUlB5cEg3NjJxY3k1eFNjRmhpakxmWGpIblBIbVd3UkVBUGhSUUptUTdtMlBZemp4b3Rzdm0xZG1aNk1hU2VyOVRFSXRnYlB5eDhqdWcvK0hUWmJUNm1iV3lYYWF1VnI4V1JYK21YaHI2ZGlPbE03OFRSWGNyOVdaV3dteDNYd3QrM2QvR01CeHFxdFZ2dmV1ZTc2bFRaVnU2dTdFajZuUUJCVzhwVlVES0ppUkZmRVU5TUJObDYzR1VRN2I3cUZLUFJwbnIxVXJCeXBDYklEREFDQlNmaTZKOTZxY1dBV1dJaUZ5ZWszRlF1ck1kVlRBSE5YMWpySUo0WWZ4TUFmVkJXZHBsczZLcWhvVXk5bzdVUGVyL21yeXFZYnZ2WEliS2hzVEd4c2J5U2wyRTI5aFlHWVgyUG9KSHc4Ri9jcjlteGRlOW11b092UVRKNnRTREZKOVVaOHE0NFhDNlJkd1NJVnRSdjRGRU1CYmwxOVd6VWZZUlVtaDh1N3ZIbW9oUDZGcmVEdjM0c0ZxWnA4aDlyZHVERTUvcW9FeUVHNVQ3c2JqN0NoS3htQzM5R21VMHZjOGM0WEMrMVhsS3ZFVzlrVzRJM1kydHI4N29VaURvWlIxSkViRkhhVDJaZktnbzlPMkF2OFpsWE9HdkxFRVFHSEFFTW5TQzNBWE1TZXk1RUhrOUUwZW1POXZ0UUFYbU5YQ0tlc2pTelN1VStyR1RjNnZoTVUyQzh5WjFraityczl1d1hmd2pNcE54MWdKTHNzY1orMnpFT0k4WjkvSjNLenIwN3NPcU5VTjZhMXBaMGRESXJjeDJjREh6ekhaeE95QjN2N0czZnJWbk8zZGtnV1ZxWFNJTHVsczhiTGhsQ3F4dnF1bVBNODZaK0sydHNvNTBOM2JZNFYxbHRnUEdiU0ltTFljRmpBalJnVy9Yc04vNDZFVC94aUs1Q2dLRGdjQnVtckxicFZxbXRlaUJKeW1XcWZoT2JYSjZqR1N4TTg1L1RxS2hWSWw4S0FUUTUwcFp4ekFUVitIZUdpMVpSekNqZm1Zem80bzlzVGo4aU14a25PMGkwSWZ0NzVEZ25jOExtV2pIbVU0dlRFdzdhalVWcXhic0FEbERmNjBUUVp4TXVYUmU2SVExS0xURHlkV2ZxMkEvZUhiMWNWTVdqUisxdGFLb0NKdWI4L29SYXFZNTNWSFEwQ2RzRzV6UVZHT25sSkZCUDBYTFJraENSRmI5Wk1aa1ZVTG56cFVqYXkxZVRmaXhFZ1NCQVVlZ1NDNGNXS1NzY1lEN3NLd2pkL1RKZHVqWVREa1JNWkZ6YWhBM0VxbmJPbGJabzB4bjN1TXBhOUt5WGZnUm1YYTJ3OVNkN2IwUTV2dnZYdlVHYlRROFVzc3VJRm5XcW5QTUJWdytvV1BJZGl5TEdVbHYxejR1Z1dJbHBzNEk5WloxUFZ6eUhwaHg1bUx3cFI4b1FzVGZuVE9sa2Y2c3JlZUpENEJvcjdtSHNYWEZHb2V0OHFRSWtKblZXMk5UcUpKbnV5WFhzcUppZUZtczNBV0JnVU1ndjRBbW83T1locU9yanVvWStLQ3ZrU3lOTEIyQkZIa09ENkxRUi9tRGlWWFg5K2xMTVpxZ25OK0N1VVB1amhYSE1walppcysvZ2VLWTdjQkFMQmV6Zy9QYTZGbGZQRys5T0ozT2x5bHVIWmpNRVcrTTdVQ25FMXphMjFFTFBFWElZTit1NUREQ0FnVFh3aHlvdXQ1eUx0eER5M3ZVa29JcFVyRVVOZHZkMklxWGFOa3VLUUxXMmw4cHVJZkx6Z0xIZGpodG5sa1lQMk9IWEFHSkNBSURpY0NRM21neXppUFpvdXVDZGU5MUdXRFliZW9BVTRPbnpKQVBLZnU1R0gzZllWNC9EQWVwNlAyNk4wLzVUcnFEdTdmcnJEU1BIMmM3ZEdwbU96Q0pIWDFqVWNKV2JYb084MTRORzRJN3hOa3VYdzM0Sy9UdFFLY1RYTUhaRVk1cGliMlo3ZEF5c3pBVE5RSnhvS0RLb3BXaGVJQUpGT3lzSm9RWkN1eHViQ2Jnei93eWlVc1JBV0sxRFFMM1AydDFCcjRkNEpxMnFkNlRkTVVrSWdnTUdBSTdkU2RVNm94cE43cHQyY1NtZkxjM0NhN2ptTWYyNjlCbFY3b2tzTjF4OXpET2JzZFVTRjNvcUlzb1V2U2N1cWMvdG91cVh0d3U0OEdnUjdNclJSNVd3Wm5Ba2J5clVnOHREQnk5VkxiRGdKRUpqaGFSM1lOeSt0QmdTNk42bzR6ekcwdk1jWEN0MlBORkxUSzNoN0h3cmRucXFMNU0wYVFJYXFRRkdzVXQ4YUtrbytrbHprYWlONXVFU1JBRUJoQ0JmYmJuR2I3QXJCVDMxQjNlUFRPdzlHQzdFRHQwZnM5MmVEQWRIUXpqQzlsSnFLTG5wK0UrMmE3bVhjV2xDUzBZcm94akpYRERxTmRtWXhWMk04a1ptM1BadmRodWx2bWFhc0NMWWlVUVp5bHNLdEFHMzg0TnNTdnNvUUdFYWFzdmI5eXdIc2FDdmh5RWs4dFVOU21DNWk3VlBPVkY4QmpkQm5IUGRzMkE4dU9iVkhRbHVRZ0NnNFZBOFNUYUMrcWhHNEx2Tkh2VWdrbmlxK3V1bk5ENWpvN3B1aXAxU2MxajZKRE1aNmdKMGlCblpNcDVXMUhPdXBlK3MzWWR5WWJMRkhydVVjOCtUckJSY01HV09lN3VJSWVDZVpnTXMzdXhYVFVZcElkc3QrVDRkbDlBbm1BN2R1T2lDdjk0UU1Tb05lTU80d2ZXZ2pGemlyRkF5LzRBb1YxelZEVXBndnhEM3ZYanZIT1VaTjhPYzZsdXNCL1ZRL1N0S1hJVEJBWUtnVHAxUXRkWjRWRndIM09ieVJpTzBqTEhldDZMSWR1aEs2c3lxbURhenJzZnRET0Z1QS9VY0pveUtmd1BjM09kRlkrVG5neDFaakJ2UjdSamZhaXNubnVremJmZUh3VVJuTFR5L0EyV0ZNd1RCQys3OUY1c2gycnpybkRnMjQwMFAyeVRBZUIrTG9FbXVmVWR4M1lRY1lnTFhQZDVpbzBIVmRLTUxTbXpjeGhGYzJXcWtCUVJSZit3c2tCWkNKNzNQTnRoQk01a3FOZkpUVW01Q2dLRGlzQkRNMmo1RW5kbmRHWHVxVGxOVVFFc1gzRGROVWhNajhiWURsMVpUOUZoYk9tbmxtam9SUXFJQ2xmZkVwZkNyZ2xTSjd1d0hTUll6NFZuL0VBUW95d0tmZzBQT0RtSkZvS1p0aHFCTXhZdTBLYk4yOUZ5YzlrSkNkak9wZEhQeFg1K0F0dWQ1RGl6SFdFd3c0bm0zc3ZZT3FyOHFPenJwSWp3bWVsc1J6OGxya3pOTWIxTGtvZ2dNSUFJVkprM3dFalR0djNEZmhEVU55TEYwTGVqUmRrNWlBQWpCR3hIcnNxaW5tOUM1RVAvT1ZTeFJyYnp5eFIya1lJVUhXZEI4QjNkZUpMVE1DdXBlUmZQOVhCdzJzTzNnNHNVVERpdWhlMG1XQ096WFZ3RTVmWTBkZ3BhMWNvREJSYVZGTUU1K2g2NmNRemdyRnRGUVJIOFRlWmpOZVJCRUJoSUJKd1BBRVlhdFFqczRXbTBkU0NDbnVWb1J3L0JwaUdrNWtmSkpMSmtPSENTT2pYOE96MjZNNnE0cytKcDB0R1R5UXBIc2lSd3YwNjJpeFFZS2pPWmFScDl6dFFKcmt2T3J2SFEwK25CZHZEM2VPa0dzcEpzZC90WEg2bXlLU2dBajRxYXEwUEYvb3hBUk51UFIwOWpxUUNGZnkwWVVVa1JKaDNYN0srODdZbzB0cHNNRVo4S3dIRTFKU0lJREJvQ0dDVFpVUjhJWk5HMmZrZm9pUFdKU05HeENsV3NtS0VkK2w3b2JTRjFHWmtnRHhNK1FrVjFXQ3Zib2Y4L3F5dmtSL1dOUk4zMklodGVIdmNramVSOWpwVFk2ZExwUGRnTzlCVmZYZ21IeU5ucm1zWitRN3lRbDhaMlVCd1FKaW50Yld6RHlGVXJpMVNlWE9NMkVUbzVpdTU4clNub3ArZ1lRRWhZWVR4ZUJETVAyUnB5RXdRR0Z3RzdHd1FBMVAwTTFUN0RKT3RDcFJoak8vU3prMFoyRzl0TmsvQ3YyRTd0RHcvZ3pvck1TYysrVkRhSytYWWdETDFNd1lzVU5BY1lCdnVtcnE1b0xxaEJsdWh4WkdCTEQ3WUR6M2dtYWZQdGh0RzROMzMzc3lpeTM2am95SFlCWVZMSjNzYU9sR3hqVnN0VUFTcmFSRkFxUHZnTHQvRlRYNThKYldRQTZ5RWFLRmJRRmVRaUNBd3lBdWhJQzZiOVRUL2dLbW91V2g4c3hSamI1WTBQTnU0OFNDMjBZcGtuVTFVbXVNN0luUlhGSnJ1eEhTOVQ4Q0lGU0p1WFhEdVpYYkhiK3pBSk51Zkw5R0M3MlpCSjRtejNUbmhQajBNUUVPektkbkVScEhrTnhyN0hBcU1QcWFMekNnTE9aZU16NHppNWRBWlBZUzREV0kwanpuWGtMZ2dNTUFKTGppV0NYVnVOMGZValVreGp1N2ErVjJFL0svTk5aUUlQRUxtelF2OWtON2FMcW1iaTNTNVNySVZBNGljK2NRUFh6WGJ3RlZjWFNjcStqV0M3NkphOEFVWnplRHJiTlpUNk45ME1ZVHNOZzF3RWdSNElWTm1qdzE0TE4xdVhuKzlScTB0Mm5PMmFodGZHNC9OMkpiKzdOdnZXQ25Wcm5wWmFNOXZWRE1mVUpvd3BORGdzZExFS1daaWgvSUM1L1RnbzJJUHQ5b1ZNRXZwMmRKVGRncGFESWwxOU8rUzNEVVBYWUN3azMvbEpBa2F2ZWlSRklQOCt0K2N3dEpFQnJJdHZGL3lWSlNvSUVBTE9vME1YNU5tNlRMRHBvbStVaWpIZnJtTFlyaEd1RUxxVldpTTc4MlgwYVQrY2RzdkJrMTE5T3l4VDBPNUF1MGloSi83bnU5dTY2d3dkWFA3ZVBPOUxOcVhYeTNaM09QNWVBOXN4bDFzRDRSYXFIc2Jxa2plUG95Qk5UMEpGbXdoTVA1YWNrRFMyYXpqN3JGSzVDUUtEamdDMnB0bk5HdGh1TjJIUkdFNlpKRm96VUhHMlEzZWRSdFZKcDBiTFFhcHpoNUF3akk1NzBpaGcxOFRVV2FURVBYbzVvbTJWZ3VnTnB3QmtlTjh1N2I4OVJLVTdoOGJDSlNnRWRwOEp5L1JnTzVCcXdETlFhb2ZjR2M4MSs0TEdwSzNKSnJlUHJNRllhK0wxc0JmUnBJZ29PdXpwTEkzdGxnSlhQV3l2eEFXQmdVVUEvZGUrUUlHT09tZGgySkhjcmJaMmdJcWhiMGY3YUVkUkY0bHVtSXhIazNwNGdhVmkydDVtcjVudHpETEZYaDRqeGpic3N0ajR2VlNPN3IxWUhYeWdIRXZ1d1hhd0xOZ3M1OWtPdncwZ1d4MTZzUjJ0U2NSVXhuY1h4N1AwVStZYWwxalZKSjRVQWEvVzQ1ekdkclBlUUNkTUlvTEFRQ09BZmpSaEFKanl6dEhVeWVlQkNZanR1S3RPWHN3aW5rQ2wxa09qTEtLbWVWQ2dWMVBsMTV6V3pIWm1tV0tYNDlDS0oydFNrUXhEQVdzRnVSWHZ1OEhJQ2M1aE82Z0JuQmJ1TGtZcnVldys3ZHZsNXFrWVJFelRuVUxGOGlTSktPZ1VkK2xoN0pCWGliL1BxSjV5YkJjQnA5dzF5TERkbjJ2eGJEamNRVGNuNFBSS1JCQVlaQVN3aVcyL2FYL045OG5KdWVjQlNZenRkbHF5d0QwWUhhUC9VMCt0K1cxdnV6aWJPeXV5Sit4ZW1Bc0FBQ0FBU1VSQlZPMjhYZnBJbHR6Ri9WSHRKRnRhRDNpRzAyTDN2Y0dJTk1nSTJBNjBOY0U1YkFlOTBsdmd4R0NWSXU4NUhkVUFvZG0wazhaMkpPSzRFNkVqUFl6TkJiTjZKUktlSWlKd0xzME9sQ0hUUGpZYzA3RHBEWTViSWsrQ3dPQWdnTzY1WUZxN3BIZ09MS3JNUHc4QXdFSytiME84OWpDdzRPczhFYjI3bGxKci9yWDFQZHcxdWJNaWU3STcyOEY1ZWNZdFVrUzBKYzBPeWNuMm9RZnBHZ3M3dmNNVXBqZFpzeFl4d1ZuT2ptYllIRGVTSmU5MHhwYWQ2c0YyT05lRmYxR294cVhsbnNibTlPaWZDdE9lNzJsY1UwWDRSU1g2cldoak83S3dUQUpNK0tVeXgrUXVDQXdxQXZ0Y1p3YTVXQkJ5QVRIMWowdlI4U2ZxMW5paEY5MjE3R1RCb2FTZVd2TjY4TGx0ayt0WVJoL09za2lKdTgrWnJOaTdGSHBVZWM0dFV1Z2R1MjVVaXhVTjd6YWF5bFJnaHFQaFBlL1pEZ2hNY0phekF5Mlk0MFIvZGpIWW05RXlUbVlYMzQ1QU9PbEU2SjhTakUrN0dadnpkdUNJbW1YVVRZb0lVakNvVGJJZGpmUVBlYTMyUTJnK1FXS0N3TUFoQUEvSjlva2wxMy83ZjB0MjZMSmZkY2dWL2VFQ2VpcDlWT2VnY3g1M1JXWk5rWm9mSTJaNWtzbXhqRjdaMEtaZGFOZE0ydGdPbzdzVnQwaWg1d0tEa1Zzd0pjaGFkd2FzeFdtNEIyd0hmcGpnSEdjSHRIcWZFUU55c3lZN0hQaXFqVjYrSFVSWXdvYjBITEVrSEs5dXh1WjQ1UmRGWjdYWlNSR1QzbGg0bkNsc0I1Q251VFU0VWRCRkpTSUlEQ29DNkVhV2hlcU83WW9UL2FLQkRyL0FkY0IyeXh5SDEyRmR1bUIvaTNzanQrWUhiRVBNQjQ1bDlIQlBDNzNBYnZxQXFYTXNtTzVWcFQ0VGVFampidnNaOHZLeGtycldYdDVxbzUvY3BlNkgyREIyZ3RPZEhXaUNweW9NekkweElCakhIODFlYkFjUjNvdmRyVWYyM1kzTjhab05yQ25xdjA5U1JNTTdqQUFtaGUzQXpON0IzU0VyRnZ5WGxmdmdJb0ErTWFwYlR4UGhaWU5EODFDZmVOQzR6dlVzc0oxMXh2UVdPUnZIL2pUSFRQQnNkR3JOZTAwanZMUFpzWXhlMzl4UGh1eXp2bFU3MjBGUjVhUzNGRjdxTWorWmo2bnhrN2xENjZQeEZQMjA1R2hyYjhzVFNIQ0dja0NIVVozYlNldXNNMFphYmxVclh0SzJwcTFTYUhZL3pxcUxtaTY3R3dzOHkxeCt5ZWlCNXJnSTJQMnNMVlBUMzNnY0FlTWhlQUFyUER1QTFDS1gxV1hrSWdnTUpBTG9XTk82NGY1dHB1RmdrTFUyVEdnN21PbHJLQThTYXBWdHZZYjMrWkE4WTFOQld3c1VyZkh3bFNiVmxrMm0rMUFYUHAxb1hhMmFNWkIyZCt3M2hjd1ZqT0dkUS8xdXdWbk9QdXhpbklKN1U2bURSNCtkT1BHeXE3NFdwRTQ1WmpuOHc0RHR2QjN3U2tkdGVlSTR3OTYwQm5EY3BGN3dRVzFuUXhmYUY3aUhKZWZSUVlUMVQ3RXZaWTZxNFVVSVoyTFNXUHhSZENrcVdUVVRtZ2tSczk3blBEcExtdmFhTlorUzQ3ZzdQUGlaMGdMSmtpQUlERFlDRmVzaUZFOXo1ekRlUnorb0VPODRpaXdxMVZ3MnRjRU9iZ1NGK0xTVldiZXBOVGRuQ0lxY041bkJPNlhvODlwaHJOcWVDaVpadGhMMGpVYVRoU0FCNGhidEl4c1E1R29hUmcwZFRuRkJ2YnBoSDZxWGVuY0ptenJzc2ttVXFWaUd3OWdhM3A4bHFhcWJ6c3N2VnNoT3N3d3dGUkFtTkpXTkFSQ3hZcU83N1M5QlYyUFJjbmFFaDZ6VG5CQkJ2ekJHNW83bmdQODhMOHo0dndTa0dHcUdqODJOTWZiSVZSQVlUQVJxWm80SXYvNFY5UWFDSUZzNjFDOFNjRHhpdnQwVDF0RmJZZ0lsZ1ErcmxSa3RHUDNVOEJkNnZPMk9tWW9sRVdLd2VWMEtsN3dXbW1YT2FQQXcwdVpqN0IzcnhFUE9YN3FKdVlVbDZUdDVyeHhhbGtHeGNZTTVkT2RwT0pPbnlxWkthTWV0VE1xNTBsWHdXd3U2QkJ3bm8rU0dzMWcyWFlsR0ROdlh2Y2RGSWthTk5Qb2M3QnROZE53ZXZOZlZXUEFVRS9kTlBDSGFMb0play8wQXljemtGL1F2eWRJMFBaSFdSWW9ndklLQnpsUjBTWk1xVjBGZ1lCRUFCeHhINCs5YnhlcWZKcW12dUNIV21qSEJDcVZ6Um1na2V6ei9mcW9MOW1EbkFrL1ppcG51enpVNUZTTloyNWRmcVVkdTJiSEwwSVZWNncrdk5Kb1A2OTU2azdibnY0NjlCRm5xVFIrZk4zbDByWHFsT2hHMDlHS0s3RFUwb05QQ1M0TWsyTEJTNEp4SlMvZlZaZGlyVnE5Nk5HcTNvMm9kdXZwcDRwS1ZzUytoS2toU3ZSbjN2UmdqZ29oZW44ZFE5VkpqNCt2R0xuY2lMaG96ZXNidHdQZVZ6aHZ0Wml6WXJtcitDa01WNXh5M2l3RE9yVVZZOEcyVXpLdldaWkRNaG45OHJJeU1LTk5VcHdvVWFhU3lQK1ZJRUFRR0NvRUdkWWtiY1hvdzNJMS9pYUpMZUQ2cUh4Q3F3WlFhc2QxTzlZdFJkRzlKblM0SFVvYngvSC9lL2ZjVmRjYW0xdFR4aDF2ZkFnLytiOHVEWUJBZDdDSW8rUEhVWis4czdTY1pOYzQ3N2lVVzFVbi9RTEhybGZySlo5Lzk1V0JGTTh4L0gxR3BDMkFuRThCZ0h5bEgyUytjSW5aR2VBNmJSR3l3ZHVRcTZwcVphR2k4TlU5c0J3ZVFLdDZBeU9zZis1eTZXck9LYXMzckRZSTZYLzNNaTdDT0ZrUzBycnpyRDc2blhtcVU0dHJGMkp3Nmx5djlWaUdLN3NuN3YwYTdpRXdlZFBmcmI4dTNEa1VScUZQOUp1MXU0VENqMVFEeDFYKys2NTV4NTJQcVZMa0lBZ09MUUJhOTVvQW1pSGZDY2Ftb0g2d0RpZUhtVDF3dFlydm9NNnBWZ1NjMjQxSXBzaGRKQ0djNHRYZzJ5bFJWNndpK0E2U1RjdXJBd1dNbmpoNHA4WllQR01RemY3WFdnYU1ubmpwNndQZCtXdkVkSmJGQitDZXFZQjJhSUZsSGQ2clc0eFI1MTd2L2xEN21ZRWFlbFBCUnNNWlJ0WElvWUxzMk84andJNnIxUlQxT3RHd1hQVVNxMU5reUpBdzNyd1hsUkV0azQ0bWpCMHJFZGlUaXFTTUhlRmhKcDdvai9BakZPSFEyZGdndTczdXdwZ0o2dnB4TGs1YTRpRnhlUDMrUlNyeTlSWks5MWhsS2RJaS8yRHpKVlJBWWVBUXlUeHhSSHk0UUREZS9wblRRamlMWGo0cG11K2d2bm16ZGxoQ1ZmU0tXU21lZ1pKNm90STc5cDNJSGRUZSt2UFNoUW9jOGRPNmppWHIzZnJwMDdhY1NxU1FCMC93UDBsMkhHeXM4cFVXUEkvY2ZhVDI5aUpIM3dlOWY5ZGdmejFCU1c4aCs4OG5XaHhiQkhnZS8vMGVQZmYwdWszdnpYejI1OGd2bHRwSWRIek52ZmJMMTlLT3g3STdHNmpOUWJ2bWtPdmpEdndrcnRJdklmT1BUcGR2ZUVwWkl4QW54cC84eGtTd0pnb0FnY0Q0UU1HeDNQaVNkVnhrWDhtcXFsb3BCNnpQblZid0lFd1FFZ2NGRFlKdXlYY050Z05GL2t2RzJGWTdCK3p0Sml3VUJRZUQ1SXJBOTJRN2JWUXBoeTl3UlUyR2l4QVVCUVVBUTZBT0I3Y2wySS9TNlFSQ3daaEU4U1ZRUUVBUUVnZjRSMko1c3Q4ZnNHM0hOd1JaQkY1ZUlJQ0FJQ0FMclFXQjdzdDF1NWJicDZrYmg5WVAxTkU3cUNBS0NnQ0RnRU5pZWJMYzMvcFlaZHM3NURYZk9kSWtJQW9LQUlOQUhBdHVUN2ZDYXdVellpQXM3dkhBUmxwRzRJQ0FJQ0FMZEVBRGJZZGZ3dGd0TmY0Z1MyVmF6Ujc5c096dkZJRUZBRUhqQklGRHpSMzlzSjV1THNRMTJPRUdrL2EyejdXU3MyQ0lJQ0FJdkJBUW1nNk1vdDVHOVdKWTQ3czE1UmRzU3JjK1JtQ0FnQ0FnQ2EwU2dHWnlKdWNZcW0xSnMwcDI5Z3ZkZHR5Y2pid29Pb2tRUUVBVE9Dd0xYallIc2xQclEyUGFidXNzMjFka1owMGdjQ2hBY3ZIZGVHaTVDQkFGQllNQVFxQkxYVVRpNS9SbytnZzlsZjJrbWl0NzdUYVd1S1c4Lys4UWlRVUFRZUNFaFVHMGROTWZRYlVPMmk0WmVCUnB1RVJjLzhFTENWR3dWQkFRQlFhQnZCTzc1M0pGUzY5aXI1L3V1S0JVRUFVRkFFQkFFQkFGQlFCQVFCQVFCUVVBUUVBUUVBVUZBRUJBRUJBRkJRQkFRQkFRQlFVQVFFQVFFQVVGQUVCQUVCQUZCUUJBUUJBUUJRVUFRRUFRRUFVRkFFQkFFQkFGQlFCQVFCQVFCUVVBUUVBUUVBVUZBRUJBRUJBRkJRQkFRQkFRQlFVQVFFQVFFQVVGQUVCQUVCQUZCUUJBUUJBUUJRVUFRRUFRRUFVRkFFQkFFQkFGQlFCQVFCQVFCUVVBUUVBUUVBVUZBRUJBRUJBRkJRQkFRQkFRQlFVQVFFQVFFQVVGQUVCQUVCQUZCUUJBUUJBUUJRVUFRRUFRRUFVRkFFQkFFQkFGQlFCQVFCQVFCUVVBUUVBUUVBVUZBRUJBRUJBRkI0UGtna0xuOXE5KzUvNm1mUGg4UkcxMzM5ci84emhWUHZXbWp0WWg4UVVBUStEbEhZSWVpc0ozWkxxY3RQUE56L25lUTVna0Nnc0JHSXlCc3Q5RUlpM3hCUUJBd0NJdzBQN3hwVUtUcEdubmtFOXZjdDhzKzhscFlLTDdkcHYyYmlDSkJZSU1RR0ZkcWVvTkVKOFIyMEZYYjNpTlpOT005d25hSlA2WWtDQUl2TkFSb1V1cnNKaG5kU2RlZWJjOTJHV0c3VGZvZkVUV0N3TVloc0JOc3Q3Sng0bU9TTytrYTN2WnNGNVZrSkJ2N1U4cURJUERDUU9EQzV3STc5U0pCOEx5UjBVNjY0UE50NXpWWmdxUWliTGVSL3hraVd4RFlJQVF1Q05tTy9LM1ZEVkxVTHJhVHJoY0EyeldGN2RyL212SXNDTHdBRU5nVnNsMFdiUGYvTnNub1RycUd0cjl2SjJ5M1NmOGpva1lRT0s4STdBdlpMcHBVYXU2OGl1OGlySU11WWJzdW1FbVdJQ0FJckIrQjJSamJEVjMyMzljdnFzK2FIWFFKMi9XSm94UVhCTFk1QW4rTE1XTmIrT0NXbUR3Wlk3c3RNU0d1Vk5ndWpvYzhDUUl2ZEFTcWJWU0h4M05iMHFhcXNGM2Z1TXU4WGQrUVNZVkJSdUNTbzRudzRKYmdVUksyNnh0M1lidStJWk1LZ3NEV0k1QlR3blo5L3hXRTdmcUdUQ29JQWx1UHdBNWh1LzcvQ01KMi9XTW1OUVNCTFVlZ0tHelgvOTlBMks1L3pLU0dJTERsQ0ZTRTdmci9Hd2piOVkrWjFCQUV0aHFCM1VyWXJ2Ky9nYkJkLzVoSkRVRmc0eEhJL2E5amwzZldnbzB3RzdaSzBWMXpSNXRrdjExSGFDUkRFTml1Q1B4MjZVMkZkdHVHWHZLRDlxUTFQbWQvK2I4ODh2SWppeWo5NVNPdDJ6NGZyM1hqcDB2WC9ydENtSGJueGFXVkI4cFJORnhScXNVNWYzRng2ZUMvbndtSzBSN25nTzNlOFpkdnUrTGlYaCtZeWJ6MXlkYjMyL1FISXFOMnpmVFZtb3NQNmhMWlgvNzdSKzQvWW80TFRlcjZEeTh2M2ZhclVSUm51OXpuME5ySHZmeXVNR1RlZXJHNjl0VmxYenJxYml5RXEyTlhSdEhEbzY1S1VrUUN0Q2lLKzNaSjhKMDBpUWdDZzRIQWYxUUgxR2x1Nmg3Nyt1bVNVak9jdHJiNzIxZVA2NEtvaWJBWVJkOVdyWkpTSHdsclA2VFV3WkphTVFWMXhpVzY5Smx5cG5sNi9pYTFiQXAvQWNWd2Z0MGhybnJuYTNRcGZma3BKVUt1UGFoeXVIWHcySWtUUnc4WXMyc0hqcDQ0Y2FSVXBqSzV2R29kVWVyM0tKNFcyaldQYVBIbTBMeWFqay9vYWw2WGtaSjlGVXdycWQrTnM5MmVrbXBWRkZJNUxHa1JpNmt3ak9SMTVxa0NGKzVoN1B0SzZ1a3JMbFpYajZqOVhDTXBvaDAwS2hsanV5VDRMRXp1Z3NDQUlKQlRsK01kKzFIYjJvWTVXZ1NuM3ZiNTFqMG0xazVwR2R6TjcydkJyNEpQTnVkeC9LaFNqMGFaNjlWS2dkTlE2MlBsZDFUVnVZZFBsMkhGTXpyOUsrcUJtU2hiVjYxRlcyeFNrNE81dExNZFoyazFocVZVR2ZXeWVYVjJKcnF4cE41dmhiVGRFcHJYeUhhWnVscjlXaFQ5bVhwcDZOdU5sTTc4VGhUZHJkU2JXVTBYR0lhYWF2VmI3N3JuZStwVTJaYnVidXlJT2wxQXdWdEtGZjQ1aUpJaUVxQ1I2SkR0a3VCVENRbUN3Q0FoVU1RSWNaODdsOUsrRjBaZC8yUmZLRkR2UGtRMTdyNmlpZWhpdHZScjlOVDBibU9FdzM0ZnBMUnhOeWpOVnRSdklBRzhRYzVnWFQxTDJYdVVycG5KdTZwL01qWjJHY2gwaklMTyt3NGV6ZEZ0dVN0ZWdxaHFYYVIxWDFLaWg1ZVZJV1ZTbmFFYkRxZGJ4QzBSa3Bxemo1QlE0OXZkUFVadG1OQzF2Qzc5K0xCYW1hZklmYTNiZ3hPZjZxZkxsSGlEY2o4Ym5XRkErMWZucWZRdDZvMTBRK2h1YkgxMVJwY0NRUy9yQ0VIWUppSUpHcFVNMkM0SnZoVWxOMEZnWUJESWxCYWo2QUxybDduUkdiSGRNMzFoa0VlTi9hWkdGbFN4ZU5oTXMwMHBWV0E1RGZzcENjOUFoMVZyaG5Kcittak9vdW5NazZabUZIUnVUT3ZGNXUxaUg1aXBRZk9DMVFIUks0c1UzOHRwbmxwdEVYTkwxWHdyczEwVWdXc3QyOFYwa1Z6Ynl2clZudTJHbVZLcndSbWpuV0RZNGZ6ZFcxdGxiVTEzWTRmZDk0YXF6SFpKRWFtZ2hXeVhCRCtHaHp3SUFnT0F3RzZhc3R1bFdxYXA2SGNuS1phcCtLNXNjbnBkVWNIMXlpTFlyam12YTRDeXBtMVZNTkdjaVRhTkUwY25pWnNqT1ZFS1dVTi9UZGxaOVpNWlU2emluTHNrMjJHb2ZjYVVpb2laYlpTOG1mMDZQczdaRjZaUFFLWnBqbkFhc2Z2WXhheG51MEFYbkNwV2krWTRqM2gyOVhGandRWGV1WXVpZEJnOEJRMTl3Z0xpaEtZYU82WG1iZk11WUxaelBodUxTQWZOcXlJZnR4MThLMVJ1Z3NEQUlGQWtGMjVLNmJtdUtJTFRzS3liZm9mdnltdURvb3JPYjRpR0JzYnE3ODZaYWlDUVo2MkFKVWNsUmVzQmdWc25kQ2FHc2orenBhaGZXdWV1QnRMazFIYmZMdnpBVENVZ3RJWnhsOENBMDZZcVJDK3pFSDlQMVJ4RkFkdWhEUk5jdnVRb0R2V1dPVFh2SVJwblM5RmNhenhLcGNQZytYL0orczg5akswN0xoKzJ5cE1pMGtFTDJDNEpQamREN29MQXdDQ1FYMEJUd1N1bXdlaWdvem9Ha3VodkpBc1J6Z2VCbE9zdDJjQXZzcnlIQTgrWkNNQ3BoMGpMRkdzRGR6bW5haGNFbGJVTjhIU1dkUVNYQk50VkhBTkZEUjYxb3R5a1ljMVpwcDhveXFjZDZaNnFPY1oyTUdPQ2xYdGR0WUJZSWVPbnRrVEpvWVVGQ0s1RmJKZUVJWnBVUExhdldFUm11eHRiOFJJdEhra1I2YUI1dGtzQjM1a3BFVUZnUUJBWTBodE54bmtrVzNRZHI5N25LZ1c4bnJPTUdmcGVaZEUrS0I2T2dyc3NBOUxZVTBmUmF6WHJSVkhWc3dnNHdxWkM1TE1zTXNGMmJqQ25TWE9DeTQwdjYxalRzNmYzYXJnTTdxbWFZMnlITWVrRVYzQzZ3akV0elNzeTI4RmsrNVdNaG04STVnZFNZQUR2bUxYckNNTE1MMEYzWXpNQmYrYVh5YVFVRWVtZ2ViWkxBWjhiSjNkQllGQVEyS203bm1KSENaMjFiSm8rNVR2NzJyQzQ5S0o1TG9odTdseTFFbmZ1SmFXT2N3SExFL21BVzEwbWRWeFRFUDZsNVpBVTM4NHhVRVMwdzE1alJHc3VFZEdwOVNqMWVMSkFhYkdRcXBuMjhUbTdVOWtPQTBZbU9GbzdkZzh3MmVvck1sVkRYU29NOEd0NTBJNWFaSGNQWTRHQ003MitUTkdrQ0hJalUwRHpiSmNDdmhNcUVVRmdRQkRRMzdaQmY3TjBrWGZkZlllYmhlc2ZDWFJ6NStkVjJEVnB1aEVjalM3MWR1YUtHL3cyM0NRNjFvYzVGYzZQMi9YY3piZkRaSmwxbDZJUnM5b0NWOGF4RXJoaE5OR0VWTTI5Mlc0MkdGdlQ4aXdyZ1RoTFlWT0J0bFFZaXQ3RnpSdmZ0WWV4WUR2M0t6RzVUQzFKaXVnQW1tZTdaaEw4QkNhU0lBajhuQ05RUElrR3dqbWlHNExubHoxdVY0Zko2ZWVLYnM3K1MxU3gvQWxLc3V1K2tGUTNGQWhlS3hpNWs1NUdRTDNNWGM3bDdPN2JRWWNlajBQVURzT3l0V0FZQ2hkczJTZ0pycW1hZTdOZE5aZ2hETmx1eWEzUTdQTzBUYjVkQWdZYXN6UDUzbUg4d0I3R2d2T2Q1MXFib3pZa1JaQi9tQUthWTdzMDhBTTBKQ29JREFRQ2RlcDZyb3ZDaitDZTViYVFyUU1HZEhPM3hNRnNoMEVnOThjb0FqdVEySFRPK1llVkJhc3pxTkxOdHd1V0tXYWYxVlhISGZ2b2dlSkpLOC9mMGpYM0hNbWkycndURXZoMkk4MFAyMlJBdVo5THBNRkFiVDdFQmE3N1BNVjZHVnRTWnJzMWl1YktWQ0VwSW9wU1FYTnNsd1krU1pJZ0NBd1NBZy9Ob0xVZ24zbmRhSFJncHFtY0t1dWs5VnpRelIzQk1Oc2h6UTFMYVEyNEFNRVYxa3Q4TlpmVXRGYTJtM0t1bkpuWUFtczVCNG8yMGZHQTAydm9vTG5IdkIxRUJhZ0ViT2NGNzR1elhRSUdPR0hzaDNLbFhzYldVZVZIWlM2dDZidGRoTThrTHZTL0tqeTVtUVorV0VmaWdzREFJRkRsUVNibXVLWnRxNGY5dUxOdkhOQzVKcmdTczkyc204aEhUdEhRWEQ1Y3BWamdHdjRlZE55dXZwMWZwakNMRkZpMDlITmQ4RmZkZU5LSjdxQzVCOXZCUmZJckJ1Rkkxc2tsTjNrL1A2WEJFQmRCSlhzYU93V3RhdVdCQW90Tml1QWNmUTlBYzc1ZEd2aXhTdklnQ0F3S0FzN3RRbDhkdFkzZXcrOE1yQU1FZEhNbXphaGltWFRTRDVMMW5wRkZ5RjF5cERUdVp2QllYZlpYM25aRjBIRzdzaDE4THVQUDJFVUtGUGI3a3NONUx4YmVTWE1QdHNNQ2lsdXoxUytudFRtTnQzLzFrV3FjN1JJd1FFVGJ6MGhQWTZrQWhYOHRHUE9USWx5ejJrQnpiRGVaQXI2ckpCRkJZSUFRd09qS2R0dWFaNGtkYnZOSC8waWtzVjBEVFBFaURrMHplUVZ5dFk0UWU0Q3M2ODdYVXY5bUVrTnFWN1lEcFpxeDNRNHpXTVlZVTkzR3VsNGU3R05oOFlFTEZ0UGNnKzNRTHIvVHQ5MjN5MTZIVmxHd1RkSTdVQkpzaHlZSGhFbjI5RGEyb2NXaTRxSzJQeWxDSjBkUkFqVEhkcENRQU45V2twc2dNRkFJWUNCb2UyWGR6MHZ0TS9QOTZ3SWlqZTBnT2d5dEFpU2pvNS9VQ2pDYWk0MDIzdzRQNkZOZm4xa3oyelhzV3FsZHBNQXliQ3pRT1N2eDBFRnpEN1lEei9nNXNUYTJHd2JYdmVtN24wV1JYbXdYRUNZWjFkdllrWkp0eldxWktrQkZtd2hLamFJa2FJN3Q2akU0bEFiZlZKS3JJREJZQ0tEN0xKZ1dOLzB3cTJnSmNEMVFwTEZkMVRtUWdjU0szWlNMcWFnNW41d1p4eUdjTTNnT3lLVzdiemRsSndydElnWG9XNitDZUpHSldMcm1IbXczR3hqVU5wSjlKN3lueDZFRldIWmx1N2dJTW1zTnhyNkh5VXJUZGxJRWlVa0R6YkZkS3ZoVVM0SWdNR0FJTERsdUNEYTROVWJYajhLYTJTNSs3aElyYkNqMWJ6b2VrRXQzdGdOamFOL1FMRktzaFVEU05hK2I3ZUFycmk2U3pSdkNkdEV0ZWN0M0JhaElaN3MwMElUdDZFOGlRUkFJRUhCTHNwanRkN04xK2ZtZ1JKL1JOTGFycC9sMm1ESDhBR1RqOW1PdjRqNzNKc2FhMmM0dVUrVHNBZ0FORGd0ZVlGb3NWWE92L1hhZ3N2U1JMQjFsdDZEVjlHSTc1TGNOUTlkZ0xDVGYrVW5OZDlPSUprVWdNUlUweDNhcDRHdDc1U0lJREJZQ3pxTkR4K1BadWt5dzFhSnZOTkxZcnRFMk5hZUY3anBEWjdlL04rOWZOTU9PakpMWm5vSUNBYmwwOSsyaWlwNXd0SXNVZXVKL3ZydlZhWnA3dmtzQm5rbG51enRjNDFDazYwZ1crU21yRkQyTTFVMjVlVnlabjRHa2lFNmdPYlpMQmI4N1FKSXJDUHc4SXVCZm9NQjJ1d25id3VHZ1cvZmQ2RFMyV3dyOFJpZXdzWEFKdWpEWWRzWWxSWWNkYzZTeVhkMzRVSzRqbTRyb3pzZXhzY1Z5TlJ3My84S0NseHpHMGpUM1pMdE9PMUF5SlVmUW9LS3ViSmZjUHJJR1k2M2gxNk5aaUNaRlJCMUFjeUNsZ2gvQ0lYRkJZREFRd0p5VGZZRUNMRFZuMjd5RDN5QmJEd1pwYkRjYjdpNW1vZmc2MkwwWHE0TVBsRGtCOTd6YmhOY0gyMDFwbm00c0d6bXhEYnVCNkNDYXBya24yMkY2TU5nc0I5enN4aDM4U3B5enNudXhIYTFKQkdZZzJzdll6RFd1ZkZXVGVGSkVKOUFjMjZXQzc4UktSQkFZR0FUUWV5Wk1ZOEVaaDJ5enAwNCtqL2Fuc1IwOGtzUis1YUdBTzFnZFBFMlhhZ2FPZjA1WmJpU2I3dHVoRFZpbUtMSDFGVS9iTERkK1Q5T01FaFUvekVRYkpyZ092NEJGYmhpbmhXdXlSVi9Xc0YxdW5vcWx3VUFpQ3BUcFF3OWpoN3hLdEhMVXZEbFc4TlVwMWdFMHgzWnA0TWNseUpNZ01CQUk0TVNoL2FhaE5kOFRKK2VlUjl2VHVqbm1CTnNtck1BWGlSUjllQnY3U2NhM0c5S0ZlckFkdXZzcHZCSExOdGZkRGtKT2FidW5hVWFSZ08xQVd4TmNpZGtPcjJVRVZPVjl1N3gzUnczYm1lMDdhVENRaU9NczE5eDdHSnRUODY1OGlmNVNLU0lDNXpJRXpiRmRHdmhPcUVRRWdjRkJBSjF5d2JSMnliK3hYcGwvSGdDa2RYTWFzSlc5ekYraStFNUhUejVqTmx3cG9VV0JOYkVkZUVxVmVaRkNiOUxnMHcwZ2VlaEJMOTdHMGpRanEra1pHWFpNY0RWbU8rUUhWT1hZanBvMlk4dE82WitPem14SElzQllIQzR0OXpRMjUxN21vNU95cGxFelZZUmZYdktnb2FUeHA5UEFaeFBrTGdnTUVBTDdYQmVlZEFNMTNzdXhQaGpTMkM2cSttRXlwT3BQa3UxMkpPSDExUGo5Q2owK2MyeUhFYUNaU2F3ZU4yVzVJOXVhRFRTQ0Z5bjBqbDIzbFNhS0xzUWd0eTJrYVVhUnZHYzdZREhCbFp3dUdEZkhpZjdzWXV4L2NiUmQ3TVYyUWZzZ2lYNVVNRDd0Wm16TzI0SFhlNWRSS1NraVNORmVydjJKY0d5WEJqNEVTUkFFQmcwQlRPb2NNbTFlY3IxMkhXL0pYbnBSZ1pGTFpidlpjSFJwSnFOMkJ0ekJkUU9XZ2ZQazJBNmQyRkJDYzlHVWRBeGtIcWNnblJjcDlNeC9NRWpXSjVheWZITlAwNHljZ08ycWFXeUhRYi8zR2ZFQ2lGbWx3Q2piVFRVMmVyRWRSSnh6dHVpeE54eXZic2JtZUMwRXRXWTFZRWtSSFVEemJKY0N2ak5DSW9MQTRDQ0F6bVA5cGJwanUrSkV2KzBITlozbE9xbHNCM0x3UHRZT1BjTGFhLzAxcmtkMzBNVkord3pESE51QkVvejRTc0hrdHJFZExWTlVMR21qd0xqYkVvS0gvSnlwRWx6VE5DTzc3bWxMcGJFZE9OZFRGVnBwMkE1TmQ3NWRzeGZiUVlTanhtaTNocUc3c2JuZ1hNQ2kva3NsUlRUU1FmTnNsd0orZ0laRUJZRkJRUUE5WVZTM2xhYS95NmJWVFU4Y2E0U2hoc3J6dG13cTIwV1Y0QzJDb3A1bUFvVTkyaTUreWMvYjFmVG5Da2ZBZUFqOE5SOW5ZWHlKRnd5dzRpaEg3MGxiMXRWd01aOVY0eWR6VDlPTUhDaTM1ZmEyUElGNDBvZ0NPa1RjMGpldHM4NlllcmxWZlM3ODBuNTZUSWNCMVk2Yndqam5UOU1sbk90bFRra2FpM0Z5bVhPWGpKNkVpRTZnK1orRUpQZ3NVKzZDd0FBaGdPNDByWnZyMzJFYURvWldhMFNpaWk2dit6aks3d3Y4b3BKelplNXdxeUZScHJTZ3hUYVZPbmowMklrVEw3dnFhNnhtMXJ0UFIyZXA3bDV6aXRPNGtaTmp5NWo5dUY3RkhkSkhLWGdodzNtYWgxMk15K0tlb2htcFU0NVpEdjh3WUR1dkM0dWZvMVlLY1p5WlNnUjFNb0ZkOEVIZDlJWXV0QzhWQm9nd0xpSGtWT1pJV0hkajhlZlJwYWhrMWJ4MWxoRFJDYlNTKzRGSkFaOEVTaEFFQmd5QmluMWZySGlhK2NqNEhIM0JBTGJoYzZPSU5FNXlaU1NYVFJ6ZDFyQUQxZzFNcjZVempEbWNXalNsTUNTMUZYWThCNmRubnRjWWFzWjEzTTNVMWY2K2FTTWdFVWhDY1Nzd2FpNGJ5YkZyaW1ia1EvbWlLVmE5MVB1WTJOUmg3WTB5RmRlR1dYaC8xcGlxbTg3TEwxYkk0ZE5yTUIxZ2dJaVZzbEd5dTJVaVhZMEZiTHlJTVdTZHlZU0lUcUQ1R2NFVThJME5jaFVFQmdxQm1wa1pnc05WVVcrZ2xtZmROdDIxNDVBSFMrMjN4ZXZlUDZNNXJWR2IvQW9tMDB6bEF5YUp2RWtPclFXZFJxL0o2dHhNZmdIdTAzUzBOSzNUNGMrUStGbTdTa0J5NTNXR3ZVd0Z3MEVrRFRubjdpYm1sckIwN0ZRNXE1bHFzWkNkcHpHK1AxVTJWVUpkdC9LU1RxNTBGV2JnQ3JvRUhDZWo1SWF6R0F5dlJDUEdBYTJudzRDV3ZORUlIcmNINzNVMUZqekZGSHdUYnhWcUY5RUJOREo4MGFpS2t1RGJETGtKQW9PRUFEam5PTnA3M3lyVy9QUWsyVmZZZ2VvRGhVbjByRU5VL3RLeGx5Q3FYamQyZVpRZHV3emNwVm9YalJVb0o5TlVwM1NrNFFpb1FVVnRXTkY1NU8rMUZsSDYyekFpcjFxWEtaT01kMUdSa0trc0lJdmwvdUdWZUxBQjdvMVd6OCtncFJkVGZLL2hUazUyOXdhcnhkMXFSdDZrSmY3cU10aE9yVjcxYUVKWDFUcDA5ZFBFSlN0algwSXRrS1I2TSs1N01VQUhFYjArLzlOdU1OQVN5bkd5NDVXMmFWSFV6Vml3WGRYOFBZWXFaNmdhaFhZUkthQXhTQjhmSzFPTkZQQXBXWUlnTUdBSU5JaUZic1NwUzNBeS9pV0tMdUZacUg1Z0FOdVk1WVFsZEgwZGZrYWYrN0poVVlzYXhqelNQOTkxejdqejl0NUhaT2dDT0FJaGt3ZmQvZnJiOGkyUUYxaEEvYVpPamFML3B0UXYvdjcxV29lVDZ4ZEkvZnlBZUFBQUE0TkpSRUZVaVhGc1FYdTdYcW1mZlBiZFh3NVdOTVA4Tk0zSUI0TjlwQnhsdjNBS081OHBQT2ZiWUhYbEt1cWFtV2hvdkRWUGJHY2JmUU1pcjMvc2MrcHF6U3FxTmE4WFBIUStCcC9PWE90b1FVVHJ5cnYrNEh2cXBjNmlMc2JtMUxsYzZiY0tVWFJQM3Y5ZDJrV2tnT2Exem1nMUNmQ2Rjb2tJQWdPRVFEYXYxQUZOQysrRXUxSlJQMWhQMjkrK3FoMldhS2wxNE9pSkUwY1BsS2liSHpoNDdNUlRSdzd3ZUdwdlJUT0FkcnFnWTZkcVBVNnEzdlh1UDMwdE11d0NSQTdXSUh5UmN0N2UraEhkS0dUR0tYV09va2J1MFNPbGdPMmlwditBSTVXSm9uK2k4dGFiTkNuK21xNForUjhGMVI1Vks0Y0N0cU0yQkxxb0RVZFU2NHY2WENtbStJZTByck5sU0JodVhndWU3Z29EbmVxTzRKcUc0cDJOSGNMdzlUMVl6Y0VQdytVb2FFTzdpQ1JvSHZ3WlU2Y05mSllrZDBGZ3NCRElQSEZFZmJoQWJiNzVOYVdEd2Zqd2ZNT1FmZUxKMXRQL2FLVmlzdjFCcCtER0NzL3FSWmx2ZkxwMDIxdGNEa2N5di8za3lzZjRJWG4vekFmYTArNzlkT25hVDVYYlUrbTVrMlpramR4L3BQWDBJcGo0NFBldmV1eVBaNURTSHJMZmZMTDFvVVg0Z1FlLy8wZVBmZjB1azMzelh6MjU4Z3ZsOXFLZG5qTnZCUXlQeG5JN0dxdlBRTG5saytyZ0QvOG1yTkF1b2dOb1laVVkrR0dHeEFVQlFXQ0RFYmlRMXpTMUhnd2RuOWxnaFU3ODFtbDJKa2hFRUJBRUJnaUJodHV5b2hzOTduWmFiRGdHVzZkNXc1c21DZ1FCUVdEN0lZQlhOd3FoVmJ2c01rZVl0akh4cmRPOE1lMFJxWUtBSUxDOUVSZ3hiMGM0STdGeTRPSWJHOWs2elJ2YkxwRXVDQWdDMnhPQlBXMitISTRTMlNSRHQwN3pKalZRMUFnQ2dzQzJRbUMzY3B0bHRWMTRjMktUN05zNnpadlVRRkVqQ0FnQzJ3cUJ2ZTd0VTJQV1h0NXd0K0ZXYnAzbURXK2FLQkFFQklGdGlBQTIrOCtFWmwzWTRiV0hzTXo1aVcrZDV2Tmp2MGdSQkFTQkZ4Z0NUWCtVRVZsZXMwZXhiRUlydGs3ekpqUk9WQWdDZ3NDMlE2QVkyMkNIY3p4R044dkVyZE84V1MwVVBZS0FJTENkRU1DeWhIbTFWaHYxaXJZbDJvMjBkT3MwYjJTclJMWWdJQWhzV3dRbTFaa3lHNGNUUmZRYi8veThzZmV0MDd5eDdSTHBnb0Fnc0QwUnlEYlYyUmxqR2c0RjRJT05OOFBXcmRPOEdhMFRIWUtBSUxEdEVCakI1NnEvTkJORjcvMm1VdGVVTjlPOHJkTzhtYTBVWFlLQUlMQnRFQmg2RmM1NWE5Rmhidzlzc2sxYnAzbVRHeXJxQkFGQllKc2djTS9uanBSYXgxNDl2L25tYkozbXpXK3JhQlFFQklIL0R3SnJpTkIvcXJzaUFBQUFBRWxGVGtTdVFtQ0MiCn0K"/>
    </extobj>
  </extobjs>
</s:customData>
</file>

<file path=customXml/itemProps87.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7560</Words>
  <Application>WPS Presentation</Application>
  <PresentationFormat>宽屏</PresentationFormat>
  <Paragraphs>286</Paragraphs>
  <Slides>22</Slides>
  <Notes>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22</vt:i4>
      </vt:variant>
    </vt:vector>
  </HeadingPairs>
  <TitlesOfParts>
    <vt:vector size="39" baseType="lpstr">
      <vt:lpstr>Arial</vt:lpstr>
      <vt:lpstr>宋体</vt:lpstr>
      <vt:lpstr>Wingdings</vt:lpstr>
      <vt:lpstr>Wingdings</vt:lpstr>
      <vt:lpstr>Times New Roman Regular</vt:lpstr>
      <vt:lpstr>Thonburi Regular</vt:lpstr>
      <vt:lpstr>PingFang SC Semibold</vt:lpstr>
      <vt:lpstr>Thonburi Bold</vt:lpstr>
      <vt:lpstr>PingFang SC</vt:lpstr>
      <vt:lpstr>Thonburi</vt:lpstr>
      <vt:lpstr>微软雅黑</vt:lpstr>
      <vt:lpstr>汉仪旗黑</vt:lpstr>
      <vt:lpstr>宋体</vt:lpstr>
      <vt:lpstr>Arial Unicode MS</vt:lpstr>
      <vt:lpstr>苹方-简</vt:lpstr>
      <vt:lpstr>汉仪书宋二KW</vt:lpstr>
      <vt:lpstr>WPS</vt:lpstr>
      <vt:lpstr>Mitigating Object Hallucinations in Large Vision-Language Models through Visual Contrastive Decoding</vt:lpstr>
      <vt:lpstr>Backgrounds</vt:lpstr>
      <vt:lpstr>How to build a MLLM[1]?</vt:lpstr>
      <vt:lpstr>Causes of Misalignment[2]</vt:lpstr>
      <vt:lpstr>Causes of Misalignment[2,3]</vt:lpstr>
      <vt:lpstr>Causes of Misalignment[2]</vt:lpstr>
      <vt:lpstr>Causes of Misalignment[2]</vt:lpstr>
      <vt:lpstr>Causes of Misalignment[2]</vt:lpstr>
      <vt:lpstr>Motivations: Over-reliance on language prior</vt:lpstr>
      <vt:lpstr>Motivations: Statistical bias</vt:lpstr>
      <vt:lpstr>Methods: test-time alignment</vt:lpstr>
      <vt:lpstr>Methods: test-time alignment</vt:lpstr>
      <vt:lpstr>Methods: test-time alignment</vt:lpstr>
      <vt:lpstr>Methods: test-time alignment</vt:lpstr>
      <vt:lpstr>Methods:Adaptive Plausibility Constraints</vt:lpstr>
      <vt:lpstr>Experiments</vt:lpstr>
      <vt:lpstr>Experiments</vt:lpstr>
      <vt:lpstr>Experiments</vt:lpstr>
      <vt:lpstr>Experiments</vt:lpstr>
      <vt:lpstr>Experiments</vt:lpstr>
      <vt:lpstr>Conclusions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zacharyguo</dc:creator>
  <cp:lastModifiedBy>ZacharyG</cp:lastModifiedBy>
  <cp:revision>1065</cp:revision>
  <dcterms:created xsi:type="dcterms:W3CDTF">2025-09-24T02:13:56Z</dcterms:created>
  <dcterms:modified xsi:type="dcterms:W3CDTF">2025-09-24T02:13:56Z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1033-7.5.1.8994</vt:lpwstr>
  </property>
  <property fmtid="{D5CDD505-2E9C-101B-9397-08002B2CF9AE}" pid="3" name="ICV">
    <vt:lpwstr>A97C21F454C76634035CBB6824D743F6_41</vt:lpwstr>
  </property>
</Properties>
</file>